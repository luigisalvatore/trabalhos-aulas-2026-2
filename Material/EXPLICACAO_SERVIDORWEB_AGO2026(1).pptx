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63" r:id="rId3"/>
    <p:sldId id="262" r:id="rId4"/>
    <p:sldId id="260" r:id="rId5"/>
    <p:sldId id="261" r:id="rId6"/>
    <p:sldId id="257" r:id="rId7"/>
    <p:sldId id="258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3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30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6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7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4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1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8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22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5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1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3141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68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90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11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75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15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EE846-BC88-E45A-7C1F-C4250AD65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449" y="1987439"/>
            <a:ext cx="9849930" cy="2677648"/>
          </a:xfrm>
        </p:spPr>
        <p:txBody>
          <a:bodyPr/>
          <a:lstStyle/>
          <a:p>
            <a:r>
              <a:rPr lang="pt-BR" b="1" dirty="0"/>
              <a:t>Exemplo de um </a:t>
            </a:r>
            <a:r>
              <a:rPr lang="pt-BR" b="1" dirty="0" err="1"/>
              <a:t>webserver</a:t>
            </a:r>
            <a:r>
              <a:rPr lang="pt-BR" b="1" dirty="0"/>
              <a:t> no ESP32 com simplificações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5A690B-FAA4-A6DD-64F2-EBC3029F69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Prof. </a:t>
            </a:r>
            <a:r>
              <a:rPr lang="pt-BR" b="1" dirty="0" err="1"/>
              <a:t>anderson</a:t>
            </a:r>
            <a:r>
              <a:rPr lang="pt-BR" b="1" dirty="0"/>
              <a:t> terroso</a:t>
            </a:r>
          </a:p>
          <a:p>
            <a:r>
              <a:rPr lang="pt-BR" b="1" dirty="0"/>
              <a:t>AGOSTO/2026</a:t>
            </a:r>
          </a:p>
        </p:txBody>
      </p:sp>
    </p:spTree>
    <p:extLst>
      <p:ext uri="{BB962C8B-B14F-4D97-AF65-F5344CB8AC3E}">
        <p14:creationId xmlns:p14="http://schemas.microsoft.com/office/powerpoint/2010/main" val="26520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583894D-1807-5C82-9AE6-15A6E8F5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8122"/>
            <a:ext cx="11657763" cy="704733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u="sng" dirty="0"/>
              <a:t>Servidor WEB:</a:t>
            </a:r>
            <a:r>
              <a:rPr lang="pt-BR" dirty="0"/>
              <a:t> HTML+CSS armazenados na Flash usando SPIFFS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1000FF-BA25-7E23-3A67-F12086C0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11" y="1381650"/>
            <a:ext cx="9180177" cy="526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5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EFFDBFC-EF03-1FEE-1EE7-9BDEED7B1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14" y="0"/>
            <a:ext cx="8556728" cy="189470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6AFC874-C85C-CA34-ECAE-2ECDC85CBB6E}"/>
              </a:ext>
            </a:extLst>
          </p:cNvPr>
          <p:cNvSpPr txBox="1"/>
          <p:nvPr/>
        </p:nvSpPr>
        <p:spPr>
          <a:xfrm>
            <a:off x="0" y="0"/>
            <a:ext cx="78012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Biblioteca a ser usada:</a:t>
            </a:r>
            <a:endParaRPr lang="pt-BR" sz="600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DD70382-9284-D25B-6858-8322F5375B6F}"/>
              </a:ext>
            </a:extLst>
          </p:cNvPr>
          <p:cNvGrpSpPr/>
          <p:nvPr/>
        </p:nvGrpSpPr>
        <p:grpSpPr>
          <a:xfrm>
            <a:off x="807308" y="2165892"/>
            <a:ext cx="10135592" cy="4692108"/>
            <a:chOff x="617838" y="1946045"/>
            <a:chExt cx="10135592" cy="469210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094617C8-D1A1-30BB-84E2-3A39E6AA8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838" y="1946045"/>
              <a:ext cx="10135592" cy="3156413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121C434-766B-1C68-7C5E-23FE1CBCC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838" y="5102458"/>
              <a:ext cx="10135592" cy="1535695"/>
            </a:xfrm>
            <a:prstGeom prst="rect">
              <a:avLst/>
            </a:prstGeom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4052888-BACD-4DA4-EDFC-D1BD473DE525}"/>
                </a:ext>
              </a:extLst>
            </p:cNvPr>
            <p:cNvSpPr/>
            <p:nvPr/>
          </p:nvSpPr>
          <p:spPr>
            <a:xfrm>
              <a:off x="1276865" y="5102458"/>
              <a:ext cx="9476565" cy="15356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88157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D35E2F-50C8-B6A8-AA0E-469F4B5E7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1046941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1" dirty="0"/>
              <a:t>&lt;!DOCTYPE </a:t>
            </a:r>
            <a:r>
              <a:rPr lang="pt-BR" sz="1600" b="1" dirty="0" err="1"/>
              <a:t>html</a:t>
            </a:r>
            <a:r>
              <a:rPr lang="pt-BR" sz="1600" b="1" dirty="0"/>
              <a:t>&gt;</a:t>
            </a:r>
          </a:p>
          <a:p>
            <a:pPr marL="0" indent="0">
              <a:buNone/>
            </a:pPr>
            <a:r>
              <a:rPr lang="pt-BR" sz="1600" b="1" dirty="0"/>
              <a:t>&lt;</a:t>
            </a:r>
            <a:r>
              <a:rPr lang="pt-BR" sz="1600" b="1" dirty="0" err="1"/>
              <a:t>html</a:t>
            </a:r>
            <a:r>
              <a:rPr lang="pt-BR" sz="1600" b="1" dirty="0"/>
              <a:t>&gt; </a:t>
            </a:r>
          </a:p>
          <a:p>
            <a:pPr marL="0" indent="0">
              <a:buNone/>
            </a:pPr>
            <a:r>
              <a:rPr lang="pt-BR" sz="1600" b="1" dirty="0"/>
              <a:t>&lt;</a:t>
            </a:r>
            <a:r>
              <a:rPr lang="pt-BR" sz="1600" b="1" dirty="0" err="1"/>
              <a:t>head</a:t>
            </a:r>
            <a:r>
              <a:rPr lang="pt-BR" sz="1600" b="1" dirty="0"/>
              <a:t>&gt; </a:t>
            </a:r>
          </a:p>
          <a:p>
            <a:pPr marL="0" indent="0">
              <a:buNone/>
            </a:pPr>
            <a:r>
              <a:rPr lang="pt-BR" sz="1600" b="1" dirty="0"/>
              <a:t>    &lt;</a:t>
            </a:r>
            <a:r>
              <a:rPr lang="pt-BR" sz="1600" b="1" dirty="0" err="1"/>
              <a:t>title</a:t>
            </a:r>
            <a:r>
              <a:rPr lang="pt-BR" sz="1600" b="1" dirty="0"/>
              <a:t>&gt;ESP32 Web Server&lt;/</a:t>
            </a:r>
            <a:r>
              <a:rPr lang="pt-BR" sz="1600" b="1" dirty="0" err="1"/>
              <a:t>title</a:t>
            </a:r>
            <a:r>
              <a:rPr lang="pt-BR" sz="1600" b="1" dirty="0"/>
              <a:t>&gt; </a:t>
            </a:r>
          </a:p>
          <a:p>
            <a:pPr marL="0" indent="0">
              <a:buNone/>
            </a:pPr>
            <a:r>
              <a:rPr lang="pt-BR" sz="1600" b="1" dirty="0"/>
              <a:t>    &lt;link </a:t>
            </a:r>
            <a:r>
              <a:rPr lang="pt-BR" sz="1600" b="1" dirty="0" err="1"/>
              <a:t>rel</a:t>
            </a:r>
            <a:r>
              <a:rPr lang="pt-BR" sz="1600" b="1" dirty="0"/>
              <a:t>="</a:t>
            </a:r>
            <a:r>
              <a:rPr lang="pt-BR" sz="1600" b="1" dirty="0" err="1"/>
              <a:t>stylesheet</a:t>
            </a:r>
            <a:r>
              <a:rPr lang="pt-BR" sz="1600" b="1" dirty="0"/>
              <a:t>" </a:t>
            </a:r>
            <a:r>
              <a:rPr lang="pt-BR" sz="1600" b="1" dirty="0" err="1"/>
              <a:t>type</a:t>
            </a:r>
            <a:r>
              <a:rPr lang="pt-BR" sz="1600" b="1" dirty="0"/>
              <a:t>="</a:t>
            </a:r>
            <a:r>
              <a:rPr lang="pt-BR" sz="1600" b="1" dirty="0" err="1"/>
              <a:t>text</a:t>
            </a:r>
            <a:r>
              <a:rPr lang="pt-BR" sz="1600" b="1" dirty="0"/>
              <a:t>/</a:t>
            </a:r>
            <a:r>
              <a:rPr lang="pt-BR" sz="1600" b="1" dirty="0" err="1"/>
              <a:t>css</a:t>
            </a:r>
            <a:r>
              <a:rPr lang="pt-BR" sz="1600" b="1" dirty="0"/>
              <a:t>" </a:t>
            </a:r>
            <a:r>
              <a:rPr lang="pt-BR" sz="1600" b="1" dirty="0" err="1"/>
              <a:t>href</a:t>
            </a:r>
            <a:r>
              <a:rPr lang="pt-BR" sz="1600" b="1" dirty="0"/>
              <a:t>="novo_estilo.css"&gt;</a:t>
            </a:r>
          </a:p>
          <a:p>
            <a:pPr marL="0" indent="0">
              <a:buNone/>
            </a:pPr>
            <a:r>
              <a:rPr lang="pt-BR" sz="1600" b="1" dirty="0"/>
              <a:t>    &lt;!--</a:t>
            </a:r>
            <a:r>
              <a:rPr lang="pt-BR" sz="1600" b="1" dirty="0" err="1"/>
              <a:t>refresh</a:t>
            </a:r>
            <a:r>
              <a:rPr lang="pt-BR" sz="1600" b="1" dirty="0"/>
              <a:t> automático a cada 5 segundos--&gt;</a:t>
            </a:r>
          </a:p>
          <a:p>
            <a:pPr marL="0" indent="0">
              <a:buNone/>
            </a:pPr>
            <a:r>
              <a:rPr lang="pt-BR" sz="1600" b="1" dirty="0"/>
              <a:t>    &lt;meta http-</a:t>
            </a:r>
            <a:r>
              <a:rPr lang="pt-BR" sz="1600" b="1" dirty="0" err="1"/>
              <a:t>equiv</a:t>
            </a:r>
            <a:r>
              <a:rPr lang="pt-BR" sz="1600" b="1" dirty="0"/>
              <a:t>="</a:t>
            </a:r>
            <a:r>
              <a:rPr lang="pt-BR" sz="1600" b="1" dirty="0" err="1"/>
              <a:t>refresh</a:t>
            </a:r>
            <a:r>
              <a:rPr lang="pt-BR" sz="1600" b="1" dirty="0"/>
              <a:t>" </a:t>
            </a:r>
            <a:r>
              <a:rPr lang="pt-BR" sz="1600" b="1" dirty="0" err="1"/>
              <a:t>content</a:t>
            </a:r>
            <a:r>
              <a:rPr lang="pt-BR" sz="1600" b="1" dirty="0"/>
              <a:t>="5"&gt;</a:t>
            </a:r>
          </a:p>
          <a:p>
            <a:pPr marL="0" indent="0">
              <a:buNone/>
            </a:pPr>
            <a:r>
              <a:rPr lang="pt-BR" sz="1600" b="1" dirty="0"/>
              <a:t>    &lt;!--A largura da página é a largura real da tela do celular.--&gt;</a:t>
            </a:r>
          </a:p>
          <a:p>
            <a:pPr marL="0" indent="0">
              <a:buNone/>
            </a:pPr>
            <a:r>
              <a:rPr lang="pt-BR" sz="1600" b="1" dirty="0"/>
              <a:t>    &lt;meta </a:t>
            </a:r>
            <a:r>
              <a:rPr lang="pt-BR" sz="1600" b="1" dirty="0" err="1"/>
              <a:t>name</a:t>
            </a:r>
            <a:r>
              <a:rPr lang="pt-BR" sz="1600" b="1" dirty="0"/>
              <a:t>="</a:t>
            </a:r>
            <a:r>
              <a:rPr lang="pt-BR" sz="1600" b="1" dirty="0" err="1"/>
              <a:t>viewport</a:t>
            </a:r>
            <a:r>
              <a:rPr lang="pt-BR" sz="1600" b="1" dirty="0"/>
              <a:t>" </a:t>
            </a:r>
            <a:r>
              <a:rPr lang="pt-BR" sz="1600" b="1" dirty="0" err="1"/>
              <a:t>content</a:t>
            </a:r>
            <a:r>
              <a:rPr lang="pt-BR" sz="1600" b="1" dirty="0"/>
              <a:t>="</a:t>
            </a:r>
            <a:r>
              <a:rPr lang="pt-BR" sz="1600" b="1" dirty="0" err="1"/>
              <a:t>width</a:t>
            </a:r>
            <a:r>
              <a:rPr lang="pt-BR" sz="1600" b="1" dirty="0"/>
              <a:t>=device-</a:t>
            </a:r>
            <a:r>
              <a:rPr lang="pt-BR" sz="1600" b="1" dirty="0" err="1"/>
              <a:t>width</a:t>
            </a:r>
            <a:r>
              <a:rPr lang="pt-BR" sz="1600" b="1" dirty="0"/>
              <a:t>, </a:t>
            </a:r>
            <a:r>
              <a:rPr lang="pt-BR" sz="1600" b="1" dirty="0" err="1"/>
              <a:t>initial-scale</a:t>
            </a:r>
            <a:r>
              <a:rPr lang="pt-BR" sz="1600" b="1" dirty="0"/>
              <a:t>=1.0"&gt;</a:t>
            </a:r>
          </a:p>
          <a:p>
            <a:pPr marL="0" indent="0">
              <a:buNone/>
            </a:pPr>
            <a:r>
              <a:rPr lang="pt-BR" sz="1600" b="1" dirty="0"/>
              <a:t>&lt;/</a:t>
            </a:r>
            <a:r>
              <a:rPr lang="pt-BR" sz="1600" b="1" dirty="0" err="1"/>
              <a:t>head</a:t>
            </a:r>
            <a:r>
              <a:rPr lang="pt-BR" sz="1600" b="1" dirty="0"/>
              <a:t>&gt; </a:t>
            </a:r>
          </a:p>
          <a:p>
            <a:pPr marL="0" indent="0">
              <a:buNone/>
            </a:pPr>
            <a:r>
              <a:rPr lang="pt-BR" sz="1600" b="1" dirty="0"/>
              <a:t>&lt;body&gt; </a:t>
            </a:r>
          </a:p>
          <a:p>
            <a:pPr marL="0" indent="0">
              <a:buNone/>
            </a:pPr>
            <a:r>
              <a:rPr lang="pt-BR" sz="1600" b="1" dirty="0"/>
              <a:t>    &lt;h1&gt;ESP32 Servidor Web&lt;/h1&gt; </a:t>
            </a:r>
          </a:p>
          <a:p>
            <a:pPr marL="0" indent="0">
              <a:buNone/>
            </a:pPr>
            <a:r>
              <a:rPr lang="pt-BR" sz="1600" b="1" dirty="0"/>
              <a:t>    &lt;p&gt;&lt;a </a:t>
            </a:r>
            <a:r>
              <a:rPr lang="pt-BR" sz="1600" b="1" dirty="0" err="1"/>
              <a:t>href</a:t>
            </a:r>
            <a:r>
              <a:rPr lang="pt-BR" sz="1600" b="1" dirty="0"/>
              <a:t>="/</a:t>
            </a:r>
            <a:r>
              <a:rPr lang="pt-BR" sz="1600" b="1" dirty="0" err="1"/>
              <a:t>on</a:t>
            </a:r>
            <a:r>
              <a:rPr lang="pt-BR" sz="1600" b="1" dirty="0"/>
              <a:t>"&gt;&lt;</a:t>
            </a:r>
            <a:r>
              <a:rPr lang="pt-BR" sz="1600" b="1" dirty="0" err="1"/>
              <a:t>button</a:t>
            </a:r>
            <a:r>
              <a:rPr lang="pt-BR" sz="1600" b="1" dirty="0"/>
              <a:t> </a:t>
            </a:r>
            <a:r>
              <a:rPr lang="pt-BR" sz="1600" b="1" dirty="0" err="1"/>
              <a:t>class</a:t>
            </a:r>
            <a:r>
              <a:rPr lang="pt-BR" sz="1600" b="1" dirty="0"/>
              <a:t>="</a:t>
            </a:r>
            <a:r>
              <a:rPr lang="pt-BR" sz="1600" b="1" dirty="0" err="1"/>
              <a:t>button</a:t>
            </a:r>
            <a:r>
              <a:rPr lang="pt-BR" sz="1600" b="1" dirty="0"/>
              <a:t> button1"&gt;ON&lt;/</a:t>
            </a:r>
            <a:r>
              <a:rPr lang="pt-BR" sz="1600" b="1" dirty="0" err="1"/>
              <a:t>button</a:t>
            </a:r>
            <a:r>
              <a:rPr lang="pt-BR" sz="1600" b="1" dirty="0"/>
              <a:t>&gt;&lt;/a&gt; </a:t>
            </a:r>
          </a:p>
          <a:p>
            <a:pPr marL="0" indent="0">
              <a:buNone/>
            </a:pPr>
            <a:r>
              <a:rPr lang="pt-BR" sz="1600" b="1" dirty="0"/>
              <a:t>    &lt;a </a:t>
            </a:r>
            <a:r>
              <a:rPr lang="pt-BR" sz="1600" b="1" dirty="0" err="1"/>
              <a:t>href</a:t>
            </a:r>
            <a:r>
              <a:rPr lang="pt-BR" sz="1600" b="1" dirty="0"/>
              <a:t>="/off"&gt;&lt;</a:t>
            </a:r>
            <a:r>
              <a:rPr lang="pt-BR" sz="1600" b="1" dirty="0" err="1"/>
              <a:t>button</a:t>
            </a:r>
            <a:r>
              <a:rPr lang="pt-BR" sz="1600" b="1" dirty="0"/>
              <a:t> </a:t>
            </a:r>
            <a:r>
              <a:rPr lang="pt-BR" sz="1600" b="1" dirty="0" err="1"/>
              <a:t>class</a:t>
            </a:r>
            <a:r>
              <a:rPr lang="pt-BR" sz="1600" b="1" dirty="0"/>
              <a:t>="</a:t>
            </a:r>
            <a:r>
              <a:rPr lang="pt-BR" sz="1600" b="1" dirty="0" err="1"/>
              <a:t>button</a:t>
            </a:r>
            <a:r>
              <a:rPr lang="pt-BR" sz="1600" b="1" dirty="0"/>
              <a:t> button2"&gt;OFF&lt;/</a:t>
            </a:r>
            <a:r>
              <a:rPr lang="pt-BR" sz="1600" b="1" dirty="0" err="1"/>
              <a:t>button</a:t>
            </a:r>
            <a:r>
              <a:rPr lang="pt-BR" sz="1600" b="1" dirty="0"/>
              <a:t>&gt;&lt;/a&gt; &lt;/p&gt; </a:t>
            </a:r>
          </a:p>
          <a:p>
            <a:pPr marL="0" indent="0">
              <a:buNone/>
            </a:pPr>
            <a:r>
              <a:rPr lang="pt-BR" sz="1600" b="1" dirty="0"/>
              <a:t>    &lt;p </a:t>
            </a:r>
            <a:r>
              <a:rPr lang="pt-BR" sz="1600" b="1" dirty="0" err="1"/>
              <a:t>class</a:t>
            </a:r>
            <a:r>
              <a:rPr lang="pt-BR" sz="1600" b="1" dirty="0"/>
              <a:t>="sensor-</a:t>
            </a:r>
            <a:r>
              <a:rPr lang="pt-BR" sz="1600" b="1" dirty="0" err="1"/>
              <a:t>labels</a:t>
            </a:r>
            <a:r>
              <a:rPr lang="pt-BR" sz="1600" b="1" dirty="0"/>
              <a:t>"&gt;Temperatura: &lt;b&gt; %TEMP% &lt;/b&gt;&lt;</a:t>
            </a:r>
            <a:r>
              <a:rPr lang="pt-BR" sz="1600" b="1" dirty="0" err="1"/>
              <a:t>sup</a:t>
            </a:r>
            <a:r>
              <a:rPr lang="pt-BR" sz="1600" b="1" dirty="0"/>
              <a:t> </a:t>
            </a:r>
            <a:r>
              <a:rPr lang="pt-BR" sz="1600" b="1" dirty="0" err="1"/>
              <a:t>class</a:t>
            </a:r>
            <a:r>
              <a:rPr lang="pt-BR" sz="1600" b="1" dirty="0"/>
              <a:t>="</a:t>
            </a:r>
            <a:r>
              <a:rPr lang="pt-BR" sz="1600" b="1" dirty="0" err="1"/>
              <a:t>units</a:t>
            </a:r>
            <a:r>
              <a:rPr lang="pt-BR" sz="1600" b="1" dirty="0"/>
              <a:t>"&gt;&amp;</a:t>
            </a:r>
            <a:r>
              <a:rPr lang="pt-BR" sz="1600" b="1" dirty="0" err="1"/>
              <a:t>deg</a:t>
            </a:r>
            <a:r>
              <a:rPr lang="pt-BR" sz="1600" b="1" dirty="0"/>
              <a:t>;&lt;/</a:t>
            </a:r>
            <a:r>
              <a:rPr lang="pt-BR" sz="1600" b="1" dirty="0" err="1"/>
              <a:t>sup</a:t>
            </a:r>
            <a:r>
              <a:rPr lang="pt-BR" sz="1600" b="1" dirty="0"/>
              <a:t>&gt;C&lt;/p&gt; </a:t>
            </a:r>
          </a:p>
          <a:p>
            <a:pPr marL="0" indent="0">
              <a:buNone/>
            </a:pPr>
            <a:r>
              <a:rPr lang="pt-BR" sz="1600" b="1" dirty="0"/>
              <a:t>    &lt;p </a:t>
            </a:r>
            <a:r>
              <a:rPr lang="pt-BR" sz="1600" b="1" dirty="0" err="1"/>
              <a:t>class</a:t>
            </a:r>
            <a:r>
              <a:rPr lang="pt-BR" sz="1600" b="1" dirty="0"/>
              <a:t>="sensor-</a:t>
            </a:r>
            <a:r>
              <a:rPr lang="pt-BR" sz="1600" b="1" dirty="0" err="1"/>
              <a:t>labels</a:t>
            </a:r>
            <a:r>
              <a:rPr lang="pt-BR" sz="1600" b="1" dirty="0"/>
              <a:t>"&gt;Umidade:&lt;b&gt; %UMID% &lt;/b&gt;&amp;#37;&lt;/p&gt; </a:t>
            </a:r>
          </a:p>
          <a:p>
            <a:pPr marL="0" indent="0">
              <a:buNone/>
            </a:pPr>
            <a:r>
              <a:rPr lang="pt-BR" sz="1600" b="1" dirty="0"/>
              <a:t>&lt;/body&gt; </a:t>
            </a:r>
          </a:p>
          <a:p>
            <a:pPr marL="0" indent="0">
              <a:buNone/>
            </a:pPr>
            <a:r>
              <a:rPr lang="pt-BR" sz="1600" b="1" dirty="0"/>
              <a:t>&lt;/</a:t>
            </a:r>
            <a:r>
              <a:rPr lang="pt-BR" sz="1600" b="1" dirty="0" err="1"/>
              <a:t>html</a:t>
            </a:r>
            <a:r>
              <a:rPr lang="pt-BR" sz="1600" b="1" dirty="0"/>
              <a:t>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414D01-286B-CE98-232B-CBD3AB5CCC1E}"/>
              </a:ext>
            </a:extLst>
          </p:cNvPr>
          <p:cNvSpPr txBox="1"/>
          <p:nvPr/>
        </p:nvSpPr>
        <p:spPr>
          <a:xfrm>
            <a:off x="7191633" y="906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69F3812E-1022-D33C-FB5F-3851E7DF6151}"/>
              </a:ext>
            </a:extLst>
          </p:cNvPr>
          <p:cNvSpPr/>
          <p:nvPr/>
        </p:nvSpPr>
        <p:spPr>
          <a:xfrm>
            <a:off x="1697212" y="6173826"/>
            <a:ext cx="5494421" cy="593558"/>
          </a:xfrm>
          <a:prstGeom prst="wedgeRoundRectCallout">
            <a:avLst>
              <a:gd name="adj1" fmla="val 1258"/>
              <a:gd name="adj2" fmla="val -10371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%NOME% é um </a:t>
            </a:r>
            <a:r>
              <a:rPr lang="pt-BR" b="1" dirty="0" err="1">
                <a:solidFill>
                  <a:schemeClr val="bg1"/>
                </a:solidFill>
              </a:rPr>
              <a:t>placeholder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chemeClr val="bg1"/>
                </a:solidFill>
              </a:rPr>
              <a:t>é um marcador de posição temporária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455F6A-1F6E-2842-7965-9A56303A9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621" y="1315452"/>
            <a:ext cx="2864802" cy="3545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64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1C24C28-347B-3B10-0715-5C115B22B582}"/>
              </a:ext>
            </a:extLst>
          </p:cNvPr>
          <p:cNvSpPr txBox="1"/>
          <p:nvPr/>
        </p:nvSpPr>
        <p:spPr>
          <a:xfrm>
            <a:off x="0" y="0"/>
            <a:ext cx="9144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pt-BR" sz="1600" dirty="0" err="1">
                <a:effectLst/>
                <a:latin typeface="Consolas" panose="020B0609020204030204" pitchFamily="49" charset="0"/>
              </a:rPr>
              <a:t>html</a:t>
            </a:r>
            <a:r>
              <a:rPr lang="pt-BR" sz="160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font-family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Arial;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text-align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center;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  <a:endParaRPr lang="pt-BR" sz="160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h1{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color: #0F3376;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10px;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pt-BR" sz="160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p{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font-size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1.5rem;    /* relativo ao tamanho da fonte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pt-BR" sz="160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.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button</a:t>
            </a:r>
            <a:r>
              <a:rPr lang="pt-BR" sz="160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200px;        /* fixar largura do botão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border-radius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4px;  /* fazer a borda arredondada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border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none</a:t>
            </a:r>
            <a:r>
              <a:rPr lang="pt-BR" sz="1600" dirty="0">
                <a:effectLst/>
                <a:latin typeface="Consolas" panose="020B0609020204030204" pitchFamily="49" charset="0"/>
              </a:rPr>
              <a:t>;        /* sem cor de borda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color: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white</a:t>
            </a:r>
            <a:r>
              <a:rPr lang="pt-BR" sz="1600" dirty="0">
                <a:effectLst/>
                <a:latin typeface="Consolas" panose="020B0609020204030204" pitchFamily="49" charset="0"/>
              </a:rPr>
              <a:t>;       	/* cor da letra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font-size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30px;     /* cor da letra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16px;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</a:t>
            </a:r>
            <a:r>
              <a:rPr lang="pt-BR" sz="1600" dirty="0" err="1">
                <a:effectLst/>
                <a:latin typeface="Consolas" panose="020B0609020204030204" pitchFamily="49" charset="0"/>
              </a:rPr>
              <a:t>margin</a:t>
            </a:r>
            <a:r>
              <a:rPr lang="pt-BR" sz="1600" dirty="0">
                <a:effectLst/>
                <a:latin typeface="Consolas" panose="020B0609020204030204" pitchFamily="49" charset="0"/>
              </a:rPr>
              <a:t>: 5px;         /* distância entre os botões */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.button1{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background-color: #008CBA;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.button2{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    background-color: #f44336;</a:t>
            </a:r>
          </a:p>
          <a:p>
            <a:pPr>
              <a:lnSpc>
                <a:spcPts val="1800"/>
              </a:lnSpc>
              <a:buNone/>
            </a:pPr>
            <a:r>
              <a:rPr lang="pt-BR" sz="16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2424A7-D7A7-B350-DE56-C6DAFBF87700}"/>
              </a:ext>
            </a:extLst>
          </p:cNvPr>
          <p:cNvSpPr txBox="1"/>
          <p:nvPr/>
        </p:nvSpPr>
        <p:spPr>
          <a:xfrm>
            <a:off x="7191633" y="90616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novo_estilo.css</a:t>
            </a:r>
          </a:p>
        </p:txBody>
      </p:sp>
    </p:spTree>
    <p:extLst>
      <p:ext uri="{BB962C8B-B14F-4D97-AF65-F5344CB8AC3E}">
        <p14:creationId xmlns:p14="http://schemas.microsoft.com/office/powerpoint/2010/main" val="402501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49B2FE-DB9C-10F4-7A2A-0ABFAB2379ED}"/>
              </a:ext>
            </a:extLst>
          </p:cNvPr>
          <p:cNvSpPr txBox="1"/>
          <p:nvPr/>
        </p:nvSpPr>
        <p:spPr>
          <a:xfrm>
            <a:off x="256673" y="59899"/>
            <a:ext cx="4547938" cy="714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80" b="1" dirty="0"/>
              <a:t>#include &lt;</a:t>
            </a:r>
            <a:r>
              <a:rPr lang="pt-BR" sz="1580" b="1" dirty="0" err="1"/>
              <a:t>WiFi.h</a:t>
            </a:r>
            <a:r>
              <a:rPr lang="pt-BR" sz="1580" b="1" dirty="0"/>
              <a:t>&gt;</a:t>
            </a:r>
            <a:br>
              <a:rPr lang="pt-BR" sz="1580" b="1" dirty="0"/>
            </a:br>
            <a:r>
              <a:rPr lang="pt-BR" sz="1580" b="1" dirty="0"/>
              <a:t>#include &lt;</a:t>
            </a:r>
            <a:r>
              <a:rPr lang="pt-BR" sz="1580" b="1" dirty="0" err="1"/>
              <a:t>ESPAsyncWebServer.h</a:t>
            </a:r>
            <a:r>
              <a:rPr lang="pt-BR" sz="1580" b="1" dirty="0"/>
              <a:t>&gt;</a:t>
            </a:r>
            <a:br>
              <a:rPr lang="pt-BR" sz="1580" b="1" dirty="0"/>
            </a:br>
            <a:r>
              <a:rPr lang="pt-BR" sz="1580" b="1" dirty="0"/>
              <a:t>#include "</a:t>
            </a:r>
            <a:r>
              <a:rPr lang="pt-BR" sz="1580" b="1" dirty="0" err="1"/>
              <a:t>FS.h</a:t>
            </a:r>
            <a:r>
              <a:rPr lang="pt-BR" sz="1580" b="1" dirty="0"/>
              <a:t>"</a:t>
            </a:r>
            <a:br>
              <a:rPr lang="pt-BR" sz="1580" b="1" dirty="0"/>
            </a:br>
            <a:r>
              <a:rPr lang="pt-BR" sz="1580" b="1" dirty="0"/>
              <a:t>#include "</a:t>
            </a:r>
            <a:r>
              <a:rPr lang="pt-BR" sz="1580" b="1" dirty="0" err="1"/>
              <a:t>SPIFFS.h</a:t>
            </a:r>
            <a:r>
              <a:rPr lang="pt-BR" sz="1580" b="1" dirty="0"/>
              <a:t>"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const</a:t>
            </a:r>
            <a:r>
              <a:rPr lang="pt-BR" sz="1580" b="1" dirty="0"/>
              <a:t> char* </a:t>
            </a:r>
            <a:r>
              <a:rPr lang="pt-BR" sz="1580" b="1" dirty="0" err="1"/>
              <a:t>ssid</a:t>
            </a:r>
            <a:r>
              <a:rPr lang="pt-BR" sz="1580" b="1" dirty="0"/>
              <a:t> = "motog8";</a:t>
            </a:r>
            <a:br>
              <a:rPr lang="pt-BR" sz="1580" b="1" dirty="0"/>
            </a:br>
            <a:r>
              <a:rPr lang="pt-BR" sz="1580" b="1" dirty="0" err="1"/>
              <a:t>const</a:t>
            </a:r>
            <a:r>
              <a:rPr lang="pt-BR" sz="1580" b="1" dirty="0"/>
              <a:t> char* </a:t>
            </a:r>
            <a:r>
              <a:rPr lang="pt-BR" sz="1580" b="1" dirty="0" err="1"/>
              <a:t>password</a:t>
            </a:r>
            <a:r>
              <a:rPr lang="pt-BR" sz="1580" b="1" dirty="0"/>
              <a:t> = "0123456789";</a:t>
            </a:r>
            <a:br>
              <a:rPr lang="pt-BR" sz="1580" b="1" dirty="0"/>
            </a:br>
            <a:r>
              <a:rPr lang="pt-BR" sz="1580" b="1" dirty="0" err="1"/>
              <a:t>AsyncWebServer</a:t>
            </a:r>
            <a:r>
              <a:rPr lang="pt-BR" sz="1580" b="1" dirty="0"/>
              <a:t> server(80);</a:t>
            </a:r>
            <a:br>
              <a:rPr lang="pt-BR" sz="1580" b="1" dirty="0"/>
            </a:br>
            <a:r>
              <a:rPr lang="pt-BR" sz="1580" b="1" dirty="0" err="1"/>
              <a:t>const</a:t>
            </a:r>
            <a:r>
              <a:rPr lang="pt-BR" sz="1580" b="1" dirty="0"/>
              <a:t> </a:t>
            </a:r>
            <a:r>
              <a:rPr lang="pt-BR" sz="1580" b="1" dirty="0" err="1"/>
              <a:t>int</a:t>
            </a:r>
            <a:r>
              <a:rPr lang="pt-BR" sz="1580" b="1" dirty="0"/>
              <a:t> led = 2;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String</a:t>
            </a:r>
            <a:r>
              <a:rPr lang="pt-BR" sz="1580" b="1" dirty="0"/>
              <a:t> </a:t>
            </a:r>
            <a:r>
              <a:rPr lang="pt-BR" sz="1580" b="1" dirty="0" err="1"/>
              <a:t>le_temp</a:t>
            </a:r>
            <a:r>
              <a:rPr lang="pt-BR" sz="1580" b="1" dirty="0"/>
              <a:t>()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 err="1"/>
              <a:t>float</a:t>
            </a:r>
            <a:r>
              <a:rPr lang="pt-BR" sz="1580" b="1" dirty="0"/>
              <a:t> </a:t>
            </a:r>
            <a:r>
              <a:rPr lang="pt-BR" sz="1580" b="1" dirty="0" err="1"/>
              <a:t>temp</a:t>
            </a:r>
            <a:r>
              <a:rPr lang="pt-BR" sz="1580" b="1" dirty="0"/>
              <a:t> = </a:t>
            </a:r>
            <a:r>
              <a:rPr lang="pt-BR" sz="1580" b="1" dirty="0" err="1"/>
              <a:t>random</a:t>
            </a:r>
            <a:r>
              <a:rPr lang="pt-BR" sz="1580" b="1" dirty="0"/>
              <a:t>(0, 1000) / 10.0;</a:t>
            </a:r>
            <a:br>
              <a:rPr lang="pt-BR" sz="1580" b="1" dirty="0"/>
            </a:br>
            <a:r>
              <a:rPr lang="pt-BR" sz="1580" b="1" dirty="0" err="1"/>
              <a:t>return</a:t>
            </a:r>
            <a:r>
              <a:rPr lang="pt-BR" sz="1580" b="1" dirty="0"/>
              <a:t> </a:t>
            </a:r>
            <a:r>
              <a:rPr lang="pt-BR" sz="1580" b="1" dirty="0" err="1"/>
              <a:t>String</a:t>
            </a:r>
            <a:r>
              <a:rPr lang="pt-BR" sz="1580" b="1" dirty="0"/>
              <a:t>(</a:t>
            </a:r>
            <a:r>
              <a:rPr lang="pt-BR" sz="1580" b="1" dirty="0" err="1"/>
              <a:t>temp</a:t>
            </a:r>
            <a:r>
              <a:rPr lang="pt-BR" sz="1580" b="1" dirty="0"/>
              <a:t>, 1);</a:t>
            </a:r>
            <a:br>
              <a:rPr lang="pt-BR" sz="1580" b="1" dirty="0"/>
            </a:br>
            <a:r>
              <a:rPr lang="pt-BR" sz="1580" b="1" dirty="0"/>
              <a:t>}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String</a:t>
            </a:r>
            <a:r>
              <a:rPr lang="pt-BR" sz="1580" b="1" dirty="0"/>
              <a:t> </a:t>
            </a:r>
            <a:r>
              <a:rPr lang="pt-BR" sz="1580" b="1" dirty="0" err="1"/>
              <a:t>le_umid</a:t>
            </a:r>
            <a:r>
              <a:rPr lang="pt-BR" sz="1580" b="1" dirty="0"/>
              <a:t>()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 err="1"/>
              <a:t>float</a:t>
            </a:r>
            <a:r>
              <a:rPr lang="pt-BR" sz="1580" b="1" dirty="0"/>
              <a:t> </a:t>
            </a:r>
            <a:r>
              <a:rPr lang="pt-BR" sz="1580" b="1" dirty="0" err="1"/>
              <a:t>umid</a:t>
            </a:r>
            <a:r>
              <a:rPr lang="pt-BR" sz="1580" b="1" dirty="0"/>
              <a:t> = </a:t>
            </a:r>
            <a:r>
              <a:rPr lang="pt-BR" sz="1580" b="1" dirty="0" err="1"/>
              <a:t>random</a:t>
            </a:r>
            <a:r>
              <a:rPr lang="pt-BR" sz="1580" b="1" dirty="0"/>
              <a:t>(0, 1000) / 10.0;</a:t>
            </a:r>
            <a:br>
              <a:rPr lang="pt-BR" sz="1580" b="1" dirty="0"/>
            </a:br>
            <a:r>
              <a:rPr lang="pt-BR" sz="1580" b="1" dirty="0" err="1"/>
              <a:t>return</a:t>
            </a:r>
            <a:r>
              <a:rPr lang="pt-BR" sz="1580" b="1" dirty="0"/>
              <a:t> </a:t>
            </a:r>
            <a:r>
              <a:rPr lang="pt-BR" sz="1580" b="1" dirty="0" err="1"/>
              <a:t>String</a:t>
            </a:r>
            <a:r>
              <a:rPr lang="pt-BR" sz="1580" b="1" dirty="0"/>
              <a:t>(</a:t>
            </a:r>
            <a:r>
              <a:rPr lang="pt-BR" sz="1580" b="1" dirty="0" err="1"/>
              <a:t>umid</a:t>
            </a:r>
            <a:r>
              <a:rPr lang="pt-BR" sz="1580" b="1" dirty="0"/>
              <a:t>, 1);</a:t>
            </a:r>
            <a:br>
              <a:rPr lang="pt-BR" sz="1580" b="1" dirty="0"/>
            </a:br>
            <a:r>
              <a:rPr lang="pt-BR" sz="1580" b="1" dirty="0"/>
              <a:t>}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String</a:t>
            </a:r>
            <a:r>
              <a:rPr lang="pt-BR" sz="1580" b="1" dirty="0"/>
              <a:t> processor(</a:t>
            </a:r>
            <a:r>
              <a:rPr lang="pt-BR" sz="1580" b="1" dirty="0" err="1"/>
              <a:t>const</a:t>
            </a:r>
            <a:r>
              <a:rPr lang="pt-BR" sz="1580" b="1" dirty="0"/>
              <a:t> </a:t>
            </a:r>
            <a:r>
              <a:rPr lang="pt-BR" sz="1580" b="1" dirty="0" err="1"/>
              <a:t>String</a:t>
            </a:r>
            <a:r>
              <a:rPr lang="pt-BR" sz="1580" b="1" dirty="0"/>
              <a:t>&amp; var)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 err="1"/>
              <a:t>if</a:t>
            </a:r>
            <a:r>
              <a:rPr lang="pt-BR" sz="1580" b="1" dirty="0"/>
              <a:t> (var == "TEMP") </a:t>
            </a:r>
            <a:r>
              <a:rPr lang="pt-BR" sz="1580" b="1" dirty="0" err="1"/>
              <a:t>return</a:t>
            </a:r>
            <a:r>
              <a:rPr lang="pt-BR" sz="1580" b="1" dirty="0"/>
              <a:t> </a:t>
            </a:r>
            <a:r>
              <a:rPr lang="pt-BR" sz="1580" b="1" dirty="0" err="1"/>
              <a:t>le_temp</a:t>
            </a:r>
            <a:r>
              <a:rPr lang="pt-BR" sz="1580" b="1" dirty="0"/>
              <a:t>();</a:t>
            </a:r>
            <a:br>
              <a:rPr lang="pt-BR" sz="1580" b="1" dirty="0"/>
            </a:br>
            <a:r>
              <a:rPr lang="pt-BR" sz="1580" b="1" dirty="0" err="1"/>
              <a:t>if</a:t>
            </a:r>
            <a:r>
              <a:rPr lang="pt-BR" sz="1580" b="1" dirty="0"/>
              <a:t> (var == "UMID") </a:t>
            </a:r>
            <a:r>
              <a:rPr lang="pt-BR" sz="1580" b="1" dirty="0" err="1"/>
              <a:t>return</a:t>
            </a:r>
            <a:r>
              <a:rPr lang="pt-BR" sz="1580" b="1" dirty="0"/>
              <a:t> </a:t>
            </a:r>
            <a:r>
              <a:rPr lang="pt-BR" sz="1580" b="1" dirty="0" err="1"/>
              <a:t>le_umid</a:t>
            </a:r>
            <a:r>
              <a:rPr lang="pt-BR" sz="1580" b="1" dirty="0"/>
              <a:t>();</a:t>
            </a:r>
            <a:br>
              <a:rPr lang="pt-BR" sz="1580" b="1" dirty="0"/>
            </a:br>
            <a:r>
              <a:rPr lang="pt-BR" sz="1580" b="1" dirty="0" err="1"/>
              <a:t>return</a:t>
            </a:r>
            <a:r>
              <a:rPr lang="pt-BR" sz="1580" b="1" dirty="0"/>
              <a:t> </a:t>
            </a:r>
            <a:r>
              <a:rPr lang="pt-BR" sz="1580" b="1" dirty="0" err="1"/>
              <a:t>String</a:t>
            </a:r>
            <a:r>
              <a:rPr lang="pt-BR" sz="1580" b="1" dirty="0"/>
              <a:t>();</a:t>
            </a:r>
            <a:br>
              <a:rPr lang="pt-BR" sz="1580" b="1" dirty="0"/>
            </a:br>
            <a:r>
              <a:rPr lang="pt-BR" sz="1580" b="1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170FA0-574A-F17B-E252-8688DF8073D8}"/>
              </a:ext>
            </a:extLst>
          </p:cNvPr>
          <p:cNvSpPr txBox="1"/>
          <p:nvPr/>
        </p:nvSpPr>
        <p:spPr>
          <a:xfrm>
            <a:off x="6800119" y="59899"/>
            <a:ext cx="609600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80" b="1" dirty="0" err="1"/>
              <a:t>void</a:t>
            </a:r>
            <a:r>
              <a:rPr lang="pt-BR" sz="1580" b="1" dirty="0"/>
              <a:t> setup()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 err="1"/>
              <a:t>Serial.begin</a:t>
            </a:r>
            <a:r>
              <a:rPr lang="pt-BR" sz="1580" b="1" dirty="0"/>
              <a:t>(115200);</a:t>
            </a:r>
            <a:br>
              <a:rPr lang="pt-BR" sz="1580" b="1" dirty="0"/>
            </a:br>
            <a:r>
              <a:rPr lang="pt-BR" sz="1580" b="1" dirty="0" err="1"/>
              <a:t>pinMode</a:t>
            </a:r>
            <a:r>
              <a:rPr lang="pt-BR" sz="1580" b="1" dirty="0"/>
              <a:t>(led, OUTPUT);</a:t>
            </a:r>
            <a:br>
              <a:rPr lang="pt-BR" sz="1580" b="1" dirty="0"/>
            </a:br>
            <a:r>
              <a:rPr lang="pt-BR" sz="1580" b="1" dirty="0" err="1"/>
              <a:t>digitalWrite</a:t>
            </a:r>
            <a:r>
              <a:rPr lang="pt-BR" sz="1580" b="1" dirty="0"/>
              <a:t>(led, LOW);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if</a:t>
            </a:r>
            <a:r>
              <a:rPr lang="pt-BR" sz="1580" b="1" dirty="0"/>
              <a:t> (!</a:t>
            </a:r>
            <a:r>
              <a:rPr lang="pt-BR" sz="1580" b="1" dirty="0" err="1"/>
              <a:t>SPIFFS.begin</a:t>
            </a:r>
            <a:r>
              <a:rPr lang="pt-BR" sz="1580" b="1" dirty="0"/>
              <a:t>(</a:t>
            </a:r>
            <a:r>
              <a:rPr lang="pt-BR" sz="1580" b="1" dirty="0" err="1"/>
              <a:t>true</a:t>
            </a:r>
            <a:r>
              <a:rPr lang="pt-BR" sz="1580" b="1" dirty="0"/>
              <a:t>))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 err="1"/>
              <a:t>Serial.println</a:t>
            </a:r>
            <a:r>
              <a:rPr lang="pt-BR" sz="1580" b="1" dirty="0"/>
              <a:t>("Erro ao montar SPIFFS");</a:t>
            </a:r>
            <a:br>
              <a:rPr lang="pt-BR" sz="1580" b="1" dirty="0"/>
            </a:br>
            <a:r>
              <a:rPr lang="pt-BR" sz="1580" b="1" dirty="0" err="1"/>
              <a:t>return</a:t>
            </a:r>
            <a:r>
              <a:rPr lang="pt-BR" sz="1580" b="1" dirty="0"/>
              <a:t>;</a:t>
            </a:r>
            <a:br>
              <a:rPr lang="pt-BR" sz="1580" b="1" dirty="0"/>
            </a:br>
            <a:r>
              <a:rPr lang="pt-BR" sz="1580" b="1" dirty="0"/>
              <a:t>}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WiFi.begin</a:t>
            </a:r>
            <a:r>
              <a:rPr lang="pt-BR" sz="1580" b="1" dirty="0"/>
              <a:t>(</a:t>
            </a:r>
            <a:r>
              <a:rPr lang="pt-BR" sz="1580" b="1" dirty="0" err="1"/>
              <a:t>ssid</a:t>
            </a:r>
            <a:r>
              <a:rPr lang="pt-BR" sz="1580" b="1" dirty="0"/>
              <a:t>, </a:t>
            </a:r>
            <a:r>
              <a:rPr lang="pt-BR" sz="1580" b="1" dirty="0" err="1"/>
              <a:t>password</a:t>
            </a:r>
            <a:r>
              <a:rPr lang="pt-BR" sz="1580" b="1" dirty="0"/>
              <a:t>);</a:t>
            </a:r>
            <a:br>
              <a:rPr lang="pt-BR" sz="1580" b="1" dirty="0"/>
            </a:br>
            <a:r>
              <a:rPr lang="pt-BR" sz="1580" b="1" dirty="0" err="1"/>
              <a:t>Serial.print</a:t>
            </a:r>
            <a:r>
              <a:rPr lang="pt-BR" sz="1580" b="1" dirty="0"/>
              <a:t>("Conectando ao WiFi");</a:t>
            </a:r>
            <a:br>
              <a:rPr lang="pt-BR" sz="1580" b="1" dirty="0"/>
            </a:br>
            <a:r>
              <a:rPr lang="pt-BR" sz="1580" b="1" dirty="0" err="1"/>
              <a:t>while</a:t>
            </a:r>
            <a:r>
              <a:rPr lang="pt-BR" sz="1580" b="1" dirty="0"/>
              <a:t> (</a:t>
            </a:r>
            <a:r>
              <a:rPr lang="pt-BR" sz="1580" b="1" dirty="0" err="1"/>
              <a:t>WiFi.status</a:t>
            </a:r>
            <a:r>
              <a:rPr lang="pt-BR" sz="1580" b="1" dirty="0"/>
              <a:t>() != WL_CONNECTED)</a:t>
            </a:r>
            <a:br>
              <a:rPr lang="pt-BR" sz="1580" b="1" dirty="0"/>
            </a:br>
            <a:r>
              <a:rPr lang="pt-BR" sz="1580" b="1" dirty="0"/>
              <a:t>{</a:t>
            </a:r>
            <a:br>
              <a:rPr lang="pt-BR" sz="1580" b="1" dirty="0"/>
            </a:br>
            <a:r>
              <a:rPr lang="pt-BR" sz="1580" b="1" dirty="0"/>
              <a:t>delay(500);</a:t>
            </a:r>
            <a:br>
              <a:rPr lang="pt-BR" sz="1580" b="1" dirty="0"/>
            </a:br>
            <a:r>
              <a:rPr lang="pt-BR" sz="1580" b="1" dirty="0" err="1"/>
              <a:t>Serial.print</a:t>
            </a:r>
            <a:r>
              <a:rPr lang="pt-BR" sz="1580" b="1" dirty="0"/>
              <a:t>(".");</a:t>
            </a:r>
            <a:br>
              <a:rPr lang="pt-BR" sz="1580" b="1" dirty="0"/>
            </a:br>
            <a:r>
              <a:rPr lang="pt-BR" sz="1580" b="1" dirty="0"/>
              <a:t>}</a:t>
            </a:r>
            <a:br>
              <a:rPr lang="pt-BR" sz="1580" b="1" dirty="0"/>
            </a:br>
            <a:br>
              <a:rPr lang="pt-BR" sz="1580" b="1" dirty="0"/>
            </a:br>
            <a:r>
              <a:rPr lang="pt-BR" sz="1580" b="1" dirty="0" err="1"/>
              <a:t>Serial.println</a:t>
            </a:r>
            <a:r>
              <a:rPr lang="pt-BR" sz="1580" b="1" dirty="0"/>
              <a:t>();</a:t>
            </a:r>
            <a:br>
              <a:rPr lang="pt-BR" sz="1580" b="1" dirty="0"/>
            </a:br>
            <a:r>
              <a:rPr lang="pt-BR" sz="1580" b="1" dirty="0" err="1"/>
              <a:t>Serial.println</a:t>
            </a:r>
            <a:r>
              <a:rPr lang="pt-BR" sz="1580" b="1" dirty="0"/>
              <a:t>("WiFi conectado");</a:t>
            </a:r>
            <a:br>
              <a:rPr lang="pt-BR" sz="1580" b="1" dirty="0"/>
            </a:br>
            <a:r>
              <a:rPr lang="pt-BR" sz="1580" b="1" dirty="0" err="1"/>
              <a:t>Serial.print</a:t>
            </a:r>
            <a:r>
              <a:rPr lang="pt-BR" sz="1580" b="1" dirty="0"/>
              <a:t>("IP: ");</a:t>
            </a:r>
            <a:br>
              <a:rPr lang="pt-BR" sz="1580" b="1" dirty="0"/>
            </a:br>
            <a:r>
              <a:rPr lang="pt-BR" sz="1580" b="1" dirty="0" err="1"/>
              <a:t>Serial.println</a:t>
            </a:r>
            <a:r>
              <a:rPr lang="pt-BR" sz="1580" b="1" dirty="0"/>
              <a:t>(</a:t>
            </a:r>
            <a:r>
              <a:rPr lang="pt-BR" sz="1580" b="1" dirty="0" err="1"/>
              <a:t>WiFi.localIP</a:t>
            </a:r>
            <a:r>
              <a:rPr lang="pt-BR" sz="1580" b="1" dirty="0"/>
              <a:t>());</a:t>
            </a:r>
            <a:br>
              <a:rPr lang="pt-BR" sz="1580" b="1" dirty="0"/>
            </a:br>
            <a:endParaRPr lang="pt-BR" sz="1580" b="1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08EBA07-E6F5-3AEF-6BD8-306CD466C505}"/>
              </a:ext>
            </a:extLst>
          </p:cNvPr>
          <p:cNvCxnSpPr/>
          <p:nvPr/>
        </p:nvCxnSpPr>
        <p:spPr>
          <a:xfrm>
            <a:off x="6038335" y="109151"/>
            <a:ext cx="57665" cy="663969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85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25F4F2B-E27A-4C54-A7A2-CA46FEA57A60}"/>
              </a:ext>
            </a:extLst>
          </p:cNvPr>
          <p:cNvSpPr txBox="1"/>
          <p:nvPr/>
        </p:nvSpPr>
        <p:spPr>
          <a:xfrm>
            <a:off x="0" y="101401"/>
            <a:ext cx="6096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00" b="1" dirty="0" err="1"/>
              <a:t>server.on</a:t>
            </a:r>
            <a:r>
              <a:rPr lang="pt-BR" sz="1500" b="1" dirty="0"/>
              <a:t>("/", HTTP_GET, [](</a:t>
            </a:r>
            <a:r>
              <a:rPr lang="pt-BR" sz="1500" b="1" dirty="0" err="1"/>
              <a:t>AsyncWebServerRequest</a:t>
            </a:r>
            <a:r>
              <a:rPr lang="pt-BR" sz="1500" b="1" dirty="0"/>
              <a:t> *</a:t>
            </a:r>
            <a:r>
              <a:rPr lang="pt-BR" sz="1500" b="1" dirty="0" err="1"/>
              <a:t>request</a:t>
            </a:r>
            <a:r>
              <a:rPr lang="pt-BR" sz="1500" b="1" dirty="0"/>
              <a:t>)</a:t>
            </a:r>
            <a:br>
              <a:rPr lang="pt-BR" sz="1500" b="1" dirty="0"/>
            </a:br>
            <a:r>
              <a:rPr lang="pt-BR" sz="1500" b="1" dirty="0"/>
              <a:t>{</a:t>
            </a:r>
            <a:br>
              <a:rPr lang="pt-BR" sz="1500" b="1" dirty="0"/>
            </a:br>
            <a:r>
              <a:rPr lang="pt-BR" sz="1500" b="1" dirty="0" err="1"/>
              <a:t>request</a:t>
            </a:r>
            <a:r>
              <a:rPr lang="pt-BR" sz="1500" b="1" dirty="0"/>
              <a:t>-&gt;</a:t>
            </a:r>
            <a:r>
              <a:rPr lang="pt-BR" sz="1500" b="1" dirty="0" err="1"/>
              <a:t>send</a:t>
            </a:r>
            <a:r>
              <a:rPr lang="pt-BR" sz="1500" b="1" dirty="0"/>
              <a:t>(SPIFFS, "/index.html", </a:t>
            </a:r>
            <a:r>
              <a:rPr lang="pt-BR" sz="1500" b="1" dirty="0" err="1"/>
              <a:t>String</a:t>
            </a:r>
            <a:r>
              <a:rPr lang="pt-BR" sz="1500" b="1" dirty="0"/>
              <a:t>(), false, processor);</a:t>
            </a:r>
            <a:br>
              <a:rPr lang="pt-BR" sz="1500" b="1" dirty="0"/>
            </a:br>
            <a:r>
              <a:rPr lang="pt-BR" sz="1500" b="1" dirty="0"/>
              <a:t>});</a:t>
            </a:r>
            <a:br>
              <a:rPr lang="pt-BR" sz="1500" b="1" dirty="0"/>
            </a:br>
            <a:br>
              <a:rPr lang="pt-BR" sz="1500" b="1" dirty="0"/>
            </a:br>
            <a:r>
              <a:rPr lang="pt-BR" sz="1500" b="1" dirty="0"/>
              <a:t>// Arquivos estáticos: </a:t>
            </a:r>
            <a:r>
              <a:rPr lang="pt-BR" sz="1500" b="1" dirty="0" err="1"/>
              <a:t>css</a:t>
            </a:r>
            <a:r>
              <a:rPr lang="pt-BR" sz="1500" b="1" dirty="0"/>
              <a:t>, </a:t>
            </a:r>
            <a:r>
              <a:rPr lang="pt-BR" sz="1500" b="1" dirty="0" err="1"/>
              <a:t>js</a:t>
            </a:r>
            <a:r>
              <a:rPr lang="pt-BR" sz="1500" b="1" dirty="0"/>
              <a:t>, png, </a:t>
            </a:r>
            <a:r>
              <a:rPr lang="pt-BR" sz="1500" b="1" dirty="0" err="1"/>
              <a:t>jpg</a:t>
            </a:r>
            <a:r>
              <a:rPr lang="pt-BR" sz="1500" b="1" dirty="0"/>
              <a:t>, svg, etc.</a:t>
            </a:r>
            <a:br>
              <a:rPr lang="pt-BR" sz="1500" b="1" dirty="0"/>
            </a:br>
            <a:r>
              <a:rPr lang="pt-BR" sz="1500" b="1" dirty="0" err="1">
                <a:solidFill>
                  <a:srgbClr val="FFFF00"/>
                </a:solidFill>
              </a:rPr>
              <a:t>server.serveStatic</a:t>
            </a:r>
            <a:r>
              <a:rPr lang="pt-BR" sz="1500" b="1" dirty="0">
                <a:solidFill>
                  <a:srgbClr val="FFFF00"/>
                </a:solidFill>
              </a:rPr>
              <a:t>("/", SPIFFS, "/");</a:t>
            </a:r>
            <a:br>
              <a:rPr lang="pt-BR" sz="1500" b="1" dirty="0"/>
            </a:br>
            <a:br>
              <a:rPr lang="pt-BR" sz="1500" b="1" dirty="0"/>
            </a:br>
            <a:r>
              <a:rPr lang="pt-BR" sz="1500" b="1" dirty="0"/>
              <a:t>// Comandos</a:t>
            </a:r>
            <a:br>
              <a:rPr lang="pt-BR" sz="1500" b="1" dirty="0"/>
            </a:br>
            <a:r>
              <a:rPr lang="pt-BR" sz="1500" b="1" dirty="0" err="1"/>
              <a:t>server.on</a:t>
            </a:r>
            <a:r>
              <a:rPr lang="pt-BR" sz="1500" b="1" dirty="0"/>
              <a:t>("/</a:t>
            </a:r>
            <a:r>
              <a:rPr lang="pt-BR" sz="1500" b="1" dirty="0" err="1"/>
              <a:t>on</a:t>
            </a:r>
            <a:r>
              <a:rPr lang="pt-BR" sz="1500" b="1" dirty="0"/>
              <a:t>", HTTP_GET, [](</a:t>
            </a:r>
            <a:r>
              <a:rPr lang="pt-BR" sz="1500" b="1" dirty="0" err="1"/>
              <a:t>AsyncWebServerRequest</a:t>
            </a:r>
            <a:r>
              <a:rPr lang="pt-BR" sz="1500" b="1" dirty="0"/>
              <a:t> *</a:t>
            </a:r>
            <a:r>
              <a:rPr lang="pt-BR" sz="1500" b="1" dirty="0" err="1"/>
              <a:t>request</a:t>
            </a:r>
            <a:r>
              <a:rPr lang="pt-BR" sz="1500" b="1" dirty="0"/>
              <a:t>)</a:t>
            </a:r>
            <a:br>
              <a:rPr lang="pt-BR" sz="1500" b="1" dirty="0"/>
            </a:br>
            <a:r>
              <a:rPr lang="pt-BR" sz="1500" b="1" dirty="0"/>
              <a:t>{</a:t>
            </a:r>
            <a:br>
              <a:rPr lang="pt-BR" sz="1500" b="1" dirty="0"/>
            </a:br>
            <a:r>
              <a:rPr lang="pt-BR" sz="1500" b="1" dirty="0" err="1"/>
              <a:t>digitalWrite</a:t>
            </a:r>
            <a:r>
              <a:rPr lang="pt-BR" sz="1500" b="1" dirty="0"/>
              <a:t>(led, HIGH);</a:t>
            </a:r>
            <a:br>
              <a:rPr lang="pt-BR" sz="1500" b="1" dirty="0"/>
            </a:br>
            <a:r>
              <a:rPr lang="pt-BR" sz="1500" b="1" dirty="0" err="1">
                <a:solidFill>
                  <a:srgbClr val="FFC000"/>
                </a:solidFill>
              </a:rPr>
              <a:t>request</a:t>
            </a:r>
            <a:r>
              <a:rPr lang="pt-BR" sz="1500" b="1" dirty="0">
                <a:solidFill>
                  <a:srgbClr val="FFC000"/>
                </a:solidFill>
              </a:rPr>
              <a:t>-&gt;</a:t>
            </a:r>
            <a:r>
              <a:rPr lang="pt-BR" sz="1500" b="1" dirty="0" err="1">
                <a:solidFill>
                  <a:srgbClr val="FFC000"/>
                </a:solidFill>
              </a:rPr>
              <a:t>redirect</a:t>
            </a:r>
            <a:r>
              <a:rPr lang="pt-BR" sz="1500" b="1" dirty="0">
                <a:solidFill>
                  <a:srgbClr val="FFC000"/>
                </a:solidFill>
              </a:rPr>
              <a:t>("/");</a:t>
            </a:r>
            <a:br>
              <a:rPr lang="pt-BR" sz="1500" b="1" dirty="0"/>
            </a:br>
            <a:r>
              <a:rPr lang="pt-BR" sz="1500" b="1" dirty="0"/>
              <a:t>});</a:t>
            </a:r>
            <a:br>
              <a:rPr lang="pt-BR" sz="1500" b="1" dirty="0"/>
            </a:br>
            <a:br>
              <a:rPr lang="pt-BR" sz="1500" b="1" dirty="0"/>
            </a:br>
            <a:r>
              <a:rPr lang="pt-BR" sz="1500" b="1" dirty="0" err="1"/>
              <a:t>server.on</a:t>
            </a:r>
            <a:r>
              <a:rPr lang="pt-BR" sz="1500" b="1" dirty="0"/>
              <a:t>("/off", HTTP_GET, [](</a:t>
            </a:r>
            <a:r>
              <a:rPr lang="pt-BR" sz="1500" b="1" dirty="0" err="1"/>
              <a:t>AsyncWebServerRequest</a:t>
            </a:r>
            <a:r>
              <a:rPr lang="pt-BR" sz="1500" b="1" dirty="0"/>
              <a:t> *</a:t>
            </a:r>
            <a:r>
              <a:rPr lang="pt-BR" sz="1500" b="1" dirty="0" err="1"/>
              <a:t>request</a:t>
            </a:r>
            <a:r>
              <a:rPr lang="pt-BR" sz="1500" b="1" dirty="0"/>
              <a:t>)</a:t>
            </a:r>
            <a:br>
              <a:rPr lang="pt-BR" sz="1500" b="1" dirty="0"/>
            </a:br>
            <a:r>
              <a:rPr lang="pt-BR" sz="1500" b="1" dirty="0"/>
              <a:t>{</a:t>
            </a:r>
            <a:br>
              <a:rPr lang="pt-BR" sz="1500" b="1" dirty="0"/>
            </a:br>
            <a:r>
              <a:rPr lang="pt-BR" sz="1500" b="1" dirty="0" err="1"/>
              <a:t>digitalWrite</a:t>
            </a:r>
            <a:r>
              <a:rPr lang="pt-BR" sz="1500" b="1" dirty="0"/>
              <a:t>(led, LOW);</a:t>
            </a:r>
            <a:br>
              <a:rPr lang="pt-BR" sz="1500" b="1" dirty="0"/>
            </a:br>
            <a:r>
              <a:rPr lang="pt-BR" sz="1500" b="1" dirty="0" err="1">
                <a:solidFill>
                  <a:srgbClr val="FFC000"/>
                </a:solidFill>
              </a:rPr>
              <a:t>request</a:t>
            </a:r>
            <a:r>
              <a:rPr lang="pt-BR" sz="1500" b="1" dirty="0">
                <a:solidFill>
                  <a:srgbClr val="FFC000"/>
                </a:solidFill>
              </a:rPr>
              <a:t>-&gt;</a:t>
            </a:r>
            <a:r>
              <a:rPr lang="pt-BR" sz="1500" b="1" dirty="0" err="1">
                <a:solidFill>
                  <a:srgbClr val="FFC000"/>
                </a:solidFill>
              </a:rPr>
              <a:t>redirect</a:t>
            </a:r>
            <a:r>
              <a:rPr lang="pt-BR" sz="1500" b="1" dirty="0">
                <a:solidFill>
                  <a:srgbClr val="FFC000"/>
                </a:solidFill>
              </a:rPr>
              <a:t>("/");</a:t>
            </a:r>
            <a:br>
              <a:rPr lang="pt-BR" sz="1500" b="1" dirty="0"/>
            </a:br>
            <a:r>
              <a:rPr lang="pt-BR" sz="1500" b="1" dirty="0"/>
              <a:t>});</a:t>
            </a:r>
            <a:br>
              <a:rPr lang="pt-BR" sz="1500" b="1" dirty="0"/>
            </a:br>
            <a:br>
              <a:rPr lang="pt-BR" sz="1500" b="1" dirty="0"/>
            </a:br>
            <a:endParaRPr lang="pt-BR" sz="15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49064D-C2F9-AA32-2547-9EFDA1780E3B}"/>
              </a:ext>
            </a:extLst>
          </p:cNvPr>
          <p:cNvSpPr txBox="1"/>
          <p:nvPr/>
        </p:nvSpPr>
        <p:spPr>
          <a:xfrm>
            <a:off x="6216316" y="3217169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/>
              <a:t>server.on</a:t>
            </a:r>
            <a:r>
              <a:rPr lang="pt-BR" sz="1400" b="1" dirty="0"/>
              <a:t>("/</a:t>
            </a:r>
            <a:r>
              <a:rPr lang="pt-BR" sz="1400" b="1" dirty="0" err="1"/>
              <a:t>temp</a:t>
            </a:r>
            <a:r>
              <a:rPr lang="pt-BR" sz="1400" b="1" dirty="0"/>
              <a:t>", HTTP_GET, [](</a:t>
            </a:r>
            <a:r>
              <a:rPr lang="pt-BR" sz="1400" b="1" dirty="0" err="1"/>
              <a:t>AsyncWebServerRequest</a:t>
            </a:r>
            <a:r>
              <a:rPr lang="pt-BR" sz="1400" b="1" dirty="0"/>
              <a:t> *</a:t>
            </a:r>
            <a:r>
              <a:rPr lang="pt-BR" sz="1400" b="1" dirty="0" err="1"/>
              <a:t>request</a:t>
            </a:r>
            <a:r>
              <a:rPr lang="pt-BR" sz="1400" b="1" dirty="0"/>
              <a:t>)</a:t>
            </a:r>
            <a:br>
              <a:rPr lang="pt-BR" sz="1400" b="1" dirty="0"/>
            </a:br>
            <a:r>
              <a:rPr lang="pt-BR" sz="1400" b="1" dirty="0"/>
              <a:t>{</a:t>
            </a:r>
            <a:br>
              <a:rPr lang="pt-BR" sz="1400" b="1" dirty="0"/>
            </a:br>
            <a:r>
              <a:rPr lang="pt-BR" sz="1400" b="1" dirty="0" err="1"/>
              <a:t>request</a:t>
            </a:r>
            <a:r>
              <a:rPr lang="pt-BR" sz="1400" b="1" dirty="0"/>
              <a:t>-&gt;</a:t>
            </a:r>
            <a:r>
              <a:rPr lang="pt-BR" sz="1400" b="1" dirty="0" err="1"/>
              <a:t>send</a:t>
            </a:r>
            <a:r>
              <a:rPr lang="pt-BR" sz="1400" b="1" dirty="0"/>
              <a:t>(200, "</a:t>
            </a:r>
            <a:r>
              <a:rPr lang="pt-BR" sz="1400" b="1" dirty="0" err="1"/>
              <a:t>text</a:t>
            </a:r>
            <a:r>
              <a:rPr lang="pt-BR" sz="1400" b="1" dirty="0"/>
              <a:t>/</a:t>
            </a:r>
            <a:r>
              <a:rPr lang="pt-BR" sz="1400" b="1" dirty="0" err="1"/>
              <a:t>plain</a:t>
            </a:r>
            <a:r>
              <a:rPr lang="pt-BR" sz="1400" b="1" dirty="0"/>
              <a:t>", </a:t>
            </a:r>
            <a:r>
              <a:rPr lang="pt-BR" sz="1400" b="1" dirty="0" err="1"/>
              <a:t>le_temp</a:t>
            </a:r>
            <a:r>
              <a:rPr lang="pt-BR" sz="1400" b="1" dirty="0"/>
              <a:t>());</a:t>
            </a:r>
            <a:br>
              <a:rPr lang="pt-BR" sz="1400" b="1" dirty="0"/>
            </a:br>
            <a:r>
              <a:rPr lang="pt-BR" sz="1400" b="1" dirty="0"/>
              <a:t>});</a:t>
            </a:r>
            <a:br>
              <a:rPr lang="pt-BR" sz="1400" b="1" dirty="0"/>
            </a:br>
            <a:br>
              <a:rPr lang="pt-BR" sz="1400" b="1" dirty="0"/>
            </a:br>
            <a:r>
              <a:rPr lang="pt-BR" sz="1400" b="1" dirty="0" err="1"/>
              <a:t>server.on</a:t>
            </a:r>
            <a:r>
              <a:rPr lang="pt-BR" sz="1400" b="1" dirty="0"/>
              <a:t>("/</a:t>
            </a:r>
            <a:r>
              <a:rPr lang="pt-BR" sz="1400" b="1" dirty="0" err="1"/>
              <a:t>umid</a:t>
            </a:r>
            <a:r>
              <a:rPr lang="pt-BR" sz="1400" b="1" dirty="0"/>
              <a:t>", HTTP_GET, [](</a:t>
            </a:r>
            <a:r>
              <a:rPr lang="pt-BR" sz="1400" b="1" dirty="0" err="1"/>
              <a:t>AsyncWebServerRequest</a:t>
            </a:r>
            <a:r>
              <a:rPr lang="pt-BR" sz="1400" b="1" dirty="0"/>
              <a:t> *</a:t>
            </a:r>
            <a:r>
              <a:rPr lang="pt-BR" sz="1400" b="1" dirty="0" err="1"/>
              <a:t>request</a:t>
            </a:r>
            <a:r>
              <a:rPr lang="pt-BR" sz="1400" b="1" dirty="0"/>
              <a:t>)</a:t>
            </a:r>
            <a:br>
              <a:rPr lang="pt-BR" sz="1400" b="1" dirty="0"/>
            </a:br>
            <a:r>
              <a:rPr lang="pt-BR" sz="1400" b="1" dirty="0"/>
              <a:t>{</a:t>
            </a:r>
            <a:br>
              <a:rPr lang="pt-BR" sz="1400" b="1" dirty="0"/>
            </a:br>
            <a:r>
              <a:rPr lang="pt-BR" sz="1400" b="1" dirty="0" err="1"/>
              <a:t>request</a:t>
            </a:r>
            <a:r>
              <a:rPr lang="pt-BR" sz="1400" b="1" dirty="0"/>
              <a:t>-&gt;</a:t>
            </a:r>
            <a:r>
              <a:rPr lang="pt-BR" sz="1400" b="1" dirty="0" err="1"/>
              <a:t>send</a:t>
            </a:r>
            <a:r>
              <a:rPr lang="pt-BR" sz="1400" b="1" dirty="0"/>
              <a:t>(200, "</a:t>
            </a:r>
            <a:r>
              <a:rPr lang="pt-BR" sz="1400" b="1" dirty="0" err="1"/>
              <a:t>text</a:t>
            </a:r>
            <a:r>
              <a:rPr lang="pt-BR" sz="1400" b="1" dirty="0"/>
              <a:t>/</a:t>
            </a:r>
            <a:r>
              <a:rPr lang="pt-BR" sz="1400" b="1" dirty="0" err="1"/>
              <a:t>plain</a:t>
            </a:r>
            <a:r>
              <a:rPr lang="pt-BR" sz="1400" b="1" dirty="0"/>
              <a:t>", </a:t>
            </a:r>
            <a:r>
              <a:rPr lang="pt-BR" sz="1400" b="1" dirty="0" err="1"/>
              <a:t>le_umid</a:t>
            </a:r>
            <a:r>
              <a:rPr lang="pt-BR" sz="1400" b="1" dirty="0"/>
              <a:t>());</a:t>
            </a:r>
            <a:br>
              <a:rPr lang="pt-BR" sz="1400" b="1" dirty="0"/>
            </a:br>
            <a:r>
              <a:rPr lang="pt-BR" sz="1400" b="1" dirty="0"/>
              <a:t>});</a:t>
            </a:r>
            <a:br>
              <a:rPr lang="pt-BR" sz="1400" b="1" dirty="0"/>
            </a:br>
            <a:br>
              <a:rPr lang="pt-BR" sz="1400" b="1" dirty="0"/>
            </a:br>
            <a:r>
              <a:rPr lang="pt-BR" sz="1400" b="1" dirty="0" err="1"/>
              <a:t>server.begin</a:t>
            </a:r>
            <a:r>
              <a:rPr lang="pt-BR" sz="1400" b="1" dirty="0"/>
              <a:t>();</a:t>
            </a:r>
            <a:br>
              <a:rPr lang="pt-BR" sz="1400" b="1" dirty="0"/>
            </a:br>
            <a:r>
              <a:rPr lang="pt-BR" sz="1400" b="1" dirty="0"/>
              <a:t>}</a:t>
            </a:r>
            <a:br>
              <a:rPr lang="pt-BR" sz="1400" b="1" dirty="0"/>
            </a:br>
            <a:br>
              <a:rPr lang="pt-BR" sz="1400" b="1" dirty="0"/>
            </a:br>
            <a:r>
              <a:rPr lang="pt-BR" sz="1400" b="1" dirty="0" err="1"/>
              <a:t>void</a:t>
            </a:r>
            <a:r>
              <a:rPr lang="pt-BR" sz="1400" b="1" dirty="0"/>
              <a:t> loop()</a:t>
            </a:r>
            <a:br>
              <a:rPr lang="pt-BR" sz="1400" b="1" dirty="0"/>
            </a:br>
            <a:r>
              <a:rPr lang="pt-BR" sz="1400" b="1" dirty="0"/>
              <a:t>{</a:t>
            </a:r>
            <a:br>
              <a:rPr lang="pt-BR" sz="1400" b="1" dirty="0"/>
            </a:br>
            <a:r>
              <a:rPr lang="pt-BR" sz="1400" b="1" dirty="0"/>
              <a:t>}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E16130-9A28-56EC-6A48-48FF7F7F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651" y="369184"/>
            <a:ext cx="5975684" cy="206210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pt-BR" sz="1600" b="1" dirty="0" err="1">
                <a:solidFill>
                  <a:srgbClr val="FFFF00"/>
                </a:solidFill>
              </a:rPr>
              <a:t>server.serveStatic</a:t>
            </a:r>
            <a:r>
              <a:rPr lang="pt-BR" sz="1600" b="1" dirty="0">
                <a:solidFill>
                  <a:srgbClr val="FFFF00"/>
                </a:solidFill>
              </a:rPr>
              <a:t>("/", SPIFFS, "/");</a:t>
            </a:r>
          </a:p>
          <a:p>
            <a:pPr algn="ctr" rtl="0"/>
            <a:endParaRPr lang="pt-BR" sz="1600" b="1" dirty="0">
              <a:solidFill>
                <a:srgbClr val="FFFF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quando o navegador pedir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/novo_estilo.css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</a:rPr>
              <a:t>, procure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/novo_estilo.css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</a:rPr>
              <a:t> no SPIFFS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quando pedir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/logo.png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</a:rPr>
              <a:t>, procure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/logo.png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quando pedir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/script.js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</a:rPr>
              <a:t>, procure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/script.js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Ou seja, você não precisa fazer um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server.on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 Unicode MS"/>
              </a:rPr>
              <a:t>()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</a:rPr>
              <a:t> para cada arquivo estático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DBB9C8F-9907-1F6C-C89F-26769ACDC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3" y="5165229"/>
            <a:ext cx="448138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redirect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("/");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evita duplicar envio de página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mantém o código mais limpo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navegador volta para a página principal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046501-D57C-0B02-B403-E87B9747513F}"/>
              </a:ext>
            </a:extLst>
          </p:cNvPr>
          <p:cNvCxnSpPr/>
          <p:nvPr/>
        </p:nvCxnSpPr>
        <p:spPr>
          <a:xfrm>
            <a:off x="6038335" y="109151"/>
            <a:ext cx="57665" cy="663969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87F508DD-CFE3-93A6-8D30-BC3C6A4CC1C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200400" y="1400236"/>
            <a:ext cx="2958251" cy="252101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87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AFF28-B7C9-01AE-1B83-BF65E08E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85" y="67216"/>
            <a:ext cx="9404723" cy="911352"/>
          </a:xfrm>
        </p:spPr>
        <p:txBody>
          <a:bodyPr/>
          <a:lstStyle/>
          <a:p>
            <a:r>
              <a:rPr lang="pt-BR" b="1" dirty="0"/>
              <a:t>Diferença entre o GET e o POST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3CACDE-CCF2-2CA6-EA08-6496754A89EE}"/>
              </a:ext>
            </a:extLst>
          </p:cNvPr>
          <p:cNvSpPr txBox="1"/>
          <p:nvPr/>
        </p:nvSpPr>
        <p:spPr>
          <a:xfrm>
            <a:off x="1227676" y="4278852"/>
            <a:ext cx="8317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server.on</a:t>
            </a:r>
            <a:r>
              <a:rPr lang="pt-BR" b="1" dirty="0"/>
              <a:t>("/</a:t>
            </a:r>
            <a:r>
              <a:rPr lang="pt-BR" b="1" dirty="0" err="1"/>
              <a:t>on</a:t>
            </a:r>
            <a:r>
              <a:rPr lang="pt-BR" b="1" dirty="0"/>
              <a:t>", HTTP_GET, [](</a:t>
            </a:r>
            <a:r>
              <a:rPr lang="pt-BR" b="1" dirty="0" err="1"/>
              <a:t>AsyncWebServerRequest</a:t>
            </a:r>
            <a:r>
              <a:rPr lang="pt-BR" b="1" dirty="0"/>
              <a:t> *</a:t>
            </a:r>
            <a:r>
              <a:rPr lang="pt-BR" b="1" dirty="0" err="1"/>
              <a:t>request</a:t>
            </a:r>
            <a:r>
              <a:rPr lang="pt-BR" b="1" dirty="0"/>
              <a:t>){    	</a:t>
            </a:r>
            <a:r>
              <a:rPr lang="pt-BR" b="1" dirty="0" err="1"/>
              <a:t>digitalWrite</a:t>
            </a:r>
            <a:r>
              <a:rPr lang="pt-BR" b="1" dirty="0"/>
              <a:t>(led, HIGH);    </a:t>
            </a:r>
          </a:p>
          <a:p>
            <a:r>
              <a:rPr lang="pt-BR" b="1" dirty="0"/>
              <a:t>	</a:t>
            </a:r>
            <a:r>
              <a:rPr lang="pt-BR" b="1" dirty="0" err="1"/>
              <a:t>request</a:t>
            </a:r>
            <a:r>
              <a:rPr lang="pt-BR" b="1" dirty="0"/>
              <a:t>-&gt;</a:t>
            </a:r>
            <a:r>
              <a:rPr lang="pt-BR" b="1" dirty="0" err="1"/>
              <a:t>redirect</a:t>
            </a:r>
            <a:r>
              <a:rPr lang="pt-BR" b="1" dirty="0"/>
              <a:t>("/");</a:t>
            </a:r>
          </a:p>
          <a:p>
            <a:r>
              <a:rPr lang="pt-BR" b="1" dirty="0"/>
              <a:t>});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6194598-1975-8177-AE61-7D63056C8566}"/>
              </a:ext>
            </a:extLst>
          </p:cNvPr>
          <p:cNvSpPr txBox="1"/>
          <p:nvPr/>
        </p:nvSpPr>
        <p:spPr>
          <a:xfrm>
            <a:off x="4729550" y="5479181"/>
            <a:ext cx="74147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server.on</a:t>
            </a:r>
            <a:r>
              <a:rPr lang="pt-BR" b="1" dirty="0"/>
              <a:t>("/</a:t>
            </a:r>
            <a:r>
              <a:rPr lang="pt-BR" b="1" dirty="0" err="1"/>
              <a:t>on</a:t>
            </a:r>
            <a:r>
              <a:rPr lang="pt-BR" b="1" dirty="0"/>
              <a:t>", HTTP_POST, [](</a:t>
            </a:r>
            <a:r>
              <a:rPr lang="pt-BR" b="1" dirty="0" err="1"/>
              <a:t>AsyncWebServerRequest</a:t>
            </a:r>
            <a:r>
              <a:rPr lang="pt-BR" b="1" dirty="0"/>
              <a:t> *</a:t>
            </a:r>
            <a:r>
              <a:rPr lang="pt-BR" b="1" dirty="0" err="1"/>
              <a:t>request</a:t>
            </a:r>
            <a:r>
              <a:rPr lang="pt-BR" b="1" dirty="0"/>
              <a:t>){    	</a:t>
            </a:r>
            <a:r>
              <a:rPr lang="pt-BR" b="1" dirty="0" err="1"/>
              <a:t>digitalWrite</a:t>
            </a:r>
            <a:r>
              <a:rPr lang="pt-BR" b="1" dirty="0"/>
              <a:t>(led, HIGH);    </a:t>
            </a:r>
          </a:p>
          <a:p>
            <a:r>
              <a:rPr lang="pt-BR" b="1" dirty="0"/>
              <a:t>	</a:t>
            </a:r>
            <a:r>
              <a:rPr lang="pt-BR" b="1" dirty="0" err="1"/>
              <a:t>request</a:t>
            </a:r>
            <a:r>
              <a:rPr lang="pt-BR" b="1" dirty="0"/>
              <a:t>-&gt;</a:t>
            </a:r>
            <a:r>
              <a:rPr lang="pt-BR" b="1" dirty="0" err="1"/>
              <a:t>redirect</a:t>
            </a:r>
            <a:r>
              <a:rPr lang="pt-BR" b="1" dirty="0"/>
              <a:t>("/");</a:t>
            </a:r>
          </a:p>
          <a:p>
            <a:r>
              <a:rPr lang="pt-BR" b="1" dirty="0"/>
              <a:t>});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B0A1931-BC85-A805-6921-64A5C27A5040}"/>
              </a:ext>
            </a:extLst>
          </p:cNvPr>
          <p:cNvSpPr txBox="1"/>
          <p:nvPr/>
        </p:nvSpPr>
        <p:spPr>
          <a:xfrm>
            <a:off x="3062091" y="3225479"/>
            <a:ext cx="9129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&lt;</a:t>
            </a:r>
            <a:r>
              <a:rPr lang="pt-BR" b="1" dirty="0" err="1"/>
              <a:t>form</a:t>
            </a:r>
            <a:r>
              <a:rPr lang="pt-BR" b="1" dirty="0"/>
              <a:t> </a:t>
            </a:r>
            <a:r>
              <a:rPr lang="pt-BR" b="1" dirty="0" err="1"/>
              <a:t>action</a:t>
            </a:r>
            <a:r>
              <a:rPr lang="pt-BR" b="1" dirty="0"/>
              <a:t>="/</a:t>
            </a:r>
            <a:r>
              <a:rPr lang="pt-BR" b="1" dirty="0" err="1"/>
              <a:t>on</a:t>
            </a:r>
            <a:r>
              <a:rPr lang="pt-BR" b="1" dirty="0"/>
              <a:t>" </a:t>
            </a:r>
            <a:r>
              <a:rPr lang="pt-BR" b="1" dirty="0" err="1"/>
              <a:t>method</a:t>
            </a:r>
            <a:r>
              <a:rPr lang="pt-BR" b="1" dirty="0"/>
              <a:t>="POST"&gt; &lt;</a:t>
            </a:r>
            <a:r>
              <a:rPr lang="pt-BR" b="1" dirty="0" err="1"/>
              <a:t>button</a:t>
            </a:r>
            <a:r>
              <a:rPr lang="pt-BR" b="1" dirty="0"/>
              <a:t> </a:t>
            </a:r>
            <a:r>
              <a:rPr lang="pt-BR" b="1" dirty="0" err="1"/>
              <a:t>type</a:t>
            </a:r>
            <a:r>
              <a:rPr lang="pt-BR" b="1" dirty="0"/>
              <a:t>="</a:t>
            </a:r>
            <a:r>
              <a:rPr lang="pt-BR" b="1" dirty="0" err="1"/>
              <a:t>submit</a:t>
            </a:r>
            <a:r>
              <a:rPr lang="pt-BR" b="1" dirty="0"/>
              <a:t>"&gt;ON&lt;/</a:t>
            </a:r>
            <a:r>
              <a:rPr lang="pt-BR" b="1" dirty="0" err="1"/>
              <a:t>button</a:t>
            </a:r>
            <a:r>
              <a:rPr lang="pt-BR" b="1" dirty="0"/>
              <a:t>&gt;&lt;/</a:t>
            </a:r>
            <a:r>
              <a:rPr lang="pt-BR" b="1" dirty="0" err="1"/>
              <a:t>form</a:t>
            </a:r>
            <a:r>
              <a:rPr lang="pt-BR" b="1" dirty="0"/>
              <a:t>&gt;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854051D-98F1-D173-DE45-381F5FB4C285}"/>
              </a:ext>
            </a:extLst>
          </p:cNvPr>
          <p:cNvSpPr txBox="1"/>
          <p:nvPr/>
        </p:nvSpPr>
        <p:spPr>
          <a:xfrm>
            <a:off x="140785" y="829051"/>
            <a:ext cx="11742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FF00"/>
                </a:solidFill>
              </a:rPr>
              <a:t>GET  </a:t>
            </a:r>
            <a:r>
              <a:rPr lang="pt-BR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  <a:r>
              <a:rPr lang="pt-BR" sz="2400" b="1" dirty="0">
                <a:solidFill>
                  <a:srgbClr val="FFFF00"/>
                </a:solidFill>
              </a:rPr>
              <a:t> quero buscar/consultar alguma coisa do servidor (</a:t>
            </a:r>
            <a:r>
              <a:rPr lang="pt-BR" sz="2400" b="1" dirty="0" err="1">
                <a:solidFill>
                  <a:srgbClr val="FFFF00"/>
                </a:solidFill>
              </a:rPr>
              <a:t>temp</a:t>
            </a:r>
            <a:r>
              <a:rPr lang="pt-BR" sz="2400" b="1" dirty="0">
                <a:solidFill>
                  <a:srgbClr val="FFFF00"/>
                </a:solidFill>
              </a:rPr>
              <a:t>/</a:t>
            </a:r>
            <a:r>
              <a:rPr lang="pt-BR" sz="2400" b="1" dirty="0" err="1">
                <a:solidFill>
                  <a:srgbClr val="FFFF00"/>
                </a:solidFill>
              </a:rPr>
              <a:t>umid</a:t>
            </a:r>
            <a:r>
              <a:rPr lang="pt-BR" sz="2400" b="1" dirty="0">
                <a:solidFill>
                  <a:srgbClr val="FFFF00"/>
                </a:solidFill>
              </a:rPr>
              <a:t>)</a:t>
            </a:r>
          </a:p>
          <a:p>
            <a:pPr algn="ctr"/>
            <a:r>
              <a:rPr lang="pt-BR" sz="2400" b="1" dirty="0">
                <a:solidFill>
                  <a:srgbClr val="FFFF00"/>
                </a:solidFill>
              </a:rPr>
              <a:t>POST </a:t>
            </a:r>
            <a:r>
              <a:rPr lang="pt-BR" sz="2400" b="1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  <a:r>
              <a:rPr lang="pt-BR" sz="2400" b="1" dirty="0">
                <a:solidFill>
                  <a:srgbClr val="FFFF00"/>
                </a:solidFill>
              </a:rPr>
              <a:t> quero enviar dados para o servidor (led </a:t>
            </a:r>
            <a:r>
              <a:rPr lang="pt-BR" sz="2400" b="1" dirty="0" err="1">
                <a:solidFill>
                  <a:srgbClr val="FFFF00"/>
                </a:solidFill>
              </a:rPr>
              <a:t>on</a:t>
            </a:r>
            <a:r>
              <a:rPr lang="pt-BR" sz="2400" b="1" dirty="0">
                <a:solidFill>
                  <a:srgbClr val="FFFF00"/>
                </a:solidFill>
              </a:rPr>
              <a:t>/led off)</a:t>
            </a:r>
          </a:p>
          <a:p>
            <a:pPr algn="ctr"/>
            <a:endParaRPr lang="pt-BR" sz="2400" b="1" dirty="0">
              <a:solidFill>
                <a:srgbClr val="FFFF00"/>
              </a:solidFill>
            </a:endParaRPr>
          </a:p>
          <a:p>
            <a:pPr algn="ctr"/>
            <a:r>
              <a:rPr lang="pt-BR" sz="2400" b="1" dirty="0">
                <a:solidFill>
                  <a:srgbClr val="FFFF00"/>
                </a:solidFill>
              </a:rPr>
              <a:t>Portanto: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5E5C0EE-729A-6D49-149D-1A8FC977EDA7}"/>
              </a:ext>
            </a:extLst>
          </p:cNvPr>
          <p:cNvSpPr txBox="1"/>
          <p:nvPr/>
        </p:nvSpPr>
        <p:spPr>
          <a:xfrm>
            <a:off x="224589" y="2440649"/>
            <a:ext cx="1001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b="1" dirty="0"/>
              <a:t>    &lt;p&gt;&lt;a </a:t>
            </a:r>
            <a:r>
              <a:rPr lang="pt-BR" b="1" dirty="0" err="1"/>
              <a:t>href</a:t>
            </a:r>
            <a:r>
              <a:rPr lang="pt-BR" b="1" dirty="0"/>
              <a:t>="/</a:t>
            </a:r>
            <a:r>
              <a:rPr lang="pt-BR" b="1" dirty="0" err="1"/>
              <a:t>on</a:t>
            </a:r>
            <a:r>
              <a:rPr lang="pt-BR" b="1" dirty="0"/>
              <a:t>"&gt;&lt;</a:t>
            </a:r>
            <a:r>
              <a:rPr lang="pt-BR" b="1" dirty="0" err="1"/>
              <a:t>button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="</a:t>
            </a:r>
            <a:r>
              <a:rPr lang="pt-BR" b="1" dirty="0" err="1"/>
              <a:t>button</a:t>
            </a:r>
            <a:r>
              <a:rPr lang="pt-BR" b="1" dirty="0"/>
              <a:t> button1"&gt;ON&lt;/</a:t>
            </a:r>
            <a:r>
              <a:rPr lang="pt-BR" b="1" dirty="0" err="1"/>
              <a:t>button</a:t>
            </a:r>
            <a:r>
              <a:rPr lang="pt-BR" b="1" dirty="0"/>
              <a:t>&gt;&lt;/a&gt; 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B72D73F-9D8D-2613-2A12-5C160E8E359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515762" y="2833064"/>
            <a:ext cx="1546329" cy="577081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C01E991-6FA3-A0FC-99B0-69C8814542D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062091" y="5445693"/>
            <a:ext cx="1667459" cy="633653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98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5C1BE6E-217D-F9EC-DA9C-20A1AB38D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2" y="714909"/>
            <a:ext cx="2143503" cy="369770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BE8A39-134C-75E7-8EFE-C2D35CFD2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17" y="860788"/>
            <a:ext cx="2156788" cy="335574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9D6488-AB78-BC38-BAFB-B9FD1EF2E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690" y="730957"/>
            <a:ext cx="2198492" cy="368165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0EF15DA-E087-2219-B880-D4C8F770B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630" y="179599"/>
            <a:ext cx="2093312" cy="397729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193834-DC39-51B9-7B49-46FB21FB4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630" y="4229088"/>
            <a:ext cx="2093312" cy="2553588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39BC2156-1F90-D34A-1052-DA65B47C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324"/>
            <a:ext cx="7483628" cy="911352"/>
          </a:xfrm>
        </p:spPr>
        <p:txBody>
          <a:bodyPr/>
          <a:lstStyle/>
          <a:p>
            <a:r>
              <a:rPr lang="pt-BR" sz="2800" b="1" dirty="0"/>
              <a:t>Configurando o Roteador </a:t>
            </a:r>
            <a:r>
              <a:rPr lang="pt-BR" sz="2800" b="1" dirty="0" err="1"/>
              <a:t>Wi-fi</a:t>
            </a:r>
            <a:r>
              <a:rPr lang="pt-BR" sz="2800" b="1" dirty="0"/>
              <a:t> no celular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496D0F7-184C-9B01-956F-DE6D57F10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9095" y="1252211"/>
            <a:ext cx="2396648" cy="52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23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1161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Arial Unicode MS</vt:lpstr>
      <vt:lpstr>Century Gothic</vt:lpstr>
      <vt:lpstr>Consolas</vt:lpstr>
      <vt:lpstr>Wingdings</vt:lpstr>
      <vt:lpstr>Wingdings 3</vt:lpstr>
      <vt:lpstr>Íon</vt:lpstr>
      <vt:lpstr>Exemplo de um webserver no ESP32 com simplificações</vt:lpstr>
      <vt:lpstr>Servidor WEB: HTML+CSS armazenados na Flash usando SPIFFS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Diferença entre o GET e o POST</vt:lpstr>
      <vt:lpstr>Configurando o Roteador Wi-fi no celular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aterroso</dc:creator>
  <cp:lastModifiedBy>Anderson Terroso</cp:lastModifiedBy>
  <cp:revision>4</cp:revision>
  <dcterms:created xsi:type="dcterms:W3CDTF">2026-03-12T18:55:16Z</dcterms:created>
  <dcterms:modified xsi:type="dcterms:W3CDTF">2026-08-13T20:28:53Z</dcterms:modified>
</cp:coreProperties>
</file>