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62" r:id="rId7"/>
    <p:sldId id="322" r:id="rId8"/>
    <p:sldId id="323" r:id="rId9"/>
    <p:sldId id="324" r:id="rId10"/>
    <p:sldId id="325" r:id="rId11"/>
    <p:sldId id="351" r:id="rId12"/>
    <p:sldId id="326" r:id="rId13"/>
    <p:sldId id="358" r:id="rId14"/>
    <p:sldId id="359" r:id="rId15"/>
    <p:sldId id="360" r:id="rId16"/>
    <p:sldId id="361" r:id="rId17"/>
  </p:sldIdLst>
  <p:sldSz cx="12192000" cy="6858000"/>
  <p:notesSz cx="13716000" cy="24384000"/>
  <p:defaultTextStyle>
    <a:defPPr rtl="0">
      <a:defRPr lang="pt-BR"/>
    </a:defPPr>
    <a:lvl1pPr marL="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388" autoAdjust="0"/>
  </p:normalViewPr>
  <p:slideViewPr>
    <p:cSldViewPr snapToGrid="0" snapToObjects="1">
      <p:cViewPr varScale="1">
        <p:scale>
          <a:sx n="95" d="100"/>
          <a:sy n="95" d="100"/>
        </p:scale>
        <p:origin x="163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41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DB32ED1-F310-4D41-8674-6BB1DBCD8C01}" type="datetimeyyyy">
              <a:rPr lang="pt-BR" smtClean="0"/>
              <a:t>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420BD0AB-C59E-4A46-83D3-F07787446BA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m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a Liv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" name="Forma Liv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a Liv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4" name="Imagem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pt-BR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pt-BR" sz="18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orma livre: Forma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15" name="Forma livre: Forma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m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2" name="Título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36" name="Forma Livre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3" name="Forma Liv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lvl="0" algn="ctr" rtl="0"/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o texto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52" name="Espaço Reservado para Imagem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m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9" name="Forma Liv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1" name="Forma Liv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3" name="Imagem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o Número do Slide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Imagem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3" name="Imagem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7" name="Imagem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9" name="Imagem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a Liv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Forma Livre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9" name="Espaço Reservado para o Número do Slide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3" name="Espaço Reservado para Conteúdo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5" name="Espaço Reservado para Conteúdo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pt-BR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pt-BR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pt-BR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indent="-283464">
              <a:spcBef>
                <a:spcPts val="1000"/>
              </a:spcBef>
              <a:defRPr lang="pt-BR" sz="1800"/>
            </a:lvl2pPr>
            <a:lvl3pPr indent="-283464">
              <a:spcBef>
                <a:spcPts val="1000"/>
              </a:spcBef>
              <a:defRPr lang="pt-BR" sz="1800"/>
            </a:lvl3pPr>
            <a:lvl4pPr indent="-283464">
              <a:spcBef>
                <a:spcPts val="1000"/>
              </a:spcBef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1" name="Espaço Reservado para Imagem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orma livre: Forma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21" name="Forma livre: Forma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2" name="Forma livre: Forma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m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44" name="Espaço Reservado para o Número do Slide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6" name="Imagem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21" name="Imagem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orma Livre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0" name="Espaço Reservado para Conteúdo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/>
          </a:p>
        </p:txBody>
      </p:sp>
      <p:sp>
        <p:nvSpPr>
          <p:cNvPr id="10" name="Forma Liv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0" name="Imagem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Texto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1800"/>
            </a:lvl1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pt-BR" sz="1800"/>
            </a:lvl1pPr>
            <a:lvl2pPr>
              <a:defRPr lang="pt-BR" sz="1800"/>
            </a:lvl2pPr>
            <a:lvl3pPr>
              <a:defRPr lang="pt-BR" sz="1800"/>
            </a:lvl3pPr>
            <a:lvl4pPr>
              <a:defRPr lang="pt-BR" sz="1800"/>
            </a:lvl4pPr>
            <a:lvl5pPr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Elemento gráfico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9" name="Forma Livre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6" name="Espaço Reservado para Conteúdo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Conteúdo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7" name="Espaço Reservado para o Número do Slide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pic>
        <p:nvPicPr>
          <p:cNvPr id="43" name="Elemento gráfico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Elemento gráfico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m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4" name="Espaço Reservado para Conteúdo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9" name="Imagem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pt-BR" sz="2400"/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pt-BR"/>
            </a:def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pt-BR" sz="3200"/>
            </a:lvl1pPr>
            <a:lvl2pPr>
              <a:defRPr lang="pt-BR" sz="2800"/>
            </a:lvl2pPr>
            <a:lvl3pPr>
              <a:defRPr lang="pt-BR" sz="2400"/>
            </a:lvl3pPr>
            <a:lvl4pPr>
              <a:defRPr lang="pt-BR" sz="2000"/>
            </a:lvl4pPr>
            <a:lvl5pPr>
              <a:defRPr lang="pt-BR" sz="2000"/>
            </a:lvl5pPr>
            <a:lvl6pPr>
              <a:defRPr lang="pt-BR" sz="2000"/>
            </a:lvl6pPr>
            <a:lvl7pPr>
              <a:defRPr lang="pt-BR" sz="2000"/>
            </a:lvl7pPr>
            <a:lvl8pPr>
              <a:defRPr lang="pt-BR" sz="2000"/>
            </a:lvl8pPr>
            <a:lvl9pPr>
              <a:defRPr lang="pt-BR" sz="2000"/>
            </a:lvl9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pt-BR" sz="2800"/>
            </a:lvl1pPr>
            <a:lvl2pPr marL="457200" indent="0">
              <a:buNone/>
              <a:defRPr lang="pt-BR" sz="2800"/>
            </a:lvl2pPr>
            <a:lvl3pPr marL="914400" indent="0">
              <a:buNone/>
              <a:defRPr lang="pt-BR" sz="2400"/>
            </a:lvl3pPr>
            <a:lvl4pPr marL="1371600" indent="0">
              <a:buNone/>
              <a:defRPr lang="pt-BR" sz="2000"/>
            </a:lvl4pPr>
            <a:lvl5pPr marL="1828800" indent="0">
              <a:buNone/>
              <a:defRPr lang="pt-BR" sz="2000"/>
            </a:lvl5pPr>
            <a:lvl6pPr marL="2286000" indent="0">
              <a:buNone/>
              <a:defRPr lang="pt-BR" sz="2000"/>
            </a:lvl6pPr>
            <a:lvl7pPr marL="2743200" indent="0">
              <a:buNone/>
              <a:defRPr lang="pt-BR" sz="2000"/>
            </a:lvl7pPr>
            <a:lvl8pPr marL="3200400" indent="0">
              <a:buNone/>
              <a:defRPr lang="pt-BR" sz="2000"/>
            </a:lvl8pPr>
            <a:lvl9pPr marL="3657600" indent="0">
              <a:buNone/>
              <a:defRPr lang="pt-BR" sz="2000"/>
            </a:lvl9pPr>
          </a:lstStyle>
          <a:p>
            <a:pPr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pt-BR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pt-BR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6632" y="0"/>
            <a:ext cx="7098631" cy="5454316"/>
          </a:xfrm>
        </p:spPr>
        <p:txBody>
          <a:bodyPr rtlCol="0" anchor="ctr"/>
          <a:lstStyle>
            <a:defPPr>
              <a:defRPr lang="pt-BR"/>
            </a:defPPr>
          </a:lstStyle>
          <a:p>
            <a:pPr rtl="0"/>
            <a:r>
              <a:rPr lang="pt-BR" sz="2800" dirty="0"/>
              <a:t>Configurando esp32 como </a:t>
            </a:r>
            <a:r>
              <a:rPr lang="pt-BR" sz="2800" dirty="0" err="1"/>
              <a:t>ap</a:t>
            </a:r>
            <a:r>
              <a:rPr lang="pt-BR" sz="2800" dirty="0"/>
              <a:t> (</a:t>
            </a:r>
            <a:r>
              <a:rPr lang="pt-BR" sz="2800" dirty="0" err="1"/>
              <a:t>access</a:t>
            </a:r>
            <a:r>
              <a:rPr lang="pt-BR" sz="2800" dirty="0"/>
              <a:t> point) e depois como </a:t>
            </a:r>
            <a:r>
              <a:rPr lang="pt-BR" sz="2800" dirty="0" err="1"/>
              <a:t>sta</a:t>
            </a:r>
            <a:r>
              <a:rPr lang="pt-BR" sz="2800" dirty="0"/>
              <a:t> (</a:t>
            </a:r>
            <a:r>
              <a:rPr lang="pt-BR" sz="2800" dirty="0" err="1"/>
              <a:t>station</a:t>
            </a:r>
            <a:r>
              <a:rPr lang="pt-BR" sz="2800" dirty="0"/>
              <a:t>)</a:t>
            </a:r>
            <a:br>
              <a:rPr lang="pt-BR" sz="2800" dirty="0"/>
            </a:br>
            <a:br>
              <a:rPr lang="pt-BR" sz="2800" dirty="0"/>
            </a:br>
            <a:br>
              <a:rPr lang="pt-BR" sz="2800" dirty="0"/>
            </a:br>
            <a:r>
              <a:rPr lang="pt-BR" sz="2000" b="0" i="1" cap="none" dirty="0"/>
              <a:t>Prof. Anderson Terroso</a:t>
            </a:r>
            <a:br>
              <a:rPr lang="pt-BR" sz="2000" b="0" i="1" cap="none" dirty="0"/>
            </a:br>
            <a:r>
              <a:rPr lang="pt-BR" sz="2000" b="0" i="1" cap="none" dirty="0"/>
              <a:t>Agosto/2026</a:t>
            </a:r>
            <a:br>
              <a:rPr lang="pt-BR" sz="2800" dirty="0"/>
            </a:b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77189"/>
            <a:ext cx="6583680" cy="68008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198880"/>
            <a:ext cx="7640320" cy="565912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NVS – Non-</a:t>
            </a:r>
            <a:r>
              <a:rPr lang="pt-BR" dirty="0" err="1"/>
              <a:t>volatile</a:t>
            </a:r>
            <a:r>
              <a:rPr lang="pt-BR" dirty="0"/>
              <a:t> </a:t>
            </a:r>
            <a:r>
              <a:rPr lang="pt-BR" dirty="0" err="1"/>
              <a:t>storage</a:t>
            </a:r>
            <a:endParaRPr lang="pt-BR" dirty="0"/>
          </a:p>
          <a:p>
            <a:pPr rtl="0"/>
            <a:r>
              <a:rPr lang="pt-BR" dirty="0"/>
              <a:t>Verificando se está configurado como AP ou STA</a:t>
            </a:r>
          </a:p>
          <a:p>
            <a:pPr rtl="0"/>
            <a:r>
              <a:rPr lang="pt-BR" dirty="0"/>
              <a:t>Configurando como AP</a:t>
            </a:r>
          </a:p>
          <a:p>
            <a:r>
              <a:rPr lang="pt-BR" dirty="0"/>
              <a:t>Configurando como STA</a:t>
            </a:r>
          </a:p>
          <a:p>
            <a:pPr rtl="0"/>
            <a:r>
              <a:rPr lang="pt-BR" dirty="0"/>
              <a:t>Como acessa a página </a:t>
            </a:r>
            <a:r>
              <a:rPr lang="pt-BR" dirty="0" err="1"/>
              <a:t>html</a:t>
            </a:r>
            <a:r>
              <a:rPr lang="pt-BR" dirty="0"/>
              <a:t> na memória (SPIFFS)</a:t>
            </a:r>
          </a:p>
          <a:p>
            <a:pPr rtl="0"/>
            <a:r>
              <a:rPr lang="pt-BR" dirty="0"/>
              <a:t>	- Como salvar os arquivos </a:t>
            </a:r>
            <a:r>
              <a:rPr lang="pt-BR" dirty="0" err="1"/>
              <a:t>html</a:t>
            </a:r>
            <a:r>
              <a:rPr lang="pt-BR" dirty="0"/>
              <a:t>/</a:t>
            </a:r>
            <a:r>
              <a:rPr lang="pt-BR" dirty="0" err="1"/>
              <a:t>css</a:t>
            </a:r>
            <a:r>
              <a:rPr lang="pt-BR" dirty="0"/>
              <a:t>/</a:t>
            </a:r>
            <a:r>
              <a:rPr lang="pt-BR" dirty="0" err="1"/>
              <a:t>js</a:t>
            </a:r>
            <a:r>
              <a:rPr lang="pt-BR" dirty="0"/>
              <a:t>/imagens no ESP</a:t>
            </a:r>
          </a:p>
          <a:p>
            <a:r>
              <a:rPr lang="pt-BR" dirty="0"/>
              <a:t>Página HTML e comando POST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4CA9DF-4F2A-CCC5-FC81-C23D2E16C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3</a:t>
            </a:fld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31D8622-3F8B-EE75-B390-4F9590DFB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8" y="528319"/>
            <a:ext cx="5849801" cy="2506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C2E85C3-BC63-6FD6-4E06-4CA1834B9A0F}"/>
              </a:ext>
            </a:extLst>
          </p:cNvPr>
          <p:cNvSpPr txBox="1"/>
          <p:nvPr/>
        </p:nvSpPr>
        <p:spPr>
          <a:xfrm>
            <a:off x="6506364" y="1320143"/>
            <a:ext cx="5088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Inicialmente o ESP32 está configurado como AP. Deve ter uma pagina HTML (formulário) para configurar o nome da rede </a:t>
            </a:r>
            <a:r>
              <a:rPr lang="pt-BR" b="1" dirty="0" err="1"/>
              <a:t>wifi</a:t>
            </a:r>
            <a:r>
              <a:rPr lang="pt-BR" b="1" dirty="0"/>
              <a:t> e a senha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A38D243-C6F9-D874-9293-669FC0284F56}"/>
              </a:ext>
            </a:extLst>
          </p:cNvPr>
          <p:cNvSpPr txBox="1"/>
          <p:nvPr/>
        </p:nvSpPr>
        <p:spPr>
          <a:xfrm>
            <a:off x="154142" y="4581702"/>
            <a:ext cx="5088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Depois de configurado a rede </a:t>
            </a:r>
            <a:r>
              <a:rPr lang="pt-BR" b="1" dirty="0" err="1"/>
              <a:t>wifi</a:t>
            </a:r>
            <a:r>
              <a:rPr lang="pt-BR" b="1" dirty="0"/>
              <a:t>, o ESP32 estará configurado como STA.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67BC1C8-F61A-B114-B5E6-C3291416F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728" y="3231477"/>
            <a:ext cx="6076298" cy="348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392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327484B-664D-25FA-DCC6-65DA4030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413267"/>
            <a:ext cx="11297920" cy="572254"/>
          </a:xfrm>
        </p:spPr>
        <p:txBody>
          <a:bodyPr/>
          <a:lstStyle/>
          <a:p>
            <a:r>
              <a:rPr lang="pt-BR" dirty="0"/>
              <a:t>NVS – Non-</a:t>
            </a:r>
            <a:r>
              <a:rPr lang="pt-BR" dirty="0" err="1"/>
              <a:t>volatile</a:t>
            </a:r>
            <a:r>
              <a:rPr lang="pt-BR" dirty="0"/>
              <a:t> </a:t>
            </a:r>
            <a:r>
              <a:rPr lang="pt-BR" dirty="0" err="1"/>
              <a:t>storage</a:t>
            </a:r>
            <a:endParaRPr lang="pt-BR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3421D4F-CE9B-9925-98E7-61ED6452C034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883920" y="993250"/>
            <a:ext cx="10525760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#include &lt;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Preferences.h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 é uma biblioteca nativa do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ESP32 (Arduino Core)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que fornece uma forma simples e prática de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armazenar dados de forma persistente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na memória flash do microcontrolador, utilizando o sistema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NVS (Non-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Volatile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Inicialização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Preferences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memoria;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altLang="pt-BR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memoria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.begin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("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meu_app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", false);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Escrita de valores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alt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memoria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.putInt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("contador", 123);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alt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memoria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.putFloat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("temperatura", 26.5);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alt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memoria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.putString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("nome", "Anderson");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Leitura de valores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contador = </a:t>
            </a:r>
            <a:r>
              <a:rPr lang="pt-BR" altLang="pt-BR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memoria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.getInt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("contador", 0); 	// 0 é o valor padrão caso não exista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float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temperatura = </a:t>
            </a:r>
            <a:r>
              <a:rPr lang="pt-BR" altLang="pt-BR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memoria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.getFloat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("temperatura", -1.0);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nome = </a:t>
            </a:r>
            <a:r>
              <a:rPr lang="pt-BR" altLang="pt-BR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memoria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.getString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("nome", "Desconhecido");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Remoção de valores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alt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memoria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.remove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("contador"); 	// Apaga só a chave "contador"</a:t>
            </a:r>
            <a:endParaRPr lang="pt-BR" altLang="pt-BR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 Fechar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alt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memoria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.end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(); 	// Libera os recursos da NVS</a:t>
            </a:r>
          </a:p>
        </p:txBody>
      </p:sp>
      <p:sp>
        <p:nvSpPr>
          <p:cNvPr id="15" name="Balão de Fala: Retângulo 14">
            <a:extLst>
              <a:ext uri="{FF2B5EF4-FFF2-40B4-BE49-F238E27FC236}">
                <a16:creationId xmlns:a16="http://schemas.microsoft.com/office/drawing/2014/main" id="{9F96C005-C939-CECD-C5F7-37A1831C940F}"/>
              </a:ext>
            </a:extLst>
          </p:cNvPr>
          <p:cNvSpPr/>
          <p:nvPr/>
        </p:nvSpPr>
        <p:spPr>
          <a:xfrm>
            <a:off x="5588000" y="1741224"/>
            <a:ext cx="6075680" cy="697176"/>
          </a:xfrm>
          <a:prstGeom prst="wedgeRectCallout">
            <a:avLst>
              <a:gd name="adj1" fmla="val -59629"/>
              <a:gd name="adj2" fmla="val 7790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meu_app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nome do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namespace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(máx. 15 caracteres).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alse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acesso de escrita (se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abre só leitura).</a:t>
            </a:r>
          </a:p>
        </p:txBody>
      </p:sp>
      <p:sp>
        <p:nvSpPr>
          <p:cNvPr id="17" name="Balão de Fala: Retângulo 16">
            <a:extLst>
              <a:ext uri="{FF2B5EF4-FFF2-40B4-BE49-F238E27FC236}">
                <a16:creationId xmlns:a16="http://schemas.microsoft.com/office/drawing/2014/main" id="{B2827C97-2BCA-E35D-D0B9-6603A7B74FEA}"/>
              </a:ext>
            </a:extLst>
          </p:cNvPr>
          <p:cNvSpPr/>
          <p:nvPr/>
        </p:nvSpPr>
        <p:spPr>
          <a:xfrm>
            <a:off x="6807200" y="3688079"/>
            <a:ext cx="4856480" cy="697175"/>
          </a:xfrm>
          <a:prstGeom prst="wedgeRectCallout">
            <a:avLst>
              <a:gd name="adj1" fmla="val -127985"/>
              <a:gd name="adj2" fmla="val 445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Neste caso precisa fazer nova inicialização:</a:t>
            </a:r>
          </a:p>
          <a:p>
            <a:pPr algn="ctr"/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memoria.begin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(“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meu_app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”,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</p:txBody>
      </p:sp>
      <p:sp>
        <p:nvSpPr>
          <p:cNvPr id="18" name="Balão de Fala: Retângulo 17">
            <a:extLst>
              <a:ext uri="{FF2B5EF4-FFF2-40B4-BE49-F238E27FC236}">
                <a16:creationId xmlns:a16="http://schemas.microsoft.com/office/drawing/2014/main" id="{208CB348-B4DD-D261-AA73-6D00A974AC29}"/>
              </a:ext>
            </a:extLst>
          </p:cNvPr>
          <p:cNvSpPr/>
          <p:nvPr/>
        </p:nvSpPr>
        <p:spPr>
          <a:xfrm>
            <a:off x="6807200" y="2792069"/>
            <a:ext cx="4856480" cy="697175"/>
          </a:xfrm>
          <a:prstGeom prst="wedgeRectCallout">
            <a:avLst>
              <a:gd name="adj1" fmla="val -88445"/>
              <a:gd name="adj2" fmla="val 2704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 chave (ex.: “contador”) pode armazenar até 1984 bytes (2kB)</a:t>
            </a: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74CDA6-503B-C994-A50D-4B86A67E4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457199"/>
            <a:ext cx="11247119" cy="1308737"/>
          </a:xfrm>
        </p:spPr>
        <p:txBody>
          <a:bodyPr/>
          <a:lstStyle/>
          <a:p>
            <a:r>
              <a:rPr lang="pt-BR" sz="2400" dirty="0"/>
              <a:t>Exemplo:</a:t>
            </a:r>
            <a:br>
              <a:rPr lang="pt-BR" sz="2400" dirty="0"/>
            </a:br>
            <a:br>
              <a:rPr lang="pt-BR" sz="1050" dirty="0"/>
            </a:br>
            <a:r>
              <a:rPr lang="pt-BR" sz="2400" dirty="0"/>
              <a:t>Pode ser usado para salvar as credenciais (modo app) e depois conecta as credenciais (modo </a:t>
            </a:r>
            <a:r>
              <a:rPr lang="pt-BR" sz="2400" dirty="0" err="1"/>
              <a:t>sta</a:t>
            </a:r>
            <a:r>
              <a:rPr lang="pt-BR" sz="2400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E124D2-77EE-6734-7AB9-24BDED12DC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398" y="1883728"/>
            <a:ext cx="10511627" cy="4842192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Salva no NVS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memoria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memoria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putString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newSsid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memoria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putString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newPass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memoria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        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Leitura no NVS</a:t>
            </a:r>
            <a:endParaRPr lang="pt-BR" dirty="0"/>
          </a:p>
          <a:p>
            <a:pPr marL="338328" lvl="1" indent="0">
              <a:buNone/>
            </a:pP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memoria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338328" lvl="1" indent="0">
              <a:buNone/>
            </a:pP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memoria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getString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338328" lvl="1" indent="0">
              <a:buNone/>
            </a:pP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memoria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getString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338328" lvl="1" indent="0">
              <a:buNone/>
            </a:pP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memoria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4895A1-0324-9B7A-FC3D-B9962870D1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92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C67E5-FA9C-B969-2654-7CDB24D28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928688"/>
            <a:ext cx="10511627" cy="590655"/>
          </a:xfrm>
        </p:spPr>
        <p:txBody>
          <a:bodyPr/>
          <a:lstStyle/>
          <a:p>
            <a:r>
              <a:rPr lang="pt-BR" dirty="0"/>
              <a:t>Configura a rede </a:t>
            </a:r>
            <a:r>
              <a:rPr lang="pt-BR" dirty="0" err="1"/>
              <a:t>ap</a:t>
            </a:r>
            <a:r>
              <a:rPr lang="pt-BR" dirty="0"/>
              <a:t> ou </a:t>
            </a:r>
            <a:r>
              <a:rPr lang="pt-BR" dirty="0" err="1"/>
              <a:t>sta</a:t>
            </a:r>
            <a:r>
              <a:rPr lang="pt-BR" dirty="0"/>
              <a:t>???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4DBC29-D9C4-8422-339E-7E5043DD6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6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3C9752-329A-168A-DB34-C1D539702718}"/>
              </a:ext>
            </a:extLst>
          </p:cNvPr>
          <p:cNvSpPr txBox="1"/>
          <p:nvPr/>
        </p:nvSpPr>
        <p:spPr>
          <a:xfrm>
            <a:off x="914400" y="1984362"/>
            <a:ext cx="10511627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// Depois que lê os dados da NVS, pode verificar se poderá chamar a função</a:t>
            </a:r>
          </a:p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 // se configura como Access Point (AP) ou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Station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(STA).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Se o nome da rede (SSID) e a senha estão vazios, significa que precisa</a:t>
            </a:r>
          </a:p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   // chamar a função de configuração AP.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setupAP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 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Agora se as credencias da rede </a:t>
            </a:r>
            <a:r>
              <a:rPr lang="pt-B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wi-fi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estão salvas, configura como STA.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setupSTA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614768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F06C76-17EE-1186-178C-D058F70EE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72" y="315594"/>
            <a:ext cx="11206480" cy="1012785"/>
          </a:xfrm>
        </p:spPr>
        <p:txBody>
          <a:bodyPr/>
          <a:lstStyle/>
          <a:p>
            <a:r>
              <a:rPr lang="pt-BR" dirty="0"/>
              <a:t>Configuração como </a:t>
            </a:r>
            <a:r>
              <a:rPr lang="pt-BR" dirty="0" err="1"/>
              <a:t>access</a:t>
            </a:r>
            <a:r>
              <a:rPr lang="pt-BR" dirty="0"/>
              <a:t> point (AP)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4D65B9-E4A4-3823-7399-5D0A870962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7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3E596C7-01E2-F932-19B8-7DEF9530519E}"/>
              </a:ext>
            </a:extLst>
          </p:cNvPr>
          <p:cNvSpPr txBox="1"/>
          <p:nvPr/>
        </p:nvSpPr>
        <p:spPr>
          <a:xfrm>
            <a:off x="418548" y="1328379"/>
            <a:ext cx="11354904" cy="54476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setupAP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Como não tinham as credenciais salvas, precisa criar uma rede </a:t>
            </a:r>
            <a:r>
              <a:rPr lang="pt-B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access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point).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configuração é o usando o </a:t>
            </a:r>
            <a:r>
              <a:rPr lang="pt-B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médoto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softAP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 </a:t>
            </a:r>
            <a:r>
              <a:rPr lang="pt-B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lib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onde os parâmetros são: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nome da rede </a:t>
            </a:r>
            <a:r>
              <a:rPr lang="pt-B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wi-fi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do ESP32 e a senha de acesso.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softAP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"ESP32HOME"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"12345678"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método </a:t>
            </a:r>
            <a:r>
              <a:rPr lang="pt-B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server.on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(192.168.4.1</a:t>
            </a:r>
            <a:r>
              <a:rPr lang="pt-BR" sz="20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 retorna um </a:t>
            </a:r>
            <a:r>
              <a:rPr lang="pt-B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(HTTP_GET) para o cliente.</a:t>
            </a:r>
            <a:b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HTTP_GET, 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PaginaConfig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método </a:t>
            </a:r>
            <a:r>
              <a:rPr lang="pt-B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server.on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(192.168.4.1</a:t>
            </a:r>
            <a:r>
              <a:rPr lang="pt-BR" sz="20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000" b="1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 recebe parâmetro (HTTP_POST) do cliente.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HTTP_POST, 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PaginaSalva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// O método </a:t>
            </a:r>
            <a:r>
              <a:rPr lang="pt-B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server.serverStatic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(192.168.4.1</a:t>
            </a:r>
            <a:r>
              <a:rPr lang="pt-BR" sz="20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 busca todos arquivos que o </a:t>
            </a:r>
            <a:r>
              <a:rPr lang="pt-B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precise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serveStatic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SPIFFS, 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44763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05636-555D-0CA8-F4C3-7D4F5ED44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0"/>
            <a:ext cx="10511627" cy="471488"/>
          </a:xfrm>
        </p:spPr>
        <p:txBody>
          <a:bodyPr/>
          <a:lstStyle/>
          <a:p>
            <a:r>
              <a:rPr lang="pt-BR" dirty="0"/>
              <a:t>Configurar como </a:t>
            </a:r>
            <a:r>
              <a:rPr lang="pt-BR" dirty="0" err="1"/>
              <a:t>sta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3F9384-0D82-F83D-1305-8AAC5EC65F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8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C1968D7-BDCE-2A43-8B28-3975C5186F71}"/>
              </a:ext>
            </a:extLst>
          </p:cNvPr>
          <p:cNvSpPr txBox="1"/>
          <p:nvPr/>
        </p:nvSpPr>
        <p:spPr>
          <a:xfrm>
            <a:off x="840186" y="520562"/>
            <a:ext cx="10586720" cy="618630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setupSTA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c_str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c_str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"Conectando em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pt-B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c_str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millis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WL_CONNECTED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millis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10000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WL_CONNECTED) 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pt-BR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Conectado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com sucesso!"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localIP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flag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 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pt-BR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Falha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ao conectar, iniciando AP novamente..."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setupAP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Balão de Fala: Retângulo com Cantos Arredondados 6">
            <a:extLst>
              <a:ext uri="{FF2B5EF4-FFF2-40B4-BE49-F238E27FC236}">
                <a16:creationId xmlns:a16="http://schemas.microsoft.com/office/drawing/2014/main" id="{E193F038-F244-238D-67B8-E6C9F35B107D}"/>
              </a:ext>
            </a:extLst>
          </p:cNvPr>
          <p:cNvSpPr/>
          <p:nvPr/>
        </p:nvSpPr>
        <p:spPr>
          <a:xfrm>
            <a:off x="8148321" y="537433"/>
            <a:ext cx="3278586" cy="1194704"/>
          </a:xfrm>
          <a:prstGeom prst="wedgeRoundRectCallout">
            <a:avLst>
              <a:gd name="adj1" fmla="val -55547"/>
              <a:gd name="adj2" fmla="val 1981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Primeira coisa, tenta se conectar a rede </a:t>
            </a:r>
            <a:r>
              <a:rPr lang="pt-BR" altLang="pt-BR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wi-fi</a:t>
            </a:r>
            <a:r>
              <a:rPr lang="pt-BR" alt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indicada.... Se o ESP conseguir se conectar....o </a:t>
            </a:r>
            <a:r>
              <a:rPr lang="pt-BR" altLang="pt-BR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pt-BR" alt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não é executado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have Direita 7">
            <a:extLst>
              <a:ext uri="{FF2B5EF4-FFF2-40B4-BE49-F238E27FC236}">
                <a16:creationId xmlns:a16="http://schemas.microsoft.com/office/drawing/2014/main" id="{5FEF6FE3-2C08-CF90-8627-3C51F45F203E}"/>
              </a:ext>
            </a:extLst>
          </p:cNvPr>
          <p:cNvSpPr/>
          <p:nvPr/>
        </p:nvSpPr>
        <p:spPr>
          <a:xfrm>
            <a:off x="7843520" y="1087120"/>
            <a:ext cx="121920" cy="598488"/>
          </a:xfrm>
          <a:prstGeom prst="rightBrace">
            <a:avLst>
              <a:gd name="adj1" fmla="val 80472"/>
              <a:gd name="adj2" fmla="val 50000"/>
            </a:avLst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921DAD8-B0E5-C034-736A-109CBF48AFC6}"/>
              </a:ext>
            </a:extLst>
          </p:cNvPr>
          <p:cNvGrpSpPr/>
          <p:nvPr/>
        </p:nvGrpSpPr>
        <p:grpSpPr>
          <a:xfrm>
            <a:off x="7904478" y="2427751"/>
            <a:ext cx="3278588" cy="2438889"/>
            <a:chOff x="7904478" y="2427751"/>
            <a:chExt cx="3278588" cy="2438889"/>
          </a:xfrm>
        </p:grpSpPr>
        <p:sp>
          <p:nvSpPr>
            <p:cNvPr id="10" name="Balão de Fala: Retângulo com Cantos Arredondados 9">
              <a:extLst>
                <a:ext uri="{FF2B5EF4-FFF2-40B4-BE49-F238E27FC236}">
                  <a16:creationId xmlns:a16="http://schemas.microsoft.com/office/drawing/2014/main" id="{0E08ED64-91DB-84E4-68E6-513BCC2E1E46}"/>
                </a:ext>
              </a:extLst>
            </p:cNvPr>
            <p:cNvSpPr/>
            <p:nvPr/>
          </p:nvSpPr>
          <p:spPr>
            <a:xfrm>
              <a:off x="7904478" y="2450712"/>
              <a:ext cx="3278586" cy="2415928"/>
            </a:xfrm>
            <a:prstGeom prst="wedgeRoundRectCallout">
              <a:avLst>
                <a:gd name="adj1" fmla="val -76000"/>
                <a:gd name="adj2" fmla="val 78272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Balão de Fala: Retângulo com Cantos Arredondados 10">
              <a:extLst>
                <a:ext uri="{FF2B5EF4-FFF2-40B4-BE49-F238E27FC236}">
                  <a16:creationId xmlns:a16="http://schemas.microsoft.com/office/drawing/2014/main" id="{2ACFB983-BFB5-60E4-3A42-FA9E560F4D91}"/>
                </a:ext>
              </a:extLst>
            </p:cNvPr>
            <p:cNvSpPr/>
            <p:nvPr/>
          </p:nvSpPr>
          <p:spPr>
            <a:xfrm>
              <a:off x="7904479" y="2427751"/>
              <a:ext cx="3278586" cy="2415928"/>
            </a:xfrm>
            <a:prstGeom prst="wedgeRoundRectCallout">
              <a:avLst>
                <a:gd name="adj1" fmla="val -87466"/>
                <a:gd name="adj2" fmla="val 3415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Balão de Fala: Retângulo com Cantos Arredondados 8">
              <a:extLst>
                <a:ext uri="{FF2B5EF4-FFF2-40B4-BE49-F238E27FC236}">
                  <a16:creationId xmlns:a16="http://schemas.microsoft.com/office/drawing/2014/main" id="{2C71E8AB-85B7-33AC-032C-0283B8C64E1E}"/>
                </a:ext>
              </a:extLst>
            </p:cNvPr>
            <p:cNvSpPr/>
            <p:nvPr/>
          </p:nvSpPr>
          <p:spPr>
            <a:xfrm>
              <a:off x="7904480" y="2427751"/>
              <a:ext cx="3278586" cy="2415928"/>
            </a:xfrm>
            <a:prstGeom prst="wedgeRoundRectCallout">
              <a:avLst>
                <a:gd name="adj1" fmla="val -69492"/>
                <a:gd name="adj2" fmla="val -53358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pt-BR" altLang="pt-B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Entretanto, se o ESP não conseguir se conectar a rede </a:t>
              </a:r>
              <a:r>
                <a:rPr lang="pt-BR" altLang="pt-BR" sz="16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wifi</a:t>
              </a:r>
              <a:r>
                <a:rPr lang="pt-BR" altLang="pt-B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ele tentará por 10 segundos (fica a critério do projetista). Se em 10 segundos não se conectar, chamará a função </a:t>
              </a:r>
              <a:r>
                <a:rPr lang="pt-BR" altLang="pt-BR" sz="16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setupAP</a:t>
              </a:r>
              <a:r>
                <a:rPr lang="pt-BR" altLang="pt-BR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ou seja, vai gerar uma rede ESP (conexão local).</a:t>
              </a:r>
              <a:endPara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2997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375C7D-95DD-9165-B106-D12D639F4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67" y="355283"/>
            <a:ext cx="10511627" cy="681038"/>
          </a:xfrm>
        </p:spPr>
        <p:txBody>
          <a:bodyPr/>
          <a:lstStyle/>
          <a:p>
            <a:r>
              <a:rPr lang="pt-BR" dirty="0"/>
              <a:t>A função </a:t>
            </a:r>
            <a:r>
              <a:rPr lang="pt-BR" cap="none" dirty="0" err="1"/>
              <a:t>PaginaConfig</a:t>
            </a:r>
            <a:r>
              <a:rPr lang="pt-BR" dirty="0"/>
              <a:t>()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C6683C-A80B-1B7A-188B-BDEB256D1B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9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0E45278-ECB7-FB28-D648-51C7FF72B17A}"/>
              </a:ext>
            </a:extLst>
          </p:cNvPr>
          <p:cNvSpPr txBox="1"/>
          <p:nvPr/>
        </p:nvSpPr>
        <p:spPr>
          <a:xfrm>
            <a:off x="1477400" y="5024202"/>
            <a:ext cx="9310533" cy="175432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PaginaConfig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File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arquivo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SPIFFS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"/index.html"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streamFile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arquivo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arquivo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73F5A5A-2ABF-8053-E249-65697B74B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892" y="1164135"/>
            <a:ext cx="5977550" cy="37398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1AD42E7-76AE-D16E-F32A-B0CA398A339A}"/>
              </a:ext>
            </a:extLst>
          </p:cNvPr>
          <p:cNvSpPr txBox="1"/>
          <p:nvPr/>
        </p:nvSpPr>
        <p:spPr>
          <a:xfrm>
            <a:off x="133740" y="3904734"/>
            <a:ext cx="2687320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SPIFFS.h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11F97421-F6A2-B4CE-F844-A0AE747D1062}"/>
              </a:ext>
            </a:extLst>
          </p:cNvPr>
          <p:cNvCxnSpPr/>
          <p:nvPr/>
        </p:nvCxnSpPr>
        <p:spPr>
          <a:xfrm>
            <a:off x="451240" y="5770880"/>
            <a:ext cx="1026160" cy="0"/>
          </a:xfrm>
          <a:prstGeom prst="straightConnector1">
            <a:avLst/>
          </a:prstGeom>
          <a:ln w="57150">
            <a:solidFill>
              <a:srgbClr val="202C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34F3E2E1-1340-C7AC-6BB6-2FABC2331C56}"/>
              </a:ext>
            </a:extLst>
          </p:cNvPr>
          <p:cNvCxnSpPr>
            <a:endCxn id="10" idx="2"/>
          </p:cNvCxnSpPr>
          <p:nvPr/>
        </p:nvCxnSpPr>
        <p:spPr>
          <a:xfrm flipV="1">
            <a:off x="451240" y="4274066"/>
            <a:ext cx="1026160" cy="1506974"/>
          </a:xfrm>
          <a:prstGeom prst="line">
            <a:avLst/>
          </a:prstGeom>
          <a:ln w="57150">
            <a:solidFill>
              <a:srgbClr val="202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Balão de Fala: Retângulo com Cantos Arredondados 15">
            <a:extLst>
              <a:ext uri="{FF2B5EF4-FFF2-40B4-BE49-F238E27FC236}">
                <a16:creationId xmlns:a16="http://schemas.microsoft.com/office/drawing/2014/main" id="{E3F85311-496A-CB42-6F98-AF9B032498B7}"/>
              </a:ext>
            </a:extLst>
          </p:cNvPr>
          <p:cNvSpPr/>
          <p:nvPr/>
        </p:nvSpPr>
        <p:spPr>
          <a:xfrm>
            <a:off x="8859520" y="5031782"/>
            <a:ext cx="3183665" cy="1194704"/>
          </a:xfrm>
          <a:prstGeom prst="wedgeRoundRectCallout">
            <a:avLst>
              <a:gd name="adj1" fmla="val -111894"/>
              <a:gd name="adj2" fmla="val 3767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streamFile</a:t>
            </a:r>
            <a:r>
              <a:rPr lang="pt-BR" altLang="pt-B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 um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método da classe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WebServer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usado para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enviar o conteúdo de um arquivo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8" name="Estrela: 10 Pontas 17">
            <a:extLst>
              <a:ext uri="{FF2B5EF4-FFF2-40B4-BE49-F238E27FC236}">
                <a16:creationId xmlns:a16="http://schemas.microsoft.com/office/drawing/2014/main" id="{8EF404A9-411C-18F0-9AC3-36795C8BF17D}"/>
              </a:ext>
            </a:extLst>
          </p:cNvPr>
          <p:cNvSpPr/>
          <p:nvPr/>
        </p:nvSpPr>
        <p:spPr>
          <a:xfrm>
            <a:off x="9062720" y="2717833"/>
            <a:ext cx="3129280" cy="1754326"/>
          </a:xfrm>
          <a:prstGeom prst="star10">
            <a:avLst>
              <a:gd name="adj" fmla="val 30950"/>
              <a:gd name="hf" fmla="val 10514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Como salvar arquivos na memoria flash?</a:t>
            </a:r>
            <a:endParaRPr lang="pt-B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208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72E29B-531C-75E7-4E19-AEC718D065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10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F058ED-3D9D-6106-58D2-9D1B975BFBF0}"/>
              </a:ext>
            </a:extLst>
          </p:cNvPr>
          <p:cNvSpPr txBox="1"/>
          <p:nvPr/>
        </p:nvSpPr>
        <p:spPr>
          <a:xfrm>
            <a:off x="1110533" y="1322488"/>
            <a:ext cx="9916160" cy="50783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	.............................</a:t>
            </a:r>
          </a:p>
          <a:p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Configuração da Rede 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Wi-fi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.............................    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Nome da rede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"SSID"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Senha da rede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"Senha"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btn-primary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Salvar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1D8D5FD4-D889-A202-81D0-71626643E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799" y="588169"/>
            <a:ext cx="10511627" cy="681038"/>
          </a:xfrm>
        </p:spPr>
        <p:txBody>
          <a:bodyPr/>
          <a:lstStyle/>
          <a:p>
            <a:r>
              <a:rPr lang="pt-BR" dirty="0"/>
              <a:t>Página HTML e comando POST</a:t>
            </a:r>
          </a:p>
        </p:txBody>
      </p:sp>
    </p:spTree>
    <p:extLst>
      <p:ext uri="{BB962C8B-B14F-4D97-AF65-F5344CB8AC3E}">
        <p14:creationId xmlns:p14="http://schemas.microsoft.com/office/powerpoint/2010/main" val="105484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513236-98DD-D2DE-6C3F-5BA87A73E3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11</a:t>
            </a:fld>
            <a:endParaRPr lang="pt-BR" dirty="0"/>
          </a:p>
        </p:txBody>
      </p:sp>
      <p:sp>
        <p:nvSpPr>
          <p:cNvPr id="6" name="Balão de Fala: Retângulo 5">
            <a:extLst>
              <a:ext uri="{FF2B5EF4-FFF2-40B4-BE49-F238E27FC236}">
                <a16:creationId xmlns:a16="http://schemas.microsoft.com/office/drawing/2014/main" id="{5F687566-F20C-6A27-B9A8-81DDFB33884F}"/>
              </a:ext>
            </a:extLst>
          </p:cNvPr>
          <p:cNvSpPr/>
          <p:nvPr/>
        </p:nvSpPr>
        <p:spPr>
          <a:xfrm>
            <a:off x="518160" y="1328428"/>
            <a:ext cx="4029546" cy="1720088"/>
          </a:xfrm>
          <a:prstGeom prst="wedgeRectCallout">
            <a:avLst>
              <a:gd name="adj1" fmla="val 20517"/>
              <a:gd name="adj2" fmla="val 749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="/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define para onde os dados serão enviados quando o usuário clicar em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Salvar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 Nesse caso, para a rota /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servidor ESP32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E744B4F-AF99-D10C-6381-9B2B87673367}"/>
              </a:ext>
            </a:extLst>
          </p:cNvPr>
          <p:cNvSpPr txBox="1"/>
          <p:nvPr/>
        </p:nvSpPr>
        <p:spPr>
          <a:xfrm>
            <a:off x="976071" y="3495288"/>
            <a:ext cx="9916160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Nome da rede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"SSID"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word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Senha da rede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"Senha"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btn-primary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Salvar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pt-B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Balão de Fala: Retângulo 8">
            <a:extLst>
              <a:ext uri="{FF2B5EF4-FFF2-40B4-BE49-F238E27FC236}">
                <a16:creationId xmlns:a16="http://schemas.microsoft.com/office/drawing/2014/main" id="{73A3AFD1-8750-1E1F-A810-95E79E4CED77}"/>
              </a:ext>
            </a:extLst>
          </p:cNvPr>
          <p:cNvSpPr/>
          <p:nvPr/>
        </p:nvSpPr>
        <p:spPr>
          <a:xfrm>
            <a:off x="4785360" y="1328428"/>
            <a:ext cx="3688080" cy="1720088"/>
          </a:xfrm>
          <a:prstGeom prst="wedgeRectCallout">
            <a:avLst>
              <a:gd name="adj1" fmla="val -20249"/>
              <a:gd name="adj2" fmla="val 750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campo input, 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atribuito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corresponde ao nome da variável, neste caso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ssid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servidor, recebe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ssid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valor_digitado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" name="Balão de Fala: Retângulo 10">
            <a:extLst>
              <a:ext uri="{FF2B5EF4-FFF2-40B4-BE49-F238E27FC236}">
                <a16:creationId xmlns:a16="http://schemas.microsoft.com/office/drawing/2014/main" id="{2A12B301-28AD-4127-5C83-379EC0FE634F}"/>
              </a:ext>
            </a:extLst>
          </p:cNvPr>
          <p:cNvSpPr/>
          <p:nvPr/>
        </p:nvSpPr>
        <p:spPr>
          <a:xfrm>
            <a:off x="8711094" y="1328428"/>
            <a:ext cx="2962746" cy="1720088"/>
          </a:xfrm>
          <a:prstGeom prst="wedgeRectCallout">
            <a:avLst>
              <a:gd name="adj1" fmla="val -19461"/>
              <a:gd name="adj2" fmla="val 751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botão tem um atributo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submit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envia o formulário para 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="/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usando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="POST". 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1B3BBBC-6EDB-132E-CA13-49DFDB7226EA}"/>
              </a:ext>
            </a:extLst>
          </p:cNvPr>
          <p:cNvSpPr txBox="1"/>
          <p:nvPr/>
        </p:nvSpPr>
        <p:spPr>
          <a:xfrm>
            <a:off x="518160" y="430122"/>
            <a:ext cx="109078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envia os dados na URL (menos seguro, aparece na barra do navegador).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envia os dados no corpo da requisição (mais seguro para senhas e dados sensíveis).</a:t>
            </a:r>
          </a:p>
        </p:txBody>
      </p:sp>
      <p:sp>
        <p:nvSpPr>
          <p:cNvPr id="15" name="Balão de Fala: Retângulo 14">
            <a:extLst>
              <a:ext uri="{FF2B5EF4-FFF2-40B4-BE49-F238E27FC236}">
                <a16:creationId xmlns:a16="http://schemas.microsoft.com/office/drawing/2014/main" id="{0DC5F3B3-475A-5720-F26F-A08B017E4AF1}"/>
              </a:ext>
            </a:extLst>
          </p:cNvPr>
          <p:cNvSpPr/>
          <p:nvPr/>
        </p:nvSpPr>
        <p:spPr>
          <a:xfrm>
            <a:off x="976071" y="6090921"/>
            <a:ext cx="9916159" cy="619760"/>
          </a:xfrm>
          <a:prstGeom prst="wedgeRectCallout">
            <a:avLst>
              <a:gd name="adj1" fmla="val 274"/>
              <a:gd name="adj2" fmla="val -1424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atributo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placeholder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 uma informação que vai dentro do campo a ser digitado (lembrete).</a:t>
            </a:r>
          </a:p>
          <a:p>
            <a:pPr algn="ctr"/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atributo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indica que é obrigatório o preenchimento do campo.</a:t>
            </a:r>
          </a:p>
        </p:txBody>
      </p:sp>
    </p:spTree>
    <p:extLst>
      <p:ext uri="{BB962C8B-B14F-4D97-AF65-F5344CB8AC3E}">
        <p14:creationId xmlns:p14="http://schemas.microsoft.com/office/powerpoint/2010/main" val="4196216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4B3D25-87B8-A5A9-6A0D-E6610C6365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12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1A46496-F2B5-CE5D-BD74-621EC840A6EF}"/>
              </a:ext>
            </a:extLst>
          </p:cNvPr>
          <p:cNvSpPr txBox="1"/>
          <p:nvPr/>
        </p:nvSpPr>
        <p:spPr>
          <a:xfrm>
            <a:off x="563880" y="612844"/>
            <a:ext cx="11064239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PaginaSalva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hasArg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hasArg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NovoS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SID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Nova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Senha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Salva no NVS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memoria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wifi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memoria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putString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NovoSSID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memoria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putString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NovaSenha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memoria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"&lt;h3&gt;Configuração salva! Reinicie o ESP32.&lt;/h3&gt;"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 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plain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"Erro: parâmetros inválidos"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37817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1B58CF-934D-CD0D-57DA-0CE44B80A4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13</a:t>
            </a:fld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0615ECC-720C-F328-ABAE-1A39B81DA015}"/>
              </a:ext>
            </a:extLst>
          </p:cNvPr>
          <p:cNvSpPr txBox="1"/>
          <p:nvPr/>
        </p:nvSpPr>
        <p:spPr>
          <a:xfrm>
            <a:off x="563880" y="3429000"/>
            <a:ext cx="11064239" cy="25853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PaginaSalva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hasArg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hasArg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NovoSSID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ssid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NovaSenha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pt-B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	....................</a:t>
            </a:r>
            <a:b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Balão de Fala: Retângulo 7">
            <a:extLst>
              <a:ext uri="{FF2B5EF4-FFF2-40B4-BE49-F238E27FC236}">
                <a16:creationId xmlns:a16="http://schemas.microsoft.com/office/drawing/2014/main" id="{AEEFD72A-D920-565D-95C9-E415CEDD0226}"/>
              </a:ext>
            </a:extLst>
          </p:cNvPr>
          <p:cNvSpPr/>
          <p:nvPr/>
        </p:nvSpPr>
        <p:spPr>
          <a:xfrm>
            <a:off x="6162037" y="1544320"/>
            <a:ext cx="5482427" cy="1830685"/>
          </a:xfrm>
          <a:prstGeom prst="wedgeRectCallout">
            <a:avLst>
              <a:gd name="adj1" fmla="val -41635"/>
              <a:gd name="adj2" fmla="val 7551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 /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HTTP/1.1</a:t>
            </a:r>
          </a:p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Host: 192.168.4.1</a:t>
            </a:r>
          </a:p>
          <a:p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Content-Type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/x-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form-urlencoded</a:t>
            </a: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Content-Length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34</a:t>
            </a:r>
          </a:p>
          <a:p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ssid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MinhaRede&amp;password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=Senha123</a:t>
            </a:r>
          </a:p>
        </p:txBody>
      </p:sp>
      <p:sp>
        <p:nvSpPr>
          <p:cNvPr id="9" name="Balão de Fala: Retângulo 8">
            <a:extLst>
              <a:ext uri="{FF2B5EF4-FFF2-40B4-BE49-F238E27FC236}">
                <a16:creationId xmlns:a16="http://schemas.microsoft.com/office/drawing/2014/main" id="{19B17A2D-918E-1A0F-4AF7-B660DCDDE7F6}"/>
              </a:ext>
            </a:extLst>
          </p:cNvPr>
          <p:cNvSpPr/>
          <p:nvPr/>
        </p:nvSpPr>
        <p:spPr>
          <a:xfrm>
            <a:off x="563880" y="2461766"/>
            <a:ext cx="2607146" cy="772160"/>
          </a:xfrm>
          <a:prstGeom prst="wedgeRectCallout">
            <a:avLst>
              <a:gd name="adj1" fmla="val 32173"/>
              <a:gd name="adj2" fmla="val 15970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Checa se tem o argumento (</a:t>
            </a:r>
            <a:r>
              <a:rPr lang="pt-B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hasArg</a:t>
            </a:r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" name="Balão de Fala: Retângulo 9">
            <a:extLst>
              <a:ext uri="{FF2B5EF4-FFF2-40B4-BE49-F238E27FC236}">
                <a16:creationId xmlns:a16="http://schemas.microsoft.com/office/drawing/2014/main" id="{F405431B-EECC-F810-BCC4-3B3077A61E33}"/>
              </a:ext>
            </a:extLst>
          </p:cNvPr>
          <p:cNvSpPr/>
          <p:nvPr/>
        </p:nvSpPr>
        <p:spPr>
          <a:xfrm>
            <a:off x="563880" y="6217920"/>
            <a:ext cx="2607146" cy="467360"/>
          </a:xfrm>
          <a:prstGeom prst="wedgeRectCallout">
            <a:avLst>
              <a:gd name="adj1" fmla="val 91408"/>
              <a:gd name="adj2" fmla="val -2815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 o argumento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D99833B-76BA-B71C-EA29-C97B01242DB9}"/>
              </a:ext>
            </a:extLst>
          </p:cNvPr>
          <p:cNvSpPr txBox="1"/>
          <p:nvPr/>
        </p:nvSpPr>
        <p:spPr>
          <a:xfrm>
            <a:off x="563880" y="458647"/>
            <a:ext cx="9646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server.hasArg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("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ssid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Verifica se na requisição HTTP recebida existe um argumento chamado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ssid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Isso corresponde ao atributo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ssid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&lt;input&gt; no HTML.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Retorna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 o campo foi enviado no formulário.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F97730-1664-E5E6-1FCB-536801D01A9B}"/>
              </a:ext>
            </a:extLst>
          </p:cNvPr>
          <p:cNvSpPr txBox="1"/>
          <p:nvPr/>
        </p:nvSpPr>
        <p:spPr>
          <a:xfrm>
            <a:off x="3455885" y="6128434"/>
            <a:ext cx="8309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Obs.: Se o nome da rede ou senha tiver espaços, o espaço é trocado por + ou %20</a:t>
            </a:r>
          </a:p>
          <a:p>
            <a:r>
              <a:rPr lang="pt-BR" b="1" dirty="0">
                <a:solidFill>
                  <a:srgbClr val="FF0000"/>
                </a:solidFill>
              </a:rPr>
              <a:t>Se tiver um @ será substituído por %40.</a:t>
            </a:r>
          </a:p>
        </p:txBody>
      </p:sp>
    </p:spTree>
    <p:extLst>
      <p:ext uri="{BB962C8B-B14F-4D97-AF65-F5344CB8AC3E}">
        <p14:creationId xmlns:p14="http://schemas.microsoft.com/office/powerpoint/2010/main" val="4209874150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2_TF78438558_Win32" id="{A0A66991-B50D-4EFF-8B65-B5A110988411}" vid="{FC4C1A53-E1A3-4FF8-9D09-7590C6BEDD1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{FD474987-CE75-44BE-808A-D950BF8C455B}TF8a9b5915-b8c7-461e-8cdd-693d48b5e323c6a6caed_win32-b6157470412c</Template>
  <TotalTime>810</TotalTime>
  <Words>1721</Words>
  <Application>Microsoft Office PowerPoint</Application>
  <PresentationFormat>Widescreen</PresentationFormat>
  <Paragraphs>204</Paragraphs>
  <Slides>13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Calibri</vt:lpstr>
      <vt:lpstr>Consolas</vt:lpstr>
      <vt:lpstr>Sabon Next LT</vt:lpstr>
      <vt:lpstr>Personalizado</vt:lpstr>
      <vt:lpstr>Configurando esp32 como ap (access point) e depois como sta (station)   Prof. Anderson Terroso Agosto/2026 </vt:lpstr>
      <vt:lpstr>agenda</vt:lpstr>
      <vt:lpstr>Apresentação do PowerPoint</vt:lpstr>
      <vt:lpstr>NVS – Non-volatile storage</vt:lpstr>
      <vt:lpstr>Exemplo:  Pode ser usado para salvar as credenciais (modo app) e depois conecta as credenciais (modo sta)</vt:lpstr>
      <vt:lpstr>Configura a rede ap ou sta???</vt:lpstr>
      <vt:lpstr>Configuração como access point (AP)</vt:lpstr>
      <vt:lpstr>Configurar como sta</vt:lpstr>
      <vt:lpstr>A função PaginaConfig()</vt:lpstr>
      <vt:lpstr>Página HTML e comando POST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aterroso</dc:creator>
  <cp:lastModifiedBy>Anderson Terroso</cp:lastModifiedBy>
  <cp:revision>6</cp:revision>
  <dcterms:created xsi:type="dcterms:W3CDTF">2025-09-14T15:13:35Z</dcterms:created>
  <dcterms:modified xsi:type="dcterms:W3CDTF">2026-08-18T20:06:19Z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