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9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333" r:id="rId22"/>
    <p:sldId id="334" r:id="rId23"/>
    <p:sldId id="335" r:id="rId24"/>
    <p:sldId id="276" r:id="rId25"/>
    <p:sldId id="277" r:id="rId26"/>
    <p:sldId id="278" r:id="rId27"/>
    <p:sldId id="279" r:id="rId28"/>
    <p:sldId id="281" r:id="rId29"/>
    <p:sldId id="283" r:id="rId30"/>
    <p:sldId id="282" r:id="rId31"/>
    <p:sldId id="284" r:id="rId32"/>
    <p:sldId id="285" r:id="rId33"/>
    <p:sldId id="286" r:id="rId34"/>
    <p:sldId id="289" r:id="rId35"/>
    <p:sldId id="290" r:id="rId36"/>
    <p:sldId id="291" r:id="rId37"/>
    <p:sldId id="292" r:id="rId38"/>
    <p:sldId id="293" r:id="rId39"/>
    <p:sldId id="294" r:id="rId40"/>
    <p:sldId id="295" r:id="rId41"/>
    <p:sldId id="296" r:id="rId42"/>
    <p:sldId id="308" r:id="rId43"/>
    <p:sldId id="297" r:id="rId44"/>
    <p:sldId id="298" r:id="rId45"/>
    <p:sldId id="299" r:id="rId46"/>
    <p:sldId id="300" r:id="rId47"/>
    <p:sldId id="301" r:id="rId48"/>
    <p:sldId id="302" r:id="rId49"/>
    <p:sldId id="303" r:id="rId50"/>
    <p:sldId id="304" r:id="rId51"/>
    <p:sldId id="305" r:id="rId52"/>
    <p:sldId id="306" r:id="rId53"/>
    <p:sldId id="307"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37" r:id="rId70"/>
    <p:sldId id="338" r:id="rId71"/>
    <p:sldId id="336" r:id="rId72"/>
    <p:sldId id="344" r:id="rId73"/>
    <p:sldId id="324" r:id="rId74"/>
    <p:sldId id="325" r:id="rId75"/>
    <p:sldId id="326" r:id="rId76"/>
    <p:sldId id="327" r:id="rId77"/>
    <p:sldId id="328" r:id="rId78"/>
    <p:sldId id="329" r:id="rId79"/>
    <p:sldId id="330" r:id="rId80"/>
    <p:sldId id="331" r:id="rId81"/>
    <p:sldId id="332" r:id="rId82"/>
    <p:sldId id="343" r:id="rId83"/>
    <p:sldId id="345" r:id="rId84"/>
    <p:sldId id="346" r:id="rId85"/>
    <p:sldId id="339" r:id="rId86"/>
    <p:sldId id="340" r:id="rId87"/>
    <p:sldId id="341" r:id="rId88"/>
    <p:sldId id="342" r:id="rId8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36C727-26D8-4819-833F-EAE358DC6AFA}" type="datetimeFigureOut">
              <a:rPr lang="pt-BR" smtClean="0"/>
              <a:t>31/07/2025</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FA0574-7257-41F3-A49F-44E62037EE42}" type="slidenum">
              <a:rPr lang="pt-BR" smtClean="0"/>
              <a:t>‹nº›</a:t>
            </a:fld>
            <a:endParaRPr lang="pt-BR"/>
          </a:p>
        </p:txBody>
      </p:sp>
    </p:spTree>
    <p:extLst>
      <p:ext uri="{BB962C8B-B14F-4D97-AF65-F5344CB8AC3E}">
        <p14:creationId xmlns:p14="http://schemas.microsoft.com/office/powerpoint/2010/main" val="3862667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12BECDA1-CCE1-4334-8705-8C0C5C57C990}" type="slidenum">
              <a:rPr lang="pt-BR" smtClean="0"/>
              <a:t>20</a:t>
            </a:fld>
            <a:endParaRPr lang="pt-BR"/>
          </a:p>
        </p:txBody>
      </p:sp>
    </p:spTree>
    <p:extLst>
      <p:ext uri="{BB962C8B-B14F-4D97-AF65-F5344CB8AC3E}">
        <p14:creationId xmlns:p14="http://schemas.microsoft.com/office/powerpoint/2010/main" val="2889497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pt-BR"/>
              <a:t>Clique para editar o título mestre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C41B0512-E57F-4619-AECB-262F8DB79F46}" type="datetime1">
              <a:rPr lang="pt-BR" smtClean="0"/>
              <a:t>31/07/2025</a:t>
            </a:fld>
            <a:endParaRPr lang="pt-B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pt-B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9A182BAF-9578-4EF3-A706-28411202202E}" type="slidenum">
              <a:rPr lang="pt-BR" smtClean="0"/>
              <a:t>‹nº›</a:t>
            </a:fld>
            <a:endParaRPr lang="pt-BR"/>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61351609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E1447E6B-C86A-4E20-B823-D905A7208B8B}" type="datetime1">
              <a:rPr lang="pt-BR" smtClean="0"/>
              <a:t>31/07/2025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A182BAF-9578-4EF3-A706-28411202202E}" type="slidenum">
              <a:rPr lang="pt-BR" smtClean="0"/>
              <a:t>‹nº›</a:t>
            </a:fld>
            <a:endParaRPr lang="pt-BR"/>
          </a:p>
        </p:txBody>
      </p:sp>
    </p:spTree>
    <p:extLst>
      <p:ext uri="{BB962C8B-B14F-4D97-AF65-F5344CB8AC3E}">
        <p14:creationId xmlns:p14="http://schemas.microsoft.com/office/powerpoint/2010/main" val="741828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5E9B109D-0634-4D62-9E2F-DFB9B94526F6}" type="datetime1">
              <a:rPr lang="pt-BR" smtClean="0"/>
              <a:t>31/07/2025</a:t>
            </a:fld>
            <a:endParaRPr lang="pt-B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pt-B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9A182BAF-9578-4EF3-A706-28411202202E}" type="slidenum">
              <a:rPr lang="pt-BR" smtClean="0"/>
              <a:t>‹nº›</a:t>
            </a:fld>
            <a:endParaRPr lang="pt-BR"/>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261220681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pt-BR"/>
              <a:t>Clique para editar o título mestre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8442E3E9-48C0-4CF8-939F-2716A77ABE49}" type="datetime1">
              <a:rPr lang="pt-BR" smtClean="0"/>
              <a:t>31/07/2025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9A182BAF-9578-4EF3-A706-28411202202E}" type="slidenum">
              <a:rPr lang="pt-BR" smtClean="0"/>
              <a:t>‹nº›</a:t>
            </a:fld>
            <a:endParaRPr lang="pt-BR"/>
          </a:p>
        </p:txBody>
      </p:sp>
    </p:spTree>
    <p:extLst>
      <p:ext uri="{BB962C8B-B14F-4D97-AF65-F5344CB8AC3E}">
        <p14:creationId xmlns:p14="http://schemas.microsoft.com/office/powerpoint/2010/main" val="193860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D7F9FDDD-6953-4891-ACF0-85C085F236D5}" type="datetime1">
              <a:rPr lang="pt-BR" smtClean="0"/>
              <a:t>31/07/2025</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9A182BAF-9578-4EF3-A706-28411202202E}" type="slidenum">
              <a:rPr lang="pt-BR" smtClean="0"/>
              <a:t>‹nº›</a:t>
            </a:fld>
            <a:endParaRPr lang="pt-BR"/>
          </a:p>
        </p:txBody>
      </p:sp>
    </p:spTree>
    <p:extLst>
      <p:ext uri="{BB962C8B-B14F-4D97-AF65-F5344CB8AC3E}">
        <p14:creationId xmlns:p14="http://schemas.microsoft.com/office/powerpoint/2010/main" val="256457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1DA8BB0B-F687-42C0-9C34-838A49689B1E}" type="datetime1">
              <a:rPr lang="pt-BR" smtClean="0"/>
              <a:t>31/07/2025</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9A182BAF-9578-4EF3-A706-28411202202E}" type="slidenum">
              <a:rPr lang="pt-BR" smtClean="0"/>
              <a:t>‹nº›</a:t>
            </a:fld>
            <a:endParaRPr lang="pt-BR"/>
          </a:p>
        </p:txBody>
      </p:sp>
    </p:spTree>
    <p:extLst>
      <p:ext uri="{BB962C8B-B14F-4D97-AF65-F5344CB8AC3E}">
        <p14:creationId xmlns:p14="http://schemas.microsoft.com/office/powerpoint/2010/main" val="4032028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815577-359A-4F49-999B-C3E8ED1AB0E6}" type="datetime1">
              <a:rPr lang="pt-BR" smtClean="0"/>
              <a:t>31/07/2025</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9A182BAF-9578-4EF3-A706-28411202202E}" type="slidenum">
              <a:rPr lang="pt-BR" smtClean="0"/>
              <a:t>‹nº›</a:t>
            </a:fld>
            <a:endParaRPr lang="pt-BR"/>
          </a:p>
        </p:txBody>
      </p:sp>
    </p:spTree>
    <p:extLst>
      <p:ext uri="{BB962C8B-B14F-4D97-AF65-F5344CB8AC3E}">
        <p14:creationId xmlns:p14="http://schemas.microsoft.com/office/powerpoint/2010/main" val="1076989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pt-BR"/>
              <a:t>Clique para editar o título mestre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54E2BED5-F6B4-42D7-9772-51AF55E340D3}" type="datetime1">
              <a:rPr lang="pt-BR" smtClean="0"/>
              <a:t>31/07/2025</a:t>
            </a:fld>
            <a:endParaRPr lang="pt-B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pt-B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9A182BAF-9578-4EF3-A706-28411202202E}" type="slidenum">
              <a:rPr lang="pt-BR" smtClean="0"/>
              <a:t>‹nº›</a:t>
            </a:fld>
            <a:endParaRPr lang="pt-B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52894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53CF2C2D-EDBC-4E37-96BE-D4587F693D14}" type="datetime1">
              <a:rPr lang="pt-BR" smtClean="0"/>
              <a:t>31/07/2025</a:t>
            </a:fld>
            <a:endParaRPr lang="pt-B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pt-B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9A182BAF-9578-4EF3-A706-28411202202E}" type="slidenum">
              <a:rPr lang="pt-BR" smtClean="0"/>
              <a:t>‹nº›</a:t>
            </a:fld>
            <a:endParaRPr lang="pt-B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36022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0CCD8869-B856-4DEE-9F3B-799D754E7984}" type="datetime1">
              <a:rPr lang="pt-BR" smtClean="0"/>
              <a:t>31/07/2025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A182BAF-9578-4EF3-A706-28411202202E}" type="slidenum">
              <a:rPr lang="pt-BR" smtClean="0"/>
              <a:t>‹nº›</a:t>
            </a:fld>
            <a:endParaRPr lang="pt-BR"/>
          </a:p>
        </p:txBody>
      </p:sp>
    </p:spTree>
    <p:extLst>
      <p:ext uri="{BB962C8B-B14F-4D97-AF65-F5344CB8AC3E}">
        <p14:creationId xmlns:p14="http://schemas.microsoft.com/office/powerpoint/2010/main" val="843385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79759AFB-7AFF-4246-85CB-B1DEA60092A9}" type="datetime1">
              <a:rPr lang="pt-BR" smtClean="0"/>
              <a:t>31/07/2025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A182BAF-9578-4EF3-A706-28411202202E}" type="slidenum">
              <a:rPr lang="pt-BR" smtClean="0"/>
              <a:t>‹nº›</a:t>
            </a:fld>
            <a:endParaRPr lang="pt-BR"/>
          </a:p>
        </p:txBody>
      </p:sp>
    </p:spTree>
    <p:extLst>
      <p:ext uri="{BB962C8B-B14F-4D97-AF65-F5344CB8AC3E}">
        <p14:creationId xmlns:p14="http://schemas.microsoft.com/office/powerpoint/2010/main" val="2277463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Slide de Título">
    <p:spTree>
      <p:nvGrpSpPr>
        <p:cNvPr id="1" name=""/>
        <p:cNvGrpSpPr/>
        <p:nvPr/>
      </p:nvGrpSpPr>
      <p:grpSpPr>
        <a:xfrm>
          <a:off x="0" y="0"/>
          <a:ext cx="0" cy="0"/>
          <a:chOff x="0" y="0"/>
          <a:chExt cx="0" cy="0"/>
        </a:xfrm>
      </p:grpSpPr>
      <p:sp>
        <p:nvSpPr>
          <p:cNvPr id="4" name="Espaço Reservado para Data 3">
            <a:extLst>
              <a:ext uri="{FF2B5EF4-FFF2-40B4-BE49-F238E27FC236}">
                <a16:creationId xmlns:a16="http://schemas.microsoft.com/office/drawing/2014/main" id="{CF3F8493-DEDD-4074-B08B-99F11D2DFF8E}"/>
              </a:ext>
            </a:extLst>
          </p:cNvPr>
          <p:cNvSpPr>
            <a:spLocks noGrp="1"/>
          </p:cNvSpPr>
          <p:nvPr>
            <p:ph type="dt" sz="half" idx="10"/>
          </p:nvPr>
        </p:nvSpPr>
        <p:spPr/>
        <p:txBody>
          <a:bodyPr/>
          <a:lstStyle/>
          <a:p>
            <a:fld id="{0885F64B-ED0D-4C83-A1E1-736603027970}" type="datetime1">
              <a:rPr lang="pt-BR" smtClean="0"/>
              <a:t>31/07/2025</a:t>
            </a:fld>
            <a:endParaRPr lang="pt-BR"/>
          </a:p>
        </p:txBody>
      </p:sp>
      <p:sp>
        <p:nvSpPr>
          <p:cNvPr id="5" name="Espaço Reservado para Rodapé 4">
            <a:extLst>
              <a:ext uri="{FF2B5EF4-FFF2-40B4-BE49-F238E27FC236}">
                <a16:creationId xmlns:a16="http://schemas.microsoft.com/office/drawing/2014/main" id="{1C2D8E58-D926-4255-AE95-AAEE3BABA1C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5698F0E-6DE0-42D4-B96D-390770139339}"/>
              </a:ext>
            </a:extLst>
          </p:cNvPr>
          <p:cNvSpPr>
            <a:spLocks noGrp="1"/>
          </p:cNvSpPr>
          <p:nvPr>
            <p:ph type="sldNum" sz="quarter" idx="12"/>
          </p:nvPr>
        </p:nvSpPr>
        <p:spPr/>
        <p:txBody>
          <a:bodyPr/>
          <a:lstStyle/>
          <a:p>
            <a:fld id="{8256F83C-9D86-480B-90E0-0702DBEB9457}" type="slidenum">
              <a:rPr lang="pt-BR" smtClean="0"/>
              <a:t>‹nº›</a:t>
            </a:fld>
            <a:endParaRPr lang="pt-BR"/>
          </a:p>
        </p:txBody>
      </p:sp>
    </p:spTree>
    <p:extLst>
      <p:ext uri="{BB962C8B-B14F-4D97-AF65-F5344CB8AC3E}">
        <p14:creationId xmlns:p14="http://schemas.microsoft.com/office/powerpoint/2010/main" val="3549491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pt-BR"/>
              <a:t>Clique para editar o título mestre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4C9DCC84-6B95-4ACC-800C-D11EC70226ED}" type="datetime1">
              <a:rPr lang="pt-BR" smtClean="0"/>
              <a:t>31/07/2025</a:t>
            </a:fld>
            <a:endParaRPr lang="pt-B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pt-B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9A182BAF-9578-4EF3-A706-28411202202E}" type="slidenum">
              <a:rPr lang="pt-BR" smtClean="0"/>
              <a:t>‹nº›</a:t>
            </a:fld>
            <a:endParaRPr lang="pt-BR"/>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697924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s://webfoundation.org/" TargetMode="External"/><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hyperlink" Target="http://info.cern.ch/hypertext/WWW/TheProject.html" TargetMode="Externa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hyperlink" Target="http://info.cern.ch/hypertext/WWW/TheProject.html" TargetMode="Externa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hyperlink" Target="https://cssgridgenerator.io/" TargetMode="Externa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hyperlink" Target="https://getbootstrap.com/docs/4.0/components/" TargetMode="Externa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2.xml"/><Relationship Id="rId4" Type="http://schemas.openxmlformats.org/officeDocument/2006/relationships/image" Target="../media/image62.png"/></Relationships>
</file>

<file path=ppt/slides/_rels/slide8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2024743" y="1698172"/>
            <a:ext cx="8229600" cy="3416320"/>
          </a:xfrm>
          <a:prstGeom prst="rect">
            <a:avLst/>
          </a:prstGeom>
          <a:noFill/>
        </p:spPr>
        <p:txBody>
          <a:bodyPr wrap="square" rtlCol="0">
            <a:spAutoFit/>
          </a:bodyPr>
          <a:lstStyle/>
          <a:p>
            <a:pPr algn="ctr"/>
            <a:r>
              <a:rPr lang="pt-BR" sz="4400" b="1" dirty="0"/>
              <a:t>HTML – CSS – BOOTSTRAP</a:t>
            </a:r>
          </a:p>
          <a:p>
            <a:pPr algn="ctr"/>
            <a:r>
              <a:rPr lang="pt-BR" sz="4400" b="1" dirty="0"/>
              <a:t>Sistemas Embarcados I</a:t>
            </a:r>
          </a:p>
          <a:p>
            <a:pPr algn="ctr"/>
            <a:r>
              <a:rPr lang="pt-BR" sz="4400" b="1" dirty="0"/>
              <a:t>2025/2</a:t>
            </a:r>
          </a:p>
          <a:p>
            <a:pPr algn="ctr"/>
            <a:endParaRPr lang="pt-BR" sz="4400" b="1" dirty="0"/>
          </a:p>
          <a:p>
            <a:pPr algn="ctr"/>
            <a:r>
              <a:rPr lang="pt-BR" sz="3200" b="1" i="1" dirty="0"/>
              <a:t>Prof. Anderson Terroso</a:t>
            </a:r>
          </a:p>
        </p:txBody>
      </p:sp>
    </p:spTree>
    <p:extLst>
      <p:ext uri="{BB962C8B-B14F-4D97-AF65-F5344CB8AC3E}">
        <p14:creationId xmlns:p14="http://schemas.microsoft.com/office/powerpoint/2010/main" val="1091453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p:cNvPicPr>
            <a:picLocks noChangeAspect="1"/>
          </p:cNvPicPr>
          <p:nvPr/>
        </p:nvPicPr>
        <p:blipFill>
          <a:blip r:embed="rId2"/>
          <a:stretch>
            <a:fillRect/>
          </a:stretch>
        </p:blipFill>
        <p:spPr>
          <a:xfrm>
            <a:off x="2957512" y="3667566"/>
            <a:ext cx="5725891" cy="2363232"/>
          </a:xfrm>
          <a:prstGeom prst="rect">
            <a:avLst/>
          </a:prstGeom>
          <a:ln>
            <a:solidFill>
              <a:schemeClr val="accent1">
                <a:lumMod val="50000"/>
              </a:schemeClr>
            </a:solidFill>
          </a:ln>
        </p:spPr>
      </p:pic>
      <p:sp>
        <p:nvSpPr>
          <p:cNvPr id="6" name="Espaço Reservado para Conteúdo 2"/>
          <p:cNvSpPr txBox="1">
            <a:spLocks/>
          </p:cNvSpPr>
          <p:nvPr/>
        </p:nvSpPr>
        <p:spPr>
          <a:xfrm>
            <a:off x="749692" y="1348293"/>
            <a:ext cx="11196570" cy="139490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2400" b="1" u="sng" dirty="0"/>
              <a:t>Web 1.0 (1991 a 1999):</a:t>
            </a:r>
            <a:r>
              <a:rPr lang="pt-BR" sz="2400" dirty="0"/>
              <a:t> basicamente eram páginas apenas de consulta, sem nenhuma interação – usuário era passivo. Era uma comunicação de mão única, ou seja, as páginas não ofereciam nenhum tipo de funcionalidade de comunicação com o seu usuário.</a:t>
            </a:r>
          </a:p>
        </p:txBody>
      </p:sp>
      <p:sp>
        <p:nvSpPr>
          <p:cNvPr id="9" name="Título 1"/>
          <p:cNvSpPr txBox="1">
            <a:spLocks/>
          </p:cNvSpPr>
          <p:nvPr/>
        </p:nvSpPr>
        <p:spPr>
          <a:xfrm>
            <a:off x="605999" y="386589"/>
            <a:ext cx="10974841" cy="671736"/>
          </a:xfrm>
          <a:prstGeom prst="rect">
            <a:avLst/>
          </a:prstGeom>
        </p:spPr>
        <p:txBody>
          <a:bodyPr>
            <a:normAutofit fontScale="97500"/>
          </a:bodyPr>
          <a:lstStyle>
            <a:lvl1pPr algn="l" defTabSz="914400" rtl="0" eaLnBrk="1" latinLnBrk="0" hangingPunct="1">
              <a:lnSpc>
                <a:spcPct val="90000"/>
              </a:lnSpc>
              <a:spcBef>
                <a:spcPct val="0"/>
              </a:spcBef>
              <a:buNone/>
              <a:defRPr sz="4400" b="1" kern="1200">
                <a:solidFill>
                  <a:srgbClr val="1B4572"/>
                </a:solidFill>
                <a:latin typeface="Arial" panose="020B0604020202020204" pitchFamily="34" charset="0"/>
                <a:ea typeface="+mj-ea"/>
                <a:cs typeface="Arial" panose="020B0604020202020204" pitchFamily="34" charset="0"/>
              </a:defRPr>
            </a:lvl1pPr>
          </a:lstStyle>
          <a:p>
            <a:pPr algn="ctr"/>
            <a:r>
              <a:rPr lang="pt-BR" sz="3200" dirty="0">
                <a:solidFill>
                  <a:schemeClr val="accent1">
                    <a:lumMod val="50000"/>
                  </a:schemeClr>
                </a:solidFill>
              </a:rPr>
              <a:t>Fases de evolução da web</a:t>
            </a:r>
          </a:p>
        </p:txBody>
      </p:sp>
      <p:sp>
        <p:nvSpPr>
          <p:cNvPr id="8" name="Espaço Reservado para Conteúdo 2"/>
          <p:cNvSpPr txBox="1">
            <a:spLocks/>
          </p:cNvSpPr>
          <p:nvPr/>
        </p:nvSpPr>
        <p:spPr>
          <a:xfrm>
            <a:off x="1834244" y="6165133"/>
            <a:ext cx="7972425" cy="4919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600" b="1" i="1" dirty="0"/>
              <a:t>Fonte: </a:t>
            </a:r>
            <a:r>
              <a:rPr lang="pt-BR" sz="1600" i="1" dirty="0"/>
              <a:t>Livro texto - </a:t>
            </a:r>
            <a:r>
              <a:rPr lang="en-US" sz="1600" i="1" dirty="0"/>
              <a:t>Website Design and Development with HTML5 and CSS3</a:t>
            </a:r>
            <a:endParaRPr lang="pt-BR" sz="1600" i="1" dirty="0"/>
          </a:p>
        </p:txBody>
      </p:sp>
      <p:sp>
        <p:nvSpPr>
          <p:cNvPr id="10" name="Espaço Reservado para Conteúdo 2"/>
          <p:cNvSpPr txBox="1">
            <a:spLocks/>
          </p:cNvSpPr>
          <p:nvPr/>
        </p:nvSpPr>
        <p:spPr>
          <a:xfrm>
            <a:off x="1834244" y="3158673"/>
            <a:ext cx="7972425" cy="4919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2000" b="1" dirty="0"/>
              <a:t>Figura 1:</a:t>
            </a:r>
            <a:r>
              <a:rPr lang="pt-BR" sz="2000" dirty="0"/>
              <a:t> Páginas web desenvolvidas para consulta. </a:t>
            </a:r>
          </a:p>
        </p:txBody>
      </p:sp>
      <p:sp>
        <p:nvSpPr>
          <p:cNvPr id="2" name="Espaço Reservado para Número de Slide 1"/>
          <p:cNvSpPr>
            <a:spLocks noGrp="1"/>
          </p:cNvSpPr>
          <p:nvPr>
            <p:ph type="sldNum" sz="quarter" idx="12"/>
          </p:nvPr>
        </p:nvSpPr>
        <p:spPr/>
        <p:txBody>
          <a:bodyPr/>
          <a:lstStyle/>
          <a:p>
            <a:fld id="{8256F83C-9D86-480B-90E0-0702DBEB9457}" type="slidenum">
              <a:rPr lang="pt-BR" smtClean="0"/>
              <a:t>2</a:t>
            </a:fld>
            <a:endParaRPr lang="pt-BR"/>
          </a:p>
        </p:txBody>
      </p:sp>
    </p:spTree>
    <p:extLst>
      <p:ext uri="{BB962C8B-B14F-4D97-AF65-F5344CB8AC3E}">
        <p14:creationId xmlns:p14="http://schemas.microsoft.com/office/powerpoint/2010/main" val="2030562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a:blip r:embed="rId2"/>
          <a:stretch>
            <a:fillRect/>
          </a:stretch>
        </p:blipFill>
        <p:spPr>
          <a:xfrm>
            <a:off x="3282454" y="2301673"/>
            <a:ext cx="5493742" cy="3724722"/>
          </a:xfrm>
          <a:prstGeom prst="rect">
            <a:avLst/>
          </a:prstGeom>
          <a:ln>
            <a:solidFill>
              <a:schemeClr val="accent1">
                <a:lumMod val="50000"/>
              </a:schemeClr>
            </a:solidFill>
          </a:ln>
        </p:spPr>
      </p:pic>
      <p:sp>
        <p:nvSpPr>
          <p:cNvPr id="3" name="Espaço Reservado para Conteúdo 2"/>
          <p:cNvSpPr txBox="1">
            <a:spLocks/>
          </p:cNvSpPr>
          <p:nvPr/>
        </p:nvSpPr>
        <p:spPr>
          <a:xfrm>
            <a:off x="718459" y="710700"/>
            <a:ext cx="11144250" cy="183247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sz="2400" b="1" u="sng" dirty="0"/>
              <a:t>Web 2.0 (2000 a 2010):</a:t>
            </a:r>
            <a:r>
              <a:rPr lang="pt-BR" sz="2400" dirty="0"/>
              <a:t> nova proposta, bem mais colaborativa. Permitindo a troca de dados (textos, vídeos, imagens, sons, etc..). </a:t>
            </a:r>
          </a:p>
        </p:txBody>
      </p:sp>
      <p:sp>
        <p:nvSpPr>
          <p:cNvPr id="4" name="Espaço Reservado para Conteúdo 2"/>
          <p:cNvSpPr txBox="1">
            <a:spLocks/>
          </p:cNvSpPr>
          <p:nvPr/>
        </p:nvSpPr>
        <p:spPr>
          <a:xfrm>
            <a:off x="1834244" y="6165133"/>
            <a:ext cx="7972425" cy="4919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600" b="1" i="1" dirty="0"/>
              <a:t>Fonte:</a:t>
            </a:r>
            <a:r>
              <a:rPr lang="pt-BR" sz="1600" i="1" dirty="0"/>
              <a:t> Livro texto - </a:t>
            </a:r>
            <a:r>
              <a:rPr lang="en-US" sz="1600" i="1" dirty="0"/>
              <a:t>Website Design and Development with HTML5 and CSS3</a:t>
            </a:r>
            <a:endParaRPr lang="pt-BR" sz="1600" i="1" dirty="0"/>
          </a:p>
        </p:txBody>
      </p:sp>
      <p:sp>
        <p:nvSpPr>
          <p:cNvPr id="5" name="Espaço Reservado para Conteúdo 2"/>
          <p:cNvSpPr txBox="1">
            <a:spLocks/>
          </p:cNvSpPr>
          <p:nvPr/>
        </p:nvSpPr>
        <p:spPr>
          <a:xfrm>
            <a:off x="1834244" y="1809728"/>
            <a:ext cx="7972425" cy="4919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2000" b="1" dirty="0"/>
              <a:t>Figura 2:</a:t>
            </a:r>
            <a:r>
              <a:rPr lang="pt-BR" sz="2000" dirty="0"/>
              <a:t> Páginas web mais colaborativas. </a:t>
            </a:r>
          </a:p>
        </p:txBody>
      </p:sp>
      <p:sp>
        <p:nvSpPr>
          <p:cNvPr id="6" name="Espaço Reservado para Número de Slide 5"/>
          <p:cNvSpPr>
            <a:spLocks noGrp="1"/>
          </p:cNvSpPr>
          <p:nvPr>
            <p:ph type="sldNum" sz="quarter" idx="12"/>
          </p:nvPr>
        </p:nvSpPr>
        <p:spPr/>
        <p:txBody>
          <a:bodyPr/>
          <a:lstStyle/>
          <a:p>
            <a:fld id="{8256F83C-9D86-480B-90E0-0702DBEB9457}" type="slidenum">
              <a:rPr lang="pt-BR" smtClean="0"/>
              <a:t>3</a:t>
            </a:fld>
            <a:endParaRPr lang="pt-BR"/>
          </a:p>
        </p:txBody>
      </p:sp>
    </p:spTree>
    <p:extLst>
      <p:ext uri="{BB962C8B-B14F-4D97-AF65-F5344CB8AC3E}">
        <p14:creationId xmlns:p14="http://schemas.microsoft.com/office/powerpoint/2010/main" val="3872660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a:blip r:embed="rId2"/>
          <a:stretch>
            <a:fillRect/>
          </a:stretch>
        </p:blipFill>
        <p:spPr>
          <a:xfrm>
            <a:off x="3112970" y="2778086"/>
            <a:ext cx="5414972" cy="3701373"/>
          </a:xfrm>
          <a:prstGeom prst="rect">
            <a:avLst/>
          </a:prstGeom>
          <a:ln>
            <a:solidFill>
              <a:schemeClr val="accent1">
                <a:lumMod val="50000"/>
              </a:schemeClr>
            </a:solidFill>
          </a:ln>
        </p:spPr>
      </p:pic>
      <p:sp>
        <p:nvSpPr>
          <p:cNvPr id="3" name="Espaço Reservado para Conteúdo 2"/>
          <p:cNvSpPr txBox="1">
            <a:spLocks/>
          </p:cNvSpPr>
          <p:nvPr/>
        </p:nvSpPr>
        <p:spPr>
          <a:xfrm>
            <a:off x="723358" y="533280"/>
            <a:ext cx="11087099" cy="138123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2400" b="1" u="sng" dirty="0"/>
              <a:t>Web 3.0 (2010 a 2020):</a:t>
            </a:r>
            <a:r>
              <a:rPr lang="pt-BR" sz="2400" dirty="0"/>
              <a:t> teve como objetivo classificar a vasta massa de informações utilizáveis de acordo com as condições e requisitos de cada utilizador, de acordo com o seu posicionamento, preferências, etc. Os sites evoluíram para aplicativos on-line, com isso difundindo cada vez mais os conteúdos para outros usuários.</a:t>
            </a:r>
          </a:p>
        </p:txBody>
      </p:sp>
      <p:sp>
        <p:nvSpPr>
          <p:cNvPr id="7" name="Espaço Reservado para Conteúdo 2"/>
          <p:cNvSpPr txBox="1">
            <a:spLocks/>
          </p:cNvSpPr>
          <p:nvPr/>
        </p:nvSpPr>
        <p:spPr>
          <a:xfrm>
            <a:off x="1834244" y="6479459"/>
            <a:ext cx="7972425" cy="4919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600" b="1" i="1" dirty="0"/>
              <a:t>Fonte:</a:t>
            </a:r>
            <a:r>
              <a:rPr lang="pt-BR" sz="1600" i="1" dirty="0"/>
              <a:t> Livro texto - </a:t>
            </a:r>
            <a:r>
              <a:rPr lang="en-US" sz="1600" i="1" dirty="0"/>
              <a:t>Website Design and Development with HTML5 and CSS3</a:t>
            </a:r>
            <a:endParaRPr lang="pt-BR" sz="1600" i="1" dirty="0"/>
          </a:p>
        </p:txBody>
      </p:sp>
      <p:sp>
        <p:nvSpPr>
          <p:cNvPr id="8" name="Espaço Reservado para Conteúdo 2"/>
          <p:cNvSpPr txBox="1">
            <a:spLocks/>
          </p:cNvSpPr>
          <p:nvPr/>
        </p:nvSpPr>
        <p:spPr>
          <a:xfrm>
            <a:off x="1834244" y="2315712"/>
            <a:ext cx="7972425" cy="4919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2000" b="1" dirty="0"/>
              <a:t>Figura 3: </a:t>
            </a:r>
            <a:r>
              <a:rPr lang="pt-BR" sz="2000" dirty="0"/>
              <a:t>Web 3.0 difundir cada vez mais os conteúdos. </a:t>
            </a:r>
          </a:p>
        </p:txBody>
      </p:sp>
      <p:sp>
        <p:nvSpPr>
          <p:cNvPr id="4" name="Espaço Reservado para Número de Slide 3"/>
          <p:cNvSpPr>
            <a:spLocks noGrp="1"/>
          </p:cNvSpPr>
          <p:nvPr>
            <p:ph type="sldNum" sz="quarter" idx="12"/>
          </p:nvPr>
        </p:nvSpPr>
        <p:spPr/>
        <p:txBody>
          <a:bodyPr/>
          <a:lstStyle/>
          <a:p>
            <a:fld id="{8256F83C-9D86-480B-90E0-0702DBEB9457}" type="slidenum">
              <a:rPr lang="pt-BR" smtClean="0"/>
              <a:t>4</a:t>
            </a:fld>
            <a:endParaRPr lang="pt-BR"/>
          </a:p>
        </p:txBody>
      </p:sp>
    </p:spTree>
    <p:extLst>
      <p:ext uri="{BB962C8B-B14F-4D97-AF65-F5344CB8AC3E}">
        <p14:creationId xmlns:p14="http://schemas.microsoft.com/office/powerpoint/2010/main" val="1057725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a:blip r:embed="rId2"/>
          <a:stretch>
            <a:fillRect/>
          </a:stretch>
        </p:blipFill>
        <p:spPr>
          <a:xfrm>
            <a:off x="6672664" y="3079717"/>
            <a:ext cx="5157797" cy="3243530"/>
          </a:xfrm>
          <a:prstGeom prst="rect">
            <a:avLst/>
          </a:prstGeom>
          <a:ln>
            <a:solidFill>
              <a:schemeClr val="accent1">
                <a:lumMod val="50000"/>
              </a:schemeClr>
            </a:solidFill>
          </a:ln>
        </p:spPr>
      </p:pic>
      <p:pic>
        <p:nvPicPr>
          <p:cNvPr id="3" name="Imagem 2"/>
          <p:cNvPicPr>
            <a:picLocks noChangeAspect="1"/>
          </p:cNvPicPr>
          <p:nvPr/>
        </p:nvPicPr>
        <p:blipFill>
          <a:blip r:embed="rId3"/>
          <a:stretch>
            <a:fillRect/>
          </a:stretch>
        </p:blipFill>
        <p:spPr>
          <a:xfrm>
            <a:off x="786214" y="3079717"/>
            <a:ext cx="5157797" cy="3243529"/>
          </a:xfrm>
          <a:prstGeom prst="rect">
            <a:avLst/>
          </a:prstGeom>
          <a:ln>
            <a:solidFill>
              <a:schemeClr val="accent1">
                <a:lumMod val="50000"/>
              </a:schemeClr>
            </a:solidFill>
          </a:ln>
        </p:spPr>
      </p:pic>
      <p:sp>
        <p:nvSpPr>
          <p:cNvPr id="4" name="Espaço Reservado para Conteúdo 2"/>
          <p:cNvSpPr txBox="1">
            <a:spLocks/>
          </p:cNvSpPr>
          <p:nvPr/>
        </p:nvSpPr>
        <p:spPr>
          <a:xfrm>
            <a:off x="707837" y="385241"/>
            <a:ext cx="11044247" cy="168695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2400" b="1" u="sng" dirty="0"/>
              <a:t>Web 4.0 (2020 a ......):</a:t>
            </a:r>
            <a:r>
              <a:rPr lang="pt-BR" sz="2400" dirty="0"/>
              <a:t> a web 4.0 ainda é uma incógnita, mas tende ser uma web baseada em inteligência artificial. Principal objetivo inserir o usuário em ambiente completamente diferente.</a:t>
            </a:r>
          </a:p>
        </p:txBody>
      </p:sp>
      <p:sp>
        <p:nvSpPr>
          <p:cNvPr id="5" name="Espaço Reservado para Conteúdo 2"/>
          <p:cNvSpPr txBox="1">
            <a:spLocks/>
          </p:cNvSpPr>
          <p:nvPr/>
        </p:nvSpPr>
        <p:spPr>
          <a:xfrm>
            <a:off x="2134692" y="6350877"/>
            <a:ext cx="7972425" cy="4919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600" b="1" i="1" dirty="0"/>
              <a:t>Fonte:</a:t>
            </a:r>
            <a:r>
              <a:rPr lang="pt-BR" sz="1600" i="1" dirty="0"/>
              <a:t> Livro texto - </a:t>
            </a:r>
            <a:r>
              <a:rPr lang="en-US" sz="1600" i="1" dirty="0"/>
              <a:t>Website Design and Development with HTML5 and CSS3</a:t>
            </a:r>
            <a:endParaRPr lang="pt-BR" sz="1600" i="1" dirty="0"/>
          </a:p>
        </p:txBody>
      </p:sp>
      <p:sp>
        <p:nvSpPr>
          <p:cNvPr id="6" name="Espaço Reservado para Conteúdo 2"/>
          <p:cNvSpPr txBox="1">
            <a:spLocks/>
          </p:cNvSpPr>
          <p:nvPr/>
        </p:nvSpPr>
        <p:spPr>
          <a:xfrm>
            <a:off x="485766" y="2128842"/>
            <a:ext cx="11044247" cy="4919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2000" b="1" dirty="0"/>
              <a:t>Figura 4:</a:t>
            </a:r>
            <a:r>
              <a:rPr lang="pt-BR" sz="2000" dirty="0"/>
              <a:t> Em (a) tela de um refrigerador Samsung que mostra além de notícias, temperatura ambiental, temperatura da água, etc. Em (b) biosensores são incorporados as roupas para monitoramento em tempo real das funções vitais.</a:t>
            </a:r>
          </a:p>
        </p:txBody>
      </p:sp>
      <p:sp>
        <p:nvSpPr>
          <p:cNvPr id="7" name="Espaço Reservado para Número de Slide 6"/>
          <p:cNvSpPr>
            <a:spLocks noGrp="1"/>
          </p:cNvSpPr>
          <p:nvPr>
            <p:ph type="sldNum" sz="quarter" idx="12"/>
          </p:nvPr>
        </p:nvSpPr>
        <p:spPr/>
        <p:txBody>
          <a:bodyPr/>
          <a:lstStyle/>
          <a:p>
            <a:fld id="{8256F83C-9D86-480B-90E0-0702DBEB9457}" type="slidenum">
              <a:rPr lang="pt-BR" smtClean="0"/>
              <a:t>5</a:t>
            </a:fld>
            <a:endParaRPr lang="pt-BR"/>
          </a:p>
        </p:txBody>
      </p:sp>
    </p:spTree>
    <p:extLst>
      <p:ext uri="{BB962C8B-B14F-4D97-AF65-F5344CB8AC3E}">
        <p14:creationId xmlns:p14="http://schemas.microsoft.com/office/powerpoint/2010/main" val="817777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605999" y="386589"/>
            <a:ext cx="10974841" cy="671736"/>
          </a:xfrm>
          <a:prstGeom prst="rect">
            <a:avLst/>
          </a:prstGeom>
        </p:spPr>
        <p:txBody>
          <a:bodyPr>
            <a:normAutofit fontScale="97500"/>
          </a:bodyPr>
          <a:lstStyle>
            <a:lvl1pPr algn="l" defTabSz="914400" rtl="0" eaLnBrk="1" latinLnBrk="0" hangingPunct="1">
              <a:lnSpc>
                <a:spcPct val="90000"/>
              </a:lnSpc>
              <a:spcBef>
                <a:spcPct val="0"/>
              </a:spcBef>
              <a:buNone/>
              <a:defRPr sz="4400" b="1" kern="1200">
                <a:solidFill>
                  <a:srgbClr val="1B4572"/>
                </a:solidFill>
                <a:latin typeface="Arial" panose="020B0604020202020204" pitchFamily="34" charset="0"/>
                <a:ea typeface="+mj-ea"/>
                <a:cs typeface="Arial" panose="020B0604020202020204" pitchFamily="34" charset="0"/>
              </a:defRPr>
            </a:lvl1pPr>
          </a:lstStyle>
          <a:p>
            <a:pPr algn="ctr"/>
            <a:r>
              <a:rPr lang="pt-BR" sz="3200" dirty="0">
                <a:solidFill>
                  <a:schemeClr val="accent1">
                    <a:lumMod val="50000"/>
                  </a:schemeClr>
                </a:solidFill>
              </a:rPr>
              <a:t>Arquitetura de uma aplicação Web</a:t>
            </a:r>
          </a:p>
        </p:txBody>
      </p:sp>
      <p:sp>
        <p:nvSpPr>
          <p:cNvPr id="3" name="Espaço Reservado para Conteúdo 2"/>
          <p:cNvSpPr txBox="1">
            <a:spLocks/>
          </p:cNvSpPr>
          <p:nvPr/>
        </p:nvSpPr>
        <p:spPr>
          <a:xfrm>
            <a:off x="605999" y="891078"/>
            <a:ext cx="10974841" cy="107735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2400" dirty="0"/>
              <a:t>Existem várias topologias de arquitetura de uma aplicação Web. A seguir uma arquitetura mais completa e próxima da realidade. Formada por 3 níveis de serviço, são eles:</a:t>
            </a:r>
          </a:p>
          <a:p>
            <a:pPr marL="0" indent="0" algn="just">
              <a:buNone/>
            </a:pPr>
            <a:r>
              <a:rPr lang="pt-BR" sz="2400" dirty="0"/>
              <a:t>	- primeiro nível: processamento local e apresentação da página web.</a:t>
            </a:r>
          </a:p>
          <a:p>
            <a:pPr marL="0" indent="0" algn="just">
              <a:buNone/>
            </a:pPr>
            <a:r>
              <a:rPr lang="pt-BR" sz="2400" dirty="0"/>
              <a:t>	- segundo nível: processamento global realizada num servidor web.</a:t>
            </a:r>
          </a:p>
          <a:p>
            <a:pPr marL="0" indent="0" algn="just">
              <a:buNone/>
            </a:pPr>
            <a:r>
              <a:rPr lang="pt-BR" sz="2400" dirty="0"/>
              <a:t>	- terceiro nível: servidor onde os dados são armazenados.</a:t>
            </a:r>
          </a:p>
        </p:txBody>
      </p:sp>
      <p:pic>
        <p:nvPicPr>
          <p:cNvPr id="4" name="Imagem 3"/>
          <p:cNvPicPr>
            <a:picLocks noChangeAspect="1"/>
          </p:cNvPicPr>
          <p:nvPr/>
        </p:nvPicPr>
        <p:blipFill>
          <a:blip r:embed="rId2"/>
          <a:stretch>
            <a:fillRect/>
          </a:stretch>
        </p:blipFill>
        <p:spPr>
          <a:xfrm>
            <a:off x="2796133" y="3895091"/>
            <a:ext cx="6594572" cy="2612943"/>
          </a:xfrm>
          <a:prstGeom prst="rect">
            <a:avLst/>
          </a:prstGeom>
        </p:spPr>
      </p:pic>
      <p:sp>
        <p:nvSpPr>
          <p:cNvPr id="5" name="Espaço Reservado para Conteúdo 2"/>
          <p:cNvSpPr txBox="1">
            <a:spLocks/>
          </p:cNvSpPr>
          <p:nvPr/>
        </p:nvSpPr>
        <p:spPr>
          <a:xfrm>
            <a:off x="1840166" y="6508034"/>
            <a:ext cx="8506506" cy="4919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600" b="1" i="1" dirty="0"/>
              <a:t>Fonte:</a:t>
            </a:r>
            <a:r>
              <a:rPr lang="pt-BR" sz="1600" i="1" dirty="0"/>
              <a:t> Adaptado do livro texto - </a:t>
            </a:r>
            <a:r>
              <a:rPr lang="en-US" sz="1600" i="1" dirty="0"/>
              <a:t>Website Design and Development with HTML5 and CSS3</a:t>
            </a:r>
            <a:endParaRPr lang="pt-BR" sz="1600" i="1" dirty="0"/>
          </a:p>
        </p:txBody>
      </p:sp>
      <p:sp>
        <p:nvSpPr>
          <p:cNvPr id="6" name="Espaço Reservado para Conteúdo 2"/>
          <p:cNvSpPr txBox="1">
            <a:spLocks/>
          </p:cNvSpPr>
          <p:nvPr/>
        </p:nvSpPr>
        <p:spPr>
          <a:xfrm>
            <a:off x="571295" y="3531738"/>
            <a:ext cx="11044247" cy="4919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2000" b="1" dirty="0"/>
              <a:t>Figura 5: </a:t>
            </a:r>
            <a:r>
              <a:rPr lang="pt-BR" sz="2000" dirty="0"/>
              <a:t>Arquitetura de uma aplicação Web formada por níveis de serviço.</a:t>
            </a:r>
          </a:p>
        </p:txBody>
      </p:sp>
      <p:sp>
        <p:nvSpPr>
          <p:cNvPr id="7" name="Espaço Reservado para Número de Slide 6"/>
          <p:cNvSpPr>
            <a:spLocks noGrp="1"/>
          </p:cNvSpPr>
          <p:nvPr>
            <p:ph type="sldNum" sz="quarter" idx="12"/>
          </p:nvPr>
        </p:nvSpPr>
        <p:spPr/>
        <p:txBody>
          <a:bodyPr/>
          <a:lstStyle/>
          <a:p>
            <a:fld id="{8256F83C-9D86-480B-90E0-0702DBEB9457}" type="slidenum">
              <a:rPr lang="pt-BR" smtClean="0"/>
              <a:t>6</a:t>
            </a:fld>
            <a:endParaRPr lang="pt-BR"/>
          </a:p>
        </p:txBody>
      </p:sp>
    </p:spTree>
    <p:extLst>
      <p:ext uri="{BB962C8B-B14F-4D97-AF65-F5344CB8AC3E}">
        <p14:creationId xmlns:p14="http://schemas.microsoft.com/office/powerpoint/2010/main" val="2277794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585787" y="363850"/>
            <a:ext cx="10974841" cy="671736"/>
          </a:xfrm>
          <a:prstGeom prst="rect">
            <a:avLst/>
          </a:prstGeom>
        </p:spPr>
        <p:txBody>
          <a:bodyPr>
            <a:noAutofit/>
          </a:bodyPr>
          <a:lstStyle>
            <a:lvl1pPr algn="l" defTabSz="914400" rtl="0" eaLnBrk="1" latinLnBrk="0" hangingPunct="1">
              <a:lnSpc>
                <a:spcPct val="90000"/>
              </a:lnSpc>
              <a:spcBef>
                <a:spcPct val="0"/>
              </a:spcBef>
              <a:buNone/>
              <a:defRPr sz="4400" b="1" kern="1200">
                <a:solidFill>
                  <a:srgbClr val="1B4572"/>
                </a:solidFill>
                <a:latin typeface="Arial" panose="020B0604020202020204" pitchFamily="34" charset="0"/>
                <a:ea typeface="+mj-ea"/>
                <a:cs typeface="Arial" panose="020B0604020202020204" pitchFamily="34" charset="0"/>
              </a:defRPr>
            </a:lvl1pPr>
          </a:lstStyle>
          <a:p>
            <a:pPr algn="ctr"/>
            <a:r>
              <a:rPr lang="pt-BR" sz="3200" dirty="0">
                <a:solidFill>
                  <a:schemeClr val="accent1">
                    <a:lumMod val="50000"/>
                  </a:schemeClr>
                </a:solidFill>
              </a:rPr>
              <a:t>Introdução ao HTML</a:t>
            </a:r>
          </a:p>
          <a:p>
            <a:pPr algn="ctr"/>
            <a:r>
              <a:rPr lang="pt-BR" sz="3200" dirty="0">
                <a:solidFill>
                  <a:schemeClr val="accent1">
                    <a:lumMod val="50000"/>
                  </a:schemeClr>
                </a:solidFill>
              </a:rPr>
              <a:t>(Linguagem de Marcação de </a:t>
            </a:r>
            <a:r>
              <a:rPr lang="pt-BR" sz="3200" dirty="0" err="1">
                <a:solidFill>
                  <a:schemeClr val="accent1">
                    <a:lumMod val="50000"/>
                  </a:schemeClr>
                </a:solidFill>
              </a:rPr>
              <a:t>HiperTexto</a:t>
            </a:r>
            <a:r>
              <a:rPr lang="pt-BR" sz="3200" dirty="0">
                <a:solidFill>
                  <a:schemeClr val="accent1">
                    <a:lumMod val="50000"/>
                  </a:schemeClr>
                </a:solidFill>
              </a:rPr>
              <a:t>)</a:t>
            </a:r>
          </a:p>
        </p:txBody>
      </p:sp>
      <p:sp>
        <p:nvSpPr>
          <p:cNvPr id="3" name="Espaço Reservado para Conteúdo 2"/>
          <p:cNvSpPr txBox="1">
            <a:spLocks/>
          </p:cNvSpPr>
          <p:nvPr/>
        </p:nvSpPr>
        <p:spPr>
          <a:xfrm>
            <a:off x="718456" y="1268187"/>
            <a:ext cx="10842172" cy="213223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pt-BR" sz="2400" b="1" dirty="0"/>
              <a:t>Quando surgiu o HTML?</a:t>
            </a:r>
          </a:p>
          <a:p>
            <a:pPr lvl="1" algn="just"/>
            <a:r>
              <a:rPr lang="pt-BR" dirty="0"/>
              <a:t>Em 6 de agosto de 1991, na Suíça, Tim </a:t>
            </a:r>
            <a:r>
              <a:rPr lang="pt-BR" dirty="0" err="1"/>
              <a:t>Beners</a:t>
            </a:r>
            <a:r>
              <a:rPr lang="pt-BR" dirty="0"/>
              <a:t>-Lee, da Organização Europeia para a Pesquisa Nuclear (CERN – </a:t>
            </a:r>
            <a:r>
              <a:rPr lang="pt-BR" dirty="0" err="1"/>
              <a:t>Conseil</a:t>
            </a:r>
            <a:r>
              <a:rPr lang="pt-BR" dirty="0"/>
              <a:t> </a:t>
            </a:r>
            <a:r>
              <a:rPr lang="pt-BR" dirty="0" err="1"/>
              <a:t>Européen</a:t>
            </a:r>
            <a:r>
              <a:rPr lang="pt-BR" dirty="0"/>
              <a:t> </a:t>
            </a:r>
            <a:r>
              <a:rPr lang="pt-BR" dirty="0" err="1"/>
              <a:t>pour</a:t>
            </a:r>
            <a:r>
              <a:rPr lang="pt-BR" dirty="0"/>
              <a:t> ia </a:t>
            </a:r>
            <a:r>
              <a:rPr lang="pt-BR" dirty="0" err="1"/>
              <a:t>Recherche</a:t>
            </a:r>
            <a:r>
              <a:rPr lang="pt-BR" dirty="0"/>
              <a:t> </a:t>
            </a:r>
            <a:r>
              <a:rPr lang="pt-BR" dirty="0" err="1"/>
              <a:t>Nucléaire</a:t>
            </a:r>
            <a:r>
              <a:rPr lang="pt-BR" dirty="0"/>
              <a:t>) colocou </a:t>
            </a:r>
            <a:r>
              <a:rPr lang="pt-BR" i="1" dirty="0"/>
              <a:t>on-line</a:t>
            </a:r>
            <a:r>
              <a:rPr lang="pt-BR" dirty="0"/>
              <a:t> o primeiro web site. O HTML foi baseado no SGML (Standard </a:t>
            </a:r>
            <a:r>
              <a:rPr lang="pt-BR" dirty="0" err="1"/>
              <a:t>Generalized</a:t>
            </a:r>
            <a:r>
              <a:rPr lang="pt-BR" dirty="0"/>
              <a:t> Markup Language), uma linguagem de estruturação de documentos. </a:t>
            </a:r>
          </a:p>
        </p:txBody>
      </p:sp>
      <p:pic>
        <p:nvPicPr>
          <p:cNvPr id="4" name="Imagem 3"/>
          <p:cNvPicPr>
            <a:picLocks noChangeAspect="1"/>
          </p:cNvPicPr>
          <p:nvPr/>
        </p:nvPicPr>
        <p:blipFill>
          <a:blip r:embed="rId2"/>
          <a:stretch>
            <a:fillRect/>
          </a:stretch>
        </p:blipFill>
        <p:spPr>
          <a:xfrm>
            <a:off x="3843337" y="3892897"/>
            <a:ext cx="4579895" cy="2672882"/>
          </a:xfrm>
          <a:prstGeom prst="rect">
            <a:avLst/>
          </a:prstGeom>
          <a:ln>
            <a:solidFill>
              <a:schemeClr val="accent1">
                <a:lumMod val="50000"/>
              </a:schemeClr>
            </a:solidFill>
          </a:ln>
        </p:spPr>
      </p:pic>
      <p:sp>
        <p:nvSpPr>
          <p:cNvPr id="5" name="Espaço Reservado para Conteúdo 2"/>
          <p:cNvSpPr txBox="1">
            <a:spLocks/>
          </p:cNvSpPr>
          <p:nvPr/>
        </p:nvSpPr>
        <p:spPr>
          <a:xfrm>
            <a:off x="1840166" y="6565779"/>
            <a:ext cx="8506506" cy="4342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600" b="1" i="1" dirty="0"/>
              <a:t>Fonte:</a:t>
            </a:r>
            <a:r>
              <a:rPr lang="pt-BR" sz="1600" i="1" dirty="0"/>
              <a:t> </a:t>
            </a:r>
            <a:r>
              <a:rPr lang="pt-BR" sz="1600" i="1" dirty="0">
                <a:hlinkClick r:id="rId3"/>
              </a:rPr>
              <a:t>https://webfoundation.org/</a:t>
            </a:r>
            <a:r>
              <a:rPr lang="pt-BR" sz="1600" i="1" dirty="0"/>
              <a:t> acessado em janeiro de 2022</a:t>
            </a:r>
          </a:p>
        </p:txBody>
      </p:sp>
      <p:sp>
        <p:nvSpPr>
          <p:cNvPr id="6" name="Espaço Reservado para Conteúdo 2"/>
          <p:cNvSpPr txBox="1">
            <a:spLocks/>
          </p:cNvSpPr>
          <p:nvPr/>
        </p:nvSpPr>
        <p:spPr>
          <a:xfrm>
            <a:off x="571295" y="3531738"/>
            <a:ext cx="11044247" cy="4919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2000" b="1" dirty="0"/>
              <a:t>Figura 6: </a:t>
            </a:r>
            <a:r>
              <a:rPr lang="pt-BR" sz="2000" dirty="0"/>
              <a:t>Tim </a:t>
            </a:r>
            <a:r>
              <a:rPr lang="pt-BR" sz="2000" dirty="0" err="1"/>
              <a:t>Beners</a:t>
            </a:r>
            <a:r>
              <a:rPr lang="pt-BR" sz="2000" dirty="0"/>
              <a:t>-Lee responsável pelo primeiro web site.</a:t>
            </a:r>
          </a:p>
        </p:txBody>
      </p:sp>
      <p:sp>
        <p:nvSpPr>
          <p:cNvPr id="7" name="Espaço Reservado para Número de Slide 6"/>
          <p:cNvSpPr>
            <a:spLocks noGrp="1"/>
          </p:cNvSpPr>
          <p:nvPr>
            <p:ph type="sldNum" sz="quarter" idx="12"/>
          </p:nvPr>
        </p:nvSpPr>
        <p:spPr/>
        <p:txBody>
          <a:bodyPr/>
          <a:lstStyle/>
          <a:p>
            <a:fld id="{8256F83C-9D86-480B-90E0-0702DBEB9457}" type="slidenum">
              <a:rPr lang="pt-BR" smtClean="0"/>
              <a:t>7</a:t>
            </a:fld>
            <a:endParaRPr lang="pt-BR"/>
          </a:p>
        </p:txBody>
      </p:sp>
    </p:spTree>
    <p:extLst>
      <p:ext uri="{BB962C8B-B14F-4D97-AF65-F5344CB8AC3E}">
        <p14:creationId xmlns:p14="http://schemas.microsoft.com/office/powerpoint/2010/main" val="2468932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2"/>
          <p:cNvSpPr txBox="1">
            <a:spLocks/>
          </p:cNvSpPr>
          <p:nvPr/>
        </p:nvSpPr>
        <p:spPr>
          <a:xfrm>
            <a:off x="627017" y="434376"/>
            <a:ext cx="10998925" cy="38230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2400" b="1" dirty="0"/>
              <a:t>Quem é Tim Berners-Lee?</a:t>
            </a:r>
          </a:p>
        </p:txBody>
      </p:sp>
      <p:cxnSp>
        <p:nvCxnSpPr>
          <p:cNvPr id="4" name="Conector reto 3"/>
          <p:cNvCxnSpPr/>
          <p:nvPr/>
        </p:nvCxnSpPr>
        <p:spPr>
          <a:xfrm flipV="1">
            <a:off x="752844" y="3643321"/>
            <a:ext cx="11210553" cy="27692"/>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Espaço Reservado para Conteúdo 2"/>
          <p:cNvSpPr txBox="1">
            <a:spLocks/>
          </p:cNvSpPr>
          <p:nvPr/>
        </p:nvSpPr>
        <p:spPr>
          <a:xfrm>
            <a:off x="752844" y="4197244"/>
            <a:ext cx="2864752" cy="4919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800" b="1" dirty="0"/>
              <a:t>Nasceu em 8 de junho de 1955, em Londres</a:t>
            </a:r>
          </a:p>
          <a:p>
            <a:pPr marL="0" indent="0" algn="ctr">
              <a:buNone/>
            </a:pPr>
            <a:r>
              <a:rPr lang="pt-BR" sz="1800" dirty="0"/>
              <a:t>Filho de Mary Lee-Woods e </a:t>
            </a:r>
            <a:r>
              <a:rPr lang="pt-BR" sz="1800" dirty="0" err="1"/>
              <a:t>Conway</a:t>
            </a:r>
            <a:r>
              <a:rPr lang="pt-BR" sz="1800" dirty="0"/>
              <a:t> Berners-Lee, ambos matemáticos. Ambos trabalhavam com o segundo computador comercial da marca </a:t>
            </a:r>
            <a:r>
              <a:rPr lang="pt-BR" sz="1800" dirty="0" err="1"/>
              <a:t>Ferranti</a:t>
            </a:r>
            <a:r>
              <a:rPr lang="pt-BR" sz="1800" dirty="0"/>
              <a:t>.</a:t>
            </a:r>
            <a:endParaRPr lang="pt-BR" sz="1800" b="1" dirty="0"/>
          </a:p>
        </p:txBody>
      </p:sp>
      <p:sp>
        <p:nvSpPr>
          <p:cNvPr id="12" name="Espaço Reservado para Conteúdo 2"/>
          <p:cNvSpPr txBox="1">
            <a:spLocks/>
          </p:cNvSpPr>
          <p:nvPr/>
        </p:nvSpPr>
        <p:spPr>
          <a:xfrm>
            <a:off x="1920240" y="893792"/>
            <a:ext cx="2254786" cy="157327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800" dirty="0"/>
              <a:t>Tim durante a sua infância era  aficionado por trens, aprendeu tudo sobre eletrônica mexendo no seu próprio modelo ferroviário. Tinha mais 3 irmãos.</a:t>
            </a:r>
          </a:p>
        </p:txBody>
      </p:sp>
      <p:sp>
        <p:nvSpPr>
          <p:cNvPr id="13" name="Espaço Reservado para Conteúdo 2"/>
          <p:cNvSpPr txBox="1">
            <a:spLocks/>
          </p:cNvSpPr>
          <p:nvPr/>
        </p:nvSpPr>
        <p:spPr>
          <a:xfrm>
            <a:off x="4296266" y="1104824"/>
            <a:ext cx="3363653" cy="20304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800" dirty="0"/>
              <a:t>Tim formou-se em Física pelo Queens </a:t>
            </a:r>
            <a:r>
              <a:rPr lang="pt-BR" sz="1800" dirty="0" err="1"/>
              <a:t>College</a:t>
            </a:r>
            <a:r>
              <a:rPr lang="pt-BR" sz="1800" dirty="0"/>
              <a:t> da Universidade de Oxford.</a:t>
            </a:r>
          </a:p>
          <a:p>
            <a:pPr marL="0" indent="0" algn="ctr">
              <a:buNone/>
            </a:pPr>
            <a:r>
              <a:rPr lang="pt-BR" sz="1800" b="1" dirty="0"/>
              <a:t>(1973 a 1976)</a:t>
            </a:r>
          </a:p>
          <a:p>
            <a:pPr marL="0" indent="0" algn="ctr">
              <a:buNone/>
            </a:pPr>
            <a:r>
              <a:rPr lang="pt-BR" sz="1800" dirty="0"/>
              <a:t>Começou a trabalhar como engenheiro em uma empresa de Telecomunicações.</a:t>
            </a:r>
          </a:p>
        </p:txBody>
      </p:sp>
      <p:sp>
        <p:nvSpPr>
          <p:cNvPr id="14" name="Espaço Reservado para Conteúdo 2"/>
          <p:cNvSpPr txBox="1">
            <a:spLocks/>
          </p:cNvSpPr>
          <p:nvPr/>
        </p:nvSpPr>
        <p:spPr>
          <a:xfrm>
            <a:off x="3668843" y="4219503"/>
            <a:ext cx="2549473" cy="4919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800" b="1" dirty="0"/>
              <a:t>(1969 a 1973)</a:t>
            </a:r>
          </a:p>
          <a:p>
            <a:pPr marL="0" indent="0" algn="ctr">
              <a:buNone/>
            </a:pPr>
            <a:r>
              <a:rPr lang="pt-BR" sz="1800" dirty="0"/>
              <a:t>Estudou na escola primária Sheen </a:t>
            </a:r>
            <a:r>
              <a:rPr lang="pt-BR" sz="1800" dirty="0" err="1"/>
              <a:t>Mount</a:t>
            </a:r>
            <a:r>
              <a:rPr lang="pt-BR" sz="1800" dirty="0"/>
              <a:t> e depois na Emanuel </a:t>
            </a:r>
            <a:r>
              <a:rPr lang="pt-BR" sz="1800" dirty="0" err="1"/>
              <a:t>School</a:t>
            </a:r>
            <a:r>
              <a:rPr lang="pt-BR" sz="1800" dirty="0"/>
              <a:t> em Londres</a:t>
            </a:r>
          </a:p>
          <a:p>
            <a:pPr marL="0" indent="0" algn="ctr">
              <a:buNone/>
            </a:pPr>
            <a:endParaRPr lang="pt-BR" sz="1800" dirty="0"/>
          </a:p>
        </p:txBody>
      </p:sp>
      <p:sp>
        <p:nvSpPr>
          <p:cNvPr id="18" name="Espaço Reservado para Conteúdo 2"/>
          <p:cNvSpPr txBox="1">
            <a:spLocks/>
          </p:cNvSpPr>
          <p:nvPr/>
        </p:nvSpPr>
        <p:spPr>
          <a:xfrm>
            <a:off x="6494370" y="4262367"/>
            <a:ext cx="3056404" cy="4919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800" b="1" dirty="0"/>
              <a:t>(1984)</a:t>
            </a:r>
          </a:p>
          <a:p>
            <a:pPr marL="0" indent="0" algn="ctr">
              <a:buNone/>
            </a:pPr>
            <a:r>
              <a:rPr lang="pt-BR" sz="1800" dirty="0"/>
              <a:t>Voltou para Organização Europeia para a Pesquisa Nuclear – CERN. Tinha sido contratado independente em 1980, onde propôs um projeto baseado no conceito de hipertexto.</a:t>
            </a:r>
          </a:p>
          <a:p>
            <a:pPr marL="0" indent="0" algn="ctr">
              <a:buNone/>
            </a:pPr>
            <a:endParaRPr lang="pt-BR" sz="1800" dirty="0"/>
          </a:p>
        </p:txBody>
      </p:sp>
      <p:sp>
        <p:nvSpPr>
          <p:cNvPr id="21" name="Espaço Reservado para Conteúdo 2"/>
          <p:cNvSpPr txBox="1">
            <a:spLocks/>
          </p:cNvSpPr>
          <p:nvPr/>
        </p:nvSpPr>
        <p:spPr>
          <a:xfrm>
            <a:off x="7631317" y="1514473"/>
            <a:ext cx="3480241" cy="157327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800" dirty="0"/>
              <a:t>Em 1989, o CERN foi o maior nó da Internet na Europa e Tim resgatou seu projeto baseado em hipertexto e uniu com a internet. Nasce aí a </a:t>
            </a:r>
          </a:p>
          <a:p>
            <a:pPr marL="0" indent="0" algn="ctr">
              <a:buNone/>
            </a:pPr>
            <a:r>
              <a:rPr lang="pt-BR" sz="1800" dirty="0"/>
              <a:t>World </a:t>
            </a:r>
            <a:r>
              <a:rPr lang="pt-BR" sz="1800" dirty="0" err="1"/>
              <a:t>Wide</a:t>
            </a:r>
            <a:r>
              <a:rPr lang="pt-BR" sz="1800" dirty="0"/>
              <a:t> Web – WWW.</a:t>
            </a:r>
          </a:p>
        </p:txBody>
      </p:sp>
      <p:cxnSp>
        <p:nvCxnSpPr>
          <p:cNvPr id="33" name="Conector reto 32"/>
          <p:cNvCxnSpPr/>
          <p:nvPr/>
        </p:nvCxnSpPr>
        <p:spPr>
          <a:xfrm flipH="1">
            <a:off x="4940041" y="3612235"/>
            <a:ext cx="9260" cy="508080"/>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7" name="Conector reto 36"/>
          <p:cNvCxnSpPr/>
          <p:nvPr/>
        </p:nvCxnSpPr>
        <p:spPr>
          <a:xfrm flipH="1">
            <a:off x="3001219" y="3162933"/>
            <a:ext cx="9260" cy="508080"/>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p:nvPr/>
        </p:nvCxnSpPr>
        <p:spPr>
          <a:xfrm flipH="1">
            <a:off x="5978092" y="3135368"/>
            <a:ext cx="9260" cy="508080"/>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9" name="Conector reto 38"/>
          <p:cNvCxnSpPr/>
          <p:nvPr/>
        </p:nvCxnSpPr>
        <p:spPr>
          <a:xfrm flipH="1">
            <a:off x="9347889" y="3135241"/>
            <a:ext cx="9260" cy="508080"/>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0" name="Conector reto 39"/>
          <p:cNvCxnSpPr/>
          <p:nvPr/>
        </p:nvCxnSpPr>
        <p:spPr>
          <a:xfrm flipH="1">
            <a:off x="2170932" y="3612235"/>
            <a:ext cx="9260" cy="508080"/>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1" name="Conector reto 40"/>
          <p:cNvCxnSpPr/>
          <p:nvPr/>
        </p:nvCxnSpPr>
        <p:spPr>
          <a:xfrm flipH="1">
            <a:off x="8022572" y="3674408"/>
            <a:ext cx="9260" cy="508080"/>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p:nvPr/>
        </p:nvCxnSpPr>
        <p:spPr>
          <a:xfrm flipH="1">
            <a:off x="10661294" y="3612235"/>
            <a:ext cx="9260" cy="508080"/>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sp>
        <p:nvSpPr>
          <p:cNvPr id="43" name="Espaço Reservado para Conteúdo 2"/>
          <p:cNvSpPr txBox="1">
            <a:spLocks/>
          </p:cNvSpPr>
          <p:nvPr/>
        </p:nvSpPr>
        <p:spPr>
          <a:xfrm>
            <a:off x="9489954" y="4197244"/>
            <a:ext cx="2373428" cy="4919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800" b="1" dirty="0"/>
              <a:t>O primeiro site foi construído pela CERN e foi para o ar em 06 de agosto de 1991. (1)</a:t>
            </a:r>
            <a:endParaRPr lang="pt-BR" sz="1800" dirty="0"/>
          </a:p>
          <a:p>
            <a:pPr marL="0" indent="0" algn="ctr">
              <a:buNone/>
            </a:pPr>
            <a:endParaRPr lang="pt-BR" sz="1800" dirty="0"/>
          </a:p>
        </p:txBody>
      </p:sp>
      <p:sp>
        <p:nvSpPr>
          <p:cNvPr id="44" name="Retângulo 43"/>
          <p:cNvSpPr/>
          <p:nvPr/>
        </p:nvSpPr>
        <p:spPr>
          <a:xfrm>
            <a:off x="0" y="6498536"/>
            <a:ext cx="11963397" cy="338554"/>
          </a:xfrm>
          <a:prstGeom prst="rect">
            <a:avLst/>
          </a:prstGeom>
        </p:spPr>
        <p:txBody>
          <a:bodyPr wrap="square">
            <a:spAutoFit/>
          </a:bodyPr>
          <a:lstStyle/>
          <a:p>
            <a:pPr algn="ctr"/>
            <a:r>
              <a:rPr lang="pt-BR" sz="1600" i="1" dirty="0"/>
              <a:t>(1) O link do primeiro site: </a:t>
            </a:r>
            <a:r>
              <a:rPr lang="pt-BR" sz="1600" i="1" dirty="0">
                <a:hlinkClick r:id="rId2"/>
              </a:rPr>
              <a:t> </a:t>
            </a:r>
            <a:r>
              <a:rPr lang="pt-BR" sz="1600" i="1" u="sng" dirty="0">
                <a:hlinkClick r:id="rId2"/>
              </a:rPr>
              <a:t>http://info.cern.ch/hypertext/WWW/TheProject.html</a:t>
            </a:r>
            <a:endParaRPr lang="pt-BR" sz="1600" i="1" dirty="0"/>
          </a:p>
        </p:txBody>
      </p:sp>
      <p:sp>
        <p:nvSpPr>
          <p:cNvPr id="5" name="Espaço Reservado para Número de Slide 4"/>
          <p:cNvSpPr>
            <a:spLocks noGrp="1"/>
          </p:cNvSpPr>
          <p:nvPr>
            <p:ph type="sldNum" sz="quarter" idx="12"/>
          </p:nvPr>
        </p:nvSpPr>
        <p:spPr/>
        <p:txBody>
          <a:bodyPr/>
          <a:lstStyle/>
          <a:p>
            <a:fld id="{8256F83C-9D86-480B-90E0-0702DBEB9457}" type="slidenum">
              <a:rPr lang="pt-BR" smtClean="0"/>
              <a:t>8</a:t>
            </a:fld>
            <a:endParaRPr lang="pt-BR"/>
          </a:p>
        </p:txBody>
      </p:sp>
    </p:spTree>
    <p:extLst>
      <p:ext uri="{BB962C8B-B14F-4D97-AF65-F5344CB8AC3E}">
        <p14:creationId xmlns:p14="http://schemas.microsoft.com/office/powerpoint/2010/main" val="1441236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2"/>
          <p:cNvSpPr txBox="1">
            <a:spLocks/>
          </p:cNvSpPr>
          <p:nvPr/>
        </p:nvSpPr>
        <p:spPr>
          <a:xfrm>
            <a:off x="627017" y="2357438"/>
            <a:ext cx="10998925" cy="2928937"/>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pt-BR" sz="2400" b="1" dirty="0"/>
              <a:t>O que significa HTML?</a:t>
            </a:r>
          </a:p>
          <a:p>
            <a:pPr lvl="1" algn="ctr"/>
            <a:r>
              <a:rPr lang="pt-BR" dirty="0"/>
              <a:t>HTML é uma Linguagem de Marcação de </a:t>
            </a:r>
            <a:r>
              <a:rPr lang="pt-BR" dirty="0" err="1"/>
              <a:t>Hiper</a:t>
            </a:r>
            <a:r>
              <a:rPr lang="pt-BR" dirty="0"/>
              <a:t> Texto, ou seja, é a forma utilizada para a construção de páginas web</a:t>
            </a:r>
          </a:p>
          <a:p>
            <a:pPr marL="457200" lvl="1" indent="0" algn="ctr">
              <a:buNone/>
            </a:pPr>
            <a:endParaRPr lang="pt-BR" dirty="0"/>
          </a:p>
          <a:p>
            <a:pPr marL="457200" lvl="1" indent="0" algn="ctr">
              <a:buNone/>
            </a:pPr>
            <a:r>
              <a:rPr lang="pt-BR" b="1" u="sng" dirty="0"/>
              <a:t>Não é uma linguagem de programação!</a:t>
            </a:r>
          </a:p>
          <a:p>
            <a:pPr algn="ctr"/>
            <a:endParaRPr lang="pt-BR" sz="2400" b="1" dirty="0"/>
          </a:p>
          <a:p>
            <a:pPr algn="ctr"/>
            <a:r>
              <a:rPr lang="pt-BR" sz="2400" b="1" dirty="0"/>
              <a:t>Qual era a finalidade inicial do HTML?</a:t>
            </a:r>
          </a:p>
          <a:p>
            <a:pPr lvl="1" algn="ctr"/>
            <a:r>
              <a:rPr lang="pt-BR" dirty="0"/>
              <a:t>Estes websites eram usados para troca de informações e até currículos de forma mais ágil.</a:t>
            </a:r>
          </a:p>
          <a:p>
            <a:pPr lvl="1" algn="ctr"/>
            <a:endParaRPr lang="pt-BR" dirty="0"/>
          </a:p>
          <a:p>
            <a:pPr lvl="1" algn="ctr"/>
            <a:endParaRPr lang="pt-BR" dirty="0"/>
          </a:p>
        </p:txBody>
      </p:sp>
      <p:sp>
        <p:nvSpPr>
          <p:cNvPr id="3" name="Espaço Reservado para Conteúdo 2"/>
          <p:cNvSpPr txBox="1">
            <a:spLocks/>
          </p:cNvSpPr>
          <p:nvPr/>
        </p:nvSpPr>
        <p:spPr>
          <a:xfrm>
            <a:off x="627017" y="791564"/>
            <a:ext cx="10998925" cy="38230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2400" b="1" dirty="0"/>
              <a:t>Significado? Finalidade? Como é criado? Quem padroniza? </a:t>
            </a:r>
          </a:p>
        </p:txBody>
      </p:sp>
      <p:sp>
        <p:nvSpPr>
          <p:cNvPr id="4" name="Espaço Reservado para Número de Slide 3"/>
          <p:cNvSpPr>
            <a:spLocks noGrp="1"/>
          </p:cNvSpPr>
          <p:nvPr>
            <p:ph type="sldNum" sz="quarter" idx="12"/>
          </p:nvPr>
        </p:nvSpPr>
        <p:spPr/>
        <p:txBody>
          <a:bodyPr/>
          <a:lstStyle/>
          <a:p>
            <a:fld id="{8256F83C-9D86-480B-90E0-0702DBEB9457}" type="slidenum">
              <a:rPr lang="pt-BR" smtClean="0"/>
              <a:t>9</a:t>
            </a:fld>
            <a:endParaRPr lang="pt-BR"/>
          </a:p>
        </p:txBody>
      </p:sp>
    </p:spTree>
    <p:extLst>
      <p:ext uri="{BB962C8B-B14F-4D97-AF65-F5344CB8AC3E}">
        <p14:creationId xmlns:p14="http://schemas.microsoft.com/office/powerpoint/2010/main" val="3115691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2"/>
          <p:cNvSpPr txBox="1">
            <a:spLocks/>
          </p:cNvSpPr>
          <p:nvPr/>
        </p:nvSpPr>
        <p:spPr>
          <a:xfrm>
            <a:off x="627017" y="1328737"/>
            <a:ext cx="10998925" cy="481488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pt-BR" sz="2400" b="1" dirty="0"/>
              <a:t>Como pode ser criado um arquivo HTML?</a:t>
            </a:r>
          </a:p>
          <a:p>
            <a:pPr lvl="1" algn="ctr"/>
            <a:r>
              <a:rPr lang="pt-BR" dirty="0"/>
              <a:t>Não é necessário nenhum software específico. O arquivo HTML pode ser escrito em qualquer editor de texto simples e ser salvo com a extensão </a:t>
            </a:r>
            <a:r>
              <a:rPr lang="pt-BR" dirty="0" err="1"/>
              <a:t>html</a:t>
            </a:r>
            <a:r>
              <a:rPr lang="pt-BR" dirty="0"/>
              <a:t>. Este arquivo pode ser aberto em qualquer navegador.</a:t>
            </a:r>
          </a:p>
          <a:p>
            <a:pPr marL="457200" lvl="1" indent="0" algn="ctr">
              <a:buNone/>
            </a:pPr>
            <a:endParaRPr lang="pt-BR" dirty="0"/>
          </a:p>
          <a:p>
            <a:pPr lvl="1" algn="ctr"/>
            <a:r>
              <a:rPr lang="pt-BR" b="1" dirty="0"/>
              <a:t>Quem padroniza o HTML?</a:t>
            </a:r>
          </a:p>
          <a:p>
            <a:pPr lvl="1" algn="ctr"/>
            <a:r>
              <a:rPr lang="pt-BR" dirty="0"/>
              <a:t>O HTML é um padrão publicado pela W3C – World </a:t>
            </a:r>
            <a:r>
              <a:rPr lang="pt-BR" dirty="0" err="1"/>
              <a:t>Wide</a:t>
            </a:r>
            <a:r>
              <a:rPr lang="pt-BR" dirty="0"/>
              <a:t> Web Consortium. Este consórcio foi fundado por Tim Berners-Lee em 1994. Reúne mais 450 membros, entre empresas, órgãos governamentais e organizações independentes, cuja a finalidade é estabelecer padrões para a criação e interpretação de conteúdos para a Web. </a:t>
            </a:r>
          </a:p>
          <a:p>
            <a:pPr lvl="1" algn="ctr"/>
            <a:endParaRPr lang="pt-BR" dirty="0"/>
          </a:p>
          <a:p>
            <a:pPr marL="457200" lvl="1" indent="0" algn="ctr">
              <a:buNone/>
            </a:pPr>
            <a:r>
              <a:rPr lang="pt-BR" dirty="0"/>
              <a:t>O diretor atual da W3C é o Tim </a:t>
            </a:r>
            <a:r>
              <a:rPr lang="pt-BR" dirty="0" err="1"/>
              <a:t>Berners-LEE</a:t>
            </a:r>
            <a:r>
              <a:rPr lang="pt-BR" dirty="0"/>
              <a:t> </a:t>
            </a:r>
          </a:p>
        </p:txBody>
      </p:sp>
      <p:sp>
        <p:nvSpPr>
          <p:cNvPr id="3" name="Espaço Reservado para Número de Slide 2"/>
          <p:cNvSpPr>
            <a:spLocks noGrp="1"/>
          </p:cNvSpPr>
          <p:nvPr>
            <p:ph type="sldNum" sz="quarter" idx="12"/>
          </p:nvPr>
        </p:nvSpPr>
        <p:spPr/>
        <p:txBody>
          <a:bodyPr/>
          <a:lstStyle/>
          <a:p>
            <a:fld id="{8256F83C-9D86-480B-90E0-0702DBEB9457}" type="slidenum">
              <a:rPr lang="pt-BR" smtClean="0"/>
              <a:t>10</a:t>
            </a:fld>
            <a:endParaRPr lang="pt-BR"/>
          </a:p>
        </p:txBody>
      </p:sp>
    </p:spTree>
    <p:extLst>
      <p:ext uri="{BB962C8B-B14F-4D97-AF65-F5344CB8AC3E}">
        <p14:creationId xmlns:p14="http://schemas.microsoft.com/office/powerpoint/2010/main" val="4159892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ector reto 1"/>
          <p:cNvCxnSpPr/>
          <p:nvPr/>
        </p:nvCxnSpPr>
        <p:spPr>
          <a:xfrm flipV="1">
            <a:off x="724863" y="3458804"/>
            <a:ext cx="11238534" cy="70276"/>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 name="Conector reto 8"/>
          <p:cNvCxnSpPr/>
          <p:nvPr/>
        </p:nvCxnSpPr>
        <p:spPr>
          <a:xfrm flipH="1">
            <a:off x="2633621" y="3440781"/>
            <a:ext cx="9260" cy="508080"/>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 name="Conector reto 9"/>
          <p:cNvCxnSpPr/>
          <p:nvPr/>
        </p:nvCxnSpPr>
        <p:spPr>
          <a:xfrm flipH="1">
            <a:off x="1902317" y="2963914"/>
            <a:ext cx="9260" cy="508080"/>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1" name="Conector reto 10"/>
          <p:cNvCxnSpPr/>
          <p:nvPr/>
        </p:nvCxnSpPr>
        <p:spPr>
          <a:xfrm flipH="1">
            <a:off x="5133486" y="2963914"/>
            <a:ext cx="9260" cy="508080"/>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2" name="Conector reto 11"/>
          <p:cNvCxnSpPr/>
          <p:nvPr/>
        </p:nvCxnSpPr>
        <p:spPr>
          <a:xfrm flipH="1">
            <a:off x="8903335" y="2963787"/>
            <a:ext cx="9260" cy="508080"/>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 name="Conector reto 13"/>
          <p:cNvCxnSpPr/>
          <p:nvPr/>
        </p:nvCxnSpPr>
        <p:spPr>
          <a:xfrm flipH="1">
            <a:off x="6318683" y="3502954"/>
            <a:ext cx="9260" cy="508080"/>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p:nvPr/>
        </p:nvCxnSpPr>
        <p:spPr>
          <a:xfrm flipH="1">
            <a:off x="10289815" y="3440781"/>
            <a:ext cx="9260" cy="508080"/>
          </a:xfrm>
          <a:prstGeom prst="line">
            <a:avLst/>
          </a:prstGeom>
          <a:ln w="76200">
            <a:solidFill>
              <a:srgbClr val="002060"/>
            </a:solidFill>
          </a:ln>
        </p:spPr>
        <p:style>
          <a:lnRef idx="1">
            <a:schemeClr val="accent1"/>
          </a:lnRef>
          <a:fillRef idx="0">
            <a:schemeClr val="accent1"/>
          </a:fillRef>
          <a:effectRef idx="0">
            <a:schemeClr val="accent1"/>
          </a:effectRef>
          <a:fontRef idx="minor">
            <a:schemeClr val="tx1"/>
          </a:fontRef>
        </p:style>
      </p:cxnSp>
      <p:sp>
        <p:nvSpPr>
          <p:cNvPr id="16" name="Espaço Reservado para Conteúdo 2"/>
          <p:cNvSpPr txBox="1">
            <a:spLocks/>
          </p:cNvSpPr>
          <p:nvPr/>
        </p:nvSpPr>
        <p:spPr>
          <a:xfrm>
            <a:off x="724863" y="922955"/>
            <a:ext cx="2373428" cy="1707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800" b="1" dirty="0"/>
              <a:t>(1991)</a:t>
            </a:r>
          </a:p>
          <a:p>
            <a:pPr marL="0" indent="0" algn="ctr">
              <a:buNone/>
            </a:pPr>
            <a:r>
              <a:rPr lang="pt-BR" sz="1800" dirty="0"/>
              <a:t>O primeiro site foi construído pela CERN e foi para o ar em 06 de agosto de 1991. (1)</a:t>
            </a:r>
          </a:p>
          <a:p>
            <a:pPr marL="0" indent="0" algn="ctr">
              <a:buNone/>
            </a:pPr>
            <a:r>
              <a:rPr lang="pt-BR" sz="1800" b="1" dirty="0"/>
              <a:t>(HTML 1.0)</a:t>
            </a:r>
            <a:endParaRPr lang="pt-BR" sz="1800" dirty="0"/>
          </a:p>
          <a:p>
            <a:pPr marL="0" indent="0" algn="ctr">
              <a:buNone/>
            </a:pPr>
            <a:endParaRPr lang="pt-BR" sz="1800" dirty="0"/>
          </a:p>
        </p:txBody>
      </p:sp>
      <p:sp>
        <p:nvSpPr>
          <p:cNvPr id="17" name="Retângulo 16"/>
          <p:cNvSpPr/>
          <p:nvPr/>
        </p:nvSpPr>
        <p:spPr>
          <a:xfrm>
            <a:off x="0" y="6498544"/>
            <a:ext cx="12192000" cy="338554"/>
          </a:xfrm>
          <a:prstGeom prst="rect">
            <a:avLst/>
          </a:prstGeom>
        </p:spPr>
        <p:txBody>
          <a:bodyPr wrap="square">
            <a:spAutoFit/>
          </a:bodyPr>
          <a:lstStyle/>
          <a:p>
            <a:pPr algn="ctr"/>
            <a:r>
              <a:rPr lang="pt-BR" sz="1600" i="1" dirty="0"/>
              <a:t>(1) O link do primeiro site: </a:t>
            </a:r>
            <a:r>
              <a:rPr lang="pt-BR" sz="1600" i="1" dirty="0">
                <a:hlinkClick r:id="rId2"/>
              </a:rPr>
              <a:t> </a:t>
            </a:r>
            <a:r>
              <a:rPr lang="pt-BR" sz="1600" i="1" u="sng" dirty="0">
                <a:hlinkClick r:id="rId2"/>
              </a:rPr>
              <a:t>http://info.cern.ch/hypertext/WWW/TheProject.html</a:t>
            </a:r>
            <a:endParaRPr lang="pt-BR" sz="1600" i="1" dirty="0"/>
          </a:p>
        </p:txBody>
      </p:sp>
      <p:sp>
        <p:nvSpPr>
          <p:cNvPr id="18" name="Espaço Reservado para Conteúdo 2"/>
          <p:cNvSpPr txBox="1">
            <a:spLocks/>
          </p:cNvSpPr>
          <p:nvPr/>
        </p:nvSpPr>
        <p:spPr>
          <a:xfrm>
            <a:off x="627017" y="434376"/>
            <a:ext cx="10998925" cy="382304"/>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2400" b="1" dirty="0"/>
              <a:t>Linha do tempo do HTML</a:t>
            </a:r>
          </a:p>
        </p:txBody>
      </p:sp>
      <p:sp>
        <p:nvSpPr>
          <p:cNvPr id="19" name="Espaço Reservado para Conteúdo 2"/>
          <p:cNvSpPr txBox="1">
            <a:spLocks/>
          </p:cNvSpPr>
          <p:nvPr/>
        </p:nvSpPr>
        <p:spPr>
          <a:xfrm>
            <a:off x="1456167" y="4022961"/>
            <a:ext cx="2373428" cy="170780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800" b="1" dirty="0"/>
              <a:t>(1994)</a:t>
            </a:r>
          </a:p>
          <a:p>
            <a:pPr marL="0" indent="0" algn="ctr">
              <a:buNone/>
            </a:pPr>
            <a:r>
              <a:rPr lang="pt-BR" sz="1800" dirty="0"/>
              <a:t>Surge a segunda versão do HTML. Esta foi o pilar para as demais versões. </a:t>
            </a:r>
            <a:r>
              <a:rPr lang="pt-BR" sz="1800" b="1" dirty="0"/>
              <a:t>(HTML 2.0)</a:t>
            </a:r>
            <a:endParaRPr lang="pt-BR" sz="1800" dirty="0"/>
          </a:p>
          <a:p>
            <a:pPr marL="0" indent="0" algn="ctr">
              <a:buNone/>
            </a:pPr>
            <a:endParaRPr lang="pt-BR" sz="1800" dirty="0"/>
          </a:p>
        </p:txBody>
      </p:sp>
      <p:sp>
        <p:nvSpPr>
          <p:cNvPr id="20" name="Espaço Reservado para Conteúdo 2"/>
          <p:cNvSpPr txBox="1">
            <a:spLocks/>
          </p:cNvSpPr>
          <p:nvPr/>
        </p:nvSpPr>
        <p:spPr>
          <a:xfrm>
            <a:off x="3260636" y="888535"/>
            <a:ext cx="3824330" cy="200366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800" b="1" dirty="0"/>
              <a:t>(1996)</a:t>
            </a:r>
          </a:p>
          <a:p>
            <a:pPr marL="0" indent="0" algn="ctr">
              <a:buNone/>
            </a:pPr>
            <a:r>
              <a:rPr lang="pt-BR" sz="1800" dirty="0"/>
              <a:t>Surge a terceira versão do HTML. Nesta versão foram introduzido novas funcionalidades, como tabelas, posicionamento de texto e </a:t>
            </a:r>
            <a:r>
              <a:rPr lang="pt-BR" sz="1800" i="1" dirty="0"/>
              <a:t>applets</a:t>
            </a:r>
            <a:r>
              <a:rPr lang="pt-BR" sz="1800" dirty="0"/>
              <a:t>. </a:t>
            </a:r>
          </a:p>
          <a:p>
            <a:pPr marL="0" indent="0" algn="ctr">
              <a:buNone/>
            </a:pPr>
            <a:r>
              <a:rPr lang="pt-BR" sz="1800" b="1" dirty="0"/>
              <a:t>(HTML 3.0)</a:t>
            </a:r>
            <a:endParaRPr lang="pt-BR" sz="1800" dirty="0"/>
          </a:p>
          <a:p>
            <a:pPr marL="0" indent="0" algn="ctr">
              <a:buNone/>
            </a:pPr>
            <a:endParaRPr lang="pt-BR" sz="1800" dirty="0"/>
          </a:p>
        </p:txBody>
      </p:sp>
      <p:sp>
        <p:nvSpPr>
          <p:cNvPr id="21" name="Espaço Reservado para Conteúdo 2"/>
          <p:cNvSpPr txBox="1">
            <a:spLocks/>
          </p:cNvSpPr>
          <p:nvPr/>
        </p:nvSpPr>
        <p:spPr>
          <a:xfrm>
            <a:off x="4414843" y="4051537"/>
            <a:ext cx="3829052" cy="242934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800" b="1" dirty="0"/>
              <a:t>(1998)</a:t>
            </a:r>
          </a:p>
          <a:p>
            <a:pPr marL="0" indent="0" algn="ctr">
              <a:buNone/>
            </a:pPr>
            <a:r>
              <a:rPr lang="pt-BR" sz="1800" dirty="0"/>
              <a:t>Surge a versão 4.01, versão mais utilizada. Permitiu criar páginas divididas em diversas áreas, tabelas, formulários mais elaborados e o uso de CSS (Cascading </a:t>
            </a:r>
            <a:r>
              <a:rPr lang="pt-BR" sz="1800" dirty="0" err="1"/>
              <a:t>Styles</a:t>
            </a:r>
            <a:r>
              <a:rPr lang="pt-BR" sz="1800" dirty="0"/>
              <a:t> Sheets) – usado para estilizar o conteúdo da página. </a:t>
            </a:r>
            <a:r>
              <a:rPr lang="pt-BR" sz="1800" b="1" dirty="0"/>
              <a:t>(HTML 4.01)</a:t>
            </a:r>
            <a:endParaRPr lang="pt-BR" sz="1800" dirty="0"/>
          </a:p>
          <a:p>
            <a:pPr marL="0" indent="0" algn="ctr">
              <a:buNone/>
            </a:pPr>
            <a:endParaRPr lang="pt-BR" sz="1800" dirty="0"/>
          </a:p>
        </p:txBody>
      </p:sp>
      <p:sp>
        <p:nvSpPr>
          <p:cNvPr id="22" name="Espaço Reservado para Conteúdo 2"/>
          <p:cNvSpPr txBox="1">
            <a:spLocks/>
          </p:cNvSpPr>
          <p:nvPr/>
        </p:nvSpPr>
        <p:spPr>
          <a:xfrm>
            <a:off x="7082078" y="922954"/>
            <a:ext cx="3675802" cy="20719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800" b="1" dirty="0"/>
              <a:t>(2000)</a:t>
            </a:r>
          </a:p>
          <a:p>
            <a:pPr marL="0" indent="0" algn="ctr">
              <a:buNone/>
            </a:pPr>
            <a:r>
              <a:rPr lang="pt-BR" sz="1800" dirty="0"/>
              <a:t>A W3C define a XHTML (eXtensible HyperText Markup Language) – é uma nova apresentação da linguagem HTML com aplicações XML.</a:t>
            </a:r>
          </a:p>
        </p:txBody>
      </p:sp>
      <p:sp>
        <p:nvSpPr>
          <p:cNvPr id="23" name="Espaço Reservado para Conteúdo 2"/>
          <p:cNvSpPr txBox="1">
            <a:spLocks/>
          </p:cNvSpPr>
          <p:nvPr/>
        </p:nvSpPr>
        <p:spPr>
          <a:xfrm>
            <a:off x="8285579" y="3980097"/>
            <a:ext cx="3906420" cy="242934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800" b="1" dirty="0"/>
              <a:t>(2012)</a:t>
            </a:r>
          </a:p>
          <a:p>
            <a:pPr marL="0" indent="0" algn="ctr">
              <a:buNone/>
            </a:pPr>
            <a:r>
              <a:rPr lang="pt-BR" sz="1800" dirty="0"/>
              <a:t>A WHATWG (Web Hypertext </a:t>
            </a:r>
            <a:r>
              <a:rPr lang="pt-BR" sz="1800" dirty="0" err="1"/>
              <a:t>Application</a:t>
            </a:r>
            <a:r>
              <a:rPr lang="pt-BR" sz="1800" dirty="0"/>
              <a:t> Technology </a:t>
            </a:r>
            <a:r>
              <a:rPr lang="pt-BR" sz="1800" dirty="0" err="1"/>
              <a:t>Working</a:t>
            </a:r>
            <a:r>
              <a:rPr lang="pt-BR" sz="1800" dirty="0"/>
              <a:t> </a:t>
            </a:r>
            <a:r>
              <a:rPr lang="pt-BR" sz="1800" dirty="0" err="1"/>
              <a:t>Group</a:t>
            </a:r>
            <a:r>
              <a:rPr lang="pt-BR" sz="1800" dirty="0"/>
              <a:t>), liderado por Ian </a:t>
            </a:r>
            <a:r>
              <a:rPr lang="pt-BR" sz="1800" dirty="0" err="1"/>
              <a:t>Hickon</a:t>
            </a:r>
            <a:r>
              <a:rPr lang="pt-BR" sz="1800" dirty="0"/>
              <a:t> desenvolvem a versão 5.0. Esta versão trouxe diversas melhorias, principalmente nos recursos de multimídia (áudio e vídeo).</a:t>
            </a:r>
          </a:p>
          <a:p>
            <a:pPr marL="0" indent="0" algn="ctr">
              <a:buNone/>
            </a:pPr>
            <a:r>
              <a:rPr lang="pt-BR" sz="1800" b="1" dirty="0"/>
              <a:t>(HTML 5.0)</a:t>
            </a:r>
            <a:endParaRPr lang="pt-BR" sz="1800" dirty="0"/>
          </a:p>
          <a:p>
            <a:pPr marL="0" indent="0" algn="ctr">
              <a:buNone/>
            </a:pPr>
            <a:endParaRPr lang="pt-BR" sz="1800" b="1" dirty="0"/>
          </a:p>
          <a:p>
            <a:pPr marL="0" indent="0" algn="ctr">
              <a:buNone/>
            </a:pPr>
            <a:endParaRPr lang="pt-BR" sz="1800" dirty="0"/>
          </a:p>
        </p:txBody>
      </p:sp>
      <p:sp>
        <p:nvSpPr>
          <p:cNvPr id="4" name="Espaço Reservado para Número de Slide 3"/>
          <p:cNvSpPr>
            <a:spLocks noGrp="1"/>
          </p:cNvSpPr>
          <p:nvPr>
            <p:ph type="sldNum" sz="quarter" idx="12"/>
          </p:nvPr>
        </p:nvSpPr>
        <p:spPr/>
        <p:txBody>
          <a:bodyPr/>
          <a:lstStyle/>
          <a:p>
            <a:fld id="{8256F83C-9D86-480B-90E0-0702DBEB9457}" type="slidenum">
              <a:rPr lang="pt-BR" smtClean="0"/>
              <a:t>11</a:t>
            </a:fld>
            <a:endParaRPr lang="pt-BR"/>
          </a:p>
        </p:txBody>
      </p:sp>
    </p:spTree>
    <p:extLst>
      <p:ext uri="{BB962C8B-B14F-4D97-AF65-F5344CB8AC3E}">
        <p14:creationId xmlns:p14="http://schemas.microsoft.com/office/powerpoint/2010/main" val="194709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2"/>
          <p:cNvSpPr txBox="1">
            <a:spLocks/>
          </p:cNvSpPr>
          <p:nvPr/>
        </p:nvSpPr>
        <p:spPr>
          <a:xfrm>
            <a:off x="733972" y="1357312"/>
            <a:ext cx="11287126" cy="538405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2400" dirty="0"/>
              <a:t>Pode ser usado qualquer editor de texto, inclusive o </a:t>
            </a:r>
            <a:r>
              <a:rPr lang="pt-BR" sz="2400" dirty="0" err="1"/>
              <a:t>notepad</a:t>
            </a:r>
            <a:r>
              <a:rPr lang="pt-BR" sz="2400" dirty="0"/>
              <a:t>. Basta salvar o arquivo com a extensão </a:t>
            </a:r>
            <a:r>
              <a:rPr lang="pt-BR" sz="2400" dirty="0" err="1"/>
              <a:t>html</a:t>
            </a:r>
            <a:r>
              <a:rPr lang="pt-BR" sz="2400" dirty="0"/>
              <a:t> e abrir este arquivo em qualquer navegador (browser).</a:t>
            </a:r>
          </a:p>
          <a:p>
            <a:pPr marL="0" indent="0" algn="just">
              <a:buNone/>
            </a:pPr>
            <a:endParaRPr lang="pt-BR" sz="2400" dirty="0"/>
          </a:p>
          <a:p>
            <a:pPr marL="0" indent="0" algn="just">
              <a:buNone/>
            </a:pPr>
            <a:r>
              <a:rPr lang="pt-BR" sz="2400" b="1" u="sng" dirty="0"/>
              <a:t>Recomenda-se:</a:t>
            </a:r>
          </a:p>
          <a:p>
            <a:pPr marL="0" indent="0" algn="just">
              <a:buNone/>
            </a:pPr>
            <a:r>
              <a:rPr lang="pt-BR" sz="2400" dirty="0"/>
              <a:t>Usar o </a:t>
            </a:r>
            <a:r>
              <a:rPr lang="pt-BR" sz="2400" dirty="0" err="1"/>
              <a:t>VSCode</a:t>
            </a:r>
            <a:r>
              <a:rPr lang="pt-BR" sz="2400" dirty="0"/>
              <a:t> pois é um ambiente </a:t>
            </a:r>
            <a:r>
              <a:rPr lang="pt-BR" sz="2400" dirty="0" err="1"/>
              <a:t>multi-plataforma</a:t>
            </a:r>
            <a:r>
              <a:rPr lang="pt-BR" sz="2400" dirty="0"/>
              <a:t>, leve e permite programar em diversas linguagens.</a:t>
            </a:r>
          </a:p>
          <a:p>
            <a:pPr marL="0" indent="0" algn="just">
              <a:buNone/>
            </a:pPr>
            <a:endParaRPr lang="pt-BR" sz="2400" dirty="0"/>
          </a:p>
          <a:p>
            <a:pPr marL="0" indent="0" algn="just">
              <a:buNone/>
            </a:pPr>
            <a:r>
              <a:rPr lang="pt-BR" sz="2400" b="1" u="sng" dirty="0"/>
              <a:t>Onde encontrar:</a:t>
            </a:r>
          </a:p>
          <a:p>
            <a:pPr marL="0" indent="0" algn="just">
              <a:buNone/>
            </a:pPr>
            <a:r>
              <a:rPr lang="pt-BR" sz="2400" dirty="0"/>
              <a:t>Poderá baixar diretamente do site: </a:t>
            </a:r>
            <a:endParaRPr lang="pt-BR" sz="2400" b="1" u="sng" dirty="0"/>
          </a:p>
          <a:p>
            <a:pPr marL="0" indent="0" algn="ctr">
              <a:buNone/>
            </a:pPr>
            <a:r>
              <a:rPr lang="pt-BR" sz="2400" b="1" u="sng" dirty="0"/>
              <a:t>https://code.visualstudio.com/</a:t>
            </a:r>
          </a:p>
        </p:txBody>
      </p:sp>
      <p:sp>
        <p:nvSpPr>
          <p:cNvPr id="4" name="Título 1"/>
          <p:cNvSpPr txBox="1">
            <a:spLocks/>
          </p:cNvSpPr>
          <p:nvPr/>
        </p:nvSpPr>
        <p:spPr>
          <a:xfrm>
            <a:off x="585787" y="363850"/>
            <a:ext cx="10974841" cy="671736"/>
          </a:xfrm>
          <a:prstGeom prst="rect">
            <a:avLst/>
          </a:prstGeom>
        </p:spPr>
        <p:txBody>
          <a:bodyPr>
            <a:noAutofit/>
          </a:bodyPr>
          <a:lstStyle>
            <a:lvl1pPr algn="l" defTabSz="914400" rtl="0" eaLnBrk="1" latinLnBrk="0" hangingPunct="1">
              <a:lnSpc>
                <a:spcPct val="90000"/>
              </a:lnSpc>
              <a:spcBef>
                <a:spcPct val="0"/>
              </a:spcBef>
              <a:buNone/>
              <a:defRPr sz="4400" b="1" kern="1200">
                <a:solidFill>
                  <a:srgbClr val="1B4572"/>
                </a:solidFill>
                <a:latin typeface="Arial" panose="020B0604020202020204" pitchFamily="34" charset="0"/>
                <a:ea typeface="+mj-ea"/>
                <a:cs typeface="Arial" panose="020B0604020202020204" pitchFamily="34" charset="0"/>
              </a:defRPr>
            </a:lvl1pPr>
          </a:lstStyle>
          <a:p>
            <a:pPr algn="ctr"/>
            <a:r>
              <a:rPr lang="pt-BR" sz="3200" dirty="0">
                <a:solidFill>
                  <a:schemeClr val="accent1">
                    <a:lumMod val="50000"/>
                  </a:schemeClr>
                </a:solidFill>
              </a:rPr>
              <a:t>Ambiente de programação</a:t>
            </a:r>
          </a:p>
        </p:txBody>
      </p:sp>
      <p:pic>
        <p:nvPicPr>
          <p:cNvPr id="5" name="Imagem 4"/>
          <p:cNvPicPr>
            <a:picLocks noChangeAspect="1"/>
          </p:cNvPicPr>
          <p:nvPr/>
        </p:nvPicPr>
        <p:blipFill>
          <a:blip r:embed="rId2"/>
          <a:stretch>
            <a:fillRect/>
          </a:stretch>
        </p:blipFill>
        <p:spPr>
          <a:xfrm>
            <a:off x="4771869" y="5981699"/>
            <a:ext cx="2714938" cy="447676"/>
          </a:xfrm>
          <a:prstGeom prst="rect">
            <a:avLst/>
          </a:prstGeom>
        </p:spPr>
      </p:pic>
      <p:sp>
        <p:nvSpPr>
          <p:cNvPr id="3" name="Espaço Reservado para Número de Slide 2"/>
          <p:cNvSpPr>
            <a:spLocks noGrp="1"/>
          </p:cNvSpPr>
          <p:nvPr>
            <p:ph type="sldNum" sz="quarter" idx="12"/>
          </p:nvPr>
        </p:nvSpPr>
        <p:spPr/>
        <p:txBody>
          <a:bodyPr/>
          <a:lstStyle/>
          <a:p>
            <a:fld id="{8256F83C-9D86-480B-90E0-0702DBEB9457}" type="slidenum">
              <a:rPr lang="pt-BR" smtClean="0"/>
              <a:t>12</a:t>
            </a:fld>
            <a:endParaRPr lang="pt-BR"/>
          </a:p>
        </p:txBody>
      </p:sp>
    </p:spTree>
    <p:extLst>
      <p:ext uri="{BB962C8B-B14F-4D97-AF65-F5344CB8AC3E}">
        <p14:creationId xmlns:p14="http://schemas.microsoft.com/office/powerpoint/2010/main" val="473593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a:blip r:embed="rId2"/>
          <a:stretch>
            <a:fillRect/>
          </a:stretch>
        </p:blipFill>
        <p:spPr>
          <a:xfrm>
            <a:off x="900112" y="447674"/>
            <a:ext cx="10553700" cy="6071856"/>
          </a:xfrm>
          <a:prstGeom prst="rect">
            <a:avLst/>
          </a:prstGeom>
        </p:spPr>
      </p:pic>
      <p:sp>
        <p:nvSpPr>
          <p:cNvPr id="3" name="CaixaDeTexto 2"/>
          <p:cNvSpPr txBox="1"/>
          <p:nvPr/>
        </p:nvSpPr>
        <p:spPr>
          <a:xfrm>
            <a:off x="4709509" y="6488668"/>
            <a:ext cx="2934906" cy="369332"/>
          </a:xfrm>
          <a:prstGeom prst="rect">
            <a:avLst/>
          </a:prstGeom>
          <a:noFill/>
        </p:spPr>
        <p:txBody>
          <a:bodyPr wrap="none" rtlCol="0">
            <a:spAutoFit/>
          </a:bodyPr>
          <a:lstStyle/>
          <a:p>
            <a:r>
              <a:rPr lang="pt-BR" dirty="0"/>
              <a:t>Acessado em janeiro de 2023</a:t>
            </a:r>
          </a:p>
        </p:txBody>
      </p:sp>
      <p:sp>
        <p:nvSpPr>
          <p:cNvPr id="4" name="Seta para a Direita 3"/>
          <p:cNvSpPr/>
          <p:nvPr/>
        </p:nvSpPr>
        <p:spPr>
          <a:xfrm rot="16200000">
            <a:off x="10337008" y="878682"/>
            <a:ext cx="985837" cy="771525"/>
          </a:xfrm>
          <a:prstGeom prst="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Seta para a Direita 5"/>
          <p:cNvSpPr/>
          <p:nvPr/>
        </p:nvSpPr>
        <p:spPr>
          <a:xfrm>
            <a:off x="1814512" y="5272088"/>
            <a:ext cx="492918" cy="431006"/>
          </a:xfrm>
          <a:prstGeom prst="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spaço Reservado para Número de Slide 4"/>
          <p:cNvSpPr>
            <a:spLocks noGrp="1"/>
          </p:cNvSpPr>
          <p:nvPr>
            <p:ph type="sldNum" sz="quarter" idx="12"/>
          </p:nvPr>
        </p:nvSpPr>
        <p:spPr/>
        <p:txBody>
          <a:bodyPr/>
          <a:lstStyle/>
          <a:p>
            <a:fld id="{8256F83C-9D86-480B-90E0-0702DBEB9457}" type="slidenum">
              <a:rPr lang="pt-BR" smtClean="0"/>
              <a:t>13</a:t>
            </a:fld>
            <a:endParaRPr lang="pt-BR"/>
          </a:p>
        </p:txBody>
      </p:sp>
    </p:spTree>
    <p:extLst>
      <p:ext uri="{BB962C8B-B14F-4D97-AF65-F5344CB8AC3E}">
        <p14:creationId xmlns:p14="http://schemas.microsoft.com/office/powerpoint/2010/main" val="3744719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a:blip r:embed="rId2"/>
          <a:stretch>
            <a:fillRect/>
          </a:stretch>
        </p:blipFill>
        <p:spPr>
          <a:xfrm>
            <a:off x="2110916" y="628650"/>
            <a:ext cx="9428622" cy="6124575"/>
          </a:xfrm>
          <a:prstGeom prst="rect">
            <a:avLst/>
          </a:prstGeom>
        </p:spPr>
      </p:pic>
      <p:sp>
        <p:nvSpPr>
          <p:cNvPr id="3" name="Texto Explicativo em Elipse 2"/>
          <p:cNvSpPr/>
          <p:nvPr/>
        </p:nvSpPr>
        <p:spPr>
          <a:xfrm>
            <a:off x="142867" y="1257300"/>
            <a:ext cx="1739441" cy="4471988"/>
          </a:xfrm>
          <a:prstGeom prst="wedgeEllipseCallout">
            <a:avLst>
              <a:gd name="adj1" fmla="val 71162"/>
              <a:gd name="adj2" fmla="val -5915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Este é o ambiente do </a:t>
            </a:r>
            <a:r>
              <a:rPr lang="pt-BR" dirty="0" err="1"/>
              <a:t>VSCode</a:t>
            </a:r>
            <a:r>
              <a:rPr lang="pt-BR" dirty="0"/>
              <a:t>.</a:t>
            </a:r>
          </a:p>
          <a:p>
            <a:pPr algn="ctr"/>
            <a:endParaRPr lang="pt-BR" dirty="0"/>
          </a:p>
          <a:p>
            <a:pPr algn="ctr"/>
            <a:r>
              <a:rPr lang="pt-BR" dirty="0"/>
              <a:t>Durante toda esta disciplina usaremos este ambiente.</a:t>
            </a:r>
          </a:p>
        </p:txBody>
      </p:sp>
      <p:sp>
        <p:nvSpPr>
          <p:cNvPr id="4" name="Espaço Reservado para Número de Slide 3"/>
          <p:cNvSpPr>
            <a:spLocks noGrp="1"/>
          </p:cNvSpPr>
          <p:nvPr>
            <p:ph type="sldNum" sz="quarter" idx="12"/>
          </p:nvPr>
        </p:nvSpPr>
        <p:spPr/>
        <p:txBody>
          <a:bodyPr/>
          <a:lstStyle/>
          <a:p>
            <a:fld id="{8256F83C-9D86-480B-90E0-0702DBEB9457}" type="slidenum">
              <a:rPr lang="pt-BR" smtClean="0"/>
              <a:t>14</a:t>
            </a:fld>
            <a:endParaRPr lang="pt-BR"/>
          </a:p>
        </p:txBody>
      </p:sp>
    </p:spTree>
    <p:extLst>
      <p:ext uri="{BB962C8B-B14F-4D97-AF65-F5344CB8AC3E}">
        <p14:creationId xmlns:p14="http://schemas.microsoft.com/office/powerpoint/2010/main" val="3037418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2"/>
          <p:cNvSpPr txBox="1">
            <a:spLocks/>
          </p:cNvSpPr>
          <p:nvPr/>
        </p:nvSpPr>
        <p:spPr>
          <a:xfrm>
            <a:off x="485775" y="1262970"/>
            <a:ext cx="11287126" cy="50841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2400" dirty="0"/>
              <a:t>Para começar um novo arquivo, pode-se acessar </a:t>
            </a:r>
            <a:r>
              <a:rPr lang="pt-BR" sz="2400" b="1" dirty="0"/>
              <a:t>FILE =&gt; NEW TEXT FILE</a:t>
            </a:r>
            <a:r>
              <a:rPr lang="pt-BR" sz="2400" dirty="0"/>
              <a:t>. </a:t>
            </a:r>
          </a:p>
        </p:txBody>
      </p:sp>
      <p:pic>
        <p:nvPicPr>
          <p:cNvPr id="4" name="Imagem 3"/>
          <p:cNvPicPr>
            <a:picLocks noChangeAspect="1"/>
          </p:cNvPicPr>
          <p:nvPr/>
        </p:nvPicPr>
        <p:blipFill>
          <a:blip r:embed="rId2"/>
          <a:stretch>
            <a:fillRect/>
          </a:stretch>
        </p:blipFill>
        <p:spPr>
          <a:xfrm>
            <a:off x="683343" y="2574175"/>
            <a:ext cx="5622202" cy="4024313"/>
          </a:xfrm>
          <a:prstGeom prst="rect">
            <a:avLst/>
          </a:prstGeom>
        </p:spPr>
      </p:pic>
      <p:sp>
        <p:nvSpPr>
          <p:cNvPr id="5" name="Retângulo 4"/>
          <p:cNvSpPr/>
          <p:nvPr/>
        </p:nvSpPr>
        <p:spPr>
          <a:xfrm>
            <a:off x="2271707" y="4743444"/>
            <a:ext cx="1785937" cy="55721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p:cNvSpPr/>
          <p:nvPr/>
        </p:nvSpPr>
        <p:spPr>
          <a:xfrm>
            <a:off x="1152523" y="2574176"/>
            <a:ext cx="647700" cy="454770"/>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7" name="Imagem 6"/>
          <p:cNvPicPr>
            <a:picLocks noChangeAspect="1"/>
          </p:cNvPicPr>
          <p:nvPr/>
        </p:nvPicPr>
        <p:blipFill>
          <a:blip r:embed="rId3"/>
          <a:stretch>
            <a:fillRect/>
          </a:stretch>
        </p:blipFill>
        <p:spPr>
          <a:xfrm>
            <a:off x="6906426" y="3028946"/>
            <a:ext cx="4983081" cy="3569542"/>
          </a:xfrm>
          <a:prstGeom prst="rect">
            <a:avLst/>
          </a:prstGeom>
        </p:spPr>
      </p:pic>
      <p:cxnSp>
        <p:nvCxnSpPr>
          <p:cNvPr id="9" name="Conector de Seta Reta 8"/>
          <p:cNvCxnSpPr>
            <a:stCxn id="6" idx="3"/>
            <a:endCxn id="10" idx="1"/>
          </p:cNvCxnSpPr>
          <p:nvPr/>
        </p:nvCxnSpPr>
        <p:spPr>
          <a:xfrm>
            <a:off x="1800223" y="2801561"/>
            <a:ext cx="5886446" cy="1206083"/>
          </a:xfrm>
          <a:prstGeom prst="straightConnector1">
            <a:avLst/>
          </a:prstGeom>
          <a:ln w="762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0" name="Retângulo 9"/>
          <p:cNvSpPr/>
          <p:nvPr/>
        </p:nvSpPr>
        <p:spPr>
          <a:xfrm>
            <a:off x="7686669" y="3757613"/>
            <a:ext cx="1128716" cy="500061"/>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Título 1"/>
          <p:cNvSpPr txBox="1">
            <a:spLocks/>
          </p:cNvSpPr>
          <p:nvPr/>
        </p:nvSpPr>
        <p:spPr>
          <a:xfrm>
            <a:off x="585787" y="363850"/>
            <a:ext cx="10974841" cy="671736"/>
          </a:xfrm>
          <a:prstGeom prst="rect">
            <a:avLst/>
          </a:prstGeom>
        </p:spPr>
        <p:txBody>
          <a:bodyPr>
            <a:noAutofit/>
          </a:bodyPr>
          <a:lstStyle>
            <a:lvl1pPr algn="l" defTabSz="914400" rtl="0" eaLnBrk="1" latinLnBrk="0" hangingPunct="1">
              <a:lnSpc>
                <a:spcPct val="90000"/>
              </a:lnSpc>
              <a:spcBef>
                <a:spcPct val="0"/>
              </a:spcBef>
              <a:buNone/>
              <a:defRPr sz="4400" b="1" kern="1200">
                <a:solidFill>
                  <a:srgbClr val="1B4572"/>
                </a:solidFill>
                <a:latin typeface="Arial" panose="020B0604020202020204" pitchFamily="34" charset="0"/>
                <a:ea typeface="+mj-ea"/>
                <a:cs typeface="Arial" panose="020B0604020202020204" pitchFamily="34" charset="0"/>
              </a:defRPr>
            </a:lvl1pPr>
          </a:lstStyle>
          <a:p>
            <a:pPr algn="ctr"/>
            <a:r>
              <a:rPr lang="pt-BR" sz="3200" dirty="0">
                <a:solidFill>
                  <a:schemeClr val="accent1">
                    <a:lumMod val="50000"/>
                  </a:schemeClr>
                </a:solidFill>
              </a:rPr>
              <a:t>Criando um novo arquivo</a:t>
            </a:r>
          </a:p>
        </p:txBody>
      </p:sp>
      <p:sp>
        <p:nvSpPr>
          <p:cNvPr id="3" name="Espaço Reservado para Número de Slide 2"/>
          <p:cNvSpPr>
            <a:spLocks noGrp="1"/>
          </p:cNvSpPr>
          <p:nvPr>
            <p:ph type="sldNum" sz="quarter" idx="12"/>
          </p:nvPr>
        </p:nvSpPr>
        <p:spPr/>
        <p:txBody>
          <a:bodyPr/>
          <a:lstStyle/>
          <a:p>
            <a:fld id="{8256F83C-9D86-480B-90E0-0702DBEB9457}" type="slidenum">
              <a:rPr lang="pt-BR" smtClean="0"/>
              <a:t>15</a:t>
            </a:fld>
            <a:endParaRPr lang="pt-BR"/>
          </a:p>
        </p:txBody>
      </p:sp>
    </p:spTree>
    <p:extLst>
      <p:ext uri="{BB962C8B-B14F-4D97-AF65-F5344CB8AC3E}">
        <p14:creationId xmlns:p14="http://schemas.microsoft.com/office/powerpoint/2010/main" val="2380897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a:blip r:embed="rId2"/>
          <a:stretch>
            <a:fillRect/>
          </a:stretch>
        </p:blipFill>
        <p:spPr>
          <a:xfrm>
            <a:off x="328613" y="1345218"/>
            <a:ext cx="7481880" cy="4166556"/>
          </a:xfrm>
          <a:prstGeom prst="rect">
            <a:avLst/>
          </a:prstGeom>
        </p:spPr>
      </p:pic>
      <p:sp>
        <p:nvSpPr>
          <p:cNvPr id="4" name="Espaço Reservado para Conteúdo 2"/>
          <p:cNvSpPr txBox="1">
            <a:spLocks/>
          </p:cNvSpPr>
          <p:nvPr/>
        </p:nvSpPr>
        <p:spPr>
          <a:xfrm>
            <a:off x="485775" y="548681"/>
            <a:ext cx="11287126" cy="7965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2400" dirty="0"/>
              <a:t>Quando selecionar New File, abrirá uma aba solicitando o tipo de arquivo (</a:t>
            </a:r>
            <a:r>
              <a:rPr lang="pt-BR" sz="2400" dirty="0" err="1"/>
              <a:t>html</a:t>
            </a:r>
            <a:r>
              <a:rPr lang="pt-BR" sz="2400" dirty="0"/>
              <a:t>, por exemplo) ou o nome (neste caso já indique a extensão)</a:t>
            </a:r>
          </a:p>
        </p:txBody>
      </p:sp>
      <p:sp>
        <p:nvSpPr>
          <p:cNvPr id="5" name="Retângulo 4"/>
          <p:cNvSpPr/>
          <p:nvPr/>
        </p:nvSpPr>
        <p:spPr>
          <a:xfrm>
            <a:off x="2971787" y="2141840"/>
            <a:ext cx="4700602" cy="56922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Imagem 5"/>
          <p:cNvPicPr>
            <a:picLocks noChangeAspect="1"/>
          </p:cNvPicPr>
          <p:nvPr/>
        </p:nvPicPr>
        <p:blipFill>
          <a:blip r:embed="rId3"/>
          <a:stretch>
            <a:fillRect/>
          </a:stretch>
        </p:blipFill>
        <p:spPr>
          <a:xfrm>
            <a:off x="5765806" y="4393091"/>
            <a:ext cx="6254736" cy="2237366"/>
          </a:xfrm>
          <a:prstGeom prst="rect">
            <a:avLst/>
          </a:prstGeom>
        </p:spPr>
      </p:pic>
      <p:sp>
        <p:nvSpPr>
          <p:cNvPr id="7" name="Retângulo 6"/>
          <p:cNvSpPr/>
          <p:nvPr/>
        </p:nvSpPr>
        <p:spPr>
          <a:xfrm>
            <a:off x="7953362" y="4997109"/>
            <a:ext cx="3962413" cy="975066"/>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Texto Explicativo em Elipse 7"/>
          <p:cNvSpPr/>
          <p:nvPr/>
        </p:nvSpPr>
        <p:spPr>
          <a:xfrm>
            <a:off x="8201025" y="2313290"/>
            <a:ext cx="3571876" cy="1923482"/>
          </a:xfrm>
          <a:prstGeom prst="wedgeEllipseCallout">
            <a:avLst>
              <a:gd name="adj1" fmla="val -39238"/>
              <a:gd name="adj2" fmla="val 10797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Note que quando digitado </a:t>
            </a:r>
            <a:r>
              <a:rPr lang="pt-BR" dirty="0" err="1"/>
              <a:t>html</a:t>
            </a:r>
            <a:r>
              <a:rPr lang="pt-BR" dirty="0"/>
              <a:t>, automaticamente o </a:t>
            </a:r>
            <a:r>
              <a:rPr lang="pt-BR" dirty="0" err="1"/>
              <a:t>VSCode</a:t>
            </a:r>
            <a:r>
              <a:rPr lang="pt-BR" dirty="0"/>
              <a:t> detecta que será um arquivo no formato HTML</a:t>
            </a:r>
          </a:p>
        </p:txBody>
      </p:sp>
      <p:sp>
        <p:nvSpPr>
          <p:cNvPr id="3" name="Espaço Reservado para Número de Slide 2"/>
          <p:cNvSpPr>
            <a:spLocks noGrp="1"/>
          </p:cNvSpPr>
          <p:nvPr>
            <p:ph type="sldNum" sz="quarter" idx="12"/>
          </p:nvPr>
        </p:nvSpPr>
        <p:spPr/>
        <p:txBody>
          <a:bodyPr/>
          <a:lstStyle/>
          <a:p>
            <a:fld id="{8256F83C-9D86-480B-90E0-0702DBEB9457}" type="slidenum">
              <a:rPr lang="pt-BR" smtClean="0"/>
              <a:t>16</a:t>
            </a:fld>
            <a:endParaRPr lang="pt-BR"/>
          </a:p>
        </p:txBody>
      </p:sp>
    </p:spTree>
    <p:extLst>
      <p:ext uri="{BB962C8B-B14F-4D97-AF65-F5344CB8AC3E}">
        <p14:creationId xmlns:p14="http://schemas.microsoft.com/office/powerpoint/2010/main" val="35189929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a:blip r:embed="rId2"/>
          <a:stretch>
            <a:fillRect/>
          </a:stretch>
        </p:blipFill>
        <p:spPr>
          <a:xfrm>
            <a:off x="3590925" y="419098"/>
            <a:ext cx="5810250" cy="6381750"/>
          </a:xfrm>
          <a:prstGeom prst="rect">
            <a:avLst/>
          </a:prstGeom>
        </p:spPr>
      </p:pic>
      <p:sp>
        <p:nvSpPr>
          <p:cNvPr id="3" name="Texto Explicativo em Elipse 2"/>
          <p:cNvSpPr/>
          <p:nvPr/>
        </p:nvSpPr>
        <p:spPr>
          <a:xfrm>
            <a:off x="457200" y="1171575"/>
            <a:ext cx="2880745" cy="4471988"/>
          </a:xfrm>
          <a:prstGeom prst="wedgeEllipseCallout">
            <a:avLst>
              <a:gd name="adj1" fmla="val 71162"/>
              <a:gd name="adj2" fmla="val -5915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t>Não esqueça de salvar o arquivo (Tipo: HTML).</a:t>
            </a:r>
          </a:p>
          <a:p>
            <a:pPr algn="ctr"/>
            <a:endParaRPr lang="pt-BR" dirty="0"/>
          </a:p>
          <a:p>
            <a:pPr algn="ctr"/>
            <a:r>
              <a:rPr lang="pt-BR" sz="2000" b="1" dirty="0">
                <a:solidFill>
                  <a:srgbClr val="FFFF00"/>
                </a:solidFill>
              </a:rPr>
              <a:t>Caso não salve, o próximo passo não vai funcionar.</a:t>
            </a:r>
          </a:p>
        </p:txBody>
      </p:sp>
      <p:sp>
        <p:nvSpPr>
          <p:cNvPr id="4" name="Retângulo 3"/>
          <p:cNvSpPr/>
          <p:nvPr/>
        </p:nvSpPr>
        <p:spPr>
          <a:xfrm>
            <a:off x="3752848" y="419098"/>
            <a:ext cx="647700" cy="280990"/>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5" name="Conector de Seta Reta 4"/>
          <p:cNvCxnSpPr/>
          <p:nvPr/>
        </p:nvCxnSpPr>
        <p:spPr>
          <a:xfrm flipH="1">
            <a:off x="4014781" y="700088"/>
            <a:ext cx="1" cy="3014662"/>
          </a:xfrm>
          <a:prstGeom prst="straightConnector1">
            <a:avLst/>
          </a:prstGeom>
          <a:ln w="762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6" name="Retângulo 5"/>
          <p:cNvSpPr/>
          <p:nvPr/>
        </p:nvSpPr>
        <p:spPr>
          <a:xfrm>
            <a:off x="4014781" y="3729038"/>
            <a:ext cx="814394" cy="32861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spaço Reservado para Número de Slide 6"/>
          <p:cNvSpPr>
            <a:spLocks noGrp="1"/>
          </p:cNvSpPr>
          <p:nvPr>
            <p:ph type="sldNum" sz="quarter" idx="12"/>
          </p:nvPr>
        </p:nvSpPr>
        <p:spPr/>
        <p:txBody>
          <a:bodyPr/>
          <a:lstStyle/>
          <a:p>
            <a:fld id="{8256F83C-9D86-480B-90E0-0702DBEB9457}" type="slidenum">
              <a:rPr lang="pt-BR" smtClean="0"/>
              <a:t>17</a:t>
            </a:fld>
            <a:endParaRPr lang="pt-BR"/>
          </a:p>
        </p:txBody>
      </p:sp>
    </p:spTree>
    <p:extLst>
      <p:ext uri="{BB962C8B-B14F-4D97-AF65-F5344CB8AC3E}">
        <p14:creationId xmlns:p14="http://schemas.microsoft.com/office/powerpoint/2010/main" val="1270854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a:blip r:embed="rId2"/>
          <a:stretch>
            <a:fillRect/>
          </a:stretch>
        </p:blipFill>
        <p:spPr>
          <a:xfrm>
            <a:off x="907095" y="1347793"/>
            <a:ext cx="10893703" cy="2638425"/>
          </a:xfrm>
          <a:prstGeom prst="rect">
            <a:avLst/>
          </a:prstGeom>
        </p:spPr>
      </p:pic>
      <p:pic>
        <p:nvPicPr>
          <p:cNvPr id="3" name="Imagem 2"/>
          <p:cNvPicPr>
            <a:picLocks noChangeAspect="1"/>
          </p:cNvPicPr>
          <p:nvPr/>
        </p:nvPicPr>
        <p:blipFill>
          <a:blip r:embed="rId3"/>
          <a:stretch>
            <a:fillRect/>
          </a:stretch>
        </p:blipFill>
        <p:spPr>
          <a:xfrm>
            <a:off x="907095" y="4100512"/>
            <a:ext cx="10893703" cy="2638425"/>
          </a:xfrm>
          <a:prstGeom prst="rect">
            <a:avLst/>
          </a:prstGeom>
        </p:spPr>
      </p:pic>
      <p:cxnSp>
        <p:nvCxnSpPr>
          <p:cNvPr id="4" name="Conector de Seta Reta 3"/>
          <p:cNvCxnSpPr/>
          <p:nvPr/>
        </p:nvCxnSpPr>
        <p:spPr>
          <a:xfrm flipH="1">
            <a:off x="5076149" y="2757488"/>
            <a:ext cx="14286" cy="2643187"/>
          </a:xfrm>
          <a:prstGeom prst="straightConnector1">
            <a:avLst/>
          </a:prstGeom>
          <a:ln w="762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ector de Seta Reta 6"/>
          <p:cNvCxnSpPr/>
          <p:nvPr/>
        </p:nvCxnSpPr>
        <p:spPr>
          <a:xfrm flipH="1" flipV="1">
            <a:off x="6500137" y="6010275"/>
            <a:ext cx="733423" cy="4763"/>
          </a:xfrm>
          <a:prstGeom prst="straightConnector1">
            <a:avLst/>
          </a:prstGeom>
          <a:ln w="762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9" name="Espaço Reservado para Conteúdo 2"/>
          <p:cNvSpPr txBox="1">
            <a:spLocks/>
          </p:cNvSpPr>
          <p:nvPr/>
        </p:nvSpPr>
        <p:spPr>
          <a:xfrm>
            <a:off x="485775" y="477240"/>
            <a:ext cx="11287126" cy="87055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2400" dirty="0"/>
              <a:t>Ao digitar </a:t>
            </a:r>
            <a:r>
              <a:rPr lang="pt-BR" sz="2400" dirty="0" err="1"/>
              <a:t>html</a:t>
            </a:r>
            <a:r>
              <a:rPr lang="pt-BR" sz="2400" dirty="0"/>
              <a:t> no arquivo, o </a:t>
            </a:r>
            <a:r>
              <a:rPr lang="pt-BR" sz="2400" dirty="0" err="1"/>
              <a:t>VSCode</a:t>
            </a:r>
            <a:r>
              <a:rPr lang="pt-BR" sz="2400" dirty="0"/>
              <a:t> já sugere três opções. Se escolher o segundo item </a:t>
            </a:r>
            <a:r>
              <a:rPr lang="pt-BR" sz="2400" b="1" dirty="0"/>
              <a:t>(html:5)</a:t>
            </a:r>
            <a:r>
              <a:rPr lang="pt-BR" sz="2400" dirty="0"/>
              <a:t>, o </a:t>
            </a:r>
            <a:r>
              <a:rPr lang="pt-BR" sz="2400" dirty="0" err="1"/>
              <a:t>VSCode</a:t>
            </a:r>
            <a:r>
              <a:rPr lang="pt-BR" sz="2400" dirty="0"/>
              <a:t> já cria um “esqueleto” do arquivo HTML.</a:t>
            </a:r>
          </a:p>
        </p:txBody>
      </p:sp>
      <p:sp>
        <p:nvSpPr>
          <p:cNvPr id="5" name="Espaço Reservado para Número de Slide 4"/>
          <p:cNvSpPr>
            <a:spLocks noGrp="1"/>
          </p:cNvSpPr>
          <p:nvPr>
            <p:ph type="sldNum" sz="quarter" idx="12"/>
          </p:nvPr>
        </p:nvSpPr>
        <p:spPr/>
        <p:txBody>
          <a:bodyPr/>
          <a:lstStyle/>
          <a:p>
            <a:fld id="{8256F83C-9D86-480B-90E0-0702DBEB9457}" type="slidenum">
              <a:rPr lang="pt-BR" smtClean="0"/>
              <a:t>18</a:t>
            </a:fld>
            <a:endParaRPr lang="pt-BR"/>
          </a:p>
        </p:txBody>
      </p:sp>
    </p:spTree>
    <p:extLst>
      <p:ext uri="{BB962C8B-B14F-4D97-AF65-F5344CB8AC3E}">
        <p14:creationId xmlns:p14="http://schemas.microsoft.com/office/powerpoint/2010/main" val="3574043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a:blip r:embed="rId2"/>
          <a:stretch>
            <a:fillRect/>
          </a:stretch>
        </p:blipFill>
        <p:spPr>
          <a:xfrm>
            <a:off x="898746" y="1900237"/>
            <a:ext cx="10957577" cy="4029075"/>
          </a:xfrm>
          <a:prstGeom prst="rect">
            <a:avLst/>
          </a:prstGeom>
        </p:spPr>
      </p:pic>
      <p:sp>
        <p:nvSpPr>
          <p:cNvPr id="3" name="Espaço Reservado para Conteúdo 2"/>
          <p:cNvSpPr txBox="1">
            <a:spLocks/>
          </p:cNvSpPr>
          <p:nvPr/>
        </p:nvSpPr>
        <p:spPr>
          <a:xfrm>
            <a:off x="485775" y="477240"/>
            <a:ext cx="11287126" cy="81598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2400" dirty="0"/>
              <a:t>Após selecionar a opção </a:t>
            </a:r>
            <a:r>
              <a:rPr lang="pt-BR" sz="2400" b="1" dirty="0"/>
              <a:t>html:5</a:t>
            </a:r>
            <a:r>
              <a:rPr lang="pt-BR" sz="2400" dirty="0"/>
              <a:t>, note que automaticamente o </a:t>
            </a:r>
            <a:r>
              <a:rPr lang="pt-BR" sz="2400" dirty="0" err="1"/>
              <a:t>VSCode</a:t>
            </a:r>
            <a:r>
              <a:rPr lang="pt-BR" sz="2400" dirty="0"/>
              <a:t> cria a estrutura básica de um arquivo HTML.</a:t>
            </a:r>
          </a:p>
          <a:p>
            <a:pPr marL="0" indent="0" algn="ctr">
              <a:buNone/>
            </a:pPr>
            <a:endParaRPr lang="pt-BR" sz="2400" dirty="0"/>
          </a:p>
        </p:txBody>
      </p:sp>
      <p:sp>
        <p:nvSpPr>
          <p:cNvPr id="4" name="Espaço Reservado para Número de Slide 3"/>
          <p:cNvSpPr>
            <a:spLocks noGrp="1"/>
          </p:cNvSpPr>
          <p:nvPr>
            <p:ph type="sldNum" sz="quarter" idx="12"/>
          </p:nvPr>
        </p:nvSpPr>
        <p:spPr/>
        <p:txBody>
          <a:bodyPr/>
          <a:lstStyle/>
          <a:p>
            <a:fld id="{8256F83C-9D86-480B-90E0-0702DBEB9457}" type="slidenum">
              <a:rPr lang="pt-BR" smtClean="0"/>
              <a:t>19</a:t>
            </a:fld>
            <a:endParaRPr lang="pt-BR"/>
          </a:p>
        </p:txBody>
      </p:sp>
    </p:spTree>
    <p:extLst>
      <p:ext uri="{BB962C8B-B14F-4D97-AF65-F5344CB8AC3E}">
        <p14:creationId xmlns:p14="http://schemas.microsoft.com/office/powerpoint/2010/main" val="4092188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a:blip r:embed="rId3"/>
          <a:stretch>
            <a:fillRect/>
          </a:stretch>
        </p:blipFill>
        <p:spPr>
          <a:xfrm>
            <a:off x="4767262" y="452438"/>
            <a:ext cx="4343400" cy="6267450"/>
          </a:xfrm>
          <a:prstGeom prst="rect">
            <a:avLst/>
          </a:prstGeom>
        </p:spPr>
      </p:pic>
      <p:sp>
        <p:nvSpPr>
          <p:cNvPr id="5" name="Texto Explicativo em Elipse 4"/>
          <p:cNvSpPr/>
          <p:nvPr/>
        </p:nvSpPr>
        <p:spPr>
          <a:xfrm>
            <a:off x="1514475" y="1204915"/>
            <a:ext cx="2880745" cy="4471988"/>
          </a:xfrm>
          <a:prstGeom prst="wedgeEllipseCallout">
            <a:avLst>
              <a:gd name="adj1" fmla="val 71162"/>
              <a:gd name="adj2" fmla="val -5915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800" b="1" dirty="0">
                <a:solidFill>
                  <a:srgbClr val="FFFF00"/>
                </a:solidFill>
              </a:rPr>
              <a:t>DICA!!!!!!</a:t>
            </a:r>
          </a:p>
          <a:p>
            <a:pPr algn="ctr"/>
            <a:r>
              <a:rPr lang="pt-BR" sz="2000" b="1" dirty="0"/>
              <a:t>Um recurso que está disponível no </a:t>
            </a:r>
            <a:r>
              <a:rPr lang="pt-BR" sz="2000" b="1" dirty="0" err="1"/>
              <a:t>VSCode</a:t>
            </a:r>
            <a:r>
              <a:rPr lang="pt-BR" sz="2000" b="1" dirty="0"/>
              <a:t> é habilitar a opção </a:t>
            </a:r>
            <a:r>
              <a:rPr lang="pt-BR" sz="2000" b="1" dirty="0" err="1"/>
              <a:t>AutoSave</a:t>
            </a:r>
            <a:r>
              <a:rPr lang="pt-BR" sz="2000" b="1" dirty="0"/>
              <a:t>. Assim, a medida que é escrito o código, o arquivo é salvo.</a:t>
            </a:r>
            <a:endParaRPr lang="pt-BR" sz="2000" b="1" dirty="0">
              <a:solidFill>
                <a:srgbClr val="FFFF00"/>
              </a:solidFill>
            </a:endParaRPr>
          </a:p>
        </p:txBody>
      </p:sp>
      <p:sp>
        <p:nvSpPr>
          <p:cNvPr id="6" name="Retângulo 5"/>
          <p:cNvSpPr/>
          <p:nvPr/>
        </p:nvSpPr>
        <p:spPr>
          <a:xfrm>
            <a:off x="4810123" y="452438"/>
            <a:ext cx="647700" cy="280990"/>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7" name="Conector de Seta Reta 6"/>
          <p:cNvCxnSpPr/>
          <p:nvPr/>
        </p:nvCxnSpPr>
        <p:spPr>
          <a:xfrm>
            <a:off x="5072058" y="733428"/>
            <a:ext cx="61915" cy="3971926"/>
          </a:xfrm>
          <a:prstGeom prst="straightConnector1">
            <a:avLst/>
          </a:prstGeom>
          <a:ln w="762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8" name="Retângulo 7"/>
          <p:cNvSpPr/>
          <p:nvPr/>
        </p:nvSpPr>
        <p:spPr>
          <a:xfrm>
            <a:off x="5133973" y="4705354"/>
            <a:ext cx="966790" cy="323848"/>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Espaço Reservado para Número de Slide 2"/>
          <p:cNvSpPr>
            <a:spLocks noGrp="1"/>
          </p:cNvSpPr>
          <p:nvPr>
            <p:ph type="sldNum" sz="quarter" idx="12"/>
          </p:nvPr>
        </p:nvSpPr>
        <p:spPr/>
        <p:txBody>
          <a:bodyPr/>
          <a:lstStyle/>
          <a:p>
            <a:fld id="{8256F83C-9D86-480B-90E0-0702DBEB9457}" type="slidenum">
              <a:rPr lang="pt-BR" smtClean="0"/>
              <a:t>20</a:t>
            </a:fld>
            <a:endParaRPr lang="pt-BR"/>
          </a:p>
        </p:txBody>
      </p:sp>
    </p:spTree>
    <p:extLst>
      <p:ext uri="{BB962C8B-B14F-4D97-AF65-F5344CB8AC3E}">
        <p14:creationId xmlns:p14="http://schemas.microsoft.com/office/powerpoint/2010/main" val="3381592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8256F83C-9D86-480B-90E0-0702DBEB9457}" type="slidenum">
              <a:rPr lang="pt-BR" smtClean="0"/>
              <a:t>21</a:t>
            </a:fld>
            <a:endParaRPr lang="pt-BR"/>
          </a:p>
        </p:txBody>
      </p:sp>
      <p:sp>
        <p:nvSpPr>
          <p:cNvPr id="3" name="Título 1"/>
          <p:cNvSpPr txBox="1">
            <a:spLocks/>
          </p:cNvSpPr>
          <p:nvPr/>
        </p:nvSpPr>
        <p:spPr>
          <a:xfrm>
            <a:off x="875211" y="87916"/>
            <a:ext cx="10691808" cy="980728"/>
          </a:xfrm>
          <a:prstGeom prst="rect">
            <a:avLst/>
          </a:prstGeom>
        </p:spPr>
        <p:txBody>
          <a:bodyPr>
            <a:normAutofit fontScale="97500"/>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pt-BR" sz="3200" dirty="0">
                <a:solidFill>
                  <a:schemeClr val="tx1"/>
                </a:solidFill>
              </a:rPr>
              <a:t>O VS </a:t>
            </a:r>
            <a:r>
              <a:rPr lang="pt-BR" sz="3200" dirty="0" err="1">
                <a:solidFill>
                  <a:schemeClr val="tx1"/>
                </a:solidFill>
              </a:rPr>
              <a:t>Code</a:t>
            </a:r>
            <a:r>
              <a:rPr lang="pt-BR" sz="3200" dirty="0">
                <a:solidFill>
                  <a:schemeClr val="tx1"/>
                </a:solidFill>
              </a:rPr>
              <a:t> também tem um terminal. Para acessar ele pode usar a tecla de atalho &lt;CTRL&gt;+&lt;’&gt;</a:t>
            </a:r>
          </a:p>
        </p:txBody>
      </p:sp>
      <p:grpSp>
        <p:nvGrpSpPr>
          <p:cNvPr id="4" name="Agrupar 3"/>
          <p:cNvGrpSpPr/>
          <p:nvPr/>
        </p:nvGrpSpPr>
        <p:grpSpPr>
          <a:xfrm>
            <a:off x="875211" y="1449977"/>
            <a:ext cx="6269422" cy="5035820"/>
            <a:chOff x="2133972" y="980728"/>
            <a:chExt cx="7128792" cy="5417153"/>
          </a:xfrm>
        </p:grpSpPr>
        <p:pic>
          <p:nvPicPr>
            <p:cNvPr id="5" name="Imagem 4"/>
            <p:cNvPicPr>
              <a:picLocks noChangeAspect="1"/>
            </p:cNvPicPr>
            <p:nvPr/>
          </p:nvPicPr>
          <p:blipFill>
            <a:blip r:embed="rId2"/>
            <a:stretch>
              <a:fillRect/>
            </a:stretch>
          </p:blipFill>
          <p:spPr>
            <a:xfrm>
              <a:off x="2133972" y="980728"/>
              <a:ext cx="7128792" cy="5417153"/>
            </a:xfrm>
            <a:prstGeom prst="rect">
              <a:avLst/>
            </a:prstGeom>
          </p:spPr>
        </p:pic>
        <p:sp>
          <p:nvSpPr>
            <p:cNvPr id="6" name="Retângulo 5"/>
            <p:cNvSpPr/>
            <p:nvPr/>
          </p:nvSpPr>
          <p:spPr>
            <a:xfrm>
              <a:off x="5950396" y="5661248"/>
              <a:ext cx="2016224" cy="504056"/>
            </a:xfrm>
            <a:prstGeom prst="rect">
              <a:avLst/>
            </a:prstGeom>
            <a:noFill/>
            <a:ln w="57150">
              <a:solidFill>
                <a:srgbClr val="FF0000"/>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pt-BR" dirty="0">
                <a:ln>
                  <a:solidFill>
                    <a:schemeClr val="tx1"/>
                  </a:solidFill>
                </a:ln>
              </a:endParaRPr>
            </a:p>
          </p:txBody>
        </p:sp>
      </p:grpSp>
      <p:pic>
        <p:nvPicPr>
          <p:cNvPr id="7" name="Imagem 6"/>
          <p:cNvPicPr>
            <a:picLocks noChangeAspect="1"/>
          </p:cNvPicPr>
          <p:nvPr/>
        </p:nvPicPr>
        <p:blipFill>
          <a:blip r:embed="rId3"/>
          <a:stretch>
            <a:fillRect/>
          </a:stretch>
        </p:blipFill>
        <p:spPr>
          <a:xfrm>
            <a:off x="7318548" y="3329647"/>
            <a:ext cx="4733925" cy="2695575"/>
          </a:xfrm>
          <a:prstGeom prst="rect">
            <a:avLst/>
          </a:prstGeom>
          <a:ln>
            <a:solidFill>
              <a:schemeClr val="tx1"/>
            </a:solidFill>
          </a:ln>
        </p:spPr>
      </p:pic>
      <p:cxnSp>
        <p:nvCxnSpPr>
          <p:cNvPr id="8" name="Conector em Curva 7"/>
          <p:cNvCxnSpPr>
            <a:stCxn id="6" idx="3"/>
            <a:endCxn id="7" idx="1"/>
          </p:cNvCxnSpPr>
          <p:nvPr/>
        </p:nvCxnSpPr>
        <p:spPr>
          <a:xfrm flipV="1">
            <a:off x="6004738" y="4677435"/>
            <a:ext cx="1313810" cy="1357870"/>
          </a:xfrm>
          <a:prstGeom prst="curvedConnector3">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tângulo 8"/>
          <p:cNvSpPr/>
          <p:nvPr/>
        </p:nvSpPr>
        <p:spPr>
          <a:xfrm>
            <a:off x="7273384" y="2659286"/>
            <a:ext cx="4747382" cy="646331"/>
          </a:xfrm>
          <a:prstGeom prst="rect">
            <a:avLst/>
          </a:prstGeom>
        </p:spPr>
        <p:txBody>
          <a:bodyPr wrap="square">
            <a:spAutoFit/>
          </a:bodyPr>
          <a:lstStyle/>
          <a:p>
            <a:pPr algn="ctr"/>
            <a:r>
              <a:rPr lang="pt-BR" b="1" dirty="0"/>
              <a:t>Note que o Terminal já abre diretamente na pasta do projeto.</a:t>
            </a:r>
          </a:p>
        </p:txBody>
      </p:sp>
    </p:spTree>
    <p:extLst>
      <p:ext uri="{BB962C8B-B14F-4D97-AF65-F5344CB8AC3E}">
        <p14:creationId xmlns:p14="http://schemas.microsoft.com/office/powerpoint/2010/main" val="25579824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8256F83C-9D86-480B-90E0-0702DBEB9457}" type="slidenum">
              <a:rPr lang="pt-BR" smtClean="0"/>
              <a:t>22</a:t>
            </a:fld>
            <a:endParaRPr lang="pt-BR"/>
          </a:p>
        </p:txBody>
      </p:sp>
      <p:pic>
        <p:nvPicPr>
          <p:cNvPr id="3" name="Imagem 2"/>
          <p:cNvPicPr>
            <a:picLocks noChangeAspect="1"/>
          </p:cNvPicPr>
          <p:nvPr/>
        </p:nvPicPr>
        <p:blipFill>
          <a:blip r:embed="rId2"/>
          <a:stretch>
            <a:fillRect/>
          </a:stretch>
        </p:blipFill>
        <p:spPr>
          <a:xfrm>
            <a:off x="1103241" y="729782"/>
            <a:ext cx="11088759" cy="5925911"/>
          </a:xfrm>
          <a:prstGeom prst="rect">
            <a:avLst/>
          </a:prstGeom>
        </p:spPr>
      </p:pic>
      <p:sp>
        <p:nvSpPr>
          <p:cNvPr id="4" name="Seta para Baixo 3"/>
          <p:cNvSpPr/>
          <p:nvPr/>
        </p:nvSpPr>
        <p:spPr>
          <a:xfrm rot="18585454">
            <a:off x="615132" y="2011652"/>
            <a:ext cx="597804" cy="890799"/>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Seta para Baixo 5"/>
          <p:cNvSpPr/>
          <p:nvPr/>
        </p:nvSpPr>
        <p:spPr>
          <a:xfrm rot="18585454">
            <a:off x="1148697" y="799016"/>
            <a:ext cx="597804" cy="890799"/>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p:cNvSpPr txBox="1"/>
          <p:nvPr/>
        </p:nvSpPr>
        <p:spPr>
          <a:xfrm>
            <a:off x="959501" y="84749"/>
            <a:ext cx="11232499" cy="461665"/>
          </a:xfrm>
          <a:prstGeom prst="rect">
            <a:avLst/>
          </a:prstGeom>
          <a:noFill/>
        </p:spPr>
        <p:txBody>
          <a:bodyPr wrap="none" rtlCol="0">
            <a:spAutoFit/>
          </a:bodyPr>
          <a:lstStyle/>
          <a:p>
            <a:r>
              <a:rPr lang="pt-BR" sz="2400" b="1" dirty="0"/>
              <a:t>LIVE SERVER </a:t>
            </a:r>
            <a:r>
              <a:rPr lang="pt-BR" sz="2400" b="1" dirty="0">
                <a:sym typeface="Wingdings" panose="05000000000000000000" pitchFamily="2" charset="2"/>
              </a:rPr>
              <a:t> Uma forma de ver as alterações do HTML em tempo real no browser.</a:t>
            </a:r>
            <a:endParaRPr lang="pt-BR" sz="2400" b="1" dirty="0"/>
          </a:p>
        </p:txBody>
      </p:sp>
      <p:sp>
        <p:nvSpPr>
          <p:cNvPr id="8" name="CaixaDeTexto 7"/>
          <p:cNvSpPr txBox="1"/>
          <p:nvPr/>
        </p:nvSpPr>
        <p:spPr>
          <a:xfrm>
            <a:off x="5669280" y="2457051"/>
            <a:ext cx="1737360" cy="369332"/>
          </a:xfrm>
          <a:prstGeom prst="rect">
            <a:avLst/>
          </a:prstGeom>
          <a:solidFill>
            <a:srgbClr val="FFFF00"/>
          </a:solidFill>
        </p:spPr>
        <p:txBody>
          <a:bodyPr wrap="square" rtlCol="0">
            <a:spAutoFit/>
          </a:bodyPr>
          <a:lstStyle/>
          <a:p>
            <a:pPr algn="ctr"/>
            <a:r>
              <a:rPr lang="pt-BR" b="1" dirty="0">
                <a:solidFill>
                  <a:srgbClr val="FF0000"/>
                </a:solidFill>
              </a:rPr>
              <a:t>INSTALL</a:t>
            </a:r>
          </a:p>
        </p:txBody>
      </p:sp>
    </p:spTree>
    <p:extLst>
      <p:ext uri="{BB962C8B-B14F-4D97-AF65-F5344CB8AC3E}">
        <p14:creationId xmlns:p14="http://schemas.microsoft.com/office/powerpoint/2010/main" val="2575615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8256F83C-9D86-480B-90E0-0702DBEB9457}" type="slidenum">
              <a:rPr lang="pt-BR" smtClean="0"/>
              <a:t>23</a:t>
            </a:fld>
            <a:endParaRPr lang="pt-BR"/>
          </a:p>
        </p:txBody>
      </p:sp>
      <p:pic>
        <p:nvPicPr>
          <p:cNvPr id="3" name="Imagem 2"/>
          <p:cNvPicPr>
            <a:picLocks noChangeAspect="1"/>
          </p:cNvPicPr>
          <p:nvPr/>
        </p:nvPicPr>
        <p:blipFill>
          <a:blip r:embed="rId2"/>
          <a:stretch>
            <a:fillRect/>
          </a:stretch>
        </p:blipFill>
        <p:spPr>
          <a:xfrm>
            <a:off x="1194209" y="159643"/>
            <a:ext cx="9076673" cy="6496050"/>
          </a:xfrm>
          <a:prstGeom prst="rect">
            <a:avLst/>
          </a:prstGeom>
        </p:spPr>
      </p:pic>
      <p:sp>
        <p:nvSpPr>
          <p:cNvPr id="4" name="Seta para Baixo 3"/>
          <p:cNvSpPr/>
          <p:nvPr/>
        </p:nvSpPr>
        <p:spPr>
          <a:xfrm rot="2938167">
            <a:off x="9553967" y="5692426"/>
            <a:ext cx="597804" cy="890799"/>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CaixaDeTexto 4"/>
          <p:cNvSpPr txBox="1"/>
          <p:nvPr/>
        </p:nvSpPr>
        <p:spPr>
          <a:xfrm>
            <a:off x="10270882" y="5103684"/>
            <a:ext cx="1977786" cy="1477328"/>
          </a:xfrm>
          <a:prstGeom prst="rect">
            <a:avLst/>
          </a:prstGeom>
          <a:noFill/>
        </p:spPr>
        <p:txBody>
          <a:bodyPr wrap="none" rtlCol="0">
            <a:spAutoFit/>
          </a:bodyPr>
          <a:lstStyle/>
          <a:p>
            <a:r>
              <a:rPr lang="pt-BR" b="1" dirty="0">
                <a:solidFill>
                  <a:srgbClr val="FF0000"/>
                </a:solidFill>
              </a:rPr>
              <a:t>Clicar em Go Live</a:t>
            </a:r>
          </a:p>
          <a:p>
            <a:r>
              <a:rPr lang="pt-BR" b="1" dirty="0">
                <a:solidFill>
                  <a:srgbClr val="FF0000"/>
                </a:solidFill>
              </a:rPr>
              <a:t>Abre o browser</a:t>
            </a:r>
          </a:p>
          <a:p>
            <a:r>
              <a:rPr lang="pt-BR" b="1" dirty="0">
                <a:solidFill>
                  <a:srgbClr val="FF0000"/>
                </a:solidFill>
              </a:rPr>
              <a:t>com a página que </a:t>
            </a:r>
          </a:p>
          <a:p>
            <a:r>
              <a:rPr lang="pt-BR" b="1" dirty="0">
                <a:solidFill>
                  <a:srgbClr val="FF0000"/>
                </a:solidFill>
              </a:rPr>
              <a:t>está sendo </a:t>
            </a:r>
          </a:p>
          <a:p>
            <a:r>
              <a:rPr lang="pt-BR" b="1" dirty="0">
                <a:solidFill>
                  <a:srgbClr val="FF0000"/>
                </a:solidFill>
              </a:rPr>
              <a:t>elaborada</a:t>
            </a:r>
          </a:p>
        </p:txBody>
      </p:sp>
      <p:pic>
        <p:nvPicPr>
          <p:cNvPr id="6" name="Imagem 5"/>
          <p:cNvPicPr>
            <a:picLocks noChangeAspect="1"/>
          </p:cNvPicPr>
          <p:nvPr/>
        </p:nvPicPr>
        <p:blipFill>
          <a:blip r:embed="rId3"/>
          <a:stretch>
            <a:fillRect/>
          </a:stretch>
        </p:blipFill>
        <p:spPr>
          <a:xfrm>
            <a:off x="8250642" y="2551226"/>
            <a:ext cx="3886200" cy="1600200"/>
          </a:xfrm>
          <a:prstGeom prst="rect">
            <a:avLst/>
          </a:prstGeom>
        </p:spPr>
      </p:pic>
      <p:sp>
        <p:nvSpPr>
          <p:cNvPr id="7" name="Seta para Baixo 6"/>
          <p:cNvSpPr/>
          <p:nvPr/>
        </p:nvSpPr>
        <p:spPr>
          <a:xfrm rot="10800000">
            <a:off x="10770126" y="3503484"/>
            <a:ext cx="597804" cy="166603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1899927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585787" y="363850"/>
            <a:ext cx="10974841" cy="671736"/>
          </a:xfrm>
          <a:prstGeom prst="rect">
            <a:avLst/>
          </a:prstGeom>
        </p:spPr>
        <p:txBody>
          <a:bodyPr>
            <a:noAutofit/>
          </a:bodyPr>
          <a:lstStyle>
            <a:lvl1pPr algn="l" defTabSz="914400" rtl="0" eaLnBrk="1" latinLnBrk="0" hangingPunct="1">
              <a:lnSpc>
                <a:spcPct val="90000"/>
              </a:lnSpc>
              <a:spcBef>
                <a:spcPct val="0"/>
              </a:spcBef>
              <a:buNone/>
              <a:defRPr sz="4400" b="1" kern="1200">
                <a:solidFill>
                  <a:srgbClr val="1B4572"/>
                </a:solidFill>
                <a:latin typeface="Arial" panose="020B0604020202020204" pitchFamily="34" charset="0"/>
                <a:ea typeface="+mj-ea"/>
                <a:cs typeface="Arial" panose="020B0604020202020204" pitchFamily="34" charset="0"/>
              </a:defRPr>
            </a:lvl1pPr>
          </a:lstStyle>
          <a:p>
            <a:pPr algn="ctr"/>
            <a:r>
              <a:rPr lang="pt-BR" sz="3200" dirty="0"/>
              <a:t>Sintaxe do HTML5 </a:t>
            </a:r>
          </a:p>
        </p:txBody>
      </p:sp>
      <p:sp>
        <p:nvSpPr>
          <p:cNvPr id="4" name="Espaço Reservado para Conteúdo 2"/>
          <p:cNvSpPr txBox="1">
            <a:spLocks/>
          </p:cNvSpPr>
          <p:nvPr/>
        </p:nvSpPr>
        <p:spPr>
          <a:xfrm>
            <a:off x="901336" y="1035586"/>
            <a:ext cx="10815433" cy="564356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2400" dirty="0"/>
              <a:t>A semântica léxica do HTML5 gira em torno de 3 termos básicos: elementos, etiquetas (</a:t>
            </a:r>
            <a:r>
              <a:rPr lang="pt-BR" sz="2400" dirty="0" err="1"/>
              <a:t>tag</a:t>
            </a:r>
            <a:r>
              <a:rPr lang="pt-BR" sz="2400" dirty="0"/>
              <a:t>) e atributos.</a:t>
            </a:r>
          </a:p>
          <a:p>
            <a:pPr marL="0" indent="0" algn="just">
              <a:buNone/>
            </a:pPr>
            <a:r>
              <a:rPr lang="pt-BR" sz="2400" b="1" dirty="0"/>
              <a:t>1º) Elementos (</a:t>
            </a:r>
            <a:r>
              <a:rPr lang="pt-BR" sz="2400" b="1" dirty="0" err="1"/>
              <a:t>elements</a:t>
            </a:r>
            <a:r>
              <a:rPr lang="pt-BR" sz="2400" b="1" dirty="0"/>
              <a:t>):</a:t>
            </a:r>
            <a:r>
              <a:rPr lang="pt-BR" sz="2400" dirty="0"/>
              <a:t> refere-se ao identificadores que descrevem os objetos, como por exemplo: texto, imagens, multimídia, etc.. Incluindo a estrutura e o conteúdo. Note, o elemento designa um funcionalidade.</a:t>
            </a:r>
          </a:p>
          <a:p>
            <a:pPr marL="0" indent="0" algn="just">
              <a:buNone/>
            </a:pPr>
            <a:r>
              <a:rPr lang="pt-BR" sz="2000" b="1" dirty="0"/>
              <a:t>Exemplo:</a:t>
            </a:r>
          </a:p>
          <a:p>
            <a:pPr lvl="1" algn="just">
              <a:buFontTx/>
              <a:buChar char="-"/>
            </a:pPr>
            <a:endParaRPr lang="pt-BR" sz="2000" b="1" dirty="0"/>
          </a:p>
          <a:p>
            <a:pPr marL="457200" lvl="1" indent="0" algn="just">
              <a:buNone/>
            </a:pPr>
            <a:r>
              <a:rPr lang="pt-BR" sz="2000" b="1" dirty="0"/>
              <a:t>&lt;p&gt; &lt;/p&gt; : </a:t>
            </a:r>
            <a:r>
              <a:rPr lang="pt-BR" sz="2000" dirty="0"/>
              <a:t>para designar um parágrafo.</a:t>
            </a:r>
          </a:p>
          <a:p>
            <a:pPr marL="457200" lvl="1" indent="0" algn="just">
              <a:buNone/>
            </a:pPr>
            <a:r>
              <a:rPr lang="pt-BR" sz="2000" b="1" dirty="0"/>
              <a:t>&lt;a&gt; &lt;/a&gt; : </a:t>
            </a:r>
            <a:r>
              <a:rPr lang="pt-BR" sz="2000" dirty="0"/>
              <a:t>para designar um link (a =&gt; </a:t>
            </a:r>
            <a:r>
              <a:rPr lang="pt-BR" sz="2000" dirty="0" err="1"/>
              <a:t>anchor</a:t>
            </a:r>
            <a:r>
              <a:rPr lang="pt-BR" sz="2000" dirty="0"/>
              <a:t> =&gt; âncora).</a:t>
            </a:r>
            <a:endParaRPr lang="pt-BR" sz="2000" b="1" dirty="0"/>
          </a:p>
          <a:p>
            <a:pPr marL="0" indent="0" algn="just">
              <a:buNone/>
            </a:pPr>
            <a:endParaRPr lang="pt-BR" sz="2400" b="1" dirty="0"/>
          </a:p>
          <a:p>
            <a:pPr marL="0" indent="0" algn="just">
              <a:buNone/>
            </a:pPr>
            <a:r>
              <a:rPr lang="pt-BR" sz="2400" b="1" dirty="0"/>
              <a:t>2º) Etiquetas (tags):</a:t>
            </a:r>
            <a:r>
              <a:rPr lang="pt-BR" sz="2400" dirty="0"/>
              <a:t> é mais usual utilizar o termo </a:t>
            </a:r>
            <a:r>
              <a:rPr lang="pt-BR" sz="2400" dirty="0" err="1"/>
              <a:t>tag</a:t>
            </a:r>
            <a:r>
              <a:rPr lang="pt-BR" sz="2400" dirty="0"/>
              <a:t>. A </a:t>
            </a:r>
            <a:r>
              <a:rPr lang="pt-BR" sz="2400" dirty="0" err="1"/>
              <a:t>tag</a:t>
            </a:r>
            <a:r>
              <a:rPr lang="pt-BR" sz="2400" dirty="0"/>
              <a:t> é o conceito mais básico do HTML. Os elementos em HTML são muitas vezes formados por um conjunto de tags. As tags não são visíveis no navegador (página web). Existem dois tipos de tags – </a:t>
            </a:r>
            <a:r>
              <a:rPr lang="pt-BR" sz="2400" dirty="0" err="1"/>
              <a:t>tag</a:t>
            </a:r>
            <a:r>
              <a:rPr lang="pt-BR" sz="2400" dirty="0"/>
              <a:t> dupla e </a:t>
            </a:r>
            <a:r>
              <a:rPr lang="pt-BR" sz="2400" dirty="0" err="1"/>
              <a:t>tag</a:t>
            </a:r>
            <a:r>
              <a:rPr lang="pt-BR" sz="2400" dirty="0"/>
              <a:t> simples.</a:t>
            </a:r>
            <a:endParaRPr lang="pt-BR" sz="2400" b="1" dirty="0"/>
          </a:p>
        </p:txBody>
      </p:sp>
      <p:sp>
        <p:nvSpPr>
          <p:cNvPr id="2" name="Espaço Reservado para Número de Slide 1"/>
          <p:cNvSpPr>
            <a:spLocks noGrp="1"/>
          </p:cNvSpPr>
          <p:nvPr>
            <p:ph type="sldNum" sz="quarter" idx="12"/>
          </p:nvPr>
        </p:nvSpPr>
        <p:spPr/>
        <p:txBody>
          <a:bodyPr/>
          <a:lstStyle/>
          <a:p>
            <a:fld id="{8256F83C-9D86-480B-90E0-0702DBEB9457}" type="slidenum">
              <a:rPr lang="pt-BR" smtClean="0"/>
              <a:t>24</a:t>
            </a:fld>
            <a:endParaRPr lang="pt-BR"/>
          </a:p>
        </p:txBody>
      </p:sp>
    </p:spTree>
    <p:extLst>
      <p:ext uri="{BB962C8B-B14F-4D97-AF65-F5344CB8AC3E}">
        <p14:creationId xmlns:p14="http://schemas.microsoft.com/office/powerpoint/2010/main" val="1082020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2"/>
          <p:cNvSpPr txBox="1">
            <a:spLocks/>
          </p:cNvSpPr>
          <p:nvPr/>
        </p:nvSpPr>
        <p:spPr>
          <a:xfrm>
            <a:off x="600891" y="548680"/>
            <a:ext cx="10959737" cy="61926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just"/>
            <a:r>
              <a:rPr lang="pt-BR" b="1" u="sng" dirty="0" err="1"/>
              <a:t>Tag</a:t>
            </a:r>
            <a:r>
              <a:rPr lang="pt-BR" b="1" u="sng" dirty="0"/>
              <a:t> dupla:</a:t>
            </a:r>
            <a:r>
              <a:rPr lang="pt-BR" dirty="0"/>
              <a:t> é um elemento que vem precedido do sinal de “menor que” e  precedido pelo “maior que”. O fechamento desta </a:t>
            </a:r>
            <a:r>
              <a:rPr lang="pt-BR" dirty="0" err="1"/>
              <a:t>tag</a:t>
            </a:r>
            <a:r>
              <a:rPr lang="pt-BR" dirty="0"/>
              <a:t> é dado pelo sinal de “menor que” precedido de uma barra “/” precedido do </a:t>
            </a:r>
            <a:r>
              <a:rPr lang="pt-BR" dirty="0" err="1"/>
              <a:t>label</a:t>
            </a:r>
            <a:r>
              <a:rPr lang="pt-BR" dirty="0"/>
              <a:t> e finalizado com o sinal de “maior que”.</a:t>
            </a:r>
          </a:p>
          <a:p>
            <a:pPr marL="231775" lvl="1" indent="0" algn="ctr">
              <a:buFont typeface="Arial" panose="020B0604020202020204" pitchFamily="34" charset="0"/>
              <a:buNone/>
            </a:pPr>
            <a:r>
              <a:rPr lang="pt-BR" dirty="0"/>
              <a:t>&lt;h1&gt; PUCRS On-line &lt;/h1&gt;</a:t>
            </a:r>
          </a:p>
          <a:p>
            <a:pPr lvl="1" algn="just"/>
            <a:r>
              <a:rPr lang="pt-BR" dirty="0"/>
              <a:t>&lt;h1&gt; h1 é uma </a:t>
            </a:r>
            <a:r>
              <a:rPr lang="pt-BR" dirty="0" err="1"/>
              <a:t>tag</a:t>
            </a:r>
            <a:r>
              <a:rPr lang="pt-BR" dirty="0"/>
              <a:t> de formatação de cabeçalho (header). Estas tags serão vistas na sequência.</a:t>
            </a:r>
          </a:p>
          <a:p>
            <a:pPr lvl="1" algn="just"/>
            <a:r>
              <a:rPr lang="pt-BR" dirty="0"/>
              <a:t>Portanto, tudo que estiver compreendido entre a </a:t>
            </a:r>
            <a:r>
              <a:rPr lang="pt-BR" dirty="0" err="1"/>
              <a:t>tag</a:t>
            </a:r>
            <a:r>
              <a:rPr lang="pt-BR" dirty="0"/>
              <a:t> de abertura &lt;h1&gt; e a </a:t>
            </a:r>
            <a:r>
              <a:rPr lang="pt-BR" dirty="0" err="1"/>
              <a:t>tag</a:t>
            </a:r>
            <a:r>
              <a:rPr lang="pt-BR" dirty="0"/>
              <a:t> de fechamento &lt;/h1&gt;, está sujeita a função da </a:t>
            </a:r>
            <a:r>
              <a:rPr lang="pt-BR" dirty="0" err="1"/>
              <a:t>tag</a:t>
            </a:r>
            <a:r>
              <a:rPr lang="pt-BR" dirty="0"/>
              <a:t>. Neste caso é a formatação de um título.</a:t>
            </a:r>
          </a:p>
          <a:p>
            <a:pPr lvl="1" algn="just"/>
            <a:r>
              <a:rPr lang="pt-BR" dirty="0"/>
              <a:t>Pode ser colocado diversas tags na mesma linha, por exemplo:</a:t>
            </a:r>
          </a:p>
          <a:p>
            <a:pPr marL="231775" lvl="1" indent="0" algn="ctr">
              <a:buFont typeface="Arial" panose="020B0604020202020204" pitchFamily="34" charset="0"/>
              <a:buNone/>
            </a:pPr>
            <a:r>
              <a:rPr lang="pt-BR" dirty="0"/>
              <a:t>&lt;h1&gt;&lt;b&gt;&lt;i&gt; PUCRS On-line &lt;/i&gt;&lt;/b&gt;&lt;/h1&gt;</a:t>
            </a:r>
          </a:p>
          <a:p>
            <a:pPr lvl="1" algn="just"/>
            <a:r>
              <a:rPr lang="pt-BR" dirty="0"/>
              <a:t>&lt;h1&gt; &lt;/h1&gt; formatação do header</a:t>
            </a:r>
          </a:p>
          <a:p>
            <a:pPr lvl="1" algn="just"/>
            <a:r>
              <a:rPr lang="pt-BR" dirty="0"/>
              <a:t>&lt;b&gt; &lt;/b&gt; formatação do texto em negrito</a:t>
            </a:r>
          </a:p>
          <a:p>
            <a:pPr lvl="1" algn="just"/>
            <a:r>
              <a:rPr lang="pt-BR" dirty="0"/>
              <a:t>&lt;i&gt; &lt;/i&gt; formatação do texto em itálico</a:t>
            </a:r>
          </a:p>
        </p:txBody>
      </p:sp>
      <p:sp>
        <p:nvSpPr>
          <p:cNvPr id="3" name="Espaço Reservado para Número de Slide 2"/>
          <p:cNvSpPr>
            <a:spLocks noGrp="1"/>
          </p:cNvSpPr>
          <p:nvPr>
            <p:ph type="sldNum" sz="quarter" idx="12"/>
          </p:nvPr>
        </p:nvSpPr>
        <p:spPr/>
        <p:txBody>
          <a:bodyPr/>
          <a:lstStyle/>
          <a:p>
            <a:fld id="{8256F83C-9D86-480B-90E0-0702DBEB9457}" type="slidenum">
              <a:rPr lang="pt-BR" smtClean="0"/>
              <a:t>25</a:t>
            </a:fld>
            <a:endParaRPr lang="pt-BR"/>
          </a:p>
        </p:txBody>
      </p:sp>
    </p:spTree>
    <p:extLst>
      <p:ext uri="{BB962C8B-B14F-4D97-AF65-F5344CB8AC3E}">
        <p14:creationId xmlns:p14="http://schemas.microsoft.com/office/powerpoint/2010/main" val="22171171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2"/>
          <p:cNvSpPr txBox="1">
            <a:spLocks/>
          </p:cNvSpPr>
          <p:nvPr/>
        </p:nvSpPr>
        <p:spPr>
          <a:xfrm>
            <a:off x="809900" y="548680"/>
            <a:ext cx="11058111" cy="61926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just"/>
            <a:r>
              <a:rPr lang="pt-BR" b="1" u="sng" dirty="0" err="1"/>
              <a:t>Tag</a:t>
            </a:r>
            <a:r>
              <a:rPr lang="pt-BR" b="1" u="sng" dirty="0"/>
              <a:t> simples:</a:t>
            </a:r>
            <a:r>
              <a:rPr lang="pt-BR" dirty="0"/>
              <a:t> a </a:t>
            </a:r>
            <a:r>
              <a:rPr lang="pt-BR" dirty="0" err="1"/>
              <a:t>tag</a:t>
            </a:r>
            <a:r>
              <a:rPr lang="pt-BR" dirty="0"/>
              <a:t> simples é mais comum quando deseja-se inserir um elemento em uma determinada área da página web. A </a:t>
            </a:r>
            <a:r>
              <a:rPr lang="pt-BR" dirty="0" err="1"/>
              <a:t>tag</a:t>
            </a:r>
            <a:r>
              <a:rPr lang="pt-BR" dirty="0"/>
              <a:t> simples não tem abertura e fechamento, apenas representa-se desta forma: &lt;</a:t>
            </a:r>
            <a:r>
              <a:rPr lang="pt-BR" dirty="0" err="1"/>
              <a:t>img</a:t>
            </a:r>
            <a:r>
              <a:rPr lang="pt-BR" dirty="0"/>
              <a:t> </a:t>
            </a:r>
            <a:r>
              <a:rPr lang="pt-BR" dirty="0" err="1"/>
              <a:t>src</a:t>
            </a:r>
            <a:r>
              <a:rPr lang="pt-BR" dirty="0"/>
              <a:t> /&gt;</a:t>
            </a:r>
          </a:p>
          <a:p>
            <a:pPr lvl="1" algn="just"/>
            <a:endParaRPr lang="pt-BR" dirty="0"/>
          </a:p>
          <a:p>
            <a:pPr marL="457200" lvl="1" indent="0" algn="ctr">
              <a:buNone/>
            </a:pPr>
            <a:r>
              <a:rPr lang="pt-BR" dirty="0"/>
              <a:t>Exemplo: &lt;</a:t>
            </a:r>
            <a:r>
              <a:rPr lang="pt-BR" dirty="0" err="1"/>
              <a:t>img</a:t>
            </a:r>
            <a:r>
              <a:rPr lang="pt-BR" dirty="0"/>
              <a:t> </a:t>
            </a:r>
            <a:r>
              <a:rPr lang="pt-BR" dirty="0" err="1"/>
              <a:t>src</a:t>
            </a:r>
            <a:r>
              <a:rPr lang="pt-BR" dirty="0"/>
              <a:t>=“puc_logo.png”/&gt; </a:t>
            </a:r>
          </a:p>
          <a:p>
            <a:pPr marL="457200" lvl="1" indent="0" algn="ctr">
              <a:buNone/>
            </a:pPr>
            <a:r>
              <a:rPr lang="pt-BR" i="1" dirty="0"/>
              <a:t>ou</a:t>
            </a:r>
          </a:p>
          <a:p>
            <a:pPr marL="457200" lvl="1" indent="0" algn="ctr">
              <a:buNone/>
            </a:pPr>
            <a:r>
              <a:rPr lang="pt-BR" dirty="0"/>
              <a:t>&lt;</a:t>
            </a:r>
            <a:r>
              <a:rPr lang="pt-BR" dirty="0" err="1"/>
              <a:t>img</a:t>
            </a:r>
            <a:r>
              <a:rPr lang="pt-BR" dirty="0"/>
              <a:t> </a:t>
            </a:r>
            <a:r>
              <a:rPr lang="pt-BR" dirty="0" err="1"/>
              <a:t>src</a:t>
            </a:r>
            <a:r>
              <a:rPr lang="pt-BR" dirty="0"/>
              <a:t>=“puc_logo.png”&gt;</a:t>
            </a:r>
          </a:p>
          <a:p>
            <a:pPr lvl="1" algn="just"/>
            <a:endParaRPr lang="pt-BR" i="1" dirty="0"/>
          </a:p>
          <a:p>
            <a:pPr marL="0" indent="0" algn="just">
              <a:buNone/>
            </a:pPr>
            <a:r>
              <a:rPr lang="pt-BR" sz="2400" b="1" i="1" u="sng" dirty="0"/>
              <a:t>Elementos x </a:t>
            </a:r>
            <a:r>
              <a:rPr lang="pt-BR" sz="2400" b="1" i="1" u="sng" dirty="0" err="1"/>
              <a:t>tag</a:t>
            </a:r>
            <a:r>
              <a:rPr lang="pt-BR" sz="2400" b="1" i="1" u="sng" dirty="0"/>
              <a:t>: </a:t>
            </a:r>
            <a:r>
              <a:rPr lang="pt-BR" sz="2400" i="1" dirty="0"/>
              <a:t>verifique o comportamento do elemento e o </a:t>
            </a:r>
            <a:r>
              <a:rPr lang="pt-BR" sz="2400" i="1" dirty="0" err="1"/>
              <a:t>tag</a:t>
            </a:r>
            <a:r>
              <a:rPr lang="pt-BR" sz="2400" i="1" dirty="0"/>
              <a:t> na mesma expressão:</a:t>
            </a:r>
          </a:p>
          <a:p>
            <a:pPr marL="0" indent="0" algn="ctr">
              <a:buNone/>
            </a:pPr>
            <a:endParaRPr lang="pt-BR" sz="2400" i="1" dirty="0"/>
          </a:p>
          <a:p>
            <a:pPr marL="0" indent="0" algn="ctr">
              <a:buNone/>
            </a:pPr>
            <a:endParaRPr lang="pt-BR" sz="2400" i="1" dirty="0"/>
          </a:p>
          <a:p>
            <a:pPr marL="0" indent="0" algn="ctr">
              <a:buNone/>
            </a:pPr>
            <a:endParaRPr lang="pt-BR" sz="2400" i="1" dirty="0"/>
          </a:p>
        </p:txBody>
      </p:sp>
      <p:sp>
        <p:nvSpPr>
          <p:cNvPr id="3" name="Chave Esquerda 2"/>
          <p:cNvSpPr/>
          <p:nvPr/>
        </p:nvSpPr>
        <p:spPr>
          <a:xfrm rot="16200000">
            <a:off x="5966047" y="806217"/>
            <a:ext cx="400051" cy="9931853"/>
          </a:xfrm>
          <a:prstGeom prst="leftBrace">
            <a:avLst>
              <a:gd name="adj1" fmla="val 28725"/>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pic>
        <p:nvPicPr>
          <p:cNvPr id="4" name="Imagem 3"/>
          <p:cNvPicPr>
            <a:picLocks noChangeAspect="1"/>
          </p:cNvPicPr>
          <p:nvPr/>
        </p:nvPicPr>
        <p:blipFill>
          <a:blip r:embed="rId2"/>
          <a:stretch>
            <a:fillRect/>
          </a:stretch>
        </p:blipFill>
        <p:spPr>
          <a:xfrm>
            <a:off x="1200146" y="4376510"/>
            <a:ext cx="9931853" cy="1238476"/>
          </a:xfrm>
          <a:prstGeom prst="rect">
            <a:avLst/>
          </a:prstGeom>
        </p:spPr>
      </p:pic>
      <p:sp>
        <p:nvSpPr>
          <p:cNvPr id="6" name="Espaço Reservado para Conteúdo 2"/>
          <p:cNvSpPr txBox="1">
            <a:spLocks/>
          </p:cNvSpPr>
          <p:nvPr/>
        </p:nvSpPr>
        <p:spPr>
          <a:xfrm>
            <a:off x="686203" y="6192290"/>
            <a:ext cx="10959737" cy="727670"/>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2400" dirty="0"/>
              <a:t>O </a:t>
            </a:r>
            <a:r>
              <a:rPr lang="pt-BR" sz="2400" b="1" dirty="0"/>
              <a:t>elemento p </a:t>
            </a:r>
            <a:r>
              <a:rPr lang="pt-BR" sz="2400" dirty="0"/>
              <a:t>(com uma </a:t>
            </a:r>
            <a:r>
              <a:rPr lang="pt-BR" sz="2400" dirty="0" err="1"/>
              <a:t>tag</a:t>
            </a:r>
            <a:r>
              <a:rPr lang="pt-BR" sz="2400" dirty="0"/>
              <a:t> de abertura e fechamento)</a:t>
            </a:r>
            <a:r>
              <a:rPr lang="pt-BR" sz="2400" b="1" dirty="0"/>
              <a:t> </a:t>
            </a:r>
            <a:r>
              <a:rPr lang="pt-BR" sz="2400" dirty="0"/>
              <a:t>define um novo parágrafo para toda a expressão. Já a </a:t>
            </a:r>
            <a:r>
              <a:rPr lang="pt-BR" sz="2400" dirty="0" err="1"/>
              <a:t>tag</a:t>
            </a:r>
            <a:r>
              <a:rPr lang="pt-BR" sz="2400" dirty="0"/>
              <a:t> &lt;b&gt; define que uma parte do texto será em negrito.</a:t>
            </a:r>
          </a:p>
          <a:p>
            <a:pPr marL="0" indent="0" algn="ctr">
              <a:buNone/>
            </a:pPr>
            <a:endParaRPr lang="pt-BR" sz="2400" i="1" dirty="0"/>
          </a:p>
        </p:txBody>
      </p:sp>
      <p:sp>
        <p:nvSpPr>
          <p:cNvPr id="5" name="Espaço Reservado para Número de Slide 4"/>
          <p:cNvSpPr>
            <a:spLocks noGrp="1"/>
          </p:cNvSpPr>
          <p:nvPr>
            <p:ph type="sldNum" sz="quarter" idx="12"/>
          </p:nvPr>
        </p:nvSpPr>
        <p:spPr/>
        <p:txBody>
          <a:bodyPr/>
          <a:lstStyle/>
          <a:p>
            <a:fld id="{8256F83C-9D86-480B-90E0-0702DBEB9457}" type="slidenum">
              <a:rPr lang="pt-BR" smtClean="0"/>
              <a:t>26</a:t>
            </a:fld>
            <a:endParaRPr lang="pt-BR"/>
          </a:p>
        </p:txBody>
      </p:sp>
    </p:spTree>
    <p:extLst>
      <p:ext uri="{BB962C8B-B14F-4D97-AF65-F5344CB8AC3E}">
        <p14:creationId xmlns:p14="http://schemas.microsoft.com/office/powerpoint/2010/main" val="2238494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2"/>
          <p:cNvSpPr txBox="1">
            <a:spLocks/>
          </p:cNvSpPr>
          <p:nvPr/>
        </p:nvSpPr>
        <p:spPr>
          <a:xfrm>
            <a:off x="730093" y="564084"/>
            <a:ext cx="11287126" cy="564356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2400" b="1" dirty="0"/>
              <a:t>3º) Atributo:</a:t>
            </a:r>
            <a:r>
              <a:rPr lang="pt-BR" sz="2400" dirty="0"/>
              <a:t> são propriedades usadas para adicionar instruções adicionais a um determinado elemento. Estes atributos devem estar presentes na </a:t>
            </a:r>
            <a:r>
              <a:rPr lang="pt-BR" sz="2400" dirty="0" err="1"/>
              <a:t>tag</a:t>
            </a:r>
            <a:r>
              <a:rPr lang="pt-BR" sz="2400" dirty="0"/>
              <a:t> de abertura. Cada atributo normalmente tem parâmetros que devem ser colocados entre aspas duplas.</a:t>
            </a:r>
          </a:p>
          <a:p>
            <a:pPr marL="0" indent="0" algn="just">
              <a:buNone/>
            </a:pPr>
            <a:endParaRPr lang="pt-BR" sz="2400" b="1" dirty="0"/>
          </a:p>
          <a:p>
            <a:pPr marL="0" indent="0" algn="just">
              <a:buNone/>
            </a:pPr>
            <a:r>
              <a:rPr lang="pt-BR" sz="2400" b="1" dirty="0"/>
              <a:t>Exemplo:</a:t>
            </a:r>
          </a:p>
          <a:p>
            <a:pPr marL="0" indent="0" algn="just">
              <a:buNone/>
            </a:pPr>
            <a:r>
              <a:rPr lang="pt-BR" sz="2400" b="1" dirty="0"/>
              <a:t>	&lt;</a:t>
            </a:r>
            <a:r>
              <a:rPr lang="pt-BR" sz="2400" b="1" dirty="0" err="1"/>
              <a:t>button</a:t>
            </a:r>
            <a:r>
              <a:rPr lang="pt-BR" sz="2400" b="1" dirty="0"/>
              <a:t> id=“</a:t>
            </a:r>
            <a:r>
              <a:rPr lang="pt-BR" sz="2400" b="1" dirty="0" err="1"/>
              <a:t>btao_login</a:t>
            </a:r>
            <a:r>
              <a:rPr lang="pt-BR" sz="2400" b="1" dirty="0"/>
              <a:t>” </a:t>
            </a:r>
            <a:r>
              <a:rPr lang="pt-BR" sz="2400" b="1" dirty="0" err="1"/>
              <a:t>class</a:t>
            </a:r>
            <a:r>
              <a:rPr lang="pt-BR" sz="2400" b="1" dirty="0"/>
              <a:t>=“</a:t>
            </a:r>
            <a:r>
              <a:rPr lang="pt-BR" sz="2400" b="1" dirty="0" err="1"/>
              <a:t>css_btao</a:t>
            </a:r>
            <a:r>
              <a:rPr lang="pt-BR" sz="2400" b="1" dirty="0"/>
              <a:t>”&gt; Clique Aqui &lt;/</a:t>
            </a:r>
            <a:r>
              <a:rPr lang="pt-BR" sz="2400" b="1" dirty="0" err="1"/>
              <a:t>button</a:t>
            </a:r>
            <a:r>
              <a:rPr lang="pt-BR" sz="2400" b="1" dirty="0"/>
              <a:t>&gt;</a:t>
            </a:r>
          </a:p>
        </p:txBody>
      </p:sp>
      <p:sp>
        <p:nvSpPr>
          <p:cNvPr id="3" name="Chave Esquerda 2"/>
          <p:cNvSpPr/>
          <p:nvPr/>
        </p:nvSpPr>
        <p:spPr>
          <a:xfrm rot="16200000">
            <a:off x="3938942" y="2393013"/>
            <a:ext cx="200281" cy="2185987"/>
          </a:xfrm>
          <a:prstGeom prst="leftBrace">
            <a:avLst>
              <a:gd name="adj1" fmla="val 64439"/>
              <a:gd name="adj2" fmla="val 50951"/>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4" name="Chave Esquerda 3"/>
          <p:cNvSpPr/>
          <p:nvPr/>
        </p:nvSpPr>
        <p:spPr>
          <a:xfrm rot="16200000">
            <a:off x="6435935" y="2275392"/>
            <a:ext cx="200282" cy="2421227"/>
          </a:xfrm>
          <a:prstGeom prst="leftBrace">
            <a:avLst>
              <a:gd name="adj1" fmla="val 64439"/>
              <a:gd name="adj2" fmla="val 50951"/>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5" name="Espaço Reservado para Conteúdo 2"/>
          <p:cNvSpPr txBox="1">
            <a:spLocks/>
          </p:cNvSpPr>
          <p:nvPr/>
        </p:nvSpPr>
        <p:spPr>
          <a:xfrm>
            <a:off x="1081059" y="5686156"/>
            <a:ext cx="2396983" cy="47518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2400" b="1" dirty="0" err="1"/>
              <a:t>tag</a:t>
            </a:r>
            <a:r>
              <a:rPr lang="pt-BR" sz="2400" b="1" dirty="0"/>
              <a:t> de abertura</a:t>
            </a:r>
          </a:p>
        </p:txBody>
      </p:sp>
      <p:sp>
        <p:nvSpPr>
          <p:cNvPr id="6" name="Espaço Reservado para Conteúdo 2"/>
          <p:cNvSpPr txBox="1">
            <a:spLocks/>
          </p:cNvSpPr>
          <p:nvPr/>
        </p:nvSpPr>
        <p:spPr>
          <a:xfrm>
            <a:off x="5482623" y="3908932"/>
            <a:ext cx="2678399" cy="1434578"/>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2400" b="1" dirty="0" err="1"/>
              <a:t>class</a:t>
            </a:r>
            <a:r>
              <a:rPr lang="pt-BR" sz="2400" dirty="0"/>
              <a:t> (identificador) é um atributo e “</a:t>
            </a:r>
            <a:r>
              <a:rPr lang="pt-BR" sz="2400" dirty="0" err="1"/>
              <a:t>css_btao</a:t>
            </a:r>
            <a:r>
              <a:rPr lang="pt-BR" sz="2400" dirty="0"/>
              <a:t>” é o parâmetro. </a:t>
            </a:r>
            <a:endParaRPr lang="pt-BR" sz="2400" b="1" dirty="0"/>
          </a:p>
        </p:txBody>
      </p:sp>
      <p:cxnSp>
        <p:nvCxnSpPr>
          <p:cNvPr id="8" name="Conector de Seta Reta 7"/>
          <p:cNvCxnSpPr>
            <a:stCxn id="5" idx="0"/>
          </p:cNvCxnSpPr>
          <p:nvPr/>
        </p:nvCxnSpPr>
        <p:spPr>
          <a:xfrm flipH="1" flipV="1">
            <a:off x="2274573" y="3385864"/>
            <a:ext cx="4978" cy="230029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Espaço Reservado para Conteúdo 2"/>
          <p:cNvSpPr txBox="1">
            <a:spLocks/>
          </p:cNvSpPr>
          <p:nvPr/>
        </p:nvSpPr>
        <p:spPr>
          <a:xfrm>
            <a:off x="2937500" y="4061332"/>
            <a:ext cx="2507964" cy="143457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2400" b="1" dirty="0"/>
              <a:t>id</a:t>
            </a:r>
            <a:r>
              <a:rPr lang="pt-BR" sz="2400" dirty="0"/>
              <a:t> (identificador) é um atributo e “</a:t>
            </a:r>
            <a:r>
              <a:rPr lang="pt-BR" sz="2400" dirty="0" err="1"/>
              <a:t>btao_login</a:t>
            </a:r>
            <a:r>
              <a:rPr lang="pt-BR" sz="2400" dirty="0"/>
              <a:t>” é o parâmetro. </a:t>
            </a:r>
            <a:endParaRPr lang="pt-BR" sz="2400" b="1" dirty="0"/>
          </a:p>
        </p:txBody>
      </p:sp>
      <p:sp>
        <p:nvSpPr>
          <p:cNvPr id="13" name="Espaço Reservado para Conteúdo 2"/>
          <p:cNvSpPr txBox="1">
            <a:spLocks/>
          </p:cNvSpPr>
          <p:nvPr/>
        </p:nvSpPr>
        <p:spPr>
          <a:xfrm>
            <a:off x="9103999" y="5686156"/>
            <a:ext cx="2943224" cy="47518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2400" b="1" dirty="0" err="1"/>
              <a:t>tag</a:t>
            </a:r>
            <a:r>
              <a:rPr lang="pt-BR" sz="2400" b="1" dirty="0"/>
              <a:t> de fechamento</a:t>
            </a:r>
          </a:p>
        </p:txBody>
      </p:sp>
      <p:cxnSp>
        <p:nvCxnSpPr>
          <p:cNvPr id="14" name="Conector de Seta Reta 13"/>
          <p:cNvCxnSpPr>
            <a:stCxn id="13" idx="0"/>
          </p:cNvCxnSpPr>
          <p:nvPr/>
        </p:nvCxnSpPr>
        <p:spPr>
          <a:xfrm flipV="1">
            <a:off x="10575611" y="3385864"/>
            <a:ext cx="9311" cy="230029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7" name="Espaço Reservado para Número de Slide 6"/>
          <p:cNvSpPr>
            <a:spLocks noGrp="1"/>
          </p:cNvSpPr>
          <p:nvPr>
            <p:ph type="sldNum" sz="quarter" idx="12"/>
          </p:nvPr>
        </p:nvSpPr>
        <p:spPr/>
        <p:txBody>
          <a:bodyPr/>
          <a:lstStyle/>
          <a:p>
            <a:fld id="{8256F83C-9D86-480B-90E0-0702DBEB9457}" type="slidenum">
              <a:rPr lang="pt-BR" smtClean="0"/>
              <a:t>27</a:t>
            </a:fld>
            <a:endParaRPr lang="pt-BR"/>
          </a:p>
        </p:txBody>
      </p:sp>
    </p:spTree>
    <p:extLst>
      <p:ext uri="{BB962C8B-B14F-4D97-AF65-F5344CB8AC3E}">
        <p14:creationId xmlns:p14="http://schemas.microsoft.com/office/powerpoint/2010/main" val="37216495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txBox="1">
            <a:spLocks/>
          </p:cNvSpPr>
          <p:nvPr/>
        </p:nvSpPr>
        <p:spPr>
          <a:xfrm>
            <a:off x="944487" y="1399390"/>
            <a:ext cx="5320208" cy="511256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pt-BR" b="1" dirty="0"/>
              <a:t>&lt;!DOCTYPE </a:t>
            </a:r>
            <a:r>
              <a:rPr lang="pt-BR" b="1" dirty="0" err="1"/>
              <a:t>html</a:t>
            </a:r>
            <a:r>
              <a:rPr lang="pt-BR" b="1" dirty="0"/>
              <a:t>&gt;</a:t>
            </a:r>
          </a:p>
          <a:p>
            <a:pPr marL="0" indent="0">
              <a:buFont typeface="Arial" panose="020B0604020202020204" pitchFamily="34" charset="0"/>
              <a:buNone/>
            </a:pPr>
            <a:r>
              <a:rPr lang="pt-BR" b="1" dirty="0"/>
              <a:t>&lt;</a:t>
            </a:r>
            <a:r>
              <a:rPr lang="pt-BR" b="1" dirty="0" err="1"/>
              <a:t>html</a:t>
            </a:r>
            <a:r>
              <a:rPr lang="pt-BR" b="1" dirty="0"/>
              <a:t>&gt;</a:t>
            </a:r>
          </a:p>
          <a:p>
            <a:pPr marL="0" indent="0">
              <a:buFont typeface="Arial" panose="020B0604020202020204" pitchFamily="34" charset="0"/>
              <a:buNone/>
            </a:pPr>
            <a:r>
              <a:rPr lang="pt-BR" b="1" dirty="0"/>
              <a:t>&lt;</a:t>
            </a:r>
            <a:r>
              <a:rPr lang="pt-BR" b="1" dirty="0" err="1"/>
              <a:t>head</a:t>
            </a:r>
            <a:r>
              <a:rPr lang="pt-BR" b="1" dirty="0"/>
              <a:t>&gt;</a:t>
            </a:r>
          </a:p>
          <a:p>
            <a:pPr marL="0" indent="0">
              <a:buFont typeface="Arial" panose="020B0604020202020204" pitchFamily="34" charset="0"/>
              <a:buNone/>
            </a:pPr>
            <a:endParaRPr lang="pt-BR" b="1" dirty="0"/>
          </a:p>
          <a:p>
            <a:pPr marL="0" indent="0">
              <a:buFont typeface="Arial" panose="020B0604020202020204" pitchFamily="34" charset="0"/>
              <a:buNone/>
            </a:pPr>
            <a:r>
              <a:rPr lang="pt-BR" b="1" dirty="0"/>
              <a:t>&lt;/</a:t>
            </a:r>
            <a:r>
              <a:rPr lang="pt-BR" b="1" dirty="0" err="1"/>
              <a:t>head</a:t>
            </a:r>
            <a:r>
              <a:rPr lang="pt-BR" b="1" dirty="0"/>
              <a:t>&gt;</a:t>
            </a:r>
          </a:p>
          <a:p>
            <a:pPr marL="0" indent="0">
              <a:buFont typeface="Arial" panose="020B0604020202020204" pitchFamily="34" charset="0"/>
              <a:buNone/>
            </a:pPr>
            <a:endParaRPr lang="pt-BR" b="1" dirty="0"/>
          </a:p>
          <a:p>
            <a:pPr marL="0" indent="0">
              <a:buFont typeface="Arial" panose="020B0604020202020204" pitchFamily="34" charset="0"/>
              <a:buNone/>
            </a:pPr>
            <a:r>
              <a:rPr lang="pt-BR" b="1" dirty="0"/>
              <a:t>&lt;</a:t>
            </a:r>
            <a:r>
              <a:rPr lang="pt-BR" b="1" dirty="0" err="1"/>
              <a:t>body</a:t>
            </a:r>
            <a:r>
              <a:rPr lang="pt-BR" b="1" dirty="0"/>
              <a:t>&gt;</a:t>
            </a:r>
          </a:p>
          <a:p>
            <a:pPr marL="0" indent="0">
              <a:buFont typeface="Arial" panose="020B0604020202020204" pitchFamily="34" charset="0"/>
              <a:buNone/>
            </a:pPr>
            <a:endParaRPr lang="pt-BR" b="1" dirty="0"/>
          </a:p>
          <a:p>
            <a:pPr marL="0" indent="0">
              <a:buFont typeface="Arial" panose="020B0604020202020204" pitchFamily="34" charset="0"/>
              <a:buNone/>
            </a:pPr>
            <a:r>
              <a:rPr lang="pt-BR" b="1" dirty="0"/>
              <a:t>&lt;/</a:t>
            </a:r>
            <a:r>
              <a:rPr lang="pt-BR" b="1" dirty="0" err="1"/>
              <a:t>body</a:t>
            </a:r>
            <a:r>
              <a:rPr lang="pt-BR" b="1" dirty="0"/>
              <a:t>&gt;</a:t>
            </a:r>
          </a:p>
          <a:p>
            <a:pPr marL="0" indent="0">
              <a:buFont typeface="Arial" panose="020B0604020202020204" pitchFamily="34" charset="0"/>
              <a:buNone/>
            </a:pPr>
            <a:r>
              <a:rPr lang="pt-BR" b="1" dirty="0"/>
              <a:t>&lt;/</a:t>
            </a:r>
            <a:r>
              <a:rPr lang="pt-BR" b="1" dirty="0" err="1"/>
              <a:t>html</a:t>
            </a:r>
            <a:r>
              <a:rPr lang="pt-BR" b="1" dirty="0"/>
              <a:t>&gt;</a:t>
            </a:r>
          </a:p>
        </p:txBody>
      </p:sp>
      <p:sp>
        <p:nvSpPr>
          <p:cNvPr id="4" name="Retângulo 3"/>
          <p:cNvSpPr/>
          <p:nvPr/>
        </p:nvSpPr>
        <p:spPr>
          <a:xfrm>
            <a:off x="792087" y="1823054"/>
            <a:ext cx="5328592" cy="4688904"/>
          </a:xfrm>
          <a:prstGeom prst="rect">
            <a:avLst/>
          </a:prstGeom>
          <a:noFill/>
          <a:ln w="76200">
            <a:solidFill>
              <a:srgbClr val="FF3300"/>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pt-BR" dirty="0"/>
          </a:p>
        </p:txBody>
      </p:sp>
      <p:sp>
        <p:nvSpPr>
          <p:cNvPr id="5" name="Retângulo 4"/>
          <p:cNvSpPr/>
          <p:nvPr/>
        </p:nvSpPr>
        <p:spPr>
          <a:xfrm>
            <a:off x="944487" y="2399686"/>
            <a:ext cx="5032176" cy="1584176"/>
          </a:xfrm>
          <a:prstGeom prst="rect">
            <a:avLst/>
          </a:prstGeom>
          <a:noFill/>
          <a:ln w="76200">
            <a:solidFill>
              <a:srgbClr val="00B0F0"/>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pt-BR" dirty="0"/>
          </a:p>
        </p:txBody>
      </p:sp>
      <p:sp>
        <p:nvSpPr>
          <p:cNvPr id="6" name="Retângulo 5"/>
          <p:cNvSpPr/>
          <p:nvPr/>
        </p:nvSpPr>
        <p:spPr>
          <a:xfrm>
            <a:off x="944487" y="4338714"/>
            <a:ext cx="5032176" cy="1631012"/>
          </a:xfrm>
          <a:prstGeom prst="rect">
            <a:avLst/>
          </a:prstGeom>
          <a:noFill/>
          <a:ln w="76200">
            <a:solidFill>
              <a:srgbClr val="00B050"/>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pt-BR" dirty="0"/>
          </a:p>
        </p:txBody>
      </p:sp>
      <p:sp>
        <p:nvSpPr>
          <p:cNvPr id="7" name="Retângulo 6"/>
          <p:cNvSpPr/>
          <p:nvPr/>
        </p:nvSpPr>
        <p:spPr>
          <a:xfrm>
            <a:off x="648071" y="1318998"/>
            <a:ext cx="5625008" cy="5382248"/>
          </a:xfrm>
          <a:prstGeom prst="rect">
            <a:avLst/>
          </a:prstGeom>
          <a:noFill/>
          <a:ln w="76200">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pt-BR" dirty="0"/>
          </a:p>
        </p:txBody>
      </p:sp>
      <p:sp>
        <p:nvSpPr>
          <p:cNvPr id="8" name="Texto Explicativo em Elipse 7"/>
          <p:cNvSpPr/>
          <p:nvPr/>
        </p:nvSpPr>
        <p:spPr>
          <a:xfrm>
            <a:off x="6696744" y="828232"/>
            <a:ext cx="5495256" cy="1083433"/>
          </a:xfrm>
          <a:prstGeom prst="wedgeEllipseCallout">
            <a:avLst>
              <a:gd name="adj1" fmla="val -95899"/>
              <a:gd name="adj2" fmla="val 12109"/>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r>
              <a:rPr lang="pt-BR" sz="1400" b="1" dirty="0">
                <a:solidFill>
                  <a:schemeClr val="bg1"/>
                </a:solidFill>
                <a:latin typeface="Arial" panose="020B0604020202020204" pitchFamily="34" charset="0"/>
                <a:cs typeface="Arial" panose="020B0604020202020204" pitchFamily="34" charset="0"/>
              </a:rPr>
              <a:t>O &lt;DOCTYPE </a:t>
            </a:r>
            <a:r>
              <a:rPr lang="pt-BR" sz="1400" b="1" dirty="0" err="1">
                <a:solidFill>
                  <a:schemeClr val="bg1"/>
                </a:solidFill>
                <a:latin typeface="Arial" panose="020B0604020202020204" pitchFamily="34" charset="0"/>
                <a:cs typeface="Arial" panose="020B0604020202020204" pitchFamily="34" charset="0"/>
              </a:rPr>
              <a:t>html</a:t>
            </a:r>
            <a:r>
              <a:rPr lang="pt-BR" sz="1400" b="1" dirty="0">
                <a:solidFill>
                  <a:schemeClr val="bg1"/>
                </a:solidFill>
                <a:latin typeface="Arial" panose="020B0604020202020204" pitchFamily="34" charset="0"/>
                <a:cs typeface="Arial" panose="020B0604020202020204" pitchFamily="34" charset="0"/>
              </a:rPr>
              <a:t>&gt; não é uma </a:t>
            </a:r>
            <a:r>
              <a:rPr lang="pt-BR" sz="1400" b="1" dirty="0" err="1">
                <a:solidFill>
                  <a:schemeClr val="bg1"/>
                </a:solidFill>
                <a:latin typeface="Arial" panose="020B0604020202020204" pitchFamily="34" charset="0"/>
                <a:cs typeface="Arial" panose="020B0604020202020204" pitchFamily="34" charset="0"/>
              </a:rPr>
              <a:t>tag</a:t>
            </a:r>
            <a:r>
              <a:rPr lang="pt-BR" sz="1400" b="1" dirty="0">
                <a:solidFill>
                  <a:schemeClr val="bg1"/>
                </a:solidFill>
                <a:latin typeface="Arial" panose="020B0604020202020204" pitchFamily="34" charset="0"/>
                <a:cs typeface="Arial" panose="020B0604020202020204" pitchFamily="34" charset="0"/>
              </a:rPr>
              <a:t> HTML. Aqui é informado para o navegador que o HTML usado é o 5</a:t>
            </a:r>
          </a:p>
        </p:txBody>
      </p:sp>
      <p:sp>
        <p:nvSpPr>
          <p:cNvPr id="9" name="Texto Explicativo em Elipse 8"/>
          <p:cNvSpPr/>
          <p:nvPr/>
        </p:nvSpPr>
        <p:spPr>
          <a:xfrm>
            <a:off x="6696744" y="1976977"/>
            <a:ext cx="5495256" cy="1096496"/>
          </a:xfrm>
          <a:prstGeom prst="wedgeEllipseCallout">
            <a:avLst>
              <a:gd name="adj1" fmla="val -62396"/>
              <a:gd name="adj2" fmla="val -54407"/>
            </a:avLst>
          </a:prstGeom>
          <a:solidFill>
            <a:srgbClr val="FF0000"/>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r>
              <a:rPr lang="pt-BR" sz="1400" b="1" dirty="0">
                <a:latin typeface="Arial" panose="020B0604020202020204" pitchFamily="34" charset="0"/>
                <a:cs typeface="Arial" panose="020B0604020202020204" pitchFamily="34" charset="0"/>
              </a:rPr>
              <a:t>É o elemento HTML onde toda a página será desenvolvida. Portanto, todas as outras tags devem estar aqui dentro.</a:t>
            </a:r>
            <a:endParaRPr lang="pt-BR" sz="1600" b="1" dirty="0">
              <a:latin typeface="Arial" panose="020B0604020202020204" pitchFamily="34" charset="0"/>
              <a:cs typeface="Arial" panose="020B0604020202020204" pitchFamily="34" charset="0"/>
            </a:endParaRPr>
          </a:p>
        </p:txBody>
      </p:sp>
      <p:sp>
        <p:nvSpPr>
          <p:cNvPr id="10" name="Texto Explicativo em Elipse 9"/>
          <p:cNvSpPr/>
          <p:nvPr/>
        </p:nvSpPr>
        <p:spPr>
          <a:xfrm>
            <a:off x="6696744" y="3151851"/>
            <a:ext cx="5495256" cy="1296144"/>
          </a:xfrm>
          <a:prstGeom prst="wedgeEllipseCallout">
            <a:avLst>
              <a:gd name="adj1" fmla="val -65262"/>
              <a:gd name="adj2" fmla="val -79603"/>
            </a:avLst>
          </a:prstGeom>
          <a:solidFill>
            <a:srgbClr val="00B0F0"/>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r>
              <a:rPr lang="pt-BR" sz="1400" b="1" dirty="0">
                <a:latin typeface="Arial" panose="020B0604020202020204" pitchFamily="34" charset="0"/>
                <a:cs typeface="Arial" panose="020B0604020202020204" pitchFamily="34" charset="0"/>
              </a:rPr>
              <a:t> É o elemento HEAD (cabeçalho) que compõe o topo dá página ou o cabeçalho. O conteúdo não aparece no browser, mas contém instruções sobre seu conteúdo e comportamento,</a:t>
            </a:r>
          </a:p>
        </p:txBody>
      </p:sp>
      <p:sp>
        <p:nvSpPr>
          <p:cNvPr id="11" name="Texto Explicativo em Elipse 10"/>
          <p:cNvSpPr/>
          <p:nvPr/>
        </p:nvSpPr>
        <p:spPr>
          <a:xfrm>
            <a:off x="6696744" y="4601854"/>
            <a:ext cx="5495256" cy="1028235"/>
          </a:xfrm>
          <a:prstGeom prst="wedgeEllipseCallout">
            <a:avLst>
              <a:gd name="adj1" fmla="val -64220"/>
              <a:gd name="adj2" fmla="val -50376"/>
            </a:avLst>
          </a:prstGeom>
          <a:solidFill>
            <a:srgbClr val="00B050"/>
          </a:solidFill>
          <a:ln>
            <a:solidFill>
              <a:srgbClr val="00B050"/>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pt-BR" sz="1400" b="1" dirty="0">
                <a:latin typeface="Arial" panose="020B0604020202020204" pitchFamily="34" charset="0"/>
                <a:cs typeface="Arial" panose="020B0604020202020204" pitchFamily="34" charset="0"/>
              </a:rPr>
              <a:t>O elemento BODY (corpo) compreende toda a área onde irá aparecer o conteúdo visual da página.</a:t>
            </a:r>
          </a:p>
        </p:txBody>
      </p:sp>
      <p:sp>
        <p:nvSpPr>
          <p:cNvPr id="12" name="Título 1"/>
          <p:cNvSpPr txBox="1">
            <a:spLocks/>
          </p:cNvSpPr>
          <p:nvPr/>
        </p:nvSpPr>
        <p:spPr>
          <a:xfrm>
            <a:off x="585787" y="363850"/>
            <a:ext cx="10974841" cy="671736"/>
          </a:xfrm>
          <a:prstGeom prst="rect">
            <a:avLst/>
          </a:prstGeom>
        </p:spPr>
        <p:txBody>
          <a:bodyPr>
            <a:noAutofit/>
          </a:bodyPr>
          <a:lstStyle>
            <a:lvl1pPr algn="l" defTabSz="914400" rtl="0" eaLnBrk="1" latinLnBrk="0" hangingPunct="1">
              <a:lnSpc>
                <a:spcPct val="90000"/>
              </a:lnSpc>
              <a:spcBef>
                <a:spcPct val="0"/>
              </a:spcBef>
              <a:buNone/>
              <a:defRPr sz="4400" b="1" kern="1200">
                <a:solidFill>
                  <a:srgbClr val="1B4572"/>
                </a:solidFill>
                <a:latin typeface="Arial" panose="020B0604020202020204" pitchFamily="34" charset="0"/>
                <a:ea typeface="+mj-ea"/>
                <a:cs typeface="Arial" panose="020B0604020202020204" pitchFamily="34" charset="0"/>
              </a:defRPr>
            </a:lvl1pPr>
          </a:lstStyle>
          <a:p>
            <a:pPr algn="ctr"/>
            <a:r>
              <a:rPr lang="pt-BR" sz="3200" dirty="0"/>
              <a:t>Estrutura de um arquivo HTML</a:t>
            </a:r>
          </a:p>
        </p:txBody>
      </p:sp>
      <p:sp>
        <p:nvSpPr>
          <p:cNvPr id="13" name="Retângulo 12"/>
          <p:cNvSpPr/>
          <p:nvPr/>
        </p:nvSpPr>
        <p:spPr>
          <a:xfrm>
            <a:off x="6464991" y="5943599"/>
            <a:ext cx="5622505" cy="613954"/>
          </a:xfrm>
          <a:prstGeom prst="rect">
            <a:avLst/>
          </a:prstGeom>
          <a:solidFill>
            <a:srgbClr val="FFFF00"/>
          </a:solidFill>
          <a:ln>
            <a:solidFill>
              <a:srgbClr val="FFFF00"/>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pt-BR" sz="2000" b="1" dirty="0">
                <a:solidFill>
                  <a:srgbClr val="FF3300"/>
                </a:solidFill>
                <a:latin typeface="Arial" panose="020B0604020202020204" pitchFamily="34" charset="0"/>
                <a:cs typeface="Arial" panose="020B0604020202020204" pitchFamily="34" charset="0"/>
              </a:rPr>
              <a:t>Comentários num documento HTML</a:t>
            </a:r>
          </a:p>
          <a:p>
            <a:pPr algn="ctr"/>
            <a:r>
              <a:rPr lang="pt-BR" sz="2000" b="1" dirty="0">
                <a:solidFill>
                  <a:srgbClr val="FF3300"/>
                </a:solidFill>
                <a:latin typeface="Arial" panose="020B0604020202020204" pitchFamily="34" charset="0"/>
                <a:cs typeface="Arial" panose="020B0604020202020204" pitchFamily="34" charset="0"/>
              </a:rPr>
              <a:t>&lt;!-- aqui vem o comentário --&gt;</a:t>
            </a:r>
          </a:p>
        </p:txBody>
      </p:sp>
      <p:sp>
        <p:nvSpPr>
          <p:cNvPr id="2" name="Espaço Reservado para Número de Slide 1"/>
          <p:cNvSpPr>
            <a:spLocks noGrp="1"/>
          </p:cNvSpPr>
          <p:nvPr>
            <p:ph type="sldNum" sz="quarter" idx="12"/>
          </p:nvPr>
        </p:nvSpPr>
        <p:spPr/>
        <p:txBody>
          <a:bodyPr/>
          <a:lstStyle/>
          <a:p>
            <a:fld id="{8256F83C-9D86-480B-90E0-0702DBEB9457}" type="slidenum">
              <a:rPr lang="pt-BR" smtClean="0"/>
              <a:t>28</a:t>
            </a:fld>
            <a:endParaRPr lang="pt-BR"/>
          </a:p>
        </p:txBody>
      </p:sp>
    </p:spTree>
    <p:extLst>
      <p:ext uri="{BB962C8B-B14F-4D97-AF65-F5344CB8AC3E}">
        <p14:creationId xmlns:p14="http://schemas.microsoft.com/office/powerpoint/2010/main" val="31843120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732355" y="381000"/>
            <a:ext cx="11377263" cy="599728"/>
          </a:xfrm>
          <a:prstGeom prst="rect">
            <a:avLst/>
          </a:prstGeom>
        </p:spPr>
        <p:txBody>
          <a:bodyPr/>
          <a:lstStyle>
            <a:lvl1pPr algn="l" defTabSz="914400" rtl="0" eaLnBrk="1" latinLnBrk="0" hangingPunct="1">
              <a:lnSpc>
                <a:spcPct val="90000"/>
              </a:lnSpc>
              <a:spcBef>
                <a:spcPct val="0"/>
              </a:spcBef>
              <a:buNone/>
              <a:defRPr sz="4400" b="1" kern="1200">
                <a:solidFill>
                  <a:srgbClr val="1B4572"/>
                </a:solidFill>
                <a:latin typeface="Arial" panose="020B0604020202020204" pitchFamily="34" charset="0"/>
                <a:ea typeface="+mj-ea"/>
                <a:cs typeface="Arial" panose="020B0604020202020204" pitchFamily="34" charset="0"/>
              </a:defRPr>
            </a:lvl1pPr>
          </a:lstStyle>
          <a:p>
            <a:pPr algn="ctr"/>
            <a:r>
              <a:rPr lang="pt-BR" sz="3200" dirty="0">
                <a:solidFill>
                  <a:schemeClr val="accent1">
                    <a:lumMod val="50000"/>
                  </a:schemeClr>
                </a:solidFill>
              </a:rPr>
              <a:t>Estruturando o conteúdo na página web</a:t>
            </a:r>
          </a:p>
        </p:txBody>
      </p:sp>
      <p:sp>
        <p:nvSpPr>
          <p:cNvPr id="4" name="Espaço Reservado para Conteúdo 2"/>
          <p:cNvSpPr txBox="1">
            <a:spLocks/>
          </p:cNvSpPr>
          <p:nvPr/>
        </p:nvSpPr>
        <p:spPr>
          <a:xfrm>
            <a:off x="732355" y="1328385"/>
            <a:ext cx="11357544" cy="192881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2400" b="1" dirty="0"/>
              <a:t>1º) </a:t>
            </a:r>
            <a:r>
              <a:rPr lang="pt-BR" sz="2400" dirty="0"/>
              <a:t>Elemento </a:t>
            </a:r>
            <a:r>
              <a:rPr lang="pt-BR" sz="2400" b="1" dirty="0"/>
              <a:t>&lt;</a:t>
            </a:r>
            <a:r>
              <a:rPr lang="pt-BR" sz="2400" b="1" dirty="0" err="1"/>
              <a:t>div</a:t>
            </a:r>
            <a:r>
              <a:rPr lang="pt-BR" sz="2400" b="1" dirty="0"/>
              <a:t>&gt;</a:t>
            </a:r>
            <a:r>
              <a:rPr lang="pt-BR" sz="2400" dirty="0"/>
              <a:t>: este elemento separa a página web em divisões ou seções. Cada divisão permite agrupar diversos elementos HTML, como por exemplo: texto, imagens, formulários, etc.. Além disso, quando utilizarmos CSS, poderá criar um estilo para cada divisão. Este elemento é dupla </a:t>
            </a:r>
            <a:r>
              <a:rPr lang="pt-BR" sz="2400" dirty="0" err="1"/>
              <a:t>tag</a:t>
            </a:r>
            <a:r>
              <a:rPr lang="pt-BR" sz="2400" dirty="0"/>
              <a:t> </a:t>
            </a:r>
            <a:r>
              <a:rPr lang="pt-BR" sz="2400" b="1" dirty="0"/>
              <a:t>&lt;</a:t>
            </a:r>
            <a:r>
              <a:rPr lang="pt-BR" sz="2400" b="1" dirty="0" err="1"/>
              <a:t>div</a:t>
            </a:r>
            <a:r>
              <a:rPr lang="pt-BR" sz="2400" b="1" dirty="0"/>
              <a:t>&gt; &lt;/</a:t>
            </a:r>
            <a:r>
              <a:rPr lang="pt-BR" sz="2400" b="1" dirty="0" err="1"/>
              <a:t>div</a:t>
            </a:r>
            <a:r>
              <a:rPr lang="pt-BR" sz="2400" b="1" dirty="0"/>
              <a:t>&gt;.</a:t>
            </a:r>
          </a:p>
          <a:p>
            <a:pPr marL="0" indent="0" algn="just">
              <a:buNone/>
            </a:pPr>
            <a:r>
              <a:rPr lang="pt-BR" sz="2400" dirty="0"/>
              <a:t>O elemento </a:t>
            </a:r>
            <a:r>
              <a:rPr lang="pt-BR" sz="2400" dirty="0" err="1"/>
              <a:t>div</a:t>
            </a:r>
            <a:r>
              <a:rPr lang="pt-BR" sz="2400" dirty="0"/>
              <a:t> possui alguns atributos, são eles:</a:t>
            </a:r>
          </a:p>
          <a:p>
            <a:pPr marL="0" indent="0" algn="just">
              <a:buNone/>
            </a:pPr>
            <a:endParaRPr lang="pt-BR" sz="2000" dirty="0"/>
          </a:p>
        </p:txBody>
      </p:sp>
      <p:sp>
        <p:nvSpPr>
          <p:cNvPr id="6" name="Espaço Reservado para Conteúdo 2"/>
          <p:cNvSpPr txBox="1">
            <a:spLocks/>
          </p:cNvSpPr>
          <p:nvPr/>
        </p:nvSpPr>
        <p:spPr>
          <a:xfrm>
            <a:off x="732355" y="866424"/>
            <a:ext cx="11357544" cy="547688"/>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2600" b="1" dirty="0"/>
              <a:t>Uma página web pode ser estruturada usando alguns elementos, tais como:</a:t>
            </a:r>
          </a:p>
          <a:p>
            <a:pPr marL="0" indent="0" algn="just">
              <a:buNone/>
            </a:pPr>
            <a:endParaRPr lang="pt-BR" sz="2400" dirty="0"/>
          </a:p>
        </p:txBody>
      </p:sp>
      <p:graphicFrame>
        <p:nvGraphicFramePr>
          <p:cNvPr id="7" name="Tabela 6"/>
          <p:cNvGraphicFramePr>
            <a:graphicFrameLocks noGrp="1"/>
          </p:cNvGraphicFramePr>
          <p:nvPr>
            <p:extLst>
              <p:ext uri="{D42A27DB-BD31-4B8C-83A1-F6EECF244321}">
                <p14:modId xmlns:p14="http://schemas.microsoft.com/office/powerpoint/2010/main" val="4053276563"/>
              </p:ext>
            </p:extLst>
          </p:nvPr>
        </p:nvGraphicFramePr>
        <p:xfrm>
          <a:off x="855451" y="3220909"/>
          <a:ext cx="11244308" cy="3444240"/>
        </p:xfrm>
        <a:graphic>
          <a:graphicData uri="http://schemas.openxmlformats.org/drawingml/2006/table">
            <a:tbl>
              <a:tblPr firstRow="1" bandRow="1">
                <a:tableStyleId>{5C22544A-7EE6-4342-B048-85BDC9FD1C3A}</a:tableStyleId>
              </a:tblPr>
              <a:tblGrid>
                <a:gridCol w="1625601">
                  <a:extLst>
                    <a:ext uri="{9D8B030D-6E8A-4147-A177-3AD203B41FA5}">
                      <a16:colId xmlns:a16="http://schemas.microsoft.com/office/drawing/2014/main" val="1457849406"/>
                    </a:ext>
                  </a:extLst>
                </a:gridCol>
                <a:gridCol w="2717561">
                  <a:extLst>
                    <a:ext uri="{9D8B030D-6E8A-4147-A177-3AD203B41FA5}">
                      <a16:colId xmlns:a16="http://schemas.microsoft.com/office/drawing/2014/main" val="2182552226"/>
                    </a:ext>
                  </a:extLst>
                </a:gridCol>
                <a:gridCol w="6901146">
                  <a:extLst>
                    <a:ext uri="{9D8B030D-6E8A-4147-A177-3AD203B41FA5}">
                      <a16:colId xmlns:a16="http://schemas.microsoft.com/office/drawing/2014/main" val="2633749603"/>
                    </a:ext>
                  </a:extLst>
                </a:gridCol>
              </a:tblGrid>
              <a:tr h="370840">
                <a:tc>
                  <a:txBody>
                    <a:bodyPr/>
                    <a:lstStyle/>
                    <a:p>
                      <a:pPr algn="ctr"/>
                      <a:r>
                        <a:rPr lang="pt-BR" sz="2400" dirty="0">
                          <a:solidFill>
                            <a:schemeClr val="accent1">
                              <a:lumMod val="50000"/>
                            </a:schemeClr>
                          </a:solidFill>
                          <a:latin typeface="Arial" panose="020B0604020202020204" pitchFamily="34" charset="0"/>
                          <a:cs typeface="Arial" panose="020B0604020202020204" pitchFamily="34" charset="0"/>
                        </a:rPr>
                        <a:t>Atributo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sz="2400" dirty="0">
                          <a:solidFill>
                            <a:schemeClr val="accent1">
                              <a:lumMod val="50000"/>
                            </a:schemeClr>
                          </a:solidFill>
                          <a:latin typeface="Arial" panose="020B0604020202020204" pitchFamily="34" charset="0"/>
                          <a:cs typeface="Arial" panose="020B0604020202020204" pitchFamily="34" charset="0"/>
                        </a:rPr>
                        <a:t>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sz="2400" dirty="0">
                          <a:solidFill>
                            <a:schemeClr val="accent1">
                              <a:lumMod val="50000"/>
                            </a:schemeClr>
                          </a:solidFill>
                          <a:latin typeface="Arial" panose="020B0604020202020204" pitchFamily="34" charset="0"/>
                          <a:cs typeface="Arial" panose="020B0604020202020204" pitchFamily="34" charset="0"/>
                        </a:rPr>
                        <a:t>Descrição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9383599"/>
                  </a:ext>
                </a:extLst>
              </a:tr>
              <a:tr h="370840">
                <a:tc>
                  <a:txBody>
                    <a:bodyPr/>
                    <a:lstStyle/>
                    <a:p>
                      <a:pPr algn="ctr"/>
                      <a:r>
                        <a:rPr lang="pt-BR" sz="2000" b="1" dirty="0" err="1">
                          <a:solidFill>
                            <a:schemeClr val="accent1">
                              <a:lumMod val="50000"/>
                            </a:schemeClr>
                          </a:solidFill>
                          <a:latin typeface="Arial" panose="020B0604020202020204" pitchFamily="34" charset="0"/>
                          <a:cs typeface="Arial" panose="020B0604020202020204" pitchFamily="34" charset="0"/>
                        </a:rPr>
                        <a:t>class</a:t>
                      </a:r>
                      <a:endParaRPr lang="pt-BR" sz="2000" b="1" dirty="0">
                        <a:solidFill>
                          <a:schemeClr val="accent1">
                            <a:lumMod val="5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sz="2000" b="1" dirty="0">
                          <a:solidFill>
                            <a:schemeClr val="accent1">
                              <a:lumMod val="50000"/>
                            </a:schemeClr>
                          </a:solidFill>
                          <a:latin typeface="Arial" panose="020B0604020202020204" pitchFamily="34" charset="0"/>
                          <a:cs typeface="Arial" panose="020B0604020202020204" pitchFamily="34" charset="0"/>
                        </a:rPr>
                        <a:t>Nome da classe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sz="2000" dirty="0">
                          <a:solidFill>
                            <a:schemeClr val="accent1">
                              <a:lumMod val="50000"/>
                            </a:schemeClr>
                          </a:solidFill>
                          <a:latin typeface="Arial" panose="020B0604020202020204" pitchFamily="34" charset="0"/>
                          <a:cs typeface="Arial" panose="020B0604020202020204" pitchFamily="34" charset="0"/>
                        </a:rPr>
                        <a:t>Define</a:t>
                      </a:r>
                      <a:r>
                        <a:rPr lang="pt-BR" sz="2000" baseline="0" dirty="0">
                          <a:solidFill>
                            <a:schemeClr val="accent1">
                              <a:lumMod val="50000"/>
                            </a:schemeClr>
                          </a:solidFill>
                          <a:latin typeface="Arial" panose="020B0604020202020204" pitchFamily="34" charset="0"/>
                          <a:cs typeface="Arial" panose="020B0604020202020204" pitchFamily="34" charset="0"/>
                        </a:rPr>
                        <a:t> uma classe para o elemento (CSS)</a:t>
                      </a:r>
                      <a:endParaRPr lang="pt-BR" sz="2000" dirty="0">
                        <a:solidFill>
                          <a:schemeClr val="accent1">
                            <a:lumMod val="5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814028"/>
                  </a:ext>
                </a:extLst>
              </a:tr>
              <a:tr h="370840">
                <a:tc>
                  <a:txBody>
                    <a:bodyPr/>
                    <a:lstStyle/>
                    <a:p>
                      <a:pPr algn="ctr"/>
                      <a:r>
                        <a:rPr lang="pt-BR" sz="2000" b="1" dirty="0">
                          <a:solidFill>
                            <a:schemeClr val="accent1">
                              <a:lumMod val="50000"/>
                            </a:schemeClr>
                          </a:solidFill>
                          <a:latin typeface="Arial" panose="020B0604020202020204" pitchFamily="34" charset="0"/>
                          <a:cs typeface="Arial" panose="020B0604020202020204" pitchFamily="34" charset="0"/>
                        </a:rPr>
                        <a:t>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sz="2000" b="1" dirty="0">
                          <a:solidFill>
                            <a:schemeClr val="accent1">
                              <a:lumMod val="50000"/>
                            </a:schemeClr>
                          </a:solidFill>
                          <a:latin typeface="Arial" panose="020B0604020202020204" pitchFamily="34" charset="0"/>
                          <a:cs typeface="Arial" panose="020B0604020202020204" pitchFamily="34" charset="0"/>
                        </a:rPr>
                        <a:t>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sz="2000" dirty="0">
                          <a:solidFill>
                            <a:schemeClr val="accent1">
                              <a:lumMod val="50000"/>
                            </a:schemeClr>
                          </a:solidFill>
                          <a:latin typeface="Arial" panose="020B0604020202020204" pitchFamily="34" charset="0"/>
                          <a:cs typeface="Arial" panose="020B0604020202020204" pitchFamily="34" charset="0"/>
                        </a:rPr>
                        <a:t>Define um identificador (id) para o elemento.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3694714"/>
                  </a:ext>
                </a:extLst>
              </a:tr>
              <a:tr h="370840">
                <a:tc>
                  <a:txBody>
                    <a:bodyPr/>
                    <a:lstStyle/>
                    <a:p>
                      <a:pPr algn="ctr"/>
                      <a:r>
                        <a:rPr lang="pt-BR" sz="2000" b="1" dirty="0" err="1">
                          <a:solidFill>
                            <a:schemeClr val="accent1">
                              <a:lumMod val="50000"/>
                            </a:schemeClr>
                          </a:solidFill>
                          <a:latin typeface="Arial" panose="020B0604020202020204" pitchFamily="34" charset="0"/>
                          <a:cs typeface="Arial" panose="020B0604020202020204" pitchFamily="34" charset="0"/>
                        </a:rPr>
                        <a:t>lang</a:t>
                      </a:r>
                      <a:endParaRPr lang="pt-BR" sz="2000" b="1" dirty="0">
                        <a:solidFill>
                          <a:schemeClr val="accent1">
                            <a:lumMod val="5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sz="2000" b="1" dirty="0">
                          <a:solidFill>
                            <a:schemeClr val="accent1">
                              <a:lumMod val="50000"/>
                            </a:schemeClr>
                          </a:solidFill>
                          <a:latin typeface="Arial" panose="020B0604020202020204" pitchFamily="34" charset="0"/>
                          <a:cs typeface="Arial" panose="020B0604020202020204" pitchFamily="34" charset="0"/>
                        </a:rPr>
                        <a:t>Linguagem preferencial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sz="2000" dirty="0">
                          <a:solidFill>
                            <a:schemeClr val="accent1">
                              <a:lumMod val="50000"/>
                            </a:schemeClr>
                          </a:solidFill>
                          <a:latin typeface="Arial" panose="020B0604020202020204" pitchFamily="34" charset="0"/>
                          <a:cs typeface="Arial" panose="020B0604020202020204" pitchFamily="34" charset="0"/>
                        </a:rPr>
                        <a:t>Define</a:t>
                      </a:r>
                      <a:r>
                        <a:rPr lang="pt-BR" sz="2000" baseline="0" dirty="0">
                          <a:solidFill>
                            <a:schemeClr val="accent1">
                              <a:lumMod val="50000"/>
                            </a:schemeClr>
                          </a:solidFill>
                          <a:latin typeface="Arial" panose="020B0604020202020204" pitchFamily="34" charset="0"/>
                          <a:cs typeface="Arial" panose="020B0604020202020204" pitchFamily="34" charset="0"/>
                        </a:rPr>
                        <a:t> a linguagem que será usada. No caso do português, usa-se </a:t>
                      </a:r>
                      <a:r>
                        <a:rPr lang="pt-BR" sz="2000" baseline="0" dirty="0" err="1">
                          <a:solidFill>
                            <a:schemeClr val="accent1">
                              <a:lumMod val="50000"/>
                            </a:schemeClr>
                          </a:solidFill>
                          <a:latin typeface="Arial" panose="020B0604020202020204" pitchFamily="34" charset="0"/>
                          <a:cs typeface="Arial" panose="020B0604020202020204" pitchFamily="34" charset="0"/>
                        </a:rPr>
                        <a:t>lang</a:t>
                      </a:r>
                      <a:r>
                        <a:rPr lang="pt-BR" sz="2000" baseline="0" dirty="0">
                          <a:solidFill>
                            <a:schemeClr val="accent1">
                              <a:lumMod val="50000"/>
                            </a:schemeClr>
                          </a:solidFill>
                          <a:latin typeface="Arial" panose="020B0604020202020204" pitchFamily="34" charset="0"/>
                          <a:cs typeface="Arial" panose="020B0604020202020204" pitchFamily="34" charset="0"/>
                        </a:rPr>
                        <a:t>=“</a:t>
                      </a:r>
                      <a:r>
                        <a:rPr lang="pt-BR" sz="2000" baseline="0" dirty="0" err="1">
                          <a:solidFill>
                            <a:schemeClr val="accent1">
                              <a:lumMod val="50000"/>
                            </a:schemeClr>
                          </a:solidFill>
                          <a:latin typeface="Arial" panose="020B0604020202020204" pitchFamily="34" charset="0"/>
                          <a:cs typeface="Arial" panose="020B0604020202020204" pitchFamily="34" charset="0"/>
                        </a:rPr>
                        <a:t>pt-br</a:t>
                      </a:r>
                      <a:r>
                        <a:rPr lang="pt-BR" sz="2000" baseline="0" dirty="0">
                          <a:solidFill>
                            <a:schemeClr val="accent1">
                              <a:lumMod val="50000"/>
                            </a:schemeClr>
                          </a:solidFill>
                          <a:latin typeface="Arial" panose="020B0604020202020204" pitchFamily="34" charset="0"/>
                          <a:cs typeface="Arial" panose="020B0604020202020204" pitchFamily="34" charset="0"/>
                        </a:rPr>
                        <a:t>”.</a:t>
                      </a:r>
                      <a:endParaRPr lang="pt-BR" sz="2000" dirty="0">
                        <a:solidFill>
                          <a:schemeClr val="accent1">
                            <a:lumMod val="5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7140175"/>
                  </a:ext>
                </a:extLst>
              </a:tr>
              <a:tr h="370840">
                <a:tc>
                  <a:txBody>
                    <a:bodyPr/>
                    <a:lstStyle/>
                    <a:p>
                      <a:pPr algn="ctr"/>
                      <a:r>
                        <a:rPr lang="pt-BR" sz="2000" b="1" dirty="0" err="1">
                          <a:solidFill>
                            <a:schemeClr val="accent1">
                              <a:lumMod val="50000"/>
                            </a:schemeClr>
                          </a:solidFill>
                          <a:latin typeface="Arial" panose="020B0604020202020204" pitchFamily="34" charset="0"/>
                          <a:cs typeface="Arial" panose="020B0604020202020204" pitchFamily="34" charset="0"/>
                        </a:rPr>
                        <a:t>tittle</a:t>
                      </a:r>
                      <a:endParaRPr lang="pt-BR" sz="2000" b="1" dirty="0">
                        <a:solidFill>
                          <a:schemeClr val="accent1">
                            <a:lumMod val="5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sz="2000" b="1" dirty="0">
                          <a:solidFill>
                            <a:schemeClr val="accent1">
                              <a:lumMod val="50000"/>
                            </a:schemeClr>
                          </a:solidFill>
                          <a:latin typeface="Arial" panose="020B0604020202020204" pitchFamily="34" charset="0"/>
                          <a:cs typeface="Arial" panose="020B0604020202020204" pitchFamily="34" charset="0"/>
                        </a:rPr>
                        <a:t>Texto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sz="2000" dirty="0">
                          <a:solidFill>
                            <a:schemeClr val="accent1">
                              <a:lumMod val="50000"/>
                            </a:schemeClr>
                          </a:solidFill>
                          <a:latin typeface="Arial" panose="020B0604020202020204" pitchFamily="34" charset="0"/>
                          <a:cs typeface="Arial" panose="020B0604020202020204" pitchFamily="34" charset="0"/>
                        </a:rPr>
                        <a:t>Informação adicional</a:t>
                      </a:r>
                      <a:r>
                        <a:rPr lang="pt-BR" sz="2000" baseline="0" dirty="0">
                          <a:solidFill>
                            <a:schemeClr val="accent1">
                              <a:lumMod val="50000"/>
                            </a:schemeClr>
                          </a:solidFill>
                          <a:latin typeface="Arial" panose="020B0604020202020204" pitchFamily="34" charset="0"/>
                          <a:cs typeface="Arial" panose="020B0604020202020204" pitchFamily="34" charset="0"/>
                        </a:rPr>
                        <a:t> ao elemento.</a:t>
                      </a:r>
                      <a:endParaRPr lang="pt-BR" sz="2000" dirty="0">
                        <a:solidFill>
                          <a:schemeClr val="accent1">
                            <a:lumMod val="5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48766291"/>
                  </a:ext>
                </a:extLst>
              </a:tr>
              <a:tr h="370840">
                <a:tc>
                  <a:txBody>
                    <a:bodyPr/>
                    <a:lstStyle/>
                    <a:p>
                      <a:pPr algn="ctr"/>
                      <a:r>
                        <a:rPr lang="pt-BR" sz="2000" b="1" dirty="0" err="1">
                          <a:solidFill>
                            <a:schemeClr val="accent1">
                              <a:lumMod val="50000"/>
                            </a:schemeClr>
                          </a:solidFill>
                          <a:latin typeface="Arial" panose="020B0604020202020204" pitchFamily="34" charset="0"/>
                          <a:cs typeface="Arial" panose="020B0604020202020204" pitchFamily="34" charset="0"/>
                        </a:rPr>
                        <a:t>dir</a:t>
                      </a:r>
                      <a:endParaRPr lang="pt-BR" sz="2000" b="1" dirty="0">
                        <a:solidFill>
                          <a:schemeClr val="accent1">
                            <a:lumMod val="5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sz="2000" b="1" dirty="0" err="1">
                          <a:solidFill>
                            <a:schemeClr val="accent1">
                              <a:lumMod val="50000"/>
                            </a:schemeClr>
                          </a:solidFill>
                          <a:latin typeface="Arial" panose="020B0604020202020204" pitchFamily="34" charset="0"/>
                          <a:cs typeface="Arial" panose="020B0604020202020204" pitchFamily="34" charset="0"/>
                        </a:rPr>
                        <a:t>Ltr</a:t>
                      </a:r>
                      <a:r>
                        <a:rPr lang="pt-BR" sz="2000" b="1" dirty="0">
                          <a:solidFill>
                            <a:schemeClr val="accent1">
                              <a:lumMod val="50000"/>
                            </a:schemeClr>
                          </a:solidFill>
                          <a:latin typeface="Arial" panose="020B0604020202020204" pitchFamily="34" charset="0"/>
                          <a:cs typeface="Arial" panose="020B0604020202020204" pitchFamily="34" charset="0"/>
                        </a:rPr>
                        <a:t> ou </a:t>
                      </a:r>
                      <a:r>
                        <a:rPr lang="pt-BR" sz="2000" b="1" dirty="0" err="1">
                          <a:solidFill>
                            <a:schemeClr val="accent1">
                              <a:lumMod val="50000"/>
                            </a:schemeClr>
                          </a:solidFill>
                          <a:latin typeface="Arial" panose="020B0604020202020204" pitchFamily="34" charset="0"/>
                          <a:cs typeface="Arial" panose="020B0604020202020204" pitchFamily="34" charset="0"/>
                        </a:rPr>
                        <a:t>rtl</a:t>
                      </a:r>
                      <a:endParaRPr lang="pt-BR" sz="2000" b="1" dirty="0">
                        <a:solidFill>
                          <a:schemeClr val="accent1">
                            <a:lumMod val="5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sz="2000" dirty="0">
                          <a:solidFill>
                            <a:schemeClr val="accent1">
                              <a:lumMod val="50000"/>
                            </a:schemeClr>
                          </a:solidFill>
                          <a:latin typeface="Arial" panose="020B0604020202020204" pitchFamily="34" charset="0"/>
                          <a:cs typeface="Arial" panose="020B0604020202020204" pitchFamily="34" charset="0"/>
                        </a:rPr>
                        <a:t>Define o sentido de leitura, da esquerda</a:t>
                      </a:r>
                      <a:r>
                        <a:rPr lang="pt-BR" sz="2000" baseline="0" dirty="0">
                          <a:solidFill>
                            <a:schemeClr val="accent1">
                              <a:lumMod val="50000"/>
                            </a:schemeClr>
                          </a:solidFill>
                          <a:latin typeface="Arial" panose="020B0604020202020204" pitchFamily="34" charset="0"/>
                          <a:cs typeface="Arial" panose="020B0604020202020204" pitchFamily="34" charset="0"/>
                        </a:rPr>
                        <a:t> para direita (</a:t>
                      </a:r>
                      <a:r>
                        <a:rPr lang="pt-BR" sz="2000" baseline="0" dirty="0" err="1">
                          <a:solidFill>
                            <a:schemeClr val="accent1">
                              <a:lumMod val="50000"/>
                            </a:schemeClr>
                          </a:solidFill>
                          <a:latin typeface="Arial" panose="020B0604020202020204" pitchFamily="34" charset="0"/>
                          <a:cs typeface="Arial" panose="020B0604020202020204" pitchFamily="34" charset="0"/>
                        </a:rPr>
                        <a:t>ltr-left</a:t>
                      </a:r>
                      <a:r>
                        <a:rPr lang="pt-BR" sz="2000" baseline="0" dirty="0">
                          <a:solidFill>
                            <a:schemeClr val="accent1">
                              <a:lumMod val="50000"/>
                            </a:schemeClr>
                          </a:solidFill>
                          <a:latin typeface="Arial" panose="020B0604020202020204" pitchFamily="34" charset="0"/>
                          <a:cs typeface="Arial" panose="020B0604020202020204" pitchFamily="34" charset="0"/>
                        </a:rPr>
                        <a:t> </a:t>
                      </a:r>
                      <a:r>
                        <a:rPr lang="pt-BR" sz="2000" baseline="0" dirty="0" err="1">
                          <a:solidFill>
                            <a:schemeClr val="accent1">
                              <a:lumMod val="50000"/>
                            </a:schemeClr>
                          </a:solidFill>
                          <a:latin typeface="Arial" panose="020B0604020202020204" pitchFamily="34" charset="0"/>
                          <a:cs typeface="Arial" panose="020B0604020202020204" pitchFamily="34" charset="0"/>
                        </a:rPr>
                        <a:t>to</a:t>
                      </a:r>
                      <a:r>
                        <a:rPr lang="pt-BR" sz="2000" baseline="0" dirty="0">
                          <a:solidFill>
                            <a:schemeClr val="accent1">
                              <a:lumMod val="50000"/>
                            </a:schemeClr>
                          </a:solidFill>
                          <a:latin typeface="Arial" panose="020B0604020202020204" pitchFamily="34" charset="0"/>
                          <a:cs typeface="Arial" panose="020B0604020202020204" pitchFamily="34" charset="0"/>
                        </a:rPr>
                        <a:t> </a:t>
                      </a:r>
                      <a:r>
                        <a:rPr lang="pt-BR" sz="2000" baseline="0" dirty="0" err="1">
                          <a:solidFill>
                            <a:schemeClr val="accent1">
                              <a:lumMod val="50000"/>
                            </a:schemeClr>
                          </a:solidFill>
                          <a:latin typeface="Arial" panose="020B0604020202020204" pitchFamily="34" charset="0"/>
                          <a:cs typeface="Arial" panose="020B0604020202020204" pitchFamily="34" charset="0"/>
                        </a:rPr>
                        <a:t>right</a:t>
                      </a:r>
                      <a:r>
                        <a:rPr lang="pt-BR" sz="2000" baseline="0" dirty="0">
                          <a:solidFill>
                            <a:schemeClr val="accent1">
                              <a:lumMod val="50000"/>
                            </a:schemeClr>
                          </a:solidFill>
                          <a:latin typeface="Arial" panose="020B0604020202020204" pitchFamily="34" charset="0"/>
                          <a:cs typeface="Arial" panose="020B0604020202020204" pitchFamily="34" charset="0"/>
                        </a:rPr>
                        <a:t>) ou da direita para a esquerda (</a:t>
                      </a:r>
                      <a:r>
                        <a:rPr lang="pt-BR" sz="2000" baseline="0" dirty="0" err="1">
                          <a:solidFill>
                            <a:schemeClr val="accent1">
                              <a:lumMod val="50000"/>
                            </a:schemeClr>
                          </a:solidFill>
                          <a:latin typeface="Arial" panose="020B0604020202020204" pitchFamily="34" charset="0"/>
                          <a:cs typeface="Arial" panose="020B0604020202020204" pitchFamily="34" charset="0"/>
                        </a:rPr>
                        <a:t>rtl</a:t>
                      </a:r>
                      <a:r>
                        <a:rPr lang="pt-BR" sz="2000" baseline="0" dirty="0">
                          <a:solidFill>
                            <a:schemeClr val="accent1">
                              <a:lumMod val="50000"/>
                            </a:schemeClr>
                          </a:solidFill>
                          <a:latin typeface="Arial" panose="020B0604020202020204" pitchFamily="34" charset="0"/>
                          <a:cs typeface="Arial" panose="020B0604020202020204" pitchFamily="34" charset="0"/>
                        </a:rPr>
                        <a:t> – </a:t>
                      </a:r>
                      <a:r>
                        <a:rPr lang="pt-BR" sz="2000" baseline="0" dirty="0" err="1">
                          <a:solidFill>
                            <a:schemeClr val="accent1">
                              <a:lumMod val="50000"/>
                            </a:schemeClr>
                          </a:solidFill>
                          <a:latin typeface="Arial" panose="020B0604020202020204" pitchFamily="34" charset="0"/>
                          <a:cs typeface="Arial" panose="020B0604020202020204" pitchFamily="34" charset="0"/>
                        </a:rPr>
                        <a:t>right</a:t>
                      </a:r>
                      <a:r>
                        <a:rPr lang="pt-BR" sz="2000" baseline="0" dirty="0">
                          <a:solidFill>
                            <a:schemeClr val="accent1">
                              <a:lumMod val="50000"/>
                            </a:schemeClr>
                          </a:solidFill>
                          <a:latin typeface="Arial" panose="020B0604020202020204" pitchFamily="34" charset="0"/>
                          <a:cs typeface="Arial" panose="020B0604020202020204" pitchFamily="34" charset="0"/>
                        </a:rPr>
                        <a:t> </a:t>
                      </a:r>
                      <a:r>
                        <a:rPr lang="pt-BR" sz="2000" baseline="0" dirty="0" err="1">
                          <a:solidFill>
                            <a:schemeClr val="accent1">
                              <a:lumMod val="50000"/>
                            </a:schemeClr>
                          </a:solidFill>
                          <a:latin typeface="Arial" panose="020B0604020202020204" pitchFamily="34" charset="0"/>
                          <a:cs typeface="Arial" panose="020B0604020202020204" pitchFamily="34" charset="0"/>
                        </a:rPr>
                        <a:t>to</a:t>
                      </a:r>
                      <a:r>
                        <a:rPr lang="pt-BR" sz="2000" baseline="0" dirty="0">
                          <a:solidFill>
                            <a:schemeClr val="accent1">
                              <a:lumMod val="50000"/>
                            </a:schemeClr>
                          </a:solidFill>
                          <a:latin typeface="Arial" panose="020B0604020202020204" pitchFamily="34" charset="0"/>
                          <a:cs typeface="Arial" panose="020B0604020202020204" pitchFamily="34" charset="0"/>
                        </a:rPr>
                        <a:t> </a:t>
                      </a:r>
                      <a:r>
                        <a:rPr lang="pt-BR" sz="2000" baseline="0" dirty="0" err="1">
                          <a:solidFill>
                            <a:schemeClr val="accent1">
                              <a:lumMod val="50000"/>
                            </a:schemeClr>
                          </a:solidFill>
                          <a:latin typeface="Arial" panose="020B0604020202020204" pitchFamily="34" charset="0"/>
                          <a:cs typeface="Arial" panose="020B0604020202020204" pitchFamily="34" charset="0"/>
                        </a:rPr>
                        <a:t>left</a:t>
                      </a:r>
                      <a:r>
                        <a:rPr lang="pt-BR" sz="2000" baseline="0" dirty="0">
                          <a:solidFill>
                            <a:schemeClr val="accent1">
                              <a:lumMod val="50000"/>
                            </a:schemeClr>
                          </a:solidFill>
                          <a:latin typeface="Arial" panose="020B0604020202020204" pitchFamily="34" charset="0"/>
                          <a:cs typeface="Arial" panose="020B0604020202020204" pitchFamily="34" charset="0"/>
                        </a:rPr>
                        <a:t>).</a:t>
                      </a:r>
                      <a:endParaRPr lang="pt-BR" sz="2000" dirty="0">
                        <a:solidFill>
                          <a:schemeClr val="accent1">
                            <a:lumMod val="5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274586"/>
                  </a:ext>
                </a:extLst>
              </a:tr>
              <a:tr h="370840">
                <a:tc>
                  <a:txBody>
                    <a:bodyPr/>
                    <a:lstStyle/>
                    <a:p>
                      <a:pPr algn="ctr"/>
                      <a:r>
                        <a:rPr lang="pt-BR" sz="2000" b="1" dirty="0" err="1">
                          <a:solidFill>
                            <a:schemeClr val="accent1">
                              <a:lumMod val="50000"/>
                            </a:schemeClr>
                          </a:solidFill>
                          <a:latin typeface="Arial" panose="020B0604020202020204" pitchFamily="34" charset="0"/>
                          <a:cs typeface="Arial" panose="020B0604020202020204" pitchFamily="34" charset="0"/>
                        </a:rPr>
                        <a:t>accesskey</a:t>
                      </a:r>
                      <a:endParaRPr lang="pt-BR" sz="2000" b="1" dirty="0">
                        <a:solidFill>
                          <a:schemeClr val="accent1">
                            <a:lumMod val="5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sz="2000" b="1" dirty="0" err="1">
                          <a:solidFill>
                            <a:schemeClr val="accent1">
                              <a:lumMod val="50000"/>
                            </a:schemeClr>
                          </a:solidFill>
                          <a:latin typeface="Arial" panose="020B0604020202020204" pitchFamily="34" charset="0"/>
                          <a:cs typeface="Arial" panose="020B0604020202020204" pitchFamily="34" charset="0"/>
                        </a:rPr>
                        <a:t>caracter</a:t>
                      </a:r>
                      <a:endParaRPr lang="pt-BR" sz="2000" b="1" dirty="0">
                        <a:solidFill>
                          <a:schemeClr val="accent1">
                            <a:lumMod val="5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sz="2000" dirty="0">
                          <a:solidFill>
                            <a:schemeClr val="accent1">
                              <a:lumMod val="50000"/>
                            </a:schemeClr>
                          </a:solidFill>
                          <a:latin typeface="Arial" panose="020B0604020202020204" pitchFamily="34" charset="0"/>
                          <a:cs typeface="Arial" panose="020B0604020202020204" pitchFamily="34" charset="0"/>
                        </a:rPr>
                        <a:t>Define uma tecla de atalho para acessar este</a:t>
                      </a:r>
                      <a:r>
                        <a:rPr lang="pt-BR" sz="2000" baseline="0" dirty="0">
                          <a:solidFill>
                            <a:schemeClr val="accent1">
                              <a:lumMod val="50000"/>
                            </a:schemeClr>
                          </a:solidFill>
                          <a:latin typeface="Arial" panose="020B0604020202020204" pitchFamily="34" charset="0"/>
                          <a:cs typeface="Arial" panose="020B0604020202020204" pitchFamily="34" charset="0"/>
                        </a:rPr>
                        <a:t> elemento.</a:t>
                      </a:r>
                      <a:endParaRPr lang="pt-BR" sz="2000" dirty="0">
                        <a:solidFill>
                          <a:schemeClr val="accent1">
                            <a:lumMod val="5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9142960"/>
                  </a:ext>
                </a:extLst>
              </a:tr>
            </a:tbl>
          </a:graphicData>
        </a:graphic>
      </p:graphicFrame>
      <p:sp>
        <p:nvSpPr>
          <p:cNvPr id="3" name="Espaço Reservado para Número de Slide 2"/>
          <p:cNvSpPr>
            <a:spLocks noGrp="1"/>
          </p:cNvSpPr>
          <p:nvPr>
            <p:ph type="sldNum" sz="quarter" idx="12"/>
          </p:nvPr>
        </p:nvSpPr>
        <p:spPr/>
        <p:txBody>
          <a:bodyPr/>
          <a:lstStyle/>
          <a:p>
            <a:fld id="{8256F83C-9D86-480B-90E0-0702DBEB9457}" type="slidenum">
              <a:rPr lang="pt-BR" smtClean="0"/>
              <a:t>29</a:t>
            </a:fld>
            <a:endParaRPr lang="pt-BR"/>
          </a:p>
        </p:txBody>
      </p:sp>
    </p:spTree>
    <p:extLst>
      <p:ext uri="{BB962C8B-B14F-4D97-AF65-F5344CB8AC3E}">
        <p14:creationId xmlns:p14="http://schemas.microsoft.com/office/powerpoint/2010/main" val="8147212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405780" y="381000"/>
            <a:ext cx="11377263" cy="599728"/>
          </a:xfrm>
          <a:prstGeom prst="rect">
            <a:avLst/>
          </a:prstGeom>
        </p:spPr>
        <p:txBody>
          <a:bodyPr/>
          <a:lstStyle>
            <a:lvl1pPr algn="l" defTabSz="914400" rtl="0" eaLnBrk="1" latinLnBrk="0" hangingPunct="1">
              <a:lnSpc>
                <a:spcPct val="90000"/>
              </a:lnSpc>
              <a:spcBef>
                <a:spcPct val="0"/>
              </a:spcBef>
              <a:buNone/>
              <a:defRPr sz="4400" b="1" kern="1200">
                <a:solidFill>
                  <a:srgbClr val="1B4572"/>
                </a:solidFill>
                <a:latin typeface="Arial" panose="020B0604020202020204" pitchFamily="34" charset="0"/>
                <a:ea typeface="+mj-ea"/>
                <a:cs typeface="Arial" panose="020B0604020202020204" pitchFamily="34" charset="0"/>
              </a:defRPr>
            </a:lvl1pPr>
          </a:lstStyle>
          <a:p>
            <a:pPr algn="ctr"/>
            <a:r>
              <a:rPr lang="pt-BR" sz="3200" dirty="0">
                <a:solidFill>
                  <a:schemeClr val="accent1">
                    <a:lumMod val="50000"/>
                  </a:schemeClr>
                </a:solidFill>
              </a:rPr>
              <a:t>Exemplo do uso </a:t>
            </a:r>
            <a:r>
              <a:rPr lang="pt-BR" sz="3200" dirty="0" err="1">
                <a:solidFill>
                  <a:schemeClr val="accent1">
                    <a:lumMod val="50000"/>
                  </a:schemeClr>
                </a:solidFill>
              </a:rPr>
              <a:t>div</a:t>
            </a:r>
            <a:r>
              <a:rPr lang="pt-BR" sz="3200" dirty="0">
                <a:solidFill>
                  <a:schemeClr val="accent1">
                    <a:lumMod val="50000"/>
                  </a:schemeClr>
                </a:solidFill>
              </a:rPr>
              <a:t> em HTML</a:t>
            </a:r>
          </a:p>
        </p:txBody>
      </p:sp>
      <p:sp>
        <p:nvSpPr>
          <p:cNvPr id="3" name="Espaço Reservado para Conteúdo 2"/>
          <p:cNvSpPr txBox="1">
            <a:spLocks/>
          </p:cNvSpPr>
          <p:nvPr/>
        </p:nvSpPr>
        <p:spPr>
          <a:xfrm>
            <a:off x="742214" y="980728"/>
            <a:ext cx="11357544" cy="5815012"/>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2400" b="1" dirty="0"/>
              <a:t>&lt;!DOCTYPE </a:t>
            </a:r>
            <a:r>
              <a:rPr lang="pt-BR" sz="2400" b="1" dirty="0" err="1"/>
              <a:t>html</a:t>
            </a:r>
            <a:r>
              <a:rPr lang="pt-BR" sz="2400" b="1" dirty="0"/>
              <a:t>&gt;</a:t>
            </a:r>
          </a:p>
          <a:p>
            <a:pPr marL="0" indent="0" algn="just">
              <a:buNone/>
            </a:pPr>
            <a:r>
              <a:rPr lang="pt-BR" sz="2400" b="1" dirty="0"/>
              <a:t>&lt;</a:t>
            </a:r>
            <a:r>
              <a:rPr lang="pt-BR" sz="2400" b="1" dirty="0" err="1"/>
              <a:t>html</a:t>
            </a:r>
            <a:r>
              <a:rPr lang="pt-BR" sz="2400" b="1" dirty="0"/>
              <a:t>&gt;</a:t>
            </a:r>
          </a:p>
          <a:p>
            <a:pPr marL="0" indent="0" algn="just">
              <a:buNone/>
            </a:pPr>
            <a:r>
              <a:rPr lang="pt-BR" sz="2400" b="1" dirty="0"/>
              <a:t>	&lt;</a:t>
            </a:r>
            <a:r>
              <a:rPr lang="pt-BR" sz="2400" b="1" dirty="0" err="1"/>
              <a:t>head</a:t>
            </a:r>
            <a:r>
              <a:rPr lang="pt-BR" sz="2400" b="1" dirty="0"/>
              <a:t>&gt;</a:t>
            </a:r>
          </a:p>
          <a:p>
            <a:pPr marL="0" indent="0" algn="just">
              <a:buNone/>
            </a:pPr>
            <a:r>
              <a:rPr lang="pt-BR" sz="2400" b="1" dirty="0"/>
              <a:t>		&lt;meta </a:t>
            </a:r>
            <a:r>
              <a:rPr lang="pt-BR" sz="2400" b="1" dirty="0" err="1"/>
              <a:t>charset</a:t>
            </a:r>
            <a:r>
              <a:rPr lang="pt-BR" sz="2400" b="1" dirty="0"/>
              <a:t>=“UTF-8”/&gt;</a:t>
            </a:r>
          </a:p>
          <a:p>
            <a:pPr marL="0" indent="0" algn="just">
              <a:buNone/>
            </a:pPr>
            <a:r>
              <a:rPr lang="pt-BR" sz="2400" b="1" dirty="0"/>
              <a:t>		&lt;</a:t>
            </a:r>
            <a:r>
              <a:rPr lang="pt-BR" sz="2400" b="1" dirty="0" err="1"/>
              <a:t>title</a:t>
            </a:r>
            <a:r>
              <a:rPr lang="pt-BR" sz="2400" b="1" dirty="0"/>
              <a:t>&gt;PUC-On-line&lt;/</a:t>
            </a:r>
            <a:r>
              <a:rPr lang="pt-BR" sz="2400" b="1" dirty="0" err="1"/>
              <a:t>title</a:t>
            </a:r>
            <a:r>
              <a:rPr lang="pt-BR" sz="2400" b="1" dirty="0"/>
              <a:t>&gt;</a:t>
            </a:r>
          </a:p>
          <a:p>
            <a:pPr marL="0" indent="0" algn="just">
              <a:buNone/>
            </a:pPr>
            <a:r>
              <a:rPr lang="pt-BR" sz="2400" b="1" dirty="0"/>
              <a:t>	&lt;/</a:t>
            </a:r>
            <a:r>
              <a:rPr lang="pt-BR" sz="2400" b="1" dirty="0" err="1"/>
              <a:t>head</a:t>
            </a:r>
            <a:r>
              <a:rPr lang="pt-BR" sz="2400" b="1" dirty="0"/>
              <a:t>&gt;</a:t>
            </a:r>
          </a:p>
          <a:p>
            <a:pPr marL="0" indent="0" algn="just">
              <a:buNone/>
            </a:pPr>
            <a:endParaRPr lang="pt-BR" sz="2400" b="1" dirty="0"/>
          </a:p>
          <a:p>
            <a:pPr marL="0" indent="0" algn="just">
              <a:buNone/>
            </a:pPr>
            <a:r>
              <a:rPr lang="pt-BR" sz="2400" b="1" dirty="0"/>
              <a:t>	&lt;</a:t>
            </a:r>
            <a:r>
              <a:rPr lang="pt-BR" sz="2400" b="1" dirty="0" err="1"/>
              <a:t>body</a:t>
            </a:r>
            <a:r>
              <a:rPr lang="pt-BR" sz="2400" b="1" dirty="0"/>
              <a:t>&gt;</a:t>
            </a:r>
          </a:p>
          <a:p>
            <a:pPr marL="0" indent="0" algn="just">
              <a:buNone/>
            </a:pPr>
            <a:r>
              <a:rPr lang="pt-BR" sz="2400" b="1" dirty="0"/>
              <a:t>		&lt;</a:t>
            </a:r>
            <a:r>
              <a:rPr lang="pt-BR" sz="2400" b="1" dirty="0" err="1"/>
              <a:t>div</a:t>
            </a:r>
            <a:r>
              <a:rPr lang="pt-BR" sz="2400" b="1" dirty="0"/>
              <a:t> id=“banner”&gt;</a:t>
            </a:r>
          </a:p>
          <a:p>
            <a:pPr marL="0" indent="0" algn="just">
              <a:buNone/>
            </a:pPr>
            <a:r>
              <a:rPr lang="pt-BR" sz="2400" b="1" dirty="0"/>
              <a:t>			&lt;</a:t>
            </a:r>
            <a:r>
              <a:rPr lang="pt-BR" sz="2400" b="1" dirty="0" err="1"/>
              <a:t>img</a:t>
            </a:r>
            <a:r>
              <a:rPr lang="pt-BR" sz="2400" b="1" dirty="0"/>
              <a:t> </a:t>
            </a:r>
            <a:r>
              <a:rPr lang="pt-BR" sz="2400" b="1" dirty="0" err="1"/>
              <a:t>src</a:t>
            </a:r>
            <a:r>
              <a:rPr lang="pt-BR" sz="2400" b="1" dirty="0"/>
              <a:t>=“banner.gif”/&gt;</a:t>
            </a:r>
          </a:p>
          <a:p>
            <a:pPr marL="0" indent="0" algn="just">
              <a:buNone/>
            </a:pPr>
            <a:r>
              <a:rPr lang="pt-BR" sz="2400" b="1" dirty="0"/>
              <a:t>		&lt;/</a:t>
            </a:r>
            <a:r>
              <a:rPr lang="pt-BR" sz="2400" b="1" dirty="0" err="1"/>
              <a:t>div</a:t>
            </a:r>
            <a:r>
              <a:rPr lang="pt-BR" sz="2400" b="1" dirty="0"/>
              <a:t>&gt;</a:t>
            </a:r>
          </a:p>
          <a:p>
            <a:pPr marL="0" indent="0" algn="just">
              <a:buNone/>
            </a:pPr>
            <a:endParaRPr lang="pt-BR" sz="2400" b="1" dirty="0"/>
          </a:p>
          <a:p>
            <a:pPr marL="0" indent="0" algn="just">
              <a:buNone/>
            </a:pPr>
            <a:r>
              <a:rPr lang="pt-BR" sz="2400" b="1" dirty="0"/>
              <a:t>		&lt;</a:t>
            </a:r>
            <a:r>
              <a:rPr lang="pt-BR" sz="2400" b="1" dirty="0" err="1"/>
              <a:t>div</a:t>
            </a:r>
            <a:r>
              <a:rPr lang="pt-BR" sz="2400" b="1" dirty="0"/>
              <a:t> id=“menu”&gt;</a:t>
            </a:r>
          </a:p>
          <a:p>
            <a:pPr marL="0" indent="0" algn="just">
              <a:buNone/>
            </a:pPr>
            <a:r>
              <a:rPr lang="pt-BR" sz="2400" b="1" dirty="0"/>
              <a:t>			&lt;</a:t>
            </a:r>
            <a:r>
              <a:rPr lang="pt-BR" sz="2400" b="1" dirty="0" err="1"/>
              <a:t>img</a:t>
            </a:r>
            <a:r>
              <a:rPr lang="pt-BR" sz="2400" b="1" dirty="0"/>
              <a:t> </a:t>
            </a:r>
            <a:r>
              <a:rPr lang="pt-BR" sz="2400" b="1" dirty="0" err="1"/>
              <a:t>src</a:t>
            </a:r>
            <a:r>
              <a:rPr lang="pt-BR" sz="2400" b="1" dirty="0"/>
              <a:t>=“menu.gif”/&gt;</a:t>
            </a:r>
          </a:p>
          <a:p>
            <a:pPr marL="0" indent="0" algn="just">
              <a:buNone/>
            </a:pPr>
            <a:r>
              <a:rPr lang="pt-BR" sz="2400" b="1" dirty="0"/>
              <a:t>		&lt;/</a:t>
            </a:r>
            <a:r>
              <a:rPr lang="pt-BR" sz="2400" b="1" dirty="0" err="1"/>
              <a:t>div</a:t>
            </a:r>
            <a:r>
              <a:rPr lang="pt-BR" sz="2400" b="1" dirty="0"/>
              <a:t>&gt;</a:t>
            </a:r>
          </a:p>
          <a:p>
            <a:pPr marL="0" indent="0" algn="just">
              <a:buNone/>
            </a:pPr>
            <a:r>
              <a:rPr lang="pt-BR" sz="2400" b="1" dirty="0"/>
              <a:t>	&lt;/</a:t>
            </a:r>
            <a:r>
              <a:rPr lang="pt-BR" sz="2400" b="1" dirty="0" err="1"/>
              <a:t>body</a:t>
            </a:r>
            <a:r>
              <a:rPr lang="pt-BR" sz="2400" b="1" dirty="0"/>
              <a:t>&gt;</a:t>
            </a:r>
          </a:p>
          <a:p>
            <a:pPr marL="0" indent="0" algn="just">
              <a:buNone/>
            </a:pPr>
            <a:r>
              <a:rPr lang="pt-BR" sz="2400" b="1" dirty="0"/>
              <a:t>&lt;</a:t>
            </a:r>
            <a:r>
              <a:rPr lang="pt-BR" sz="2400" b="1" dirty="0" err="1"/>
              <a:t>html</a:t>
            </a:r>
            <a:r>
              <a:rPr lang="pt-BR" sz="2400" b="1" dirty="0"/>
              <a:t>&gt;</a:t>
            </a:r>
            <a:endParaRPr lang="pt-BR" sz="2400" dirty="0"/>
          </a:p>
        </p:txBody>
      </p:sp>
      <p:sp>
        <p:nvSpPr>
          <p:cNvPr id="4" name="Retângulo 3"/>
          <p:cNvSpPr/>
          <p:nvPr/>
        </p:nvSpPr>
        <p:spPr>
          <a:xfrm>
            <a:off x="1685400" y="1571620"/>
            <a:ext cx="6542162" cy="1400175"/>
          </a:xfrm>
          <a:prstGeom prst="rect">
            <a:avLst/>
          </a:prstGeom>
          <a:noFill/>
          <a:ln w="76200">
            <a:solidFill>
              <a:srgbClr val="00B0F0"/>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pt-BR" dirty="0"/>
          </a:p>
        </p:txBody>
      </p:sp>
      <p:sp>
        <p:nvSpPr>
          <p:cNvPr id="5" name="Retângulo 4"/>
          <p:cNvSpPr/>
          <p:nvPr/>
        </p:nvSpPr>
        <p:spPr>
          <a:xfrm>
            <a:off x="1685399" y="3134071"/>
            <a:ext cx="6542163" cy="3281018"/>
          </a:xfrm>
          <a:prstGeom prst="rect">
            <a:avLst/>
          </a:prstGeom>
          <a:noFill/>
          <a:ln w="76200">
            <a:solidFill>
              <a:srgbClr val="00B050"/>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pt-BR" dirty="0"/>
          </a:p>
        </p:txBody>
      </p:sp>
      <p:sp>
        <p:nvSpPr>
          <p:cNvPr id="6" name="Retângulo 5"/>
          <p:cNvSpPr/>
          <p:nvPr/>
        </p:nvSpPr>
        <p:spPr>
          <a:xfrm>
            <a:off x="742214" y="1265842"/>
            <a:ext cx="7742524" cy="5529898"/>
          </a:xfrm>
          <a:prstGeom prst="rect">
            <a:avLst/>
          </a:prstGeom>
          <a:noFill/>
          <a:ln w="76200">
            <a:solidFill>
              <a:srgbClr val="FF3300"/>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pt-BR" dirty="0"/>
          </a:p>
        </p:txBody>
      </p:sp>
      <p:sp>
        <p:nvSpPr>
          <p:cNvPr id="7" name="Retângulo 6"/>
          <p:cNvSpPr/>
          <p:nvPr/>
        </p:nvSpPr>
        <p:spPr>
          <a:xfrm>
            <a:off x="2628585" y="3571524"/>
            <a:ext cx="4055928" cy="1159316"/>
          </a:xfrm>
          <a:prstGeom prst="rect">
            <a:avLst/>
          </a:prstGeom>
          <a:noFill/>
          <a:ln w="76200">
            <a:solidFill>
              <a:srgbClr val="7030A0"/>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pt-BR" dirty="0"/>
          </a:p>
        </p:txBody>
      </p:sp>
      <p:sp>
        <p:nvSpPr>
          <p:cNvPr id="8" name="Retângulo 7"/>
          <p:cNvSpPr/>
          <p:nvPr/>
        </p:nvSpPr>
        <p:spPr>
          <a:xfrm>
            <a:off x="2618725" y="4893116"/>
            <a:ext cx="4055928" cy="1149965"/>
          </a:xfrm>
          <a:prstGeom prst="rect">
            <a:avLst/>
          </a:prstGeom>
          <a:noFill/>
          <a:ln w="76200">
            <a:solidFill>
              <a:srgbClr val="0070C0"/>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pt-BR" dirty="0"/>
          </a:p>
        </p:txBody>
      </p:sp>
      <p:sp>
        <p:nvSpPr>
          <p:cNvPr id="10" name="Texto Explicativo Retangular com Cantos Arredondados 9"/>
          <p:cNvSpPr/>
          <p:nvPr/>
        </p:nvSpPr>
        <p:spPr>
          <a:xfrm>
            <a:off x="6897190" y="3571524"/>
            <a:ext cx="5228730" cy="2471557"/>
          </a:xfrm>
          <a:prstGeom prst="wedgeRoundRectCallout">
            <a:avLst>
              <a:gd name="adj1" fmla="val -55479"/>
              <a:gd name="adj2" fmla="val 18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latin typeface="Arial" panose="020B0604020202020204" pitchFamily="34" charset="0"/>
                <a:cs typeface="Arial" panose="020B0604020202020204" pitchFamily="34" charset="0"/>
              </a:rPr>
              <a:t>Note que não foram colocados nenhum atributo para as imagens.</a:t>
            </a:r>
          </a:p>
          <a:p>
            <a:pPr algn="ctr"/>
            <a:r>
              <a:rPr lang="pt-BR" sz="2000" b="1" dirty="0">
                <a:latin typeface="Arial" panose="020B0604020202020204" pitchFamily="34" charset="0"/>
                <a:cs typeface="Arial" panose="020B0604020202020204" pitchFamily="34" charset="0"/>
              </a:rPr>
              <a:t>Neste caso, as imagens vão ocupar o tamanho que realmente elas têm.</a:t>
            </a:r>
          </a:p>
          <a:p>
            <a:pPr algn="ctr"/>
            <a:r>
              <a:rPr lang="pt-BR" sz="2000" b="1" dirty="0">
                <a:latin typeface="Arial" panose="020B0604020202020204" pitchFamily="34" charset="0"/>
                <a:cs typeface="Arial" panose="020B0604020202020204" pitchFamily="34" charset="0"/>
              </a:rPr>
              <a:t>Sugestão:  </a:t>
            </a:r>
          </a:p>
          <a:p>
            <a:pPr algn="ctr"/>
            <a:r>
              <a:rPr lang="pt-BR" sz="1400" b="1" dirty="0">
                <a:solidFill>
                  <a:srgbClr val="FFFF00"/>
                </a:solidFill>
                <a:latin typeface="Arial" panose="020B0604020202020204" pitchFamily="34" charset="0"/>
                <a:cs typeface="Arial" panose="020B0604020202020204" pitchFamily="34" charset="0"/>
              </a:rPr>
              <a:t>&lt;</a:t>
            </a:r>
            <a:r>
              <a:rPr lang="pt-BR" sz="1400" b="1" dirty="0" err="1">
                <a:solidFill>
                  <a:srgbClr val="FFFF00"/>
                </a:solidFill>
                <a:latin typeface="Arial" panose="020B0604020202020204" pitchFamily="34" charset="0"/>
                <a:cs typeface="Arial" panose="020B0604020202020204" pitchFamily="34" charset="0"/>
              </a:rPr>
              <a:t>img</a:t>
            </a:r>
            <a:r>
              <a:rPr lang="pt-BR" sz="1400" b="1" dirty="0">
                <a:solidFill>
                  <a:srgbClr val="FFFF00"/>
                </a:solidFill>
                <a:latin typeface="Arial" panose="020B0604020202020204" pitchFamily="34" charset="0"/>
                <a:cs typeface="Arial" panose="020B0604020202020204" pitchFamily="34" charset="0"/>
              </a:rPr>
              <a:t> </a:t>
            </a:r>
            <a:r>
              <a:rPr lang="pt-BR" sz="1400" b="1" dirty="0" err="1">
                <a:solidFill>
                  <a:srgbClr val="FFFF00"/>
                </a:solidFill>
                <a:latin typeface="Arial" panose="020B0604020202020204" pitchFamily="34" charset="0"/>
                <a:cs typeface="Arial" panose="020B0604020202020204" pitchFamily="34" charset="0"/>
              </a:rPr>
              <a:t>src</a:t>
            </a:r>
            <a:r>
              <a:rPr lang="pt-BR" sz="1400" b="1" dirty="0">
                <a:solidFill>
                  <a:srgbClr val="FFFF00"/>
                </a:solidFill>
                <a:latin typeface="Arial" panose="020B0604020202020204" pitchFamily="34" charset="0"/>
                <a:cs typeface="Arial" panose="020B0604020202020204" pitchFamily="34" charset="0"/>
              </a:rPr>
              <a:t>=“banner.gif” </a:t>
            </a:r>
            <a:r>
              <a:rPr lang="pt-BR" sz="1400" b="1" dirty="0" err="1">
                <a:solidFill>
                  <a:srgbClr val="FFFF00"/>
                </a:solidFill>
                <a:latin typeface="Arial" panose="020B0604020202020204" pitchFamily="34" charset="0"/>
                <a:cs typeface="Arial" panose="020B0604020202020204" pitchFamily="34" charset="0"/>
              </a:rPr>
              <a:t>width</a:t>
            </a:r>
            <a:r>
              <a:rPr lang="pt-BR" sz="1400" b="1" dirty="0">
                <a:solidFill>
                  <a:srgbClr val="FFFF00"/>
                </a:solidFill>
                <a:latin typeface="Arial" panose="020B0604020202020204" pitchFamily="34" charset="0"/>
                <a:cs typeface="Arial" panose="020B0604020202020204" pitchFamily="34" charset="0"/>
              </a:rPr>
              <a:t> = “100%”  </a:t>
            </a:r>
            <a:r>
              <a:rPr lang="pt-BR" sz="1400" b="1" dirty="0" err="1">
                <a:solidFill>
                  <a:srgbClr val="FFFF00"/>
                </a:solidFill>
                <a:latin typeface="Arial" panose="020B0604020202020204" pitchFamily="34" charset="0"/>
                <a:cs typeface="Arial" panose="020B0604020202020204" pitchFamily="34" charset="0"/>
              </a:rPr>
              <a:t>height</a:t>
            </a:r>
            <a:r>
              <a:rPr lang="pt-BR" sz="1400" b="1" dirty="0">
                <a:solidFill>
                  <a:srgbClr val="FFFF00"/>
                </a:solidFill>
                <a:latin typeface="Arial" panose="020B0604020202020204" pitchFamily="34" charset="0"/>
                <a:cs typeface="Arial" panose="020B0604020202020204" pitchFamily="34" charset="0"/>
              </a:rPr>
              <a:t>=“200px”/&gt;</a:t>
            </a:r>
          </a:p>
        </p:txBody>
      </p:sp>
      <p:cxnSp>
        <p:nvCxnSpPr>
          <p:cNvPr id="12" name="Conector de Seta Reta 11"/>
          <p:cNvCxnSpPr/>
          <p:nvPr/>
        </p:nvCxnSpPr>
        <p:spPr>
          <a:xfrm flipH="1">
            <a:off x="6684514" y="2971795"/>
            <a:ext cx="2167271" cy="599728"/>
          </a:xfrm>
          <a:prstGeom prst="straightConnector1">
            <a:avLst/>
          </a:prstGeom>
          <a:ln w="762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de Seta Reta 13"/>
          <p:cNvCxnSpPr/>
          <p:nvPr/>
        </p:nvCxnSpPr>
        <p:spPr>
          <a:xfrm flipH="1" flipV="1">
            <a:off x="6694373" y="6092975"/>
            <a:ext cx="2276141" cy="607228"/>
          </a:xfrm>
          <a:prstGeom prst="straightConnector1">
            <a:avLst/>
          </a:prstGeom>
          <a:ln w="762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7" name="CaixaDeTexto 16"/>
          <p:cNvSpPr txBox="1"/>
          <p:nvPr/>
        </p:nvSpPr>
        <p:spPr>
          <a:xfrm>
            <a:off x="8851785" y="2710185"/>
            <a:ext cx="3209533" cy="461665"/>
          </a:xfrm>
          <a:prstGeom prst="rect">
            <a:avLst/>
          </a:prstGeom>
          <a:noFill/>
        </p:spPr>
        <p:txBody>
          <a:bodyPr wrap="none" rtlCol="0">
            <a:spAutoFit/>
          </a:bodyPr>
          <a:lstStyle/>
          <a:p>
            <a:r>
              <a:rPr lang="pt-BR" sz="2400" b="1" dirty="0">
                <a:solidFill>
                  <a:srgbClr val="7030A0"/>
                </a:solidFill>
                <a:latin typeface="Arial" panose="020B0604020202020204" pitchFamily="34" charset="0"/>
                <a:cs typeface="Arial" panose="020B0604020202020204" pitchFamily="34" charset="0"/>
              </a:rPr>
              <a:t>Seção 1 ou divisão 1</a:t>
            </a:r>
          </a:p>
        </p:txBody>
      </p:sp>
      <p:sp>
        <p:nvSpPr>
          <p:cNvPr id="18" name="CaixaDeTexto 17"/>
          <p:cNvSpPr txBox="1"/>
          <p:nvPr/>
        </p:nvSpPr>
        <p:spPr>
          <a:xfrm>
            <a:off x="8916386" y="6391363"/>
            <a:ext cx="3209533" cy="461665"/>
          </a:xfrm>
          <a:prstGeom prst="rect">
            <a:avLst/>
          </a:prstGeom>
          <a:noFill/>
        </p:spPr>
        <p:txBody>
          <a:bodyPr wrap="none" rtlCol="0">
            <a:spAutoFit/>
          </a:bodyPr>
          <a:lstStyle/>
          <a:p>
            <a:r>
              <a:rPr lang="pt-BR" sz="2400" b="1" dirty="0">
                <a:solidFill>
                  <a:srgbClr val="0070C0"/>
                </a:solidFill>
                <a:latin typeface="Arial" panose="020B0604020202020204" pitchFamily="34" charset="0"/>
                <a:cs typeface="Arial" panose="020B0604020202020204" pitchFamily="34" charset="0"/>
              </a:rPr>
              <a:t>Seção 2 ou divisão 2</a:t>
            </a:r>
          </a:p>
        </p:txBody>
      </p:sp>
      <p:sp>
        <p:nvSpPr>
          <p:cNvPr id="9" name="Espaço Reservado para Número de Slide 8"/>
          <p:cNvSpPr>
            <a:spLocks noGrp="1"/>
          </p:cNvSpPr>
          <p:nvPr>
            <p:ph type="sldNum" sz="quarter" idx="12"/>
          </p:nvPr>
        </p:nvSpPr>
        <p:spPr/>
        <p:txBody>
          <a:bodyPr/>
          <a:lstStyle/>
          <a:p>
            <a:fld id="{8256F83C-9D86-480B-90E0-0702DBEB9457}" type="slidenum">
              <a:rPr lang="pt-BR" smtClean="0"/>
              <a:t>30</a:t>
            </a:fld>
            <a:endParaRPr lang="pt-BR"/>
          </a:p>
        </p:txBody>
      </p:sp>
    </p:spTree>
    <p:extLst>
      <p:ext uri="{BB962C8B-B14F-4D97-AF65-F5344CB8AC3E}">
        <p14:creationId xmlns:p14="http://schemas.microsoft.com/office/powerpoint/2010/main" val="25143033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2"/>
          <p:cNvSpPr txBox="1">
            <a:spLocks/>
          </p:cNvSpPr>
          <p:nvPr/>
        </p:nvSpPr>
        <p:spPr>
          <a:xfrm>
            <a:off x="702556" y="528637"/>
            <a:ext cx="11357544" cy="19933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2400" b="1" dirty="0"/>
              <a:t>2º) </a:t>
            </a:r>
            <a:r>
              <a:rPr lang="pt-BR" sz="2400" dirty="0"/>
              <a:t>Elemento &lt;</a:t>
            </a:r>
            <a:r>
              <a:rPr lang="pt-BR" sz="2400" dirty="0" err="1"/>
              <a:t>span</a:t>
            </a:r>
            <a:r>
              <a:rPr lang="pt-BR" sz="2400" dirty="0"/>
              <a:t>&gt;: semelhante ao </a:t>
            </a:r>
            <a:r>
              <a:rPr lang="pt-BR" sz="2400" dirty="0" err="1"/>
              <a:t>div</a:t>
            </a:r>
            <a:r>
              <a:rPr lang="pt-BR" sz="2400" dirty="0"/>
              <a:t>, porém é uma forma de atribuir atributos a um pequeno grupo de elementos. </a:t>
            </a:r>
          </a:p>
          <a:p>
            <a:pPr marL="0" indent="0" algn="just">
              <a:buNone/>
            </a:pPr>
            <a:endParaRPr lang="pt-BR" sz="2400" dirty="0"/>
          </a:p>
          <a:p>
            <a:pPr marL="0" indent="0" algn="just">
              <a:buNone/>
            </a:pPr>
            <a:r>
              <a:rPr lang="pt-BR" sz="2400" dirty="0"/>
              <a:t>&lt;p&gt;Este curso de </a:t>
            </a:r>
            <a:r>
              <a:rPr lang="pt-BR" sz="2400" b="1" dirty="0">
                <a:solidFill>
                  <a:srgbClr val="FF0000"/>
                </a:solidFill>
              </a:rPr>
              <a:t>&lt;</a:t>
            </a:r>
            <a:r>
              <a:rPr lang="pt-BR" sz="2400" b="1" dirty="0" err="1">
                <a:solidFill>
                  <a:srgbClr val="FF0000"/>
                </a:solidFill>
              </a:rPr>
              <a:t>span</a:t>
            </a:r>
            <a:r>
              <a:rPr lang="pt-BR" sz="2400" b="1" dirty="0"/>
              <a:t> </a:t>
            </a:r>
            <a:r>
              <a:rPr lang="pt-BR" sz="2400" b="1" dirty="0" err="1"/>
              <a:t>class</a:t>
            </a:r>
            <a:r>
              <a:rPr lang="pt-BR" sz="2400" b="1" dirty="0"/>
              <a:t>=“</a:t>
            </a:r>
            <a:r>
              <a:rPr lang="pt-BR" sz="2400" b="1" dirty="0" err="1"/>
              <a:t>css_texto</a:t>
            </a:r>
            <a:r>
              <a:rPr lang="pt-BR" sz="2400" b="1" dirty="0"/>
              <a:t>”</a:t>
            </a:r>
            <a:r>
              <a:rPr lang="pt-BR" sz="2400" b="1" dirty="0">
                <a:solidFill>
                  <a:srgbClr val="FF0000"/>
                </a:solidFill>
              </a:rPr>
              <a:t>&gt;</a:t>
            </a:r>
            <a:r>
              <a:rPr lang="pt-BR" sz="2400" dirty="0"/>
              <a:t> HTML, CSS, </a:t>
            </a:r>
            <a:r>
              <a:rPr lang="pt-BR" sz="2400" dirty="0" err="1"/>
              <a:t>Javascript</a:t>
            </a:r>
            <a:r>
              <a:rPr lang="pt-BR" sz="2400" dirty="0"/>
              <a:t> </a:t>
            </a:r>
            <a:r>
              <a:rPr lang="pt-BR" sz="2400" b="1" dirty="0">
                <a:solidFill>
                  <a:srgbClr val="FF0000"/>
                </a:solidFill>
              </a:rPr>
              <a:t>&lt;/</a:t>
            </a:r>
            <a:r>
              <a:rPr lang="pt-BR" sz="2400" b="1" dirty="0" err="1">
                <a:solidFill>
                  <a:srgbClr val="FF0000"/>
                </a:solidFill>
              </a:rPr>
              <a:t>span</a:t>
            </a:r>
            <a:r>
              <a:rPr lang="pt-BR" sz="2400" b="1" dirty="0">
                <a:solidFill>
                  <a:srgbClr val="FF0000"/>
                </a:solidFill>
              </a:rPr>
              <a:t>&gt;</a:t>
            </a:r>
            <a:r>
              <a:rPr lang="pt-BR" sz="2400" dirty="0"/>
              <a:t> vão lhe fazer um programador </a:t>
            </a:r>
            <a:r>
              <a:rPr lang="pt-BR" sz="2400" dirty="0" err="1"/>
              <a:t>full-stack</a:t>
            </a:r>
            <a:r>
              <a:rPr lang="pt-BR" sz="2400" dirty="0"/>
              <a:t>.&lt;/p&gt;</a:t>
            </a:r>
          </a:p>
        </p:txBody>
      </p:sp>
      <p:sp>
        <p:nvSpPr>
          <p:cNvPr id="3" name="Texto Explicativo Retangular com Cantos Arredondados 2"/>
          <p:cNvSpPr/>
          <p:nvPr/>
        </p:nvSpPr>
        <p:spPr>
          <a:xfrm>
            <a:off x="7050155" y="3067665"/>
            <a:ext cx="3746090" cy="1946787"/>
          </a:xfrm>
          <a:prstGeom prst="wedgeRoundRectCallout">
            <a:avLst>
              <a:gd name="adj1" fmla="val -53510"/>
              <a:gd name="adj2" fmla="val -9507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dirty="0">
                <a:latin typeface="Arial" panose="020B0604020202020204" pitchFamily="34" charset="0"/>
                <a:cs typeface="Arial" panose="020B0604020202020204" pitchFamily="34" charset="0"/>
              </a:rPr>
              <a:t>Este atributo inclui uma estilização a esta parte do texto. O </a:t>
            </a:r>
            <a:r>
              <a:rPr lang="pt-BR" sz="2400" dirty="0" err="1">
                <a:latin typeface="Arial" panose="020B0604020202020204" pitchFamily="34" charset="0"/>
                <a:cs typeface="Arial" panose="020B0604020202020204" pitchFamily="34" charset="0"/>
              </a:rPr>
              <a:t>css_texto</a:t>
            </a:r>
            <a:r>
              <a:rPr lang="pt-BR" sz="2400" dirty="0">
                <a:latin typeface="Arial" panose="020B0604020202020204" pitchFamily="34" charset="0"/>
                <a:cs typeface="Arial" panose="020B0604020202020204" pitchFamily="34" charset="0"/>
              </a:rPr>
              <a:t> é definido dentro da </a:t>
            </a:r>
            <a:r>
              <a:rPr lang="pt-BR" sz="2400" dirty="0" err="1">
                <a:latin typeface="Arial" panose="020B0604020202020204" pitchFamily="34" charset="0"/>
                <a:cs typeface="Arial" panose="020B0604020202020204" pitchFamily="34" charset="0"/>
              </a:rPr>
              <a:t>tag</a:t>
            </a:r>
            <a:r>
              <a:rPr lang="pt-BR" sz="2400" dirty="0">
                <a:latin typeface="Arial" panose="020B0604020202020204" pitchFamily="34" charset="0"/>
                <a:cs typeface="Arial" panose="020B0604020202020204" pitchFamily="34" charset="0"/>
              </a:rPr>
              <a:t> </a:t>
            </a:r>
            <a:r>
              <a:rPr lang="pt-BR" sz="2400" b="1" dirty="0">
                <a:solidFill>
                  <a:srgbClr val="FFFF00"/>
                </a:solidFill>
                <a:latin typeface="Arial" panose="020B0604020202020204" pitchFamily="34" charset="0"/>
                <a:cs typeface="Arial" panose="020B0604020202020204" pitchFamily="34" charset="0"/>
              </a:rPr>
              <a:t>&lt;</a:t>
            </a:r>
            <a:r>
              <a:rPr lang="pt-BR" sz="2400" b="1" dirty="0" err="1">
                <a:solidFill>
                  <a:srgbClr val="FFFF00"/>
                </a:solidFill>
                <a:latin typeface="Arial" panose="020B0604020202020204" pitchFamily="34" charset="0"/>
                <a:cs typeface="Arial" panose="020B0604020202020204" pitchFamily="34" charset="0"/>
              </a:rPr>
              <a:t>head</a:t>
            </a:r>
            <a:r>
              <a:rPr lang="pt-BR" sz="2400" b="1" dirty="0">
                <a:solidFill>
                  <a:srgbClr val="FFFF00"/>
                </a:solidFill>
                <a:latin typeface="Arial" panose="020B0604020202020204" pitchFamily="34" charset="0"/>
                <a:cs typeface="Arial" panose="020B0604020202020204" pitchFamily="34" charset="0"/>
              </a:rPr>
              <a:t>&gt; &lt;/</a:t>
            </a:r>
            <a:r>
              <a:rPr lang="pt-BR" sz="2400" b="1" dirty="0" err="1">
                <a:solidFill>
                  <a:srgbClr val="FFFF00"/>
                </a:solidFill>
                <a:latin typeface="Arial" panose="020B0604020202020204" pitchFamily="34" charset="0"/>
                <a:cs typeface="Arial" panose="020B0604020202020204" pitchFamily="34" charset="0"/>
              </a:rPr>
              <a:t>head</a:t>
            </a:r>
            <a:r>
              <a:rPr lang="pt-BR" sz="2400" b="1" dirty="0">
                <a:solidFill>
                  <a:srgbClr val="FFFF00"/>
                </a:solidFill>
                <a:latin typeface="Arial" panose="020B0604020202020204" pitchFamily="34" charset="0"/>
                <a:cs typeface="Arial" panose="020B0604020202020204" pitchFamily="34" charset="0"/>
              </a:rPr>
              <a:t>&gt;</a:t>
            </a:r>
          </a:p>
        </p:txBody>
      </p:sp>
      <p:sp>
        <p:nvSpPr>
          <p:cNvPr id="4" name="Texto Explicativo Retangular com Cantos Arredondados 3"/>
          <p:cNvSpPr/>
          <p:nvPr/>
        </p:nvSpPr>
        <p:spPr>
          <a:xfrm>
            <a:off x="875497" y="3426543"/>
            <a:ext cx="3746090" cy="1946787"/>
          </a:xfrm>
          <a:prstGeom prst="wedgeRoundRectCallout">
            <a:avLst>
              <a:gd name="adj1" fmla="val 29561"/>
              <a:gd name="adj2" fmla="val -10037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dirty="0">
                <a:latin typeface="Arial" panose="020B0604020202020204" pitchFamily="34" charset="0"/>
                <a:cs typeface="Arial" panose="020B0604020202020204" pitchFamily="34" charset="0"/>
              </a:rPr>
              <a:t>A </a:t>
            </a:r>
            <a:r>
              <a:rPr lang="pt-BR" sz="2400" dirty="0" err="1">
                <a:latin typeface="Arial" panose="020B0604020202020204" pitchFamily="34" charset="0"/>
                <a:cs typeface="Arial" panose="020B0604020202020204" pitchFamily="34" charset="0"/>
              </a:rPr>
              <a:t>tag</a:t>
            </a:r>
            <a:r>
              <a:rPr lang="pt-BR" sz="2400" dirty="0">
                <a:latin typeface="Arial" panose="020B0604020202020204" pitchFamily="34" charset="0"/>
                <a:cs typeface="Arial" panose="020B0604020202020204" pitchFamily="34" charset="0"/>
              </a:rPr>
              <a:t> </a:t>
            </a:r>
            <a:r>
              <a:rPr lang="pt-BR" sz="2400" dirty="0" err="1">
                <a:latin typeface="Arial" panose="020B0604020202020204" pitchFamily="34" charset="0"/>
                <a:cs typeface="Arial" panose="020B0604020202020204" pitchFamily="34" charset="0"/>
              </a:rPr>
              <a:t>span</a:t>
            </a:r>
            <a:r>
              <a:rPr lang="pt-BR" sz="2400" dirty="0">
                <a:latin typeface="Arial" panose="020B0604020202020204" pitchFamily="34" charset="0"/>
                <a:cs typeface="Arial" panose="020B0604020202020204" pitchFamily="34" charset="0"/>
              </a:rPr>
              <a:t> é usada normalmente para customizar uma determinada parte de um texto.</a:t>
            </a:r>
            <a:endParaRPr lang="pt-BR" sz="2400" b="1" dirty="0">
              <a:solidFill>
                <a:srgbClr val="FFFF00"/>
              </a:solidFill>
              <a:latin typeface="Arial" panose="020B0604020202020204" pitchFamily="34" charset="0"/>
              <a:cs typeface="Arial" panose="020B0604020202020204" pitchFamily="34" charset="0"/>
            </a:endParaRPr>
          </a:p>
        </p:txBody>
      </p:sp>
      <p:sp>
        <p:nvSpPr>
          <p:cNvPr id="5" name="Espaço Reservado para Número de Slide 4"/>
          <p:cNvSpPr>
            <a:spLocks noGrp="1"/>
          </p:cNvSpPr>
          <p:nvPr>
            <p:ph type="sldNum" sz="quarter" idx="12"/>
          </p:nvPr>
        </p:nvSpPr>
        <p:spPr/>
        <p:txBody>
          <a:bodyPr/>
          <a:lstStyle/>
          <a:p>
            <a:fld id="{8256F83C-9D86-480B-90E0-0702DBEB9457}" type="slidenum">
              <a:rPr lang="pt-BR" smtClean="0"/>
              <a:t>31</a:t>
            </a:fld>
            <a:endParaRPr lang="pt-BR"/>
          </a:p>
        </p:txBody>
      </p:sp>
    </p:spTree>
    <p:extLst>
      <p:ext uri="{BB962C8B-B14F-4D97-AF65-F5344CB8AC3E}">
        <p14:creationId xmlns:p14="http://schemas.microsoft.com/office/powerpoint/2010/main" val="5383227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905988" y="942657"/>
            <a:ext cx="3528034" cy="3046988"/>
          </a:xfrm>
          <a:prstGeom prst="rect">
            <a:avLst/>
          </a:prstGeom>
        </p:spPr>
        <p:txBody>
          <a:bodyPr wrap="square">
            <a:spAutoFit/>
          </a:bodyPr>
          <a:lstStyle/>
          <a:p>
            <a:pPr algn="just"/>
            <a:r>
              <a:rPr lang="pt-BR" sz="2400" b="1" dirty="0">
                <a:solidFill>
                  <a:srgbClr val="002060"/>
                </a:solidFill>
                <a:latin typeface="Arial" panose="020B0604020202020204" pitchFamily="34" charset="0"/>
                <a:cs typeface="Arial" panose="020B0604020202020204" pitchFamily="34" charset="0"/>
              </a:rPr>
              <a:t>3º) </a:t>
            </a:r>
            <a:r>
              <a:rPr lang="pt-BR" sz="2400" dirty="0" err="1">
                <a:solidFill>
                  <a:srgbClr val="002060"/>
                </a:solidFill>
                <a:latin typeface="Arial" panose="020B0604020202020204" pitchFamily="34" charset="0"/>
                <a:cs typeface="Arial" panose="020B0604020202020204" pitchFamily="34" charset="0"/>
              </a:rPr>
              <a:t>Tag</a:t>
            </a:r>
            <a:r>
              <a:rPr lang="pt-BR" sz="2400" dirty="0">
                <a:solidFill>
                  <a:srgbClr val="002060"/>
                </a:solidFill>
                <a:latin typeface="Arial" panose="020B0604020202020204" pitchFamily="34" charset="0"/>
                <a:cs typeface="Arial" panose="020B0604020202020204" pitchFamily="34" charset="0"/>
              </a:rPr>
              <a:t> </a:t>
            </a:r>
            <a:r>
              <a:rPr lang="pt-BR" sz="2400" b="1" dirty="0">
                <a:solidFill>
                  <a:srgbClr val="002060"/>
                </a:solidFill>
                <a:latin typeface="Arial" panose="020B0604020202020204" pitchFamily="34" charset="0"/>
                <a:cs typeface="Arial" panose="020B0604020202020204" pitchFamily="34" charset="0"/>
              </a:rPr>
              <a:t>&lt;header&gt;</a:t>
            </a:r>
            <a:r>
              <a:rPr lang="pt-BR" sz="2400" dirty="0">
                <a:solidFill>
                  <a:srgbClr val="002060"/>
                </a:solidFill>
                <a:latin typeface="Arial" panose="020B0604020202020204" pitchFamily="34" charset="0"/>
                <a:cs typeface="Arial" panose="020B0604020202020204" pitchFamily="34" charset="0"/>
              </a:rPr>
              <a:t>: diferentemente do </a:t>
            </a:r>
            <a:r>
              <a:rPr lang="pt-BR" sz="2400" dirty="0" err="1">
                <a:solidFill>
                  <a:srgbClr val="002060"/>
                </a:solidFill>
                <a:latin typeface="Arial" panose="020B0604020202020204" pitchFamily="34" charset="0"/>
                <a:cs typeface="Arial" panose="020B0604020202020204" pitchFamily="34" charset="0"/>
              </a:rPr>
              <a:t>head</a:t>
            </a:r>
            <a:r>
              <a:rPr lang="pt-BR" sz="2400" dirty="0">
                <a:solidFill>
                  <a:srgbClr val="002060"/>
                </a:solidFill>
                <a:latin typeface="Arial" panose="020B0604020202020204" pitchFamily="34" charset="0"/>
                <a:cs typeface="Arial" panose="020B0604020202020204" pitchFamily="34" charset="0"/>
              </a:rPr>
              <a:t>, o header (cabeçalho) contém normalmente logo, slogan, banner de uma página web.</a:t>
            </a:r>
          </a:p>
          <a:p>
            <a:pPr algn="just"/>
            <a:r>
              <a:rPr lang="pt-BR" sz="2400" dirty="0">
                <a:solidFill>
                  <a:srgbClr val="002060"/>
                </a:solidFill>
                <a:latin typeface="Arial" panose="020B0604020202020204" pitchFamily="34" charset="0"/>
                <a:cs typeface="Arial" panose="020B0604020202020204" pitchFamily="34" charset="0"/>
              </a:rPr>
              <a:t>Esta </a:t>
            </a:r>
            <a:r>
              <a:rPr lang="pt-BR" sz="2400" dirty="0" err="1">
                <a:solidFill>
                  <a:srgbClr val="002060"/>
                </a:solidFill>
                <a:latin typeface="Arial" panose="020B0604020202020204" pitchFamily="34" charset="0"/>
                <a:cs typeface="Arial" panose="020B0604020202020204" pitchFamily="34" charset="0"/>
              </a:rPr>
              <a:t>tag</a:t>
            </a:r>
            <a:r>
              <a:rPr lang="pt-BR" sz="2400" dirty="0">
                <a:solidFill>
                  <a:srgbClr val="002060"/>
                </a:solidFill>
                <a:latin typeface="Arial" panose="020B0604020202020204" pitchFamily="34" charset="0"/>
                <a:cs typeface="Arial" panose="020B0604020202020204" pitchFamily="34" charset="0"/>
              </a:rPr>
              <a:t> é dupla </a:t>
            </a:r>
            <a:r>
              <a:rPr lang="pt-BR" sz="2400" b="1" dirty="0">
                <a:solidFill>
                  <a:srgbClr val="002060"/>
                </a:solidFill>
                <a:latin typeface="Arial" panose="020B0604020202020204" pitchFamily="34" charset="0"/>
                <a:cs typeface="Arial" panose="020B0604020202020204" pitchFamily="34" charset="0"/>
              </a:rPr>
              <a:t>&lt;header&gt; &lt;/header&gt;</a:t>
            </a:r>
          </a:p>
        </p:txBody>
      </p:sp>
      <p:pic>
        <p:nvPicPr>
          <p:cNvPr id="3" name="Imagem 2"/>
          <p:cNvPicPr>
            <a:picLocks noChangeAspect="1"/>
          </p:cNvPicPr>
          <p:nvPr/>
        </p:nvPicPr>
        <p:blipFill>
          <a:blip r:embed="rId2"/>
          <a:stretch>
            <a:fillRect/>
          </a:stretch>
        </p:blipFill>
        <p:spPr>
          <a:xfrm>
            <a:off x="4561109" y="942657"/>
            <a:ext cx="7267575" cy="5534025"/>
          </a:xfrm>
          <a:prstGeom prst="rect">
            <a:avLst/>
          </a:prstGeom>
        </p:spPr>
      </p:pic>
      <p:sp>
        <p:nvSpPr>
          <p:cNvPr id="4" name="Retângulo 3"/>
          <p:cNvSpPr/>
          <p:nvPr/>
        </p:nvSpPr>
        <p:spPr>
          <a:xfrm>
            <a:off x="905988" y="480992"/>
            <a:ext cx="10922696" cy="461665"/>
          </a:xfrm>
          <a:prstGeom prst="rect">
            <a:avLst/>
          </a:prstGeom>
        </p:spPr>
        <p:txBody>
          <a:bodyPr wrap="square">
            <a:spAutoFit/>
          </a:bodyPr>
          <a:lstStyle/>
          <a:p>
            <a:r>
              <a:rPr lang="pt-BR" sz="2400" b="1" dirty="0">
                <a:solidFill>
                  <a:srgbClr val="002060"/>
                </a:solidFill>
                <a:latin typeface="Arial" panose="020B0604020202020204" pitchFamily="34" charset="0"/>
                <a:cs typeface="Arial" panose="020B0604020202020204" pitchFamily="34" charset="0"/>
              </a:rPr>
              <a:t>Novos elementos introduzidos com o HTML5:</a:t>
            </a:r>
          </a:p>
        </p:txBody>
      </p:sp>
      <p:sp>
        <p:nvSpPr>
          <p:cNvPr id="5" name="Espaço Reservado para Conteúdo 2"/>
          <p:cNvSpPr txBox="1">
            <a:spLocks/>
          </p:cNvSpPr>
          <p:nvPr/>
        </p:nvSpPr>
        <p:spPr>
          <a:xfrm>
            <a:off x="4208683" y="6476682"/>
            <a:ext cx="7972425" cy="2848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600" b="1" i="1" dirty="0"/>
              <a:t>Fonte:</a:t>
            </a:r>
            <a:r>
              <a:rPr lang="pt-BR" sz="1600" i="1" dirty="0"/>
              <a:t> Livro texto - </a:t>
            </a:r>
            <a:r>
              <a:rPr lang="en-US" sz="1600" i="1" dirty="0"/>
              <a:t>Website Design and Development with HTML5 and CSS3</a:t>
            </a:r>
            <a:endParaRPr lang="pt-BR" sz="1600" i="1" dirty="0"/>
          </a:p>
        </p:txBody>
      </p:sp>
      <p:sp>
        <p:nvSpPr>
          <p:cNvPr id="6" name="Espaço Reservado para Número de Slide 5"/>
          <p:cNvSpPr>
            <a:spLocks noGrp="1"/>
          </p:cNvSpPr>
          <p:nvPr>
            <p:ph type="sldNum" sz="quarter" idx="12"/>
          </p:nvPr>
        </p:nvSpPr>
        <p:spPr/>
        <p:txBody>
          <a:bodyPr/>
          <a:lstStyle/>
          <a:p>
            <a:fld id="{8256F83C-9D86-480B-90E0-0702DBEB9457}" type="slidenum">
              <a:rPr lang="pt-BR" smtClean="0"/>
              <a:t>32</a:t>
            </a:fld>
            <a:endParaRPr lang="pt-BR"/>
          </a:p>
        </p:txBody>
      </p:sp>
    </p:spTree>
    <p:extLst>
      <p:ext uri="{BB962C8B-B14F-4D97-AF65-F5344CB8AC3E}">
        <p14:creationId xmlns:p14="http://schemas.microsoft.com/office/powerpoint/2010/main" val="30408436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2"/>
          <p:cNvSpPr txBox="1">
            <a:spLocks/>
          </p:cNvSpPr>
          <p:nvPr/>
        </p:nvSpPr>
        <p:spPr>
          <a:xfrm>
            <a:off x="763379" y="428624"/>
            <a:ext cx="11095658" cy="113572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2400" b="1" dirty="0"/>
              <a:t>4º) </a:t>
            </a:r>
            <a:r>
              <a:rPr lang="pt-BR" sz="2400" dirty="0" err="1"/>
              <a:t>Tag</a:t>
            </a:r>
            <a:r>
              <a:rPr lang="pt-BR" sz="2400" dirty="0"/>
              <a:t> </a:t>
            </a:r>
            <a:r>
              <a:rPr lang="pt-BR" sz="2400" b="1" dirty="0"/>
              <a:t>&lt;</a:t>
            </a:r>
            <a:r>
              <a:rPr lang="pt-BR" sz="2400" b="1" dirty="0" err="1"/>
              <a:t>footer</a:t>
            </a:r>
            <a:r>
              <a:rPr lang="pt-BR" sz="2400" b="1" dirty="0"/>
              <a:t>&gt;: </a:t>
            </a:r>
            <a:r>
              <a:rPr lang="pt-BR" sz="2400" dirty="0"/>
              <a:t>o </a:t>
            </a:r>
            <a:r>
              <a:rPr lang="pt-BR" sz="2400" dirty="0" err="1"/>
              <a:t>footer</a:t>
            </a:r>
            <a:r>
              <a:rPr lang="pt-BR" sz="2400" dirty="0"/>
              <a:t> (rodapé) geralmente está localizado no fim da página web. Contém informações avisos legais e/ou autoria e/ou links. Dupla </a:t>
            </a:r>
            <a:r>
              <a:rPr lang="pt-BR" sz="2400" dirty="0" err="1"/>
              <a:t>tag</a:t>
            </a:r>
            <a:r>
              <a:rPr lang="pt-BR" sz="2400" dirty="0"/>
              <a:t> </a:t>
            </a:r>
            <a:r>
              <a:rPr lang="pt-BR" sz="2400" b="1" dirty="0"/>
              <a:t>&lt;</a:t>
            </a:r>
            <a:r>
              <a:rPr lang="pt-BR" sz="2400" b="1" dirty="0" err="1"/>
              <a:t>footer</a:t>
            </a:r>
            <a:r>
              <a:rPr lang="pt-BR" sz="2400" b="1" dirty="0"/>
              <a:t>&gt;&lt;/</a:t>
            </a:r>
            <a:r>
              <a:rPr lang="pt-BR" sz="2400" b="1" dirty="0" err="1"/>
              <a:t>footer</a:t>
            </a:r>
            <a:r>
              <a:rPr lang="pt-BR" sz="2400" b="1" dirty="0"/>
              <a:t>&gt;.</a:t>
            </a:r>
          </a:p>
        </p:txBody>
      </p:sp>
      <p:pic>
        <p:nvPicPr>
          <p:cNvPr id="3" name="Imagem 2"/>
          <p:cNvPicPr>
            <a:picLocks noChangeAspect="1"/>
          </p:cNvPicPr>
          <p:nvPr/>
        </p:nvPicPr>
        <p:blipFill>
          <a:blip r:embed="rId2"/>
          <a:stretch>
            <a:fillRect/>
          </a:stretch>
        </p:blipFill>
        <p:spPr>
          <a:xfrm>
            <a:off x="1629186" y="1564344"/>
            <a:ext cx="9078481" cy="4893605"/>
          </a:xfrm>
          <a:prstGeom prst="rect">
            <a:avLst/>
          </a:prstGeom>
        </p:spPr>
      </p:pic>
      <p:sp>
        <p:nvSpPr>
          <p:cNvPr id="4" name="Espaço Reservado para Conteúdo 2"/>
          <p:cNvSpPr txBox="1">
            <a:spLocks/>
          </p:cNvSpPr>
          <p:nvPr/>
        </p:nvSpPr>
        <p:spPr>
          <a:xfrm>
            <a:off x="2324995" y="6457949"/>
            <a:ext cx="7972425" cy="2848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600" b="1" i="1" dirty="0"/>
              <a:t>Fonte:</a:t>
            </a:r>
            <a:r>
              <a:rPr lang="pt-BR" sz="1600" i="1" dirty="0"/>
              <a:t> Livro texto - </a:t>
            </a:r>
            <a:r>
              <a:rPr lang="en-US" sz="1600" i="1" dirty="0"/>
              <a:t>Website Design and Development with HTML5 and CSS3</a:t>
            </a:r>
            <a:endParaRPr lang="pt-BR" sz="1600" i="1" dirty="0"/>
          </a:p>
        </p:txBody>
      </p:sp>
      <p:sp>
        <p:nvSpPr>
          <p:cNvPr id="5" name="Espaço Reservado para Número de Slide 4"/>
          <p:cNvSpPr>
            <a:spLocks noGrp="1"/>
          </p:cNvSpPr>
          <p:nvPr>
            <p:ph type="sldNum" sz="quarter" idx="12"/>
          </p:nvPr>
        </p:nvSpPr>
        <p:spPr/>
        <p:txBody>
          <a:bodyPr/>
          <a:lstStyle/>
          <a:p>
            <a:fld id="{8256F83C-9D86-480B-90E0-0702DBEB9457}" type="slidenum">
              <a:rPr lang="pt-BR" smtClean="0"/>
              <a:t>33</a:t>
            </a:fld>
            <a:endParaRPr lang="pt-BR"/>
          </a:p>
        </p:txBody>
      </p:sp>
    </p:spTree>
    <p:extLst>
      <p:ext uri="{BB962C8B-B14F-4D97-AF65-F5344CB8AC3E}">
        <p14:creationId xmlns:p14="http://schemas.microsoft.com/office/powerpoint/2010/main" val="30916605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2426781" y="433251"/>
            <a:ext cx="7893214" cy="599728"/>
          </a:xfrm>
          <a:prstGeom prst="rect">
            <a:avLst/>
          </a:prstGeom>
        </p:spPr>
        <p:txBody>
          <a:bodyPr/>
          <a:lstStyle>
            <a:lvl1pPr algn="l" defTabSz="914400" rtl="0" eaLnBrk="1" latinLnBrk="0" hangingPunct="1">
              <a:lnSpc>
                <a:spcPct val="90000"/>
              </a:lnSpc>
              <a:spcBef>
                <a:spcPct val="0"/>
              </a:spcBef>
              <a:buNone/>
              <a:defRPr sz="4400" b="1" kern="1200">
                <a:solidFill>
                  <a:srgbClr val="1B4572"/>
                </a:solidFill>
                <a:latin typeface="Arial" panose="020B0604020202020204" pitchFamily="34" charset="0"/>
                <a:ea typeface="+mj-ea"/>
                <a:cs typeface="Arial" panose="020B0604020202020204" pitchFamily="34" charset="0"/>
              </a:defRPr>
            </a:lvl1pPr>
          </a:lstStyle>
          <a:p>
            <a:pPr algn="ctr"/>
            <a:r>
              <a:rPr lang="pt-BR" sz="3200" dirty="0" err="1">
                <a:solidFill>
                  <a:schemeClr val="accent1">
                    <a:lumMod val="50000"/>
                  </a:schemeClr>
                </a:solidFill>
              </a:rPr>
              <a:t>Tag´s</a:t>
            </a:r>
            <a:r>
              <a:rPr lang="pt-BR" sz="3200" dirty="0">
                <a:solidFill>
                  <a:schemeClr val="accent1">
                    <a:lumMod val="50000"/>
                  </a:schemeClr>
                </a:solidFill>
              </a:rPr>
              <a:t> utilizadas na formatação de texto</a:t>
            </a:r>
          </a:p>
        </p:txBody>
      </p:sp>
      <p:sp>
        <p:nvSpPr>
          <p:cNvPr id="3" name="Retângulo Arredondado 2"/>
          <p:cNvSpPr/>
          <p:nvPr/>
        </p:nvSpPr>
        <p:spPr>
          <a:xfrm>
            <a:off x="3056702" y="1123403"/>
            <a:ext cx="2011680" cy="7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900" b="1" dirty="0">
                <a:solidFill>
                  <a:srgbClr val="FFFF00"/>
                </a:solidFill>
              </a:rPr>
              <a:t>&lt;p&gt; novo parágrafo</a:t>
            </a:r>
          </a:p>
        </p:txBody>
      </p:sp>
      <p:sp>
        <p:nvSpPr>
          <p:cNvPr id="4" name="Retângulo Arredondado 3"/>
          <p:cNvSpPr/>
          <p:nvPr/>
        </p:nvSpPr>
        <p:spPr>
          <a:xfrm>
            <a:off x="5367548" y="1123403"/>
            <a:ext cx="2011680" cy="7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900" b="1" dirty="0">
                <a:solidFill>
                  <a:srgbClr val="FFFF00"/>
                </a:solidFill>
              </a:rPr>
              <a:t>&lt;</a:t>
            </a:r>
            <a:r>
              <a:rPr lang="pt-BR" sz="1900" b="1" dirty="0" err="1">
                <a:solidFill>
                  <a:srgbClr val="FFFF00"/>
                </a:solidFill>
              </a:rPr>
              <a:t>blockquote</a:t>
            </a:r>
            <a:r>
              <a:rPr lang="pt-BR" sz="1900" b="1" dirty="0">
                <a:solidFill>
                  <a:srgbClr val="FFFF00"/>
                </a:solidFill>
              </a:rPr>
              <a:t>&gt;</a:t>
            </a:r>
          </a:p>
        </p:txBody>
      </p:sp>
      <p:sp>
        <p:nvSpPr>
          <p:cNvPr id="5" name="Retângulo Arredondado 4"/>
          <p:cNvSpPr/>
          <p:nvPr/>
        </p:nvSpPr>
        <p:spPr>
          <a:xfrm>
            <a:off x="7678394" y="1123403"/>
            <a:ext cx="2011680" cy="7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900" b="1" dirty="0">
                <a:solidFill>
                  <a:srgbClr val="FFFF00"/>
                </a:solidFill>
              </a:rPr>
              <a:t>&lt;</a:t>
            </a:r>
            <a:r>
              <a:rPr lang="pt-BR" sz="1900" b="1" dirty="0" err="1">
                <a:solidFill>
                  <a:srgbClr val="FFFF00"/>
                </a:solidFill>
              </a:rPr>
              <a:t>strong</a:t>
            </a:r>
            <a:r>
              <a:rPr lang="pt-BR" sz="1900" b="1" dirty="0">
                <a:solidFill>
                  <a:srgbClr val="FFFF00"/>
                </a:solidFill>
              </a:rPr>
              <a:t>&gt; negrito</a:t>
            </a:r>
          </a:p>
        </p:txBody>
      </p:sp>
      <p:sp>
        <p:nvSpPr>
          <p:cNvPr id="6" name="Retângulo Arredondado 5"/>
          <p:cNvSpPr/>
          <p:nvPr/>
        </p:nvSpPr>
        <p:spPr>
          <a:xfrm>
            <a:off x="7678394" y="2044772"/>
            <a:ext cx="2011680" cy="7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900" b="1" dirty="0">
                <a:solidFill>
                  <a:srgbClr val="FFFF00"/>
                </a:solidFill>
              </a:rPr>
              <a:t>&lt;b&gt; negrito</a:t>
            </a:r>
          </a:p>
        </p:txBody>
      </p:sp>
      <p:sp>
        <p:nvSpPr>
          <p:cNvPr id="7" name="Retângulo Arredondado 6"/>
          <p:cNvSpPr/>
          <p:nvPr/>
        </p:nvSpPr>
        <p:spPr>
          <a:xfrm>
            <a:off x="5367548" y="2044771"/>
            <a:ext cx="2011680" cy="7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900" b="1" dirty="0">
                <a:solidFill>
                  <a:srgbClr val="FFFF00"/>
                </a:solidFill>
              </a:rPr>
              <a:t>&lt;em&gt; itálico</a:t>
            </a:r>
          </a:p>
        </p:txBody>
      </p:sp>
      <p:sp>
        <p:nvSpPr>
          <p:cNvPr id="8" name="Retângulo Arredondado 7"/>
          <p:cNvSpPr/>
          <p:nvPr/>
        </p:nvSpPr>
        <p:spPr>
          <a:xfrm>
            <a:off x="3056702" y="2044915"/>
            <a:ext cx="2011680" cy="7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900" b="1" dirty="0">
                <a:solidFill>
                  <a:srgbClr val="FFFF00"/>
                </a:solidFill>
              </a:rPr>
              <a:t>&lt;i&gt; itálico</a:t>
            </a:r>
          </a:p>
        </p:txBody>
      </p:sp>
      <p:sp>
        <p:nvSpPr>
          <p:cNvPr id="9" name="Retângulo Arredondado 8"/>
          <p:cNvSpPr/>
          <p:nvPr/>
        </p:nvSpPr>
        <p:spPr>
          <a:xfrm>
            <a:off x="3056702" y="2966428"/>
            <a:ext cx="2011680" cy="7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900" b="1" dirty="0">
                <a:solidFill>
                  <a:srgbClr val="FFFF00"/>
                </a:solidFill>
              </a:rPr>
              <a:t>&lt;</a:t>
            </a:r>
            <a:r>
              <a:rPr lang="pt-BR" sz="1900" b="1" dirty="0" err="1">
                <a:solidFill>
                  <a:srgbClr val="FFFF00"/>
                </a:solidFill>
              </a:rPr>
              <a:t>small</a:t>
            </a:r>
            <a:r>
              <a:rPr lang="pt-BR" sz="1900" b="1" dirty="0">
                <a:solidFill>
                  <a:srgbClr val="FFFF00"/>
                </a:solidFill>
              </a:rPr>
              <a:t>&gt; texto menor tamanho</a:t>
            </a:r>
          </a:p>
        </p:txBody>
      </p:sp>
      <p:sp>
        <p:nvSpPr>
          <p:cNvPr id="10" name="Retângulo Arredondado 9"/>
          <p:cNvSpPr/>
          <p:nvPr/>
        </p:nvSpPr>
        <p:spPr>
          <a:xfrm>
            <a:off x="5367548" y="2966140"/>
            <a:ext cx="2011680" cy="7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900" b="1" dirty="0">
                <a:solidFill>
                  <a:srgbClr val="FFFF00"/>
                </a:solidFill>
              </a:rPr>
              <a:t>&lt;</a:t>
            </a:r>
            <a:r>
              <a:rPr lang="pt-BR" sz="1900" b="1" dirty="0" err="1">
                <a:solidFill>
                  <a:srgbClr val="FFFF00"/>
                </a:solidFill>
              </a:rPr>
              <a:t>abbr</a:t>
            </a:r>
            <a:r>
              <a:rPr lang="pt-BR" sz="1900" b="1" dirty="0">
                <a:solidFill>
                  <a:srgbClr val="FFFF00"/>
                </a:solidFill>
              </a:rPr>
              <a:t>&gt; significado abreviatura</a:t>
            </a:r>
          </a:p>
        </p:txBody>
      </p:sp>
      <p:sp>
        <p:nvSpPr>
          <p:cNvPr id="11" name="Retângulo Arredondado 10"/>
          <p:cNvSpPr/>
          <p:nvPr/>
        </p:nvSpPr>
        <p:spPr>
          <a:xfrm>
            <a:off x="7678394" y="2966139"/>
            <a:ext cx="2011680" cy="7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900" b="1" dirty="0">
                <a:solidFill>
                  <a:srgbClr val="FFFF00"/>
                </a:solidFill>
              </a:rPr>
              <a:t>&lt;</a:t>
            </a:r>
            <a:r>
              <a:rPr lang="pt-BR" sz="1900" b="1" dirty="0" err="1">
                <a:solidFill>
                  <a:srgbClr val="FFFF00"/>
                </a:solidFill>
              </a:rPr>
              <a:t>mark</a:t>
            </a:r>
            <a:r>
              <a:rPr lang="pt-BR" sz="1900" b="1" dirty="0">
                <a:solidFill>
                  <a:srgbClr val="FFFF00"/>
                </a:solidFill>
              </a:rPr>
              <a:t>&gt; destacar um texto</a:t>
            </a:r>
          </a:p>
        </p:txBody>
      </p:sp>
      <p:sp>
        <p:nvSpPr>
          <p:cNvPr id="12" name="Retângulo Arredondado 11"/>
          <p:cNvSpPr/>
          <p:nvPr/>
        </p:nvSpPr>
        <p:spPr>
          <a:xfrm>
            <a:off x="3056702" y="3901431"/>
            <a:ext cx="2011680" cy="7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900" b="1" dirty="0">
                <a:solidFill>
                  <a:srgbClr val="FFFF00"/>
                </a:solidFill>
              </a:rPr>
              <a:t>&lt;var&gt; usado com variáveis</a:t>
            </a:r>
          </a:p>
        </p:txBody>
      </p:sp>
      <p:sp>
        <p:nvSpPr>
          <p:cNvPr id="13" name="Retângulo Arredondado 12"/>
          <p:cNvSpPr/>
          <p:nvPr/>
        </p:nvSpPr>
        <p:spPr>
          <a:xfrm>
            <a:off x="5367548" y="3901431"/>
            <a:ext cx="2011680" cy="7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900" b="1" dirty="0">
                <a:solidFill>
                  <a:srgbClr val="FFFF00"/>
                </a:solidFill>
              </a:rPr>
              <a:t>&lt;</a:t>
            </a:r>
            <a:r>
              <a:rPr lang="pt-BR" sz="1900" b="1" dirty="0" err="1">
                <a:solidFill>
                  <a:srgbClr val="FFFF00"/>
                </a:solidFill>
              </a:rPr>
              <a:t>kbd</a:t>
            </a:r>
            <a:r>
              <a:rPr lang="pt-BR" sz="1900" b="1" dirty="0">
                <a:solidFill>
                  <a:srgbClr val="FFFF00"/>
                </a:solidFill>
              </a:rPr>
              <a:t>&gt; tecla de atalho</a:t>
            </a:r>
          </a:p>
        </p:txBody>
      </p:sp>
      <p:sp>
        <p:nvSpPr>
          <p:cNvPr id="14" name="Retângulo Arredondado 13"/>
          <p:cNvSpPr/>
          <p:nvPr/>
        </p:nvSpPr>
        <p:spPr>
          <a:xfrm>
            <a:off x="7678394" y="3901431"/>
            <a:ext cx="2011680" cy="7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900" b="1" dirty="0">
                <a:solidFill>
                  <a:srgbClr val="FFFF00"/>
                </a:solidFill>
              </a:rPr>
              <a:t>&lt;time&gt; hora</a:t>
            </a:r>
          </a:p>
        </p:txBody>
      </p:sp>
      <p:sp>
        <p:nvSpPr>
          <p:cNvPr id="15" name="Retângulo Arredondado 14"/>
          <p:cNvSpPr/>
          <p:nvPr/>
        </p:nvSpPr>
        <p:spPr>
          <a:xfrm>
            <a:off x="3056702" y="4836434"/>
            <a:ext cx="2011680" cy="7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900" b="1" dirty="0">
                <a:solidFill>
                  <a:srgbClr val="FFFF00"/>
                </a:solidFill>
              </a:rPr>
              <a:t>&lt;sub&gt; subscrito (índice)</a:t>
            </a:r>
          </a:p>
        </p:txBody>
      </p:sp>
      <p:sp>
        <p:nvSpPr>
          <p:cNvPr id="16" name="Retângulo Arredondado 15"/>
          <p:cNvSpPr/>
          <p:nvPr/>
        </p:nvSpPr>
        <p:spPr>
          <a:xfrm>
            <a:off x="5367548" y="4836434"/>
            <a:ext cx="2011680" cy="7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900" b="1" dirty="0">
                <a:solidFill>
                  <a:srgbClr val="FFFF00"/>
                </a:solidFill>
              </a:rPr>
              <a:t>&lt;</a:t>
            </a:r>
            <a:r>
              <a:rPr lang="pt-BR" sz="1900" b="1" dirty="0" err="1">
                <a:solidFill>
                  <a:srgbClr val="FFFF00"/>
                </a:solidFill>
              </a:rPr>
              <a:t>sup</a:t>
            </a:r>
            <a:r>
              <a:rPr lang="pt-BR" sz="1900" b="1" dirty="0">
                <a:solidFill>
                  <a:srgbClr val="FFFF00"/>
                </a:solidFill>
              </a:rPr>
              <a:t>&gt; sobrescrito (</a:t>
            </a:r>
            <a:r>
              <a:rPr lang="pt-BR" sz="1900" b="1" dirty="0" err="1">
                <a:solidFill>
                  <a:srgbClr val="FFFF00"/>
                </a:solidFill>
              </a:rPr>
              <a:t>exp</a:t>
            </a:r>
            <a:r>
              <a:rPr lang="pt-BR" sz="1900" b="1" dirty="0">
                <a:solidFill>
                  <a:srgbClr val="FFFF00"/>
                </a:solidFill>
              </a:rPr>
              <a:t>)</a:t>
            </a:r>
          </a:p>
        </p:txBody>
      </p:sp>
      <p:sp>
        <p:nvSpPr>
          <p:cNvPr id="17" name="Retângulo Arredondado 16"/>
          <p:cNvSpPr/>
          <p:nvPr/>
        </p:nvSpPr>
        <p:spPr>
          <a:xfrm>
            <a:off x="7678394" y="4836434"/>
            <a:ext cx="2011680" cy="7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900" b="1" dirty="0">
                <a:solidFill>
                  <a:srgbClr val="FFFF00"/>
                </a:solidFill>
              </a:rPr>
              <a:t>&lt;</a:t>
            </a:r>
            <a:r>
              <a:rPr lang="pt-BR" sz="1900" b="1" dirty="0" err="1">
                <a:solidFill>
                  <a:srgbClr val="FFFF00"/>
                </a:solidFill>
              </a:rPr>
              <a:t>pre</a:t>
            </a:r>
            <a:r>
              <a:rPr lang="pt-BR" sz="1900" b="1" dirty="0">
                <a:solidFill>
                  <a:srgbClr val="FFFF00"/>
                </a:solidFill>
              </a:rPr>
              <a:t>&gt;                 </a:t>
            </a:r>
            <a:r>
              <a:rPr lang="pt-BR" sz="1900" b="1" dirty="0" err="1">
                <a:solidFill>
                  <a:srgbClr val="FFFF00"/>
                </a:solidFill>
              </a:rPr>
              <a:t>pre-formatado</a:t>
            </a:r>
            <a:endParaRPr lang="pt-BR" sz="1900" b="1" dirty="0">
              <a:solidFill>
                <a:srgbClr val="FFFF00"/>
              </a:solidFill>
            </a:endParaRPr>
          </a:p>
        </p:txBody>
      </p:sp>
      <p:sp>
        <p:nvSpPr>
          <p:cNvPr id="18" name="Retângulo Arredondado 17"/>
          <p:cNvSpPr/>
          <p:nvPr/>
        </p:nvSpPr>
        <p:spPr>
          <a:xfrm>
            <a:off x="4241068" y="5771437"/>
            <a:ext cx="2011680" cy="7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900" b="1" dirty="0">
                <a:solidFill>
                  <a:srgbClr val="FFFF00"/>
                </a:solidFill>
              </a:rPr>
              <a:t>&lt;</a:t>
            </a:r>
            <a:r>
              <a:rPr lang="pt-BR" sz="1900" b="1" dirty="0" err="1">
                <a:solidFill>
                  <a:srgbClr val="FFFF00"/>
                </a:solidFill>
              </a:rPr>
              <a:t>hr</a:t>
            </a:r>
            <a:r>
              <a:rPr lang="pt-BR" sz="1900" b="1" dirty="0">
                <a:solidFill>
                  <a:srgbClr val="FFFF00"/>
                </a:solidFill>
              </a:rPr>
              <a:t>&gt; linha divisória</a:t>
            </a:r>
          </a:p>
        </p:txBody>
      </p:sp>
      <p:sp>
        <p:nvSpPr>
          <p:cNvPr id="19" name="Retângulo Arredondado 18"/>
          <p:cNvSpPr/>
          <p:nvPr/>
        </p:nvSpPr>
        <p:spPr>
          <a:xfrm>
            <a:off x="6551914" y="5771437"/>
            <a:ext cx="2011680" cy="7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900" b="1" dirty="0">
                <a:solidFill>
                  <a:srgbClr val="FFFF00"/>
                </a:solidFill>
              </a:rPr>
              <a:t>&lt;</a:t>
            </a:r>
            <a:r>
              <a:rPr lang="pt-BR" sz="1900" b="1" dirty="0" err="1">
                <a:solidFill>
                  <a:srgbClr val="FFFF00"/>
                </a:solidFill>
              </a:rPr>
              <a:t>br</a:t>
            </a:r>
            <a:r>
              <a:rPr lang="pt-BR" sz="1900" b="1" dirty="0">
                <a:solidFill>
                  <a:srgbClr val="FFFF00"/>
                </a:solidFill>
              </a:rPr>
              <a:t>&gt; (break) quebra de linha</a:t>
            </a:r>
          </a:p>
        </p:txBody>
      </p:sp>
      <p:sp>
        <p:nvSpPr>
          <p:cNvPr id="21" name="Espaço Reservado para Número de Slide 20"/>
          <p:cNvSpPr>
            <a:spLocks noGrp="1"/>
          </p:cNvSpPr>
          <p:nvPr>
            <p:ph type="sldNum" sz="quarter" idx="12"/>
          </p:nvPr>
        </p:nvSpPr>
        <p:spPr/>
        <p:txBody>
          <a:bodyPr/>
          <a:lstStyle/>
          <a:p>
            <a:fld id="{8256F83C-9D86-480B-90E0-0702DBEB9457}" type="slidenum">
              <a:rPr lang="pt-BR" smtClean="0"/>
              <a:t>34</a:t>
            </a:fld>
            <a:endParaRPr lang="pt-BR"/>
          </a:p>
        </p:txBody>
      </p:sp>
    </p:spTree>
    <p:extLst>
      <p:ext uri="{BB962C8B-B14F-4D97-AF65-F5344CB8AC3E}">
        <p14:creationId xmlns:p14="http://schemas.microsoft.com/office/powerpoint/2010/main" val="35234637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2152469" y="331868"/>
            <a:ext cx="8302171" cy="599728"/>
          </a:xfrm>
          <a:prstGeom prst="rect">
            <a:avLst/>
          </a:prstGeom>
        </p:spPr>
        <p:txBody>
          <a:bodyPr/>
          <a:lstStyle>
            <a:lvl1pPr algn="l" defTabSz="914400" rtl="0" eaLnBrk="1" latinLnBrk="0" hangingPunct="1">
              <a:lnSpc>
                <a:spcPct val="90000"/>
              </a:lnSpc>
              <a:spcBef>
                <a:spcPct val="0"/>
              </a:spcBef>
              <a:buNone/>
              <a:defRPr sz="4400" b="1" kern="1200">
                <a:solidFill>
                  <a:srgbClr val="1B4572"/>
                </a:solidFill>
                <a:latin typeface="Arial" panose="020B0604020202020204" pitchFamily="34" charset="0"/>
                <a:ea typeface="+mj-ea"/>
                <a:cs typeface="Arial" panose="020B0604020202020204" pitchFamily="34" charset="0"/>
              </a:defRPr>
            </a:lvl1pPr>
          </a:lstStyle>
          <a:p>
            <a:pPr algn="ctr"/>
            <a:r>
              <a:rPr lang="pt-BR" sz="2800" dirty="0">
                <a:solidFill>
                  <a:schemeClr val="accent1">
                    <a:lumMod val="50000"/>
                  </a:schemeClr>
                </a:solidFill>
              </a:rPr>
              <a:t>Estruturando o texto em formato de listas</a:t>
            </a:r>
          </a:p>
        </p:txBody>
      </p:sp>
      <p:sp>
        <p:nvSpPr>
          <p:cNvPr id="3" name="Retângulo Arredondado 2"/>
          <p:cNvSpPr/>
          <p:nvPr/>
        </p:nvSpPr>
        <p:spPr>
          <a:xfrm>
            <a:off x="2651759" y="914394"/>
            <a:ext cx="7576457" cy="40494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rgbClr val="FFFF00"/>
                </a:solidFill>
                <a:latin typeface="Arial" panose="020B0604020202020204" pitchFamily="34" charset="0"/>
                <a:cs typeface="Arial" panose="020B0604020202020204" pitchFamily="34" charset="0"/>
              </a:rPr>
              <a:t>Lista ordenada - </a:t>
            </a:r>
            <a:r>
              <a:rPr lang="pt-BR" sz="2000" b="1" dirty="0" err="1">
                <a:solidFill>
                  <a:srgbClr val="FFFF00"/>
                </a:solidFill>
                <a:latin typeface="Arial" panose="020B0604020202020204" pitchFamily="34" charset="0"/>
                <a:cs typeface="Arial" panose="020B0604020202020204" pitchFamily="34" charset="0"/>
              </a:rPr>
              <a:t>tag</a:t>
            </a:r>
            <a:r>
              <a:rPr lang="pt-BR" sz="2000" b="1" dirty="0">
                <a:solidFill>
                  <a:srgbClr val="FFFF00"/>
                </a:solidFill>
                <a:latin typeface="Arial" panose="020B0604020202020204" pitchFamily="34" charset="0"/>
                <a:cs typeface="Arial" panose="020B0604020202020204" pitchFamily="34" charset="0"/>
              </a:rPr>
              <a:t> &lt;</a:t>
            </a:r>
            <a:r>
              <a:rPr lang="pt-BR" sz="2000" b="1" dirty="0" err="1">
                <a:solidFill>
                  <a:srgbClr val="FFFF00"/>
                </a:solidFill>
                <a:latin typeface="Arial" panose="020B0604020202020204" pitchFamily="34" charset="0"/>
                <a:cs typeface="Arial" panose="020B0604020202020204" pitchFamily="34" charset="0"/>
              </a:rPr>
              <a:t>ol</a:t>
            </a:r>
            <a:r>
              <a:rPr lang="pt-BR" sz="2000" b="1" dirty="0">
                <a:solidFill>
                  <a:srgbClr val="FFFF00"/>
                </a:solidFill>
                <a:latin typeface="Arial" panose="020B0604020202020204" pitchFamily="34" charset="0"/>
                <a:cs typeface="Arial" panose="020B0604020202020204" pitchFamily="34" charset="0"/>
              </a:rPr>
              <a:t>&gt; - </a:t>
            </a:r>
            <a:r>
              <a:rPr lang="pt-BR" sz="2000" b="1" dirty="0" err="1">
                <a:solidFill>
                  <a:srgbClr val="FFFF00"/>
                </a:solidFill>
                <a:latin typeface="Arial" panose="020B0604020202020204" pitchFamily="34" charset="0"/>
                <a:cs typeface="Arial" panose="020B0604020202020204" pitchFamily="34" charset="0"/>
              </a:rPr>
              <a:t>ordered</a:t>
            </a:r>
            <a:r>
              <a:rPr lang="pt-BR" sz="2000" b="1" dirty="0">
                <a:solidFill>
                  <a:srgbClr val="FFFF00"/>
                </a:solidFill>
                <a:latin typeface="Arial" panose="020B0604020202020204" pitchFamily="34" charset="0"/>
                <a:cs typeface="Arial" panose="020B0604020202020204" pitchFamily="34" charset="0"/>
              </a:rPr>
              <a:t> </a:t>
            </a:r>
            <a:r>
              <a:rPr lang="pt-BR" sz="2000" b="1" dirty="0" err="1">
                <a:solidFill>
                  <a:srgbClr val="FFFF00"/>
                </a:solidFill>
                <a:latin typeface="Arial" panose="020B0604020202020204" pitchFamily="34" charset="0"/>
                <a:cs typeface="Arial" panose="020B0604020202020204" pitchFamily="34" charset="0"/>
              </a:rPr>
              <a:t>list</a:t>
            </a:r>
            <a:endParaRPr lang="pt-BR" sz="2000" b="1" dirty="0">
              <a:solidFill>
                <a:srgbClr val="FFFF00"/>
              </a:solidFill>
              <a:latin typeface="Arial" panose="020B0604020202020204" pitchFamily="34" charset="0"/>
              <a:cs typeface="Arial" panose="020B0604020202020204" pitchFamily="34" charset="0"/>
            </a:endParaRPr>
          </a:p>
        </p:txBody>
      </p:sp>
      <p:sp>
        <p:nvSpPr>
          <p:cNvPr id="4" name="Retângulo Arredondado 3"/>
          <p:cNvSpPr/>
          <p:nvPr/>
        </p:nvSpPr>
        <p:spPr>
          <a:xfrm>
            <a:off x="2651758" y="4541304"/>
            <a:ext cx="7576457" cy="4180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rgbClr val="FFFF00"/>
                </a:solidFill>
                <a:latin typeface="Arial" panose="020B0604020202020204" pitchFamily="34" charset="0"/>
                <a:cs typeface="Arial" panose="020B0604020202020204" pitchFamily="34" charset="0"/>
              </a:rPr>
              <a:t>Lista não ordenada - </a:t>
            </a:r>
            <a:r>
              <a:rPr lang="pt-BR" sz="2000" b="1" dirty="0" err="1">
                <a:solidFill>
                  <a:srgbClr val="FFFF00"/>
                </a:solidFill>
                <a:latin typeface="Arial" panose="020B0604020202020204" pitchFamily="34" charset="0"/>
                <a:cs typeface="Arial" panose="020B0604020202020204" pitchFamily="34" charset="0"/>
              </a:rPr>
              <a:t>tag</a:t>
            </a:r>
            <a:r>
              <a:rPr lang="pt-BR" sz="2000" b="1" dirty="0">
                <a:solidFill>
                  <a:srgbClr val="FFFF00"/>
                </a:solidFill>
                <a:latin typeface="Arial" panose="020B0604020202020204" pitchFamily="34" charset="0"/>
                <a:cs typeface="Arial" panose="020B0604020202020204" pitchFamily="34" charset="0"/>
              </a:rPr>
              <a:t> &lt;</a:t>
            </a:r>
            <a:r>
              <a:rPr lang="pt-BR" sz="2000" b="1" dirty="0" err="1">
                <a:solidFill>
                  <a:srgbClr val="FFFF00"/>
                </a:solidFill>
                <a:latin typeface="Arial" panose="020B0604020202020204" pitchFamily="34" charset="0"/>
                <a:cs typeface="Arial" panose="020B0604020202020204" pitchFamily="34" charset="0"/>
              </a:rPr>
              <a:t>ul</a:t>
            </a:r>
            <a:r>
              <a:rPr lang="pt-BR" sz="2000" b="1" dirty="0">
                <a:solidFill>
                  <a:srgbClr val="FFFF00"/>
                </a:solidFill>
                <a:latin typeface="Arial" panose="020B0604020202020204" pitchFamily="34" charset="0"/>
                <a:cs typeface="Arial" panose="020B0604020202020204" pitchFamily="34" charset="0"/>
              </a:rPr>
              <a:t>&gt; - </a:t>
            </a:r>
            <a:r>
              <a:rPr lang="pt-BR" sz="2000" b="1" dirty="0" err="1">
                <a:solidFill>
                  <a:srgbClr val="FFFF00"/>
                </a:solidFill>
                <a:latin typeface="Arial" panose="020B0604020202020204" pitchFamily="34" charset="0"/>
                <a:cs typeface="Arial" panose="020B0604020202020204" pitchFamily="34" charset="0"/>
              </a:rPr>
              <a:t>unordered</a:t>
            </a:r>
            <a:r>
              <a:rPr lang="pt-BR" sz="2000" b="1" dirty="0">
                <a:solidFill>
                  <a:srgbClr val="FFFF00"/>
                </a:solidFill>
                <a:latin typeface="Arial" panose="020B0604020202020204" pitchFamily="34" charset="0"/>
                <a:cs typeface="Arial" panose="020B0604020202020204" pitchFamily="34" charset="0"/>
              </a:rPr>
              <a:t> </a:t>
            </a:r>
            <a:r>
              <a:rPr lang="pt-BR" sz="2000" b="1" dirty="0" err="1">
                <a:solidFill>
                  <a:srgbClr val="FFFF00"/>
                </a:solidFill>
                <a:latin typeface="Arial" panose="020B0604020202020204" pitchFamily="34" charset="0"/>
                <a:cs typeface="Arial" panose="020B0604020202020204" pitchFamily="34" charset="0"/>
              </a:rPr>
              <a:t>list</a:t>
            </a:r>
            <a:endParaRPr lang="pt-BR" sz="2000" b="1" dirty="0">
              <a:solidFill>
                <a:srgbClr val="FFFF00"/>
              </a:solidFill>
              <a:latin typeface="Arial" panose="020B0604020202020204" pitchFamily="34" charset="0"/>
              <a:cs typeface="Arial" panose="020B0604020202020204" pitchFamily="34" charset="0"/>
            </a:endParaRPr>
          </a:p>
        </p:txBody>
      </p:sp>
      <p:sp>
        <p:nvSpPr>
          <p:cNvPr id="5" name="Retângulo 4"/>
          <p:cNvSpPr/>
          <p:nvPr/>
        </p:nvSpPr>
        <p:spPr>
          <a:xfrm>
            <a:off x="2169888" y="1377958"/>
            <a:ext cx="4601028" cy="1569660"/>
          </a:xfrm>
          <a:prstGeom prst="rect">
            <a:avLst/>
          </a:prstGeom>
        </p:spPr>
        <p:txBody>
          <a:bodyPr wrap="square">
            <a:spAutoFit/>
          </a:bodyPr>
          <a:lstStyle/>
          <a:p>
            <a:pPr algn="just"/>
            <a:r>
              <a:rPr lang="pt-BR" sz="1600" b="1" dirty="0">
                <a:solidFill>
                  <a:srgbClr val="002060"/>
                </a:solidFill>
                <a:latin typeface="Arial" panose="020B0604020202020204" pitchFamily="34" charset="0"/>
                <a:cs typeface="Arial" panose="020B0604020202020204" pitchFamily="34" charset="0"/>
              </a:rPr>
              <a:t>&lt;p&gt; Nesta disciplina iremos aprender:&lt;/p&gt;</a:t>
            </a:r>
          </a:p>
          <a:p>
            <a:pPr algn="just"/>
            <a:r>
              <a:rPr lang="pt-BR" sz="1600" b="1" dirty="0">
                <a:solidFill>
                  <a:srgbClr val="002060"/>
                </a:solidFill>
                <a:latin typeface="Arial" panose="020B0604020202020204" pitchFamily="34" charset="0"/>
                <a:cs typeface="Arial" panose="020B0604020202020204" pitchFamily="34" charset="0"/>
              </a:rPr>
              <a:t>&lt;</a:t>
            </a:r>
            <a:r>
              <a:rPr lang="pt-BR" sz="1600" b="1" dirty="0" err="1">
                <a:solidFill>
                  <a:srgbClr val="002060"/>
                </a:solidFill>
                <a:latin typeface="Arial" panose="020B0604020202020204" pitchFamily="34" charset="0"/>
                <a:cs typeface="Arial" panose="020B0604020202020204" pitchFamily="34" charset="0"/>
              </a:rPr>
              <a:t>ol</a:t>
            </a:r>
            <a:r>
              <a:rPr lang="pt-BR" sz="1600" b="1" dirty="0">
                <a:solidFill>
                  <a:srgbClr val="002060"/>
                </a:solidFill>
                <a:latin typeface="Arial" panose="020B0604020202020204" pitchFamily="34" charset="0"/>
                <a:cs typeface="Arial" panose="020B0604020202020204" pitchFamily="34" charset="0"/>
              </a:rPr>
              <a:t>&gt;</a:t>
            </a:r>
          </a:p>
          <a:p>
            <a:pPr algn="just"/>
            <a:r>
              <a:rPr lang="pt-BR" sz="1600" b="1" dirty="0">
                <a:solidFill>
                  <a:srgbClr val="002060"/>
                </a:solidFill>
                <a:latin typeface="Arial" panose="020B0604020202020204" pitchFamily="34" charset="0"/>
                <a:cs typeface="Arial" panose="020B0604020202020204" pitchFamily="34" charset="0"/>
              </a:rPr>
              <a:t>	&lt;li&gt; HTML5&lt;/li&gt;</a:t>
            </a:r>
          </a:p>
          <a:p>
            <a:pPr algn="just"/>
            <a:r>
              <a:rPr lang="pt-BR" sz="1600" b="1" dirty="0">
                <a:solidFill>
                  <a:srgbClr val="002060"/>
                </a:solidFill>
                <a:latin typeface="Arial" panose="020B0604020202020204" pitchFamily="34" charset="0"/>
                <a:cs typeface="Arial" panose="020B0604020202020204" pitchFamily="34" charset="0"/>
              </a:rPr>
              <a:t>	&lt;li&gt; CSS3&lt;/li&gt;</a:t>
            </a:r>
          </a:p>
          <a:p>
            <a:pPr algn="just"/>
            <a:r>
              <a:rPr lang="pt-BR" sz="1600" b="1" dirty="0">
                <a:solidFill>
                  <a:srgbClr val="002060"/>
                </a:solidFill>
                <a:latin typeface="Arial" panose="020B0604020202020204" pitchFamily="34" charset="0"/>
                <a:cs typeface="Arial" panose="020B0604020202020204" pitchFamily="34" charset="0"/>
              </a:rPr>
              <a:t>	&lt;li&gt; </a:t>
            </a:r>
            <a:r>
              <a:rPr lang="pt-BR" sz="1600" b="1" dirty="0" err="1">
                <a:solidFill>
                  <a:srgbClr val="002060"/>
                </a:solidFill>
                <a:latin typeface="Arial" panose="020B0604020202020204" pitchFamily="34" charset="0"/>
                <a:cs typeface="Arial" panose="020B0604020202020204" pitchFamily="34" charset="0"/>
              </a:rPr>
              <a:t>Javascript</a:t>
            </a:r>
            <a:r>
              <a:rPr lang="pt-BR" sz="1600" b="1" dirty="0">
                <a:solidFill>
                  <a:srgbClr val="002060"/>
                </a:solidFill>
                <a:latin typeface="Arial" panose="020B0604020202020204" pitchFamily="34" charset="0"/>
                <a:cs typeface="Arial" panose="020B0604020202020204" pitchFamily="34" charset="0"/>
              </a:rPr>
              <a:t>&lt;/li&gt;</a:t>
            </a:r>
          </a:p>
          <a:p>
            <a:pPr algn="just"/>
            <a:r>
              <a:rPr lang="pt-BR" sz="1600" b="1" dirty="0">
                <a:solidFill>
                  <a:srgbClr val="002060"/>
                </a:solidFill>
                <a:latin typeface="Arial" panose="020B0604020202020204" pitchFamily="34" charset="0"/>
                <a:cs typeface="Arial" panose="020B0604020202020204" pitchFamily="34" charset="0"/>
              </a:rPr>
              <a:t>&lt;/</a:t>
            </a:r>
            <a:r>
              <a:rPr lang="pt-BR" sz="1600" b="1" dirty="0" err="1">
                <a:solidFill>
                  <a:srgbClr val="002060"/>
                </a:solidFill>
                <a:latin typeface="Arial" panose="020B0604020202020204" pitchFamily="34" charset="0"/>
                <a:cs typeface="Arial" panose="020B0604020202020204" pitchFamily="34" charset="0"/>
              </a:rPr>
              <a:t>ol</a:t>
            </a:r>
            <a:r>
              <a:rPr lang="pt-BR" sz="1600" b="1" dirty="0">
                <a:solidFill>
                  <a:srgbClr val="002060"/>
                </a:solidFill>
                <a:latin typeface="Arial" panose="020B0604020202020204" pitchFamily="34" charset="0"/>
                <a:cs typeface="Arial" panose="020B0604020202020204" pitchFamily="34" charset="0"/>
              </a:rPr>
              <a:t>&gt;</a:t>
            </a:r>
          </a:p>
        </p:txBody>
      </p:sp>
      <p:sp>
        <p:nvSpPr>
          <p:cNvPr id="6" name="Retângulo 5"/>
          <p:cNvSpPr/>
          <p:nvPr/>
        </p:nvSpPr>
        <p:spPr>
          <a:xfrm>
            <a:off x="2169886" y="5143252"/>
            <a:ext cx="4601029" cy="1569660"/>
          </a:xfrm>
          <a:prstGeom prst="rect">
            <a:avLst/>
          </a:prstGeom>
        </p:spPr>
        <p:txBody>
          <a:bodyPr wrap="square">
            <a:spAutoFit/>
          </a:bodyPr>
          <a:lstStyle/>
          <a:p>
            <a:pPr algn="just"/>
            <a:r>
              <a:rPr lang="pt-BR" sz="1600" b="1" dirty="0">
                <a:solidFill>
                  <a:srgbClr val="002060"/>
                </a:solidFill>
                <a:latin typeface="Arial" panose="020B0604020202020204" pitchFamily="34" charset="0"/>
                <a:cs typeface="Arial" panose="020B0604020202020204" pitchFamily="34" charset="0"/>
              </a:rPr>
              <a:t>&lt;p&gt; Nesta disciplina iremos aprender:&lt;/p&gt;</a:t>
            </a:r>
          </a:p>
          <a:p>
            <a:pPr algn="just"/>
            <a:r>
              <a:rPr lang="pt-BR" sz="1600" b="1" dirty="0">
                <a:solidFill>
                  <a:srgbClr val="002060"/>
                </a:solidFill>
                <a:latin typeface="Arial" panose="020B0604020202020204" pitchFamily="34" charset="0"/>
                <a:cs typeface="Arial" panose="020B0604020202020204" pitchFamily="34" charset="0"/>
              </a:rPr>
              <a:t>&lt;</a:t>
            </a:r>
            <a:r>
              <a:rPr lang="pt-BR" sz="1600" b="1" dirty="0" err="1">
                <a:solidFill>
                  <a:srgbClr val="002060"/>
                </a:solidFill>
                <a:latin typeface="Arial" panose="020B0604020202020204" pitchFamily="34" charset="0"/>
                <a:cs typeface="Arial" panose="020B0604020202020204" pitchFamily="34" charset="0"/>
              </a:rPr>
              <a:t>ul</a:t>
            </a:r>
            <a:r>
              <a:rPr lang="pt-BR" sz="1600" b="1" dirty="0">
                <a:solidFill>
                  <a:srgbClr val="002060"/>
                </a:solidFill>
                <a:latin typeface="Arial" panose="020B0604020202020204" pitchFamily="34" charset="0"/>
                <a:cs typeface="Arial" panose="020B0604020202020204" pitchFamily="34" charset="0"/>
              </a:rPr>
              <a:t>&gt;</a:t>
            </a:r>
          </a:p>
          <a:p>
            <a:pPr algn="just"/>
            <a:r>
              <a:rPr lang="pt-BR" sz="1600" b="1" dirty="0">
                <a:solidFill>
                  <a:srgbClr val="002060"/>
                </a:solidFill>
                <a:latin typeface="Arial" panose="020B0604020202020204" pitchFamily="34" charset="0"/>
                <a:cs typeface="Arial" panose="020B0604020202020204" pitchFamily="34" charset="0"/>
              </a:rPr>
              <a:t>	&lt;li&gt; HTML5&lt;/li&gt;</a:t>
            </a:r>
          </a:p>
          <a:p>
            <a:pPr algn="just"/>
            <a:r>
              <a:rPr lang="pt-BR" sz="1600" b="1" dirty="0">
                <a:solidFill>
                  <a:srgbClr val="002060"/>
                </a:solidFill>
                <a:latin typeface="Arial" panose="020B0604020202020204" pitchFamily="34" charset="0"/>
                <a:cs typeface="Arial" panose="020B0604020202020204" pitchFamily="34" charset="0"/>
              </a:rPr>
              <a:t>	&lt;li&gt; CSS3&lt;/li&gt;</a:t>
            </a:r>
          </a:p>
          <a:p>
            <a:pPr algn="just"/>
            <a:r>
              <a:rPr lang="pt-BR" sz="1600" b="1" dirty="0">
                <a:solidFill>
                  <a:srgbClr val="002060"/>
                </a:solidFill>
                <a:latin typeface="Arial" panose="020B0604020202020204" pitchFamily="34" charset="0"/>
                <a:cs typeface="Arial" panose="020B0604020202020204" pitchFamily="34" charset="0"/>
              </a:rPr>
              <a:t>	&lt;li&gt; </a:t>
            </a:r>
            <a:r>
              <a:rPr lang="pt-BR" sz="1600" b="1" dirty="0" err="1">
                <a:solidFill>
                  <a:srgbClr val="002060"/>
                </a:solidFill>
                <a:latin typeface="Arial" panose="020B0604020202020204" pitchFamily="34" charset="0"/>
                <a:cs typeface="Arial" panose="020B0604020202020204" pitchFamily="34" charset="0"/>
              </a:rPr>
              <a:t>Javascript</a:t>
            </a:r>
            <a:r>
              <a:rPr lang="pt-BR" sz="1600" b="1" dirty="0">
                <a:solidFill>
                  <a:srgbClr val="002060"/>
                </a:solidFill>
                <a:latin typeface="Arial" panose="020B0604020202020204" pitchFamily="34" charset="0"/>
                <a:cs typeface="Arial" panose="020B0604020202020204" pitchFamily="34" charset="0"/>
              </a:rPr>
              <a:t>&lt;/li&gt;</a:t>
            </a:r>
          </a:p>
          <a:p>
            <a:pPr algn="just"/>
            <a:r>
              <a:rPr lang="pt-BR" sz="1600" b="1" dirty="0">
                <a:solidFill>
                  <a:srgbClr val="002060"/>
                </a:solidFill>
                <a:latin typeface="Arial" panose="020B0604020202020204" pitchFamily="34" charset="0"/>
                <a:cs typeface="Arial" panose="020B0604020202020204" pitchFamily="34" charset="0"/>
              </a:rPr>
              <a:t>&lt;/</a:t>
            </a:r>
            <a:r>
              <a:rPr lang="pt-BR" sz="1600" b="1" dirty="0" err="1">
                <a:solidFill>
                  <a:srgbClr val="002060"/>
                </a:solidFill>
                <a:latin typeface="Arial" panose="020B0604020202020204" pitchFamily="34" charset="0"/>
                <a:cs typeface="Arial" panose="020B0604020202020204" pitchFamily="34" charset="0"/>
              </a:rPr>
              <a:t>ul</a:t>
            </a:r>
            <a:r>
              <a:rPr lang="pt-BR" sz="1600" b="1" dirty="0">
                <a:solidFill>
                  <a:srgbClr val="002060"/>
                </a:solidFill>
                <a:latin typeface="Arial" panose="020B0604020202020204" pitchFamily="34" charset="0"/>
                <a:cs typeface="Arial" panose="020B0604020202020204" pitchFamily="34" charset="0"/>
              </a:rPr>
              <a:t>&gt;</a:t>
            </a:r>
          </a:p>
        </p:txBody>
      </p:sp>
      <p:sp>
        <p:nvSpPr>
          <p:cNvPr id="7" name="Retângulo 6"/>
          <p:cNvSpPr/>
          <p:nvPr/>
        </p:nvSpPr>
        <p:spPr>
          <a:xfrm>
            <a:off x="6770915" y="1377958"/>
            <a:ext cx="3457300" cy="1107996"/>
          </a:xfrm>
          <a:prstGeom prst="rect">
            <a:avLst/>
          </a:prstGeom>
        </p:spPr>
        <p:txBody>
          <a:bodyPr wrap="square">
            <a:spAutoFit/>
          </a:bodyPr>
          <a:lstStyle/>
          <a:p>
            <a:pPr algn="just"/>
            <a:r>
              <a:rPr lang="pt-BR" sz="1600" b="1" dirty="0">
                <a:solidFill>
                  <a:srgbClr val="002060"/>
                </a:solidFill>
                <a:latin typeface="Arial" panose="020B0604020202020204" pitchFamily="34" charset="0"/>
                <a:cs typeface="Arial" panose="020B0604020202020204" pitchFamily="34" charset="0"/>
              </a:rPr>
              <a:t>Nesta disciplina iremos aprender:</a:t>
            </a:r>
          </a:p>
          <a:p>
            <a:pPr algn="just"/>
            <a:r>
              <a:rPr lang="pt-BR" sz="1600" b="1" dirty="0">
                <a:solidFill>
                  <a:srgbClr val="002060"/>
                </a:solidFill>
                <a:latin typeface="Arial" panose="020B0604020202020204" pitchFamily="34" charset="0"/>
                <a:cs typeface="Arial" panose="020B0604020202020204" pitchFamily="34" charset="0"/>
              </a:rPr>
              <a:t>1. HTML5</a:t>
            </a:r>
          </a:p>
          <a:p>
            <a:pPr algn="just"/>
            <a:r>
              <a:rPr lang="pt-BR" sz="1600" b="1" dirty="0">
                <a:solidFill>
                  <a:srgbClr val="002060"/>
                </a:solidFill>
                <a:latin typeface="Arial" panose="020B0604020202020204" pitchFamily="34" charset="0"/>
                <a:cs typeface="Arial" panose="020B0604020202020204" pitchFamily="34" charset="0"/>
              </a:rPr>
              <a:t>2. CSS3</a:t>
            </a:r>
          </a:p>
          <a:p>
            <a:pPr algn="just"/>
            <a:r>
              <a:rPr lang="pt-BR" sz="1600" b="1" dirty="0">
                <a:solidFill>
                  <a:srgbClr val="002060"/>
                </a:solidFill>
                <a:latin typeface="Arial" panose="020B0604020202020204" pitchFamily="34" charset="0"/>
                <a:cs typeface="Arial" panose="020B0604020202020204" pitchFamily="34" charset="0"/>
              </a:rPr>
              <a:t>3. </a:t>
            </a:r>
            <a:r>
              <a:rPr lang="pt-BR" sz="1600" b="1" dirty="0" err="1">
                <a:solidFill>
                  <a:srgbClr val="002060"/>
                </a:solidFill>
                <a:latin typeface="Arial" panose="020B0604020202020204" pitchFamily="34" charset="0"/>
                <a:cs typeface="Arial" panose="020B0604020202020204" pitchFamily="34" charset="0"/>
              </a:rPr>
              <a:t>Javascript</a:t>
            </a:r>
            <a:endParaRPr lang="pt-BR" sz="1600" b="1" dirty="0">
              <a:solidFill>
                <a:srgbClr val="002060"/>
              </a:solidFill>
              <a:latin typeface="Arial" panose="020B0604020202020204" pitchFamily="34" charset="0"/>
              <a:cs typeface="Arial" panose="020B0604020202020204" pitchFamily="34" charset="0"/>
            </a:endParaRPr>
          </a:p>
        </p:txBody>
      </p:sp>
      <p:sp>
        <p:nvSpPr>
          <p:cNvPr id="8" name="Retângulo 7"/>
          <p:cNvSpPr/>
          <p:nvPr/>
        </p:nvSpPr>
        <p:spPr>
          <a:xfrm>
            <a:off x="6770915" y="5143252"/>
            <a:ext cx="3457300" cy="1107996"/>
          </a:xfrm>
          <a:prstGeom prst="rect">
            <a:avLst/>
          </a:prstGeom>
        </p:spPr>
        <p:txBody>
          <a:bodyPr wrap="square">
            <a:spAutoFit/>
          </a:bodyPr>
          <a:lstStyle/>
          <a:p>
            <a:pPr algn="just"/>
            <a:r>
              <a:rPr lang="pt-BR" sz="1600" b="1" dirty="0">
                <a:solidFill>
                  <a:srgbClr val="002060"/>
                </a:solidFill>
                <a:latin typeface="Arial" panose="020B0604020202020204" pitchFamily="34" charset="0"/>
                <a:cs typeface="Arial" panose="020B0604020202020204" pitchFamily="34" charset="0"/>
              </a:rPr>
              <a:t>Nesta disciplina iremos aprender:</a:t>
            </a:r>
          </a:p>
          <a:p>
            <a:pPr marL="285750" indent="-285750" algn="just">
              <a:buFont typeface="Arial" panose="020B0604020202020204" pitchFamily="34" charset="0"/>
              <a:buChar char="•"/>
            </a:pPr>
            <a:r>
              <a:rPr lang="pt-BR" sz="1600" b="1" dirty="0">
                <a:solidFill>
                  <a:srgbClr val="002060"/>
                </a:solidFill>
                <a:latin typeface="Arial" panose="020B0604020202020204" pitchFamily="34" charset="0"/>
                <a:cs typeface="Arial" panose="020B0604020202020204" pitchFamily="34" charset="0"/>
              </a:rPr>
              <a:t>HTML5</a:t>
            </a:r>
          </a:p>
          <a:p>
            <a:pPr marL="285750" indent="-285750" algn="just">
              <a:buFont typeface="Arial" panose="020B0604020202020204" pitchFamily="34" charset="0"/>
              <a:buChar char="•"/>
            </a:pPr>
            <a:r>
              <a:rPr lang="pt-BR" sz="1600" b="1" dirty="0">
                <a:solidFill>
                  <a:srgbClr val="002060"/>
                </a:solidFill>
                <a:latin typeface="Arial" panose="020B0604020202020204" pitchFamily="34" charset="0"/>
                <a:cs typeface="Arial" panose="020B0604020202020204" pitchFamily="34" charset="0"/>
              </a:rPr>
              <a:t>CSS3</a:t>
            </a:r>
          </a:p>
          <a:p>
            <a:pPr marL="285750" indent="-285750" algn="just">
              <a:buFont typeface="Arial" panose="020B0604020202020204" pitchFamily="34" charset="0"/>
              <a:buChar char="•"/>
            </a:pPr>
            <a:r>
              <a:rPr lang="pt-BR" sz="1600" b="1" dirty="0" err="1">
                <a:solidFill>
                  <a:srgbClr val="002060"/>
                </a:solidFill>
                <a:latin typeface="Arial" panose="020B0604020202020204" pitchFamily="34" charset="0"/>
                <a:cs typeface="Arial" panose="020B0604020202020204" pitchFamily="34" charset="0"/>
              </a:rPr>
              <a:t>Javascript</a:t>
            </a:r>
            <a:endParaRPr lang="pt-BR" sz="1600" b="1" dirty="0">
              <a:solidFill>
                <a:srgbClr val="002060"/>
              </a:solidFill>
              <a:latin typeface="Arial" panose="020B0604020202020204" pitchFamily="34" charset="0"/>
              <a:cs typeface="Arial" panose="020B0604020202020204" pitchFamily="34" charset="0"/>
            </a:endParaRPr>
          </a:p>
        </p:txBody>
      </p:sp>
      <p:sp>
        <p:nvSpPr>
          <p:cNvPr id="9" name="Retângulo 8"/>
          <p:cNvSpPr/>
          <p:nvPr/>
        </p:nvSpPr>
        <p:spPr>
          <a:xfrm>
            <a:off x="2338250" y="2925369"/>
            <a:ext cx="7889965" cy="1421928"/>
          </a:xfrm>
          <a:prstGeom prst="rect">
            <a:avLst/>
          </a:prstGeom>
        </p:spPr>
        <p:txBody>
          <a:bodyPr wrap="square">
            <a:spAutoFit/>
          </a:bodyPr>
          <a:lstStyle/>
          <a:p>
            <a:pPr algn="just">
              <a:lnSpc>
                <a:spcPct val="120000"/>
              </a:lnSpc>
            </a:pPr>
            <a:r>
              <a:rPr lang="pt-BR" b="1" dirty="0">
                <a:solidFill>
                  <a:schemeClr val="accent1">
                    <a:lumMod val="50000"/>
                  </a:schemeClr>
                </a:solidFill>
                <a:latin typeface="Arial" panose="020B0604020202020204" pitchFamily="34" charset="0"/>
                <a:cs typeface="Arial" panose="020B0604020202020204" pitchFamily="34" charset="0"/>
              </a:rPr>
              <a:t>A </a:t>
            </a:r>
            <a:r>
              <a:rPr lang="pt-BR" b="1" dirty="0" err="1">
                <a:solidFill>
                  <a:schemeClr val="accent1">
                    <a:lumMod val="50000"/>
                  </a:schemeClr>
                </a:solidFill>
                <a:latin typeface="Arial" panose="020B0604020202020204" pitchFamily="34" charset="0"/>
                <a:cs typeface="Arial" panose="020B0604020202020204" pitchFamily="34" charset="0"/>
              </a:rPr>
              <a:t>tag</a:t>
            </a:r>
            <a:r>
              <a:rPr lang="pt-BR" b="1" dirty="0">
                <a:solidFill>
                  <a:schemeClr val="accent1">
                    <a:lumMod val="50000"/>
                  </a:schemeClr>
                </a:solidFill>
                <a:latin typeface="Arial" panose="020B0604020202020204" pitchFamily="34" charset="0"/>
                <a:cs typeface="Arial" panose="020B0604020202020204" pitchFamily="34" charset="0"/>
              </a:rPr>
              <a:t> de lista ordenada &lt;</a:t>
            </a:r>
            <a:r>
              <a:rPr lang="pt-BR" b="1" dirty="0" err="1">
                <a:solidFill>
                  <a:schemeClr val="accent1">
                    <a:lumMod val="50000"/>
                  </a:schemeClr>
                </a:solidFill>
                <a:latin typeface="Arial" panose="020B0604020202020204" pitchFamily="34" charset="0"/>
                <a:cs typeface="Arial" panose="020B0604020202020204" pitchFamily="34" charset="0"/>
              </a:rPr>
              <a:t>ol</a:t>
            </a:r>
            <a:r>
              <a:rPr lang="pt-BR" b="1" dirty="0">
                <a:solidFill>
                  <a:schemeClr val="accent1">
                    <a:lumMod val="50000"/>
                  </a:schemeClr>
                </a:solidFill>
                <a:latin typeface="Arial" panose="020B0604020202020204" pitchFamily="34" charset="0"/>
                <a:cs typeface="Arial" panose="020B0604020202020204" pitchFamily="34" charset="0"/>
              </a:rPr>
              <a:t>&gt; pode ter um atributo para definir o que será usado para ordenar a lista. O atributo é </a:t>
            </a:r>
            <a:r>
              <a:rPr lang="pt-BR" b="1" dirty="0" err="1">
                <a:solidFill>
                  <a:schemeClr val="accent1">
                    <a:lumMod val="50000"/>
                  </a:schemeClr>
                </a:solidFill>
                <a:latin typeface="Arial" panose="020B0604020202020204" pitchFamily="34" charset="0"/>
                <a:cs typeface="Arial" panose="020B0604020202020204" pitchFamily="34" charset="0"/>
              </a:rPr>
              <a:t>type</a:t>
            </a:r>
            <a:r>
              <a:rPr lang="pt-BR" b="1" dirty="0">
                <a:solidFill>
                  <a:schemeClr val="accent1">
                    <a:lumMod val="50000"/>
                  </a:schemeClr>
                </a:solidFill>
                <a:latin typeface="Arial" panose="020B0604020202020204" pitchFamily="34" charset="0"/>
                <a:cs typeface="Arial" panose="020B0604020202020204" pitchFamily="34" charset="0"/>
              </a:rPr>
              <a:t>.</a:t>
            </a:r>
          </a:p>
          <a:p>
            <a:pPr algn="just">
              <a:lnSpc>
                <a:spcPct val="120000"/>
              </a:lnSpc>
            </a:pPr>
            <a:r>
              <a:rPr lang="pt-BR" b="1" dirty="0">
                <a:solidFill>
                  <a:schemeClr val="accent1">
                    <a:lumMod val="50000"/>
                  </a:schemeClr>
                </a:solidFill>
                <a:latin typeface="Arial" panose="020B0604020202020204" pitchFamily="34" charset="0"/>
                <a:cs typeface="Arial" panose="020B0604020202020204" pitchFamily="34" charset="0"/>
              </a:rPr>
              <a:t>&lt;</a:t>
            </a:r>
            <a:r>
              <a:rPr lang="pt-BR" b="1" dirty="0" err="1">
                <a:solidFill>
                  <a:schemeClr val="accent1">
                    <a:lumMod val="50000"/>
                  </a:schemeClr>
                </a:solidFill>
                <a:latin typeface="Arial" panose="020B0604020202020204" pitchFamily="34" charset="0"/>
                <a:cs typeface="Arial" panose="020B0604020202020204" pitchFamily="34" charset="0"/>
              </a:rPr>
              <a:t>ol</a:t>
            </a:r>
            <a:r>
              <a:rPr lang="pt-BR" b="1" dirty="0">
                <a:solidFill>
                  <a:schemeClr val="accent1">
                    <a:lumMod val="50000"/>
                  </a:schemeClr>
                </a:solidFill>
                <a:latin typeface="Arial" panose="020B0604020202020204" pitchFamily="34" charset="0"/>
                <a:cs typeface="Arial" panose="020B0604020202020204" pitchFamily="34" charset="0"/>
              </a:rPr>
              <a:t> </a:t>
            </a:r>
            <a:r>
              <a:rPr lang="pt-BR" b="1" dirty="0" err="1">
                <a:solidFill>
                  <a:schemeClr val="accent1">
                    <a:lumMod val="50000"/>
                  </a:schemeClr>
                </a:solidFill>
                <a:latin typeface="Arial" panose="020B0604020202020204" pitchFamily="34" charset="0"/>
                <a:cs typeface="Arial" panose="020B0604020202020204" pitchFamily="34" charset="0"/>
              </a:rPr>
              <a:t>type</a:t>
            </a:r>
            <a:r>
              <a:rPr lang="pt-BR" b="1" dirty="0">
                <a:solidFill>
                  <a:schemeClr val="accent1">
                    <a:lumMod val="50000"/>
                  </a:schemeClr>
                </a:solidFill>
                <a:latin typeface="Arial" panose="020B0604020202020204" pitchFamily="34" charset="0"/>
                <a:cs typeface="Arial" panose="020B0604020202020204" pitchFamily="34" charset="0"/>
              </a:rPr>
              <a:t>=“a”&gt; ou &lt;</a:t>
            </a:r>
            <a:r>
              <a:rPr lang="pt-BR" b="1" dirty="0" err="1">
                <a:solidFill>
                  <a:schemeClr val="accent1">
                    <a:lumMod val="50000"/>
                  </a:schemeClr>
                </a:solidFill>
                <a:latin typeface="Arial" panose="020B0604020202020204" pitchFamily="34" charset="0"/>
                <a:cs typeface="Arial" panose="020B0604020202020204" pitchFamily="34" charset="0"/>
              </a:rPr>
              <a:t>ol</a:t>
            </a:r>
            <a:r>
              <a:rPr lang="pt-BR" b="1" dirty="0">
                <a:solidFill>
                  <a:schemeClr val="accent1">
                    <a:lumMod val="50000"/>
                  </a:schemeClr>
                </a:solidFill>
                <a:latin typeface="Arial" panose="020B0604020202020204" pitchFamily="34" charset="0"/>
                <a:cs typeface="Arial" panose="020B0604020202020204" pitchFamily="34" charset="0"/>
              </a:rPr>
              <a:t> </a:t>
            </a:r>
            <a:r>
              <a:rPr lang="pt-BR" b="1" dirty="0" err="1">
                <a:solidFill>
                  <a:schemeClr val="accent1">
                    <a:lumMod val="50000"/>
                  </a:schemeClr>
                </a:solidFill>
                <a:latin typeface="Arial" panose="020B0604020202020204" pitchFamily="34" charset="0"/>
                <a:cs typeface="Arial" panose="020B0604020202020204" pitchFamily="34" charset="0"/>
              </a:rPr>
              <a:t>type</a:t>
            </a:r>
            <a:r>
              <a:rPr lang="pt-BR" b="1" dirty="0">
                <a:solidFill>
                  <a:schemeClr val="accent1">
                    <a:lumMod val="50000"/>
                  </a:schemeClr>
                </a:solidFill>
                <a:latin typeface="Arial" panose="020B0604020202020204" pitchFamily="34" charset="0"/>
                <a:cs typeface="Arial" panose="020B0604020202020204" pitchFamily="34" charset="0"/>
              </a:rPr>
              <a:t>=“A”&gt;: será usado letras.</a:t>
            </a:r>
          </a:p>
          <a:p>
            <a:pPr algn="just">
              <a:lnSpc>
                <a:spcPct val="120000"/>
              </a:lnSpc>
            </a:pPr>
            <a:r>
              <a:rPr lang="pt-BR" b="1" dirty="0">
                <a:solidFill>
                  <a:schemeClr val="accent1">
                    <a:lumMod val="50000"/>
                  </a:schemeClr>
                </a:solidFill>
                <a:latin typeface="Arial" panose="020B0604020202020204" pitchFamily="34" charset="0"/>
                <a:cs typeface="Arial" panose="020B0604020202020204" pitchFamily="34" charset="0"/>
              </a:rPr>
              <a:t>&lt;</a:t>
            </a:r>
            <a:r>
              <a:rPr lang="pt-BR" b="1" dirty="0" err="1">
                <a:solidFill>
                  <a:schemeClr val="accent1">
                    <a:lumMod val="50000"/>
                  </a:schemeClr>
                </a:solidFill>
                <a:latin typeface="Arial" panose="020B0604020202020204" pitchFamily="34" charset="0"/>
                <a:cs typeface="Arial" panose="020B0604020202020204" pitchFamily="34" charset="0"/>
              </a:rPr>
              <a:t>ol</a:t>
            </a:r>
            <a:r>
              <a:rPr lang="pt-BR" b="1" dirty="0">
                <a:solidFill>
                  <a:schemeClr val="accent1">
                    <a:lumMod val="50000"/>
                  </a:schemeClr>
                </a:solidFill>
                <a:latin typeface="Arial" panose="020B0604020202020204" pitchFamily="34" charset="0"/>
                <a:cs typeface="Arial" panose="020B0604020202020204" pitchFamily="34" charset="0"/>
              </a:rPr>
              <a:t> </a:t>
            </a:r>
            <a:r>
              <a:rPr lang="pt-BR" b="1" dirty="0" err="1">
                <a:solidFill>
                  <a:schemeClr val="accent1">
                    <a:lumMod val="50000"/>
                  </a:schemeClr>
                </a:solidFill>
                <a:latin typeface="Arial" panose="020B0604020202020204" pitchFamily="34" charset="0"/>
                <a:cs typeface="Arial" panose="020B0604020202020204" pitchFamily="34" charset="0"/>
              </a:rPr>
              <a:t>type</a:t>
            </a:r>
            <a:r>
              <a:rPr lang="pt-BR" b="1" dirty="0">
                <a:solidFill>
                  <a:schemeClr val="accent1">
                    <a:lumMod val="50000"/>
                  </a:schemeClr>
                </a:solidFill>
                <a:latin typeface="Arial" panose="020B0604020202020204" pitchFamily="34" charset="0"/>
                <a:cs typeface="Arial" panose="020B0604020202020204" pitchFamily="34" charset="0"/>
              </a:rPr>
              <a:t>=“i”&gt; &lt;</a:t>
            </a:r>
            <a:r>
              <a:rPr lang="pt-BR" b="1" dirty="0" err="1">
                <a:solidFill>
                  <a:schemeClr val="accent1">
                    <a:lumMod val="50000"/>
                  </a:schemeClr>
                </a:solidFill>
                <a:latin typeface="Arial" panose="020B0604020202020204" pitchFamily="34" charset="0"/>
                <a:cs typeface="Arial" panose="020B0604020202020204" pitchFamily="34" charset="0"/>
              </a:rPr>
              <a:t>ol</a:t>
            </a:r>
            <a:r>
              <a:rPr lang="pt-BR" b="1" dirty="0">
                <a:solidFill>
                  <a:schemeClr val="accent1">
                    <a:lumMod val="50000"/>
                  </a:schemeClr>
                </a:solidFill>
                <a:latin typeface="Arial" panose="020B0604020202020204" pitchFamily="34" charset="0"/>
                <a:cs typeface="Arial" panose="020B0604020202020204" pitchFamily="34" charset="0"/>
              </a:rPr>
              <a:t> </a:t>
            </a:r>
            <a:r>
              <a:rPr lang="pt-BR" b="1" dirty="0" err="1">
                <a:solidFill>
                  <a:schemeClr val="accent1">
                    <a:lumMod val="50000"/>
                  </a:schemeClr>
                </a:solidFill>
                <a:latin typeface="Arial" panose="020B0604020202020204" pitchFamily="34" charset="0"/>
                <a:cs typeface="Arial" panose="020B0604020202020204" pitchFamily="34" charset="0"/>
              </a:rPr>
              <a:t>type</a:t>
            </a:r>
            <a:r>
              <a:rPr lang="pt-BR" b="1" dirty="0">
                <a:solidFill>
                  <a:schemeClr val="accent1">
                    <a:lumMod val="50000"/>
                  </a:schemeClr>
                </a:solidFill>
                <a:latin typeface="Arial" panose="020B0604020202020204" pitchFamily="34" charset="0"/>
                <a:cs typeface="Arial" panose="020B0604020202020204" pitchFamily="34" charset="0"/>
              </a:rPr>
              <a:t>=“I”&gt;: será usado números romanos.</a:t>
            </a:r>
          </a:p>
        </p:txBody>
      </p:sp>
      <p:sp>
        <p:nvSpPr>
          <p:cNvPr id="10" name="Espaço Reservado para Número de Slide 9"/>
          <p:cNvSpPr>
            <a:spLocks noGrp="1"/>
          </p:cNvSpPr>
          <p:nvPr>
            <p:ph type="sldNum" sz="quarter" idx="12"/>
          </p:nvPr>
        </p:nvSpPr>
        <p:spPr/>
        <p:txBody>
          <a:bodyPr/>
          <a:lstStyle/>
          <a:p>
            <a:fld id="{8256F83C-9D86-480B-90E0-0702DBEB9457}" type="slidenum">
              <a:rPr lang="pt-BR" smtClean="0"/>
              <a:t>35</a:t>
            </a:fld>
            <a:endParaRPr lang="pt-BR"/>
          </a:p>
        </p:txBody>
      </p:sp>
    </p:spTree>
    <p:extLst>
      <p:ext uri="{BB962C8B-B14F-4D97-AF65-F5344CB8AC3E}">
        <p14:creationId xmlns:p14="http://schemas.microsoft.com/office/powerpoint/2010/main" val="34124716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405780" y="381000"/>
            <a:ext cx="11377263" cy="599728"/>
          </a:xfrm>
          <a:prstGeom prst="rect">
            <a:avLst/>
          </a:prstGeom>
        </p:spPr>
        <p:txBody>
          <a:bodyPr/>
          <a:lstStyle>
            <a:lvl1pPr algn="l" defTabSz="914400" rtl="0" eaLnBrk="1" latinLnBrk="0" hangingPunct="1">
              <a:lnSpc>
                <a:spcPct val="90000"/>
              </a:lnSpc>
              <a:spcBef>
                <a:spcPct val="0"/>
              </a:spcBef>
              <a:buNone/>
              <a:defRPr sz="4400" b="1" kern="1200">
                <a:solidFill>
                  <a:srgbClr val="1B4572"/>
                </a:solidFill>
                <a:latin typeface="Arial" panose="020B0604020202020204" pitchFamily="34" charset="0"/>
                <a:ea typeface="+mj-ea"/>
                <a:cs typeface="Arial" panose="020B0604020202020204" pitchFamily="34" charset="0"/>
              </a:defRPr>
            </a:lvl1pPr>
          </a:lstStyle>
          <a:p>
            <a:pPr algn="ctr"/>
            <a:r>
              <a:rPr lang="pt-BR" sz="3200" dirty="0">
                <a:solidFill>
                  <a:schemeClr val="accent1">
                    <a:lumMod val="50000"/>
                  </a:schemeClr>
                </a:solidFill>
              </a:rPr>
              <a:t>Estruturando o texto em uma página web - títulos</a:t>
            </a:r>
          </a:p>
        </p:txBody>
      </p:sp>
      <p:sp>
        <p:nvSpPr>
          <p:cNvPr id="3" name="Espaço Reservado para Conteúdo 2"/>
          <p:cNvSpPr txBox="1">
            <a:spLocks/>
          </p:cNvSpPr>
          <p:nvPr/>
        </p:nvSpPr>
        <p:spPr>
          <a:xfrm>
            <a:off x="796834" y="980728"/>
            <a:ext cx="10986208" cy="146243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pt-BR" sz="2400" b="1" dirty="0"/>
              <a:t>Títulos:</a:t>
            </a:r>
            <a:r>
              <a:rPr lang="pt-BR" sz="2400" dirty="0"/>
              <a:t> para alterar o tamanho da fonte em HTML5 de um título deve-se usar o </a:t>
            </a:r>
            <a:r>
              <a:rPr lang="pt-BR" sz="2400" dirty="0" err="1"/>
              <a:t>tag</a:t>
            </a:r>
            <a:r>
              <a:rPr lang="pt-BR" sz="2400" dirty="0"/>
              <a:t> &lt;</a:t>
            </a:r>
            <a:r>
              <a:rPr lang="pt-BR" sz="2400" dirty="0" err="1"/>
              <a:t>hx</a:t>
            </a:r>
            <a:r>
              <a:rPr lang="pt-BR" sz="2400" dirty="0"/>
              <a:t>&gt;, onde h vem de header e o x é um inteiro de 1 a 6. Este número significa o nível de grandeza. A </a:t>
            </a:r>
            <a:r>
              <a:rPr lang="pt-BR" sz="2400" dirty="0" err="1"/>
              <a:t>tag</a:t>
            </a:r>
            <a:r>
              <a:rPr lang="pt-BR" sz="2400" dirty="0"/>
              <a:t> &lt;h1&gt; deixa o título maior que a </a:t>
            </a:r>
            <a:r>
              <a:rPr lang="pt-BR" sz="2400" dirty="0" err="1"/>
              <a:t>tag</a:t>
            </a:r>
            <a:r>
              <a:rPr lang="pt-BR" sz="2400" dirty="0"/>
              <a:t> &lt;h2&gt; e assim por diante. Portanto, a </a:t>
            </a:r>
            <a:r>
              <a:rPr lang="pt-BR" sz="2400" dirty="0" err="1"/>
              <a:t>tag</a:t>
            </a:r>
            <a:r>
              <a:rPr lang="pt-BR" sz="2400" dirty="0"/>
              <a:t> &lt;h6&gt; indica o título com menor tamanho.</a:t>
            </a:r>
          </a:p>
          <a:p>
            <a:pPr marL="0" indent="0" algn="just">
              <a:buNone/>
            </a:pPr>
            <a:endParaRPr lang="pt-BR" sz="2400" dirty="0"/>
          </a:p>
        </p:txBody>
      </p:sp>
      <p:pic>
        <p:nvPicPr>
          <p:cNvPr id="5" name="Imagem 4"/>
          <p:cNvPicPr>
            <a:picLocks noChangeAspect="1"/>
          </p:cNvPicPr>
          <p:nvPr/>
        </p:nvPicPr>
        <p:blipFill>
          <a:blip r:embed="rId2"/>
          <a:stretch>
            <a:fillRect/>
          </a:stretch>
        </p:blipFill>
        <p:spPr>
          <a:xfrm>
            <a:off x="1833562" y="2443163"/>
            <a:ext cx="4067176" cy="4230457"/>
          </a:xfrm>
          <a:prstGeom prst="rect">
            <a:avLst/>
          </a:prstGeom>
        </p:spPr>
      </p:pic>
      <p:pic>
        <p:nvPicPr>
          <p:cNvPr id="6" name="Imagem 5"/>
          <p:cNvPicPr>
            <a:picLocks noChangeAspect="1"/>
          </p:cNvPicPr>
          <p:nvPr/>
        </p:nvPicPr>
        <p:blipFill>
          <a:blip r:embed="rId3"/>
          <a:stretch>
            <a:fillRect/>
          </a:stretch>
        </p:blipFill>
        <p:spPr>
          <a:xfrm>
            <a:off x="6886575" y="2443163"/>
            <a:ext cx="3121071" cy="4230457"/>
          </a:xfrm>
          <a:prstGeom prst="rect">
            <a:avLst/>
          </a:prstGeom>
        </p:spPr>
      </p:pic>
      <p:sp>
        <p:nvSpPr>
          <p:cNvPr id="4" name="Espaço Reservado para Número de Slide 3"/>
          <p:cNvSpPr>
            <a:spLocks noGrp="1"/>
          </p:cNvSpPr>
          <p:nvPr>
            <p:ph type="sldNum" sz="quarter" idx="12"/>
          </p:nvPr>
        </p:nvSpPr>
        <p:spPr/>
        <p:txBody>
          <a:bodyPr/>
          <a:lstStyle/>
          <a:p>
            <a:fld id="{8256F83C-9D86-480B-90E0-0702DBEB9457}" type="slidenum">
              <a:rPr lang="pt-BR" smtClean="0"/>
              <a:t>36</a:t>
            </a:fld>
            <a:endParaRPr lang="pt-BR"/>
          </a:p>
        </p:txBody>
      </p:sp>
    </p:spTree>
    <p:extLst>
      <p:ext uri="{BB962C8B-B14F-4D97-AF65-F5344CB8AC3E}">
        <p14:creationId xmlns:p14="http://schemas.microsoft.com/office/powerpoint/2010/main" val="12610093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2429691" y="315685"/>
            <a:ext cx="7681306" cy="599728"/>
          </a:xfrm>
          <a:prstGeom prst="rect">
            <a:avLst/>
          </a:prstGeom>
        </p:spPr>
        <p:txBody>
          <a:bodyPr/>
          <a:lstStyle>
            <a:lvl1pPr algn="l" defTabSz="914400" rtl="0" eaLnBrk="1" latinLnBrk="0" hangingPunct="1">
              <a:lnSpc>
                <a:spcPct val="90000"/>
              </a:lnSpc>
              <a:spcBef>
                <a:spcPct val="0"/>
              </a:spcBef>
              <a:buNone/>
              <a:defRPr sz="4400" b="1" kern="1200">
                <a:solidFill>
                  <a:srgbClr val="1B4572"/>
                </a:solidFill>
                <a:latin typeface="Arial" panose="020B0604020202020204" pitchFamily="34" charset="0"/>
                <a:ea typeface="+mj-ea"/>
                <a:cs typeface="Arial" panose="020B0604020202020204" pitchFamily="34" charset="0"/>
              </a:defRPr>
            </a:lvl1pPr>
          </a:lstStyle>
          <a:p>
            <a:pPr algn="ctr"/>
            <a:r>
              <a:rPr lang="pt-BR" sz="2800" dirty="0">
                <a:solidFill>
                  <a:schemeClr val="accent1">
                    <a:lumMod val="50000"/>
                  </a:schemeClr>
                </a:solidFill>
              </a:rPr>
              <a:t>Inserindo imagens, sons e vídeos em página web</a:t>
            </a:r>
          </a:p>
        </p:txBody>
      </p:sp>
      <p:sp>
        <p:nvSpPr>
          <p:cNvPr id="3" name="Retângulo 2"/>
          <p:cNvSpPr/>
          <p:nvPr/>
        </p:nvSpPr>
        <p:spPr>
          <a:xfrm>
            <a:off x="2262056" y="1252757"/>
            <a:ext cx="8016575" cy="923330"/>
          </a:xfrm>
          <a:prstGeom prst="rect">
            <a:avLst/>
          </a:prstGeom>
        </p:spPr>
        <p:txBody>
          <a:bodyPr wrap="square">
            <a:spAutoFit/>
          </a:bodyPr>
          <a:lstStyle/>
          <a:p>
            <a:pPr algn="just"/>
            <a:r>
              <a:rPr lang="pt-BR" dirty="0">
                <a:solidFill>
                  <a:srgbClr val="002060"/>
                </a:solidFill>
                <a:latin typeface="Arial" panose="020B0604020202020204" pitchFamily="34" charset="0"/>
                <a:cs typeface="Arial" panose="020B0604020202020204" pitchFamily="34" charset="0"/>
              </a:rPr>
              <a:t>a) &lt;</a:t>
            </a:r>
            <a:r>
              <a:rPr lang="pt-BR" dirty="0" err="1">
                <a:solidFill>
                  <a:srgbClr val="002060"/>
                </a:solidFill>
                <a:latin typeface="Arial" panose="020B0604020202020204" pitchFamily="34" charset="0"/>
                <a:cs typeface="Arial" panose="020B0604020202020204" pitchFamily="34" charset="0"/>
              </a:rPr>
              <a:t>img</a:t>
            </a:r>
            <a:r>
              <a:rPr lang="pt-BR" dirty="0">
                <a:solidFill>
                  <a:srgbClr val="002060"/>
                </a:solidFill>
                <a:latin typeface="Arial" panose="020B0604020202020204" pitchFamily="34" charset="0"/>
                <a:cs typeface="Arial" panose="020B0604020202020204" pitchFamily="34" charset="0"/>
              </a:rPr>
              <a:t> src=“logo.png”&gt; ou &lt;</a:t>
            </a:r>
            <a:r>
              <a:rPr lang="pt-BR" dirty="0" err="1">
                <a:solidFill>
                  <a:srgbClr val="002060"/>
                </a:solidFill>
                <a:latin typeface="Arial" panose="020B0604020202020204" pitchFamily="34" charset="0"/>
                <a:cs typeface="Arial" panose="020B0604020202020204" pitchFamily="34" charset="0"/>
              </a:rPr>
              <a:t>img</a:t>
            </a:r>
            <a:r>
              <a:rPr lang="pt-BR" dirty="0">
                <a:solidFill>
                  <a:srgbClr val="002060"/>
                </a:solidFill>
                <a:latin typeface="Arial" panose="020B0604020202020204" pitchFamily="34" charset="0"/>
                <a:cs typeface="Arial" panose="020B0604020202020204" pitchFamily="34" charset="0"/>
              </a:rPr>
              <a:t> src=“logo.png” width=“200” height=“100”&gt;</a:t>
            </a:r>
          </a:p>
          <a:p>
            <a:pPr algn="just"/>
            <a:r>
              <a:rPr lang="pt-BR" dirty="0">
                <a:solidFill>
                  <a:srgbClr val="002060"/>
                </a:solidFill>
                <a:latin typeface="Arial" panose="020B0604020202020204" pitchFamily="34" charset="0"/>
                <a:cs typeface="Arial" panose="020B0604020202020204" pitchFamily="34" charset="0"/>
              </a:rPr>
              <a:t>b) &lt;</a:t>
            </a:r>
            <a:r>
              <a:rPr lang="pt-BR" dirty="0" err="1">
                <a:solidFill>
                  <a:srgbClr val="002060"/>
                </a:solidFill>
                <a:latin typeface="Arial" panose="020B0604020202020204" pitchFamily="34" charset="0"/>
                <a:cs typeface="Arial" panose="020B0604020202020204" pitchFamily="34" charset="0"/>
              </a:rPr>
              <a:t>img</a:t>
            </a:r>
            <a:r>
              <a:rPr lang="pt-BR" dirty="0">
                <a:solidFill>
                  <a:srgbClr val="002060"/>
                </a:solidFill>
                <a:latin typeface="Arial" panose="020B0604020202020204" pitchFamily="34" charset="0"/>
                <a:cs typeface="Arial" panose="020B0604020202020204" pitchFamily="34" charset="0"/>
              </a:rPr>
              <a:t> src=“/</a:t>
            </a:r>
            <a:r>
              <a:rPr lang="pt-BR" dirty="0" err="1">
                <a:solidFill>
                  <a:srgbClr val="002060"/>
                </a:solidFill>
                <a:latin typeface="Arial" panose="020B0604020202020204" pitchFamily="34" charset="0"/>
                <a:cs typeface="Arial" panose="020B0604020202020204" pitchFamily="34" charset="0"/>
              </a:rPr>
              <a:t>html</a:t>
            </a:r>
            <a:r>
              <a:rPr lang="pt-BR" dirty="0">
                <a:solidFill>
                  <a:srgbClr val="002060"/>
                </a:solidFill>
                <a:latin typeface="Arial" panose="020B0604020202020204" pitchFamily="34" charset="0"/>
                <a:cs typeface="Arial" panose="020B0604020202020204" pitchFamily="34" charset="0"/>
              </a:rPr>
              <a:t>/</a:t>
            </a:r>
            <a:r>
              <a:rPr lang="pt-BR" dirty="0" err="1">
                <a:solidFill>
                  <a:srgbClr val="002060"/>
                </a:solidFill>
                <a:latin typeface="Arial" panose="020B0604020202020204" pitchFamily="34" charset="0"/>
                <a:cs typeface="Arial" panose="020B0604020202020204" pitchFamily="34" charset="0"/>
              </a:rPr>
              <a:t>images</a:t>
            </a:r>
            <a:r>
              <a:rPr lang="pt-BR" dirty="0">
                <a:solidFill>
                  <a:srgbClr val="002060"/>
                </a:solidFill>
                <a:latin typeface="Arial" panose="020B0604020202020204" pitchFamily="34" charset="0"/>
                <a:cs typeface="Arial" panose="020B0604020202020204" pitchFamily="34" charset="0"/>
              </a:rPr>
              <a:t>/logo.png”&gt;</a:t>
            </a:r>
          </a:p>
          <a:p>
            <a:pPr algn="just"/>
            <a:r>
              <a:rPr lang="pt-BR" dirty="0">
                <a:solidFill>
                  <a:srgbClr val="002060"/>
                </a:solidFill>
                <a:latin typeface="Arial" panose="020B0604020202020204" pitchFamily="34" charset="0"/>
                <a:cs typeface="Arial" panose="020B0604020202020204" pitchFamily="34" charset="0"/>
              </a:rPr>
              <a:t>c) &lt;</a:t>
            </a:r>
            <a:r>
              <a:rPr lang="pt-BR" dirty="0" err="1">
                <a:solidFill>
                  <a:srgbClr val="002060"/>
                </a:solidFill>
                <a:latin typeface="Arial" panose="020B0604020202020204" pitchFamily="34" charset="0"/>
                <a:cs typeface="Arial" panose="020B0604020202020204" pitchFamily="34" charset="0"/>
              </a:rPr>
              <a:t>img</a:t>
            </a:r>
            <a:r>
              <a:rPr lang="pt-BR" dirty="0">
                <a:solidFill>
                  <a:srgbClr val="002060"/>
                </a:solidFill>
                <a:latin typeface="Arial" panose="020B0604020202020204" pitchFamily="34" charset="0"/>
                <a:cs typeface="Arial" panose="020B0604020202020204" pitchFamily="34" charset="0"/>
              </a:rPr>
              <a:t> src=“http://www.novosite.com/figuras/imagem.png”&gt;</a:t>
            </a:r>
          </a:p>
        </p:txBody>
      </p:sp>
      <p:sp>
        <p:nvSpPr>
          <p:cNvPr id="4" name="Retângulo 3"/>
          <p:cNvSpPr/>
          <p:nvPr/>
        </p:nvSpPr>
        <p:spPr>
          <a:xfrm>
            <a:off x="2263893" y="2176087"/>
            <a:ext cx="8014738" cy="954107"/>
          </a:xfrm>
          <a:prstGeom prst="rect">
            <a:avLst/>
          </a:prstGeom>
        </p:spPr>
        <p:txBody>
          <a:bodyPr wrap="square">
            <a:spAutoFit/>
          </a:bodyPr>
          <a:lstStyle/>
          <a:p>
            <a:pPr algn="just"/>
            <a:r>
              <a:rPr lang="pt-BR" sz="2000" b="1" dirty="0">
                <a:solidFill>
                  <a:srgbClr val="002060"/>
                </a:solidFill>
                <a:latin typeface="Arial" panose="020B0604020202020204" pitchFamily="34" charset="0"/>
                <a:cs typeface="Arial" panose="020B0604020202020204" pitchFamily="34" charset="0"/>
              </a:rPr>
              <a:t>Como clicar numa figura e ser redirecionado para um site? </a:t>
            </a:r>
          </a:p>
          <a:p>
            <a:pPr algn="just"/>
            <a:r>
              <a:rPr lang="pt-BR" dirty="0">
                <a:solidFill>
                  <a:srgbClr val="002060"/>
                </a:solidFill>
                <a:latin typeface="Arial" panose="020B0604020202020204" pitchFamily="34" charset="0"/>
                <a:cs typeface="Arial" panose="020B0604020202020204" pitchFamily="34" charset="0"/>
              </a:rPr>
              <a:t>&lt;a </a:t>
            </a:r>
            <a:r>
              <a:rPr lang="pt-BR" dirty="0" err="1">
                <a:solidFill>
                  <a:srgbClr val="002060"/>
                </a:solidFill>
                <a:latin typeface="Arial" panose="020B0604020202020204" pitchFamily="34" charset="0"/>
                <a:cs typeface="Arial" panose="020B0604020202020204" pitchFamily="34" charset="0"/>
              </a:rPr>
              <a:t>href</a:t>
            </a:r>
            <a:r>
              <a:rPr lang="pt-BR" dirty="0">
                <a:solidFill>
                  <a:srgbClr val="002060"/>
                </a:solidFill>
                <a:latin typeface="Arial" panose="020B0604020202020204" pitchFamily="34" charset="0"/>
                <a:cs typeface="Arial" panose="020B0604020202020204" pitchFamily="34" charset="0"/>
              </a:rPr>
              <a:t>=“http://www.infoescola.com/geografia/mapa-do-brasil”&gt;</a:t>
            </a:r>
          </a:p>
          <a:p>
            <a:pPr algn="just"/>
            <a:r>
              <a:rPr lang="pt-BR" dirty="0">
                <a:solidFill>
                  <a:srgbClr val="002060"/>
                </a:solidFill>
                <a:latin typeface="Arial" panose="020B0604020202020204" pitchFamily="34" charset="0"/>
                <a:cs typeface="Arial" panose="020B0604020202020204" pitchFamily="34" charset="0"/>
              </a:rPr>
              <a:t>&lt;</a:t>
            </a:r>
            <a:r>
              <a:rPr lang="pt-BR" dirty="0" err="1">
                <a:solidFill>
                  <a:srgbClr val="002060"/>
                </a:solidFill>
                <a:latin typeface="Arial" panose="020B0604020202020204" pitchFamily="34" charset="0"/>
                <a:cs typeface="Arial" panose="020B0604020202020204" pitchFamily="34" charset="0"/>
              </a:rPr>
              <a:t>img</a:t>
            </a:r>
            <a:r>
              <a:rPr lang="pt-BR" dirty="0">
                <a:solidFill>
                  <a:srgbClr val="002060"/>
                </a:solidFill>
                <a:latin typeface="Arial" panose="020B0604020202020204" pitchFamily="34" charset="0"/>
                <a:cs typeface="Arial" panose="020B0604020202020204" pitchFamily="34" charset="0"/>
              </a:rPr>
              <a:t> src=“mapa_brasil.png” width=“200” height=“200”&gt; &lt;/a&gt;</a:t>
            </a:r>
          </a:p>
        </p:txBody>
      </p:sp>
      <p:pic>
        <p:nvPicPr>
          <p:cNvPr id="5" name="Imagem 4"/>
          <p:cNvPicPr>
            <a:picLocks noChangeAspect="1"/>
          </p:cNvPicPr>
          <p:nvPr/>
        </p:nvPicPr>
        <p:blipFill>
          <a:blip r:embed="rId2"/>
          <a:stretch>
            <a:fillRect/>
          </a:stretch>
        </p:blipFill>
        <p:spPr>
          <a:xfrm>
            <a:off x="4702623" y="3233664"/>
            <a:ext cx="2956560" cy="3434104"/>
          </a:xfrm>
          <a:prstGeom prst="rect">
            <a:avLst/>
          </a:prstGeom>
        </p:spPr>
      </p:pic>
      <p:sp>
        <p:nvSpPr>
          <p:cNvPr id="6" name="Retângulo 5"/>
          <p:cNvSpPr/>
          <p:nvPr/>
        </p:nvSpPr>
        <p:spPr>
          <a:xfrm>
            <a:off x="4598120" y="6479177"/>
            <a:ext cx="1998617" cy="21471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Seta para a Direita 6"/>
          <p:cNvSpPr/>
          <p:nvPr/>
        </p:nvSpPr>
        <p:spPr>
          <a:xfrm rot="13352556">
            <a:off x="6250586" y="4325291"/>
            <a:ext cx="447365" cy="380282"/>
          </a:xfrm>
          <a:prstGeom prst="righ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spaço Reservado para Número de Slide 7"/>
          <p:cNvSpPr>
            <a:spLocks noGrp="1"/>
          </p:cNvSpPr>
          <p:nvPr>
            <p:ph type="sldNum" sz="quarter" idx="12"/>
          </p:nvPr>
        </p:nvSpPr>
        <p:spPr/>
        <p:txBody>
          <a:bodyPr/>
          <a:lstStyle/>
          <a:p>
            <a:fld id="{8256F83C-9D86-480B-90E0-0702DBEB9457}" type="slidenum">
              <a:rPr lang="pt-BR" smtClean="0"/>
              <a:t>37</a:t>
            </a:fld>
            <a:endParaRPr lang="pt-BR"/>
          </a:p>
        </p:txBody>
      </p:sp>
    </p:spTree>
    <p:extLst>
      <p:ext uri="{BB962C8B-B14F-4D97-AF65-F5344CB8AC3E}">
        <p14:creationId xmlns:p14="http://schemas.microsoft.com/office/powerpoint/2010/main" val="25374326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2211976" y="636955"/>
            <a:ext cx="7519851" cy="707886"/>
          </a:xfrm>
          <a:prstGeom prst="rect">
            <a:avLst/>
          </a:prstGeom>
        </p:spPr>
        <p:txBody>
          <a:bodyPr wrap="square">
            <a:spAutoFit/>
          </a:bodyPr>
          <a:lstStyle/>
          <a:p>
            <a:pPr algn="just"/>
            <a:r>
              <a:rPr lang="pt-BR" sz="2000" b="1" dirty="0">
                <a:solidFill>
                  <a:srgbClr val="002060"/>
                </a:solidFill>
                <a:latin typeface="Arial" panose="020B0604020202020204" pitchFamily="34" charset="0"/>
                <a:cs typeface="Arial" panose="020B0604020202020204" pitchFamily="34" charset="0"/>
              </a:rPr>
              <a:t>Como clicar numa determinada região da figura e ser redirecionado para um site? </a:t>
            </a:r>
          </a:p>
        </p:txBody>
      </p:sp>
      <p:pic>
        <p:nvPicPr>
          <p:cNvPr id="3" name="Imagem 2"/>
          <p:cNvPicPr>
            <a:picLocks noChangeAspect="1"/>
          </p:cNvPicPr>
          <p:nvPr/>
        </p:nvPicPr>
        <p:blipFill>
          <a:blip r:embed="rId2"/>
          <a:stretch>
            <a:fillRect/>
          </a:stretch>
        </p:blipFill>
        <p:spPr>
          <a:xfrm>
            <a:off x="2358154" y="2366299"/>
            <a:ext cx="3768325" cy="4038156"/>
          </a:xfrm>
          <a:prstGeom prst="rect">
            <a:avLst/>
          </a:prstGeom>
        </p:spPr>
      </p:pic>
      <p:sp>
        <p:nvSpPr>
          <p:cNvPr id="4" name="Retângulo 3"/>
          <p:cNvSpPr/>
          <p:nvPr/>
        </p:nvSpPr>
        <p:spPr>
          <a:xfrm>
            <a:off x="2109960" y="1463155"/>
            <a:ext cx="8214050" cy="784830"/>
          </a:xfrm>
          <a:prstGeom prst="rect">
            <a:avLst/>
          </a:prstGeom>
        </p:spPr>
        <p:txBody>
          <a:bodyPr wrap="square">
            <a:spAutoFit/>
          </a:bodyPr>
          <a:lstStyle/>
          <a:p>
            <a:r>
              <a:rPr lang="pt-BR" sz="1500" dirty="0">
                <a:solidFill>
                  <a:srgbClr val="002060"/>
                </a:solidFill>
                <a:latin typeface="Arial" panose="020B0604020202020204" pitchFamily="34" charset="0"/>
                <a:cs typeface="Arial" panose="020B0604020202020204" pitchFamily="34" charset="0"/>
              </a:rPr>
              <a:t>&lt;</a:t>
            </a:r>
            <a:r>
              <a:rPr lang="pt-BR" sz="1500" b="1" dirty="0" err="1">
                <a:solidFill>
                  <a:srgbClr val="002060"/>
                </a:solidFill>
                <a:latin typeface="Arial" panose="020B0604020202020204" pitchFamily="34" charset="0"/>
                <a:cs typeface="Arial" panose="020B0604020202020204" pitchFamily="34" charset="0"/>
              </a:rPr>
              <a:t>map</a:t>
            </a:r>
            <a:r>
              <a:rPr lang="pt-BR" sz="1500" dirty="0">
                <a:solidFill>
                  <a:srgbClr val="002060"/>
                </a:solidFill>
                <a:latin typeface="Arial" panose="020B0604020202020204" pitchFamily="34" charset="0"/>
                <a:cs typeface="Arial" panose="020B0604020202020204" pitchFamily="34" charset="0"/>
              </a:rPr>
              <a:t> </a:t>
            </a:r>
            <a:r>
              <a:rPr lang="pt-BR" sz="1500" b="1" i="1" dirty="0" err="1">
                <a:solidFill>
                  <a:srgbClr val="002060"/>
                </a:solidFill>
                <a:latin typeface="Arial" panose="020B0604020202020204" pitchFamily="34" charset="0"/>
                <a:cs typeface="Arial" panose="020B0604020202020204" pitchFamily="34" charset="0"/>
              </a:rPr>
              <a:t>name</a:t>
            </a:r>
            <a:r>
              <a:rPr lang="pt-BR" sz="1500" dirty="0">
                <a:solidFill>
                  <a:srgbClr val="002060"/>
                </a:solidFill>
                <a:latin typeface="Arial" panose="020B0604020202020204" pitchFamily="34" charset="0"/>
                <a:cs typeface="Arial" panose="020B0604020202020204" pitchFamily="34" charset="0"/>
              </a:rPr>
              <a:t>="mapa"&gt;</a:t>
            </a:r>
          </a:p>
          <a:p>
            <a:r>
              <a:rPr lang="pt-BR" sz="1500" dirty="0">
                <a:solidFill>
                  <a:srgbClr val="002060"/>
                </a:solidFill>
                <a:latin typeface="Arial" panose="020B0604020202020204" pitchFamily="34" charset="0"/>
                <a:cs typeface="Arial" panose="020B0604020202020204" pitchFamily="34" charset="0"/>
              </a:rPr>
              <a:t>  &lt;</a:t>
            </a:r>
            <a:r>
              <a:rPr lang="pt-BR" sz="1500" b="1" dirty="0" err="1">
                <a:solidFill>
                  <a:srgbClr val="002060"/>
                </a:solidFill>
                <a:latin typeface="Arial" panose="020B0604020202020204" pitchFamily="34" charset="0"/>
                <a:cs typeface="Arial" panose="020B0604020202020204" pitchFamily="34" charset="0"/>
              </a:rPr>
              <a:t>area</a:t>
            </a:r>
            <a:r>
              <a:rPr lang="pt-BR" sz="1500" b="1" dirty="0">
                <a:solidFill>
                  <a:srgbClr val="002060"/>
                </a:solidFill>
                <a:latin typeface="Arial" panose="020B0604020202020204" pitchFamily="34" charset="0"/>
                <a:cs typeface="Arial" panose="020B0604020202020204" pitchFamily="34" charset="0"/>
              </a:rPr>
              <a:t> </a:t>
            </a:r>
            <a:r>
              <a:rPr lang="pt-BR" sz="1500" b="1" i="1" dirty="0">
                <a:solidFill>
                  <a:srgbClr val="002060"/>
                </a:solidFill>
                <a:latin typeface="Arial" panose="020B0604020202020204" pitchFamily="34" charset="0"/>
                <a:cs typeface="Arial" panose="020B0604020202020204" pitchFamily="34" charset="0"/>
              </a:rPr>
              <a:t>shape</a:t>
            </a:r>
            <a:r>
              <a:rPr lang="pt-BR" sz="1500" dirty="0">
                <a:solidFill>
                  <a:srgbClr val="002060"/>
                </a:solidFill>
                <a:latin typeface="Arial" panose="020B0604020202020204" pitchFamily="34" charset="0"/>
                <a:cs typeface="Arial" panose="020B0604020202020204" pitchFamily="34" charset="0"/>
              </a:rPr>
              <a:t>="rect" </a:t>
            </a:r>
            <a:r>
              <a:rPr lang="pt-BR" sz="1500" b="1" i="1" dirty="0">
                <a:solidFill>
                  <a:srgbClr val="002060"/>
                </a:solidFill>
                <a:latin typeface="Arial" panose="020B0604020202020204" pitchFamily="34" charset="0"/>
                <a:cs typeface="Arial" panose="020B0604020202020204" pitchFamily="34" charset="0"/>
              </a:rPr>
              <a:t>coords</a:t>
            </a:r>
            <a:r>
              <a:rPr lang="pt-BR" sz="1500" dirty="0">
                <a:solidFill>
                  <a:srgbClr val="002060"/>
                </a:solidFill>
                <a:latin typeface="Arial" panose="020B0604020202020204" pitchFamily="34" charset="0"/>
                <a:cs typeface="Arial" panose="020B0604020202020204" pitchFamily="34" charset="0"/>
              </a:rPr>
              <a:t>="50,50,150,150“ </a:t>
            </a:r>
            <a:r>
              <a:rPr lang="pt-BR" sz="1500" b="1" i="1" dirty="0" err="1">
                <a:solidFill>
                  <a:srgbClr val="002060"/>
                </a:solidFill>
                <a:latin typeface="Arial" panose="020B0604020202020204" pitchFamily="34" charset="0"/>
                <a:cs typeface="Arial" panose="020B0604020202020204" pitchFamily="34" charset="0"/>
              </a:rPr>
              <a:t>href</a:t>
            </a:r>
            <a:r>
              <a:rPr lang="pt-BR" sz="1500" b="1" i="1" dirty="0">
                <a:solidFill>
                  <a:srgbClr val="002060"/>
                </a:solidFill>
                <a:latin typeface="Arial" panose="020B0604020202020204" pitchFamily="34" charset="0"/>
                <a:cs typeface="Arial" panose="020B0604020202020204" pitchFamily="34" charset="0"/>
              </a:rPr>
              <a:t> </a:t>
            </a:r>
            <a:r>
              <a:rPr lang="pt-BR" sz="1500" dirty="0">
                <a:solidFill>
                  <a:srgbClr val="002060"/>
                </a:solidFill>
                <a:latin typeface="Arial" panose="020B0604020202020204" pitchFamily="34" charset="0"/>
                <a:cs typeface="Arial" panose="020B0604020202020204" pitchFamily="34" charset="0"/>
              </a:rPr>
              <a:t>= "https://pt.wikipedia.org/wiki/Amazonas"&gt;</a:t>
            </a:r>
          </a:p>
          <a:p>
            <a:r>
              <a:rPr lang="pt-BR" sz="1500" dirty="0">
                <a:solidFill>
                  <a:srgbClr val="002060"/>
                </a:solidFill>
                <a:latin typeface="Arial" panose="020B0604020202020204" pitchFamily="34" charset="0"/>
                <a:cs typeface="Arial" panose="020B0604020202020204" pitchFamily="34" charset="0"/>
              </a:rPr>
              <a:t>&lt;</a:t>
            </a:r>
            <a:r>
              <a:rPr lang="pt-BR" sz="1500" b="1" dirty="0">
                <a:solidFill>
                  <a:srgbClr val="002060"/>
                </a:solidFill>
                <a:latin typeface="Arial" panose="020B0604020202020204" pitchFamily="34" charset="0"/>
                <a:cs typeface="Arial" panose="020B0604020202020204" pitchFamily="34" charset="0"/>
              </a:rPr>
              <a:t>/</a:t>
            </a:r>
            <a:r>
              <a:rPr lang="pt-BR" sz="1500" b="1" dirty="0" err="1">
                <a:solidFill>
                  <a:srgbClr val="002060"/>
                </a:solidFill>
                <a:latin typeface="Arial" panose="020B0604020202020204" pitchFamily="34" charset="0"/>
                <a:cs typeface="Arial" panose="020B0604020202020204" pitchFamily="34" charset="0"/>
              </a:rPr>
              <a:t>map</a:t>
            </a:r>
            <a:r>
              <a:rPr lang="pt-BR" sz="1500" dirty="0">
                <a:solidFill>
                  <a:srgbClr val="002060"/>
                </a:solidFill>
                <a:latin typeface="Arial" panose="020B0604020202020204" pitchFamily="34" charset="0"/>
                <a:cs typeface="Arial" panose="020B0604020202020204" pitchFamily="34" charset="0"/>
              </a:rPr>
              <a:t>&gt;</a:t>
            </a:r>
          </a:p>
        </p:txBody>
      </p:sp>
      <p:pic>
        <p:nvPicPr>
          <p:cNvPr id="5" name="Imagem 4"/>
          <p:cNvPicPr>
            <a:picLocks noChangeAspect="1"/>
          </p:cNvPicPr>
          <p:nvPr/>
        </p:nvPicPr>
        <p:blipFill>
          <a:blip r:embed="rId3"/>
          <a:stretch>
            <a:fillRect/>
          </a:stretch>
        </p:blipFill>
        <p:spPr>
          <a:xfrm>
            <a:off x="6277010" y="2366300"/>
            <a:ext cx="3768325" cy="4038156"/>
          </a:xfrm>
          <a:prstGeom prst="rect">
            <a:avLst/>
          </a:prstGeom>
        </p:spPr>
      </p:pic>
      <p:sp>
        <p:nvSpPr>
          <p:cNvPr id="6" name="Retângulo 5"/>
          <p:cNvSpPr/>
          <p:nvPr/>
        </p:nvSpPr>
        <p:spPr>
          <a:xfrm>
            <a:off x="6216985" y="6189737"/>
            <a:ext cx="2090992" cy="21471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spaço Reservado para Número de Slide 6"/>
          <p:cNvSpPr>
            <a:spLocks noGrp="1"/>
          </p:cNvSpPr>
          <p:nvPr>
            <p:ph type="sldNum" sz="quarter" idx="12"/>
          </p:nvPr>
        </p:nvSpPr>
        <p:spPr/>
        <p:txBody>
          <a:bodyPr/>
          <a:lstStyle/>
          <a:p>
            <a:fld id="{8256F83C-9D86-480B-90E0-0702DBEB9457}" type="slidenum">
              <a:rPr lang="pt-BR" smtClean="0"/>
              <a:t>38</a:t>
            </a:fld>
            <a:endParaRPr lang="pt-BR"/>
          </a:p>
        </p:txBody>
      </p:sp>
    </p:spTree>
    <p:extLst>
      <p:ext uri="{BB962C8B-B14F-4D97-AF65-F5344CB8AC3E}">
        <p14:creationId xmlns:p14="http://schemas.microsoft.com/office/powerpoint/2010/main" val="29115980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txBox="1">
            <a:spLocks/>
          </p:cNvSpPr>
          <p:nvPr/>
        </p:nvSpPr>
        <p:spPr>
          <a:xfrm>
            <a:off x="1817603" y="701027"/>
            <a:ext cx="7511142" cy="409316"/>
          </a:xfrm>
          <a:prstGeom prst="rect">
            <a:avLst/>
          </a:prstGeom>
        </p:spPr>
        <p:txBody>
          <a:bodyPr>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pt-BR" b="1"/>
              <a:t>Estrutura de uma tabela</a:t>
            </a:r>
            <a:endParaRPr lang="pt-BR" b="1" dirty="0"/>
          </a:p>
        </p:txBody>
      </p:sp>
      <p:graphicFrame>
        <p:nvGraphicFramePr>
          <p:cNvPr id="3" name="Tabela 2"/>
          <p:cNvGraphicFramePr>
            <a:graphicFrameLocks noGrp="1"/>
          </p:cNvGraphicFramePr>
          <p:nvPr>
            <p:extLst>
              <p:ext uri="{D42A27DB-BD31-4B8C-83A1-F6EECF244321}">
                <p14:modId xmlns:p14="http://schemas.microsoft.com/office/powerpoint/2010/main" val="2942995521"/>
              </p:ext>
            </p:extLst>
          </p:nvPr>
        </p:nvGraphicFramePr>
        <p:xfrm>
          <a:off x="2889690" y="1647196"/>
          <a:ext cx="5366968" cy="1584960"/>
        </p:xfrm>
        <a:graphic>
          <a:graphicData uri="http://schemas.openxmlformats.org/drawingml/2006/table">
            <a:tbl>
              <a:tblPr firstRow="1" bandRow="1">
                <a:tableStyleId>{5C22544A-7EE6-4342-B048-85BDC9FD1C3A}</a:tableStyleId>
              </a:tblPr>
              <a:tblGrid>
                <a:gridCol w="1551681">
                  <a:extLst>
                    <a:ext uri="{9D8B030D-6E8A-4147-A177-3AD203B41FA5}">
                      <a16:colId xmlns:a16="http://schemas.microsoft.com/office/drawing/2014/main" val="4278870914"/>
                    </a:ext>
                  </a:extLst>
                </a:gridCol>
                <a:gridCol w="3815287">
                  <a:extLst>
                    <a:ext uri="{9D8B030D-6E8A-4147-A177-3AD203B41FA5}">
                      <a16:colId xmlns:a16="http://schemas.microsoft.com/office/drawing/2014/main" val="3212262377"/>
                    </a:ext>
                  </a:extLst>
                </a:gridCol>
              </a:tblGrid>
              <a:tr h="390609">
                <a:tc>
                  <a:txBody>
                    <a:bodyPr/>
                    <a:lstStyle/>
                    <a:p>
                      <a:pPr algn="ctr"/>
                      <a:r>
                        <a:rPr lang="pt-BR" sz="2000" b="1" dirty="0">
                          <a:solidFill>
                            <a:srgbClr val="002060"/>
                          </a:solidFill>
                          <a:latin typeface="Arial" panose="020B0604020202020204" pitchFamily="34" charset="0"/>
                          <a:cs typeface="Arial" panose="020B0604020202020204" pitchFamily="34" charset="0"/>
                        </a:rPr>
                        <a:t>&lt;</a:t>
                      </a:r>
                      <a:r>
                        <a:rPr lang="pt-BR" sz="2000" b="1" dirty="0" err="1">
                          <a:solidFill>
                            <a:srgbClr val="002060"/>
                          </a:solidFill>
                          <a:latin typeface="Arial" panose="020B0604020202020204" pitchFamily="34" charset="0"/>
                          <a:cs typeface="Arial" panose="020B0604020202020204" pitchFamily="34" charset="0"/>
                        </a:rPr>
                        <a:t>caption</a:t>
                      </a:r>
                      <a:r>
                        <a:rPr lang="pt-BR" sz="2000" b="1" dirty="0">
                          <a:solidFill>
                            <a:srgbClr val="002060"/>
                          </a:solidFill>
                          <a:latin typeface="Arial" panose="020B0604020202020204" pitchFamily="34" charset="0"/>
                          <a:cs typeface="Arial" panose="020B0604020202020204" pitchFamily="34" charset="0"/>
                        </a:rPr>
                        <a:t>&gt;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sz="2000" b="1" baseline="0" dirty="0">
                          <a:solidFill>
                            <a:srgbClr val="002060"/>
                          </a:solidFill>
                          <a:latin typeface="Arial" panose="020B0604020202020204" pitchFamily="34" charset="0"/>
                          <a:cs typeface="Arial" panose="020B0604020202020204" pitchFamily="34" charset="0"/>
                        </a:rPr>
                        <a:t>Legenda da tabela</a:t>
                      </a:r>
                      <a:endParaRPr lang="pt-BR" sz="2000" b="1" dirty="0">
                        <a:solidFill>
                          <a:srgbClr val="002060"/>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966822"/>
                  </a:ext>
                </a:extLst>
              </a:tr>
              <a:tr h="370840">
                <a:tc>
                  <a:txBody>
                    <a:bodyPr/>
                    <a:lstStyle/>
                    <a:p>
                      <a:pPr algn="ctr"/>
                      <a:r>
                        <a:rPr lang="pt-BR" sz="2000" b="1" dirty="0">
                          <a:solidFill>
                            <a:srgbClr val="002060"/>
                          </a:solidFill>
                          <a:latin typeface="Arial" panose="020B0604020202020204" pitchFamily="34" charset="0"/>
                          <a:cs typeface="Arial" panose="020B0604020202020204" pitchFamily="34" charset="0"/>
                        </a:rPr>
                        <a:t>&lt;</a:t>
                      </a:r>
                      <a:r>
                        <a:rPr lang="pt-BR" sz="2000" b="1" dirty="0" err="1">
                          <a:solidFill>
                            <a:srgbClr val="002060"/>
                          </a:solidFill>
                          <a:latin typeface="Arial" panose="020B0604020202020204" pitchFamily="34" charset="0"/>
                          <a:cs typeface="Arial" panose="020B0604020202020204" pitchFamily="34" charset="0"/>
                        </a:rPr>
                        <a:t>thead</a:t>
                      </a:r>
                      <a:r>
                        <a:rPr lang="pt-BR" sz="2000" b="1" dirty="0">
                          <a:solidFill>
                            <a:srgbClr val="002060"/>
                          </a:solidFill>
                          <a:latin typeface="Arial" panose="020B0604020202020204" pitchFamily="34" charset="0"/>
                          <a:cs typeface="Arial" panose="020B0604020202020204" pitchFamily="34" charset="0"/>
                        </a:rPr>
                        <a:t>&gt;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sz="2000" b="1" dirty="0">
                          <a:solidFill>
                            <a:srgbClr val="002060"/>
                          </a:solidFill>
                          <a:latin typeface="Arial" panose="020B0604020202020204" pitchFamily="34" charset="0"/>
                          <a:cs typeface="Arial" panose="020B0604020202020204" pitchFamily="34" charset="0"/>
                        </a:rPr>
                        <a:t>Cabeçalho</a:t>
                      </a:r>
                      <a:r>
                        <a:rPr lang="pt-BR" sz="2000" b="1" baseline="0" dirty="0">
                          <a:solidFill>
                            <a:srgbClr val="002060"/>
                          </a:solidFill>
                          <a:latin typeface="Arial" panose="020B0604020202020204" pitchFamily="34" charset="0"/>
                          <a:cs typeface="Arial" panose="020B0604020202020204" pitchFamily="34" charset="0"/>
                        </a:rPr>
                        <a:t> de uma tabela.</a:t>
                      </a:r>
                      <a:endParaRPr lang="pt-BR" sz="2000" b="1" dirty="0">
                        <a:solidFill>
                          <a:srgbClr val="002060"/>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2172302"/>
                  </a:ext>
                </a:extLst>
              </a:tr>
              <a:tr h="370840">
                <a:tc>
                  <a:txBody>
                    <a:bodyPr/>
                    <a:lstStyle/>
                    <a:p>
                      <a:pPr algn="ctr"/>
                      <a:r>
                        <a:rPr lang="pt-BR" sz="2000" b="1" dirty="0">
                          <a:solidFill>
                            <a:srgbClr val="002060"/>
                          </a:solidFill>
                          <a:latin typeface="Arial" panose="020B0604020202020204" pitchFamily="34" charset="0"/>
                          <a:cs typeface="Arial" panose="020B0604020202020204" pitchFamily="34" charset="0"/>
                        </a:rPr>
                        <a:t>&lt;</a:t>
                      </a:r>
                      <a:r>
                        <a:rPr lang="pt-BR" sz="2000" b="1" dirty="0" err="1">
                          <a:solidFill>
                            <a:srgbClr val="002060"/>
                          </a:solidFill>
                          <a:latin typeface="Arial" panose="020B0604020202020204" pitchFamily="34" charset="0"/>
                          <a:cs typeface="Arial" panose="020B0604020202020204" pitchFamily="34" charset="0"/>
                        </a:rPr>
                        <a:t>tbody</a:t>
                      </a:r>
                      <a:r>
                        <a:rPr lang="pt-BR" sz="2000" b="1" dirty="0">
                          <a:solidFill>
                            <a:srgbClr val="002060"/>
                          </a:solidFill>
                          <a:latin typeface="Arial" panose="020B0604020202020204" pitchFamily="34" charset="0"/>
                          <a:cs typeface="Arial" panose="020B0604020202020204" pitchFamily="34" charset="0"/>
                        </a:rPr>
                        <a:t>&gt;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sz="2000" b="1" dirty="0">
                          <a:solidFill>
                            <a:srgbClr val="002060"/>
                          </a:solidFill>
                          <a:latin typeface="Arial" panose="020B0604020202020204" pitchFamily="34" charset="0"/>
                          <a:cs typeface="Arial" panose="020B0604020202020204" pitchFamily="34" charset="0"/>
                        </a:rPr>
                        <a:t>Corpo da </a:t>
                      </a:r>
                      <a:r>
                        <a:rPr lang="pt-BR" sz="2000" b="1" baseline="0" dirty="0">
                          <a:solidFill>
                            <a:srgbClr val="002060"/>
                          </a:solidFill>
                          <a:latin typeface="Arial" panose="020B0604020202020204" pitchFamily="34" charset="0"/>
                          <a:cs typeface="Arial" panose="020B0604020202020204" pitchFamily="34" charset="0"/>
                        </a:rPr>
                        <a:t>tabela.</a:t>
                      </a:r>
                      <a:endParaRPr lang="pt-BR" sz="2000" b="1" dirty="0">
                        <a:solidFill>
                          <a:srgbClr val="002060"/>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6546460"/>
                  </a:ext>
                </a:extLst>
              </a:tr>
              <a:tr h="370840">
                <a:tc>
                  <a:txBody>
                    <a:bodyPr/>
                    <a:lstStyle/>
                    <a:p>
                      <a:pPr algn="ctr"/>
                      <a:r>
                        <a:rPr lang="pt-BR" sz="2000" b="1" dirty="0">
                          <a:solidFill>
                            <a:srgbClr val="002060"/>
                          </a:solidFill>
                          <a:latin typeface="Arial" panose="020B0604020202020204" pitchFamily="34" charset="0"/>
                          <a:cs typeface="Arial" panose="020B0604020202020204" pitchFamily="34" charset="0"/>
                        </a:rPr>
                        <a:t>&lt;</a:t>
                      </a:r>
                      <a:r>
                        <a:rPr lang="pt-BR" sz="2000" b="1" dirty="0" err="1">
                          <a:solidFill>
                            <a:srgbClr val="002060"/>
                          </a:solidFill>
                          <a:latin typeface="Arial" panose="020B0604020202020204" pitchFamily="34" charset="0"/>
                          <a:cs typeface="Arial" panose="020B0604020202020204" pitchFamily="34" charset="0"/>
                        </a:rPr>
                        <a:t>tfoot</a:t>
                      </a:r>
                      <a:r>
                        <a:rPr lang="pt-BR" sz="2000" b="1" dirty="0">
                          <a:solidFill>
                            <a:srgbClr val="002060"/>
                          </a:solidFill>
                          <a:latin typeface="Arial" panose="020B0604020202020204" pitchFamily="34" charset="0"/>
                          <a:cs typeface="Arial" panose="020B0604020202020204" pitchFamily="34" charset="0"/>
                        </a:rPr>
                        <a:t>&gt;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sz="2000" b="1" dirty="0">
                          <a:solidFill>
                            <a:srgbClr val="002060"/>
                          </a:solidFill>
                          <a:latin typeface="Arial" panose="020B0604020202020204" pitchFamily="34" charset="0"/>
                          <a:cs typeface="Arial" panose="020B0604020202020204" pitchFamily="34" charset="0"/>
                        </a:rPr>
                        <a:t>R</a:t>
                      </a:r>
                      <a:r>
                        <a:rPr lang="pt-BR" sz="2000" b="1" baseline="0" dirty="0">
                          <a:solidFill>
                            <a:srgbClr val="002060"/>
                          </a:solidFill>
                          <a:latin typeface="Arial" panose="020B0604020202020204" pitchFamily="34" charset="0"/>
                          <a:cs typeface="Arial" panose="020B0604020202020204" pitchFamily="34" charset="0"/>
                        </a:rPr>
                        <a:t>odapé da tabela.</a:t>
                      </a:r>
                      <a:endParaRPr lang="pt-BR" sz="2000" b="1" dirty="0">
                        <a:solidFill>
                          <a:srgbClr val="002060"/>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1993917"/>
                  </a:ext>
                </a:extLst>
              </a:tr>
            </a:tbl>
          </a:graphicData>
        </a:graphic>
      </p:graphicFrame>
      <p:pic>
        <p:nvPicPr>
          <p:cNvPr id="4" name="Imagem 3"/>
          <p:cNvPicPr>
            <a:picLocks noChangeAspect="1"/>
          </p:cNvPicPr>
          <p:nvPr/>
        </p:nvPicPr>
        <p:blipFill>
          <a:blip r:embed="rId2"/>
          <a:stretch>
            <a:fillRect/>
          </a:stretch>
        </p:blipFill>
        <p:spPr>
          <a:xfrm>
            <a:off x="3049049" y="3667397"/>
            <a:ext cx="5048250" cy="2057400"/>
          </a:xfrm>
          <a:prstGeom prst="rect">
            <a:avLst/>
          </a:prstGeom>
        </p:spPr>
      </p:pic>
      <p:sp>
        <p:nvSpPr>
          <p:cNvPr id="5" name="Espaço Reservado para Conteúdo 2"/>
          <p:cNvSpPr txBox="1">
            <a:spLocks/>
          </p:cNvSpPr>
          <p:nvPr/>
        </p:nvSpPr>
        <p:spPr>
          <a:xfrm>
            <a:off x="1586961" y="5724797"/>
            <a:ext cx="7972425" cy="4919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600" b="1" i="1" dirty="0"/>
              <a:t>Fonte:</a:t>
            </a:r>
            <a:r>
              <a:rPr lang="pt-BR" sz="1600" i="1" dirty="0"/>
              <a:t> Livro texto - </a:t>
            </a:r>
            <a:r>
              <a:rPr lang="en-US" sz="1600" i="1" dirty="0"/>
              <a:t>Website Design and Development with HTML5 and CSS3</a:t>
            </a:r>
            <a:endParaRPr lang="pt-BR" sz="1600" i="1" dirty="0"/>
          </a:p>
        </p:txBody>
      </p:sp>
      <p:sp>
        <p:nvSpPr>
          <p:cNvPr id="6" name="Espaço Reservado para Número de Slide 5"/>
          <p:cNvSpPr>
            <a:spLocks noGrp="1"/>
          </p:cNvSpPr>
          <p:nvPr>
            <p:ph type="sldNum" sz="quarter" idx="12"/>
          </p:nvPr>
        </p:nvSpPr>
        <p:spPr/>
        <p:txBody>
          <a:bodyPr/>
          <a:lstStyle/>
          <a:p>
            <a:fld id="{8256F83C-9D86-480B-90E0-0702DBEB9457}" type="slidenum">
              <a:rPr lang="pt-BR" smtClean="0"/>
              <a:t>39</a:t>
            </a:fld>
            <a:endParaRPr lang="pt-BR"/>
          </a:p>
        </p:txBody>
      </p:sp>
    </p:spTree>
    <p:extLst>
      <p:ext uri="{BB962C8B-B14F-4D97-AF65-F5344CB8AC3E}">
        <p14:creationId xmlns:p14="http://schemas.microsoft.com/office/powerpoint/2010/main" val="34853687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txBox="1">
            <a:spLocks/>
          </p:cNvSpPr>
          <p:nvPr/>
        </p:nvSpPr>
        <p:spPr>
          <a:xfrm>
            <a:off x="1364183" y="319259"/>
            <a:ext cx="7764738" cy="567278"/>
          </a:xfrm>
          <a:prstGeom prst="rect">
            <a:avLst/>
          </a:prstGeom>
        </p:spPr>
        <p:txBody>
          <a:bodyPr>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pt-BR" b="1"/>
              <a:t>Como deixar uma tabela com mais estilo?</a:t>
            </a:r>
            <a:endParaRPr lang="pt-BR" b="1" dirty="0"/>
          </a:p>
        </p:txBody>
      </p:sp>
      <p:pic>
        <p:nvPicPr>
          <p:cNvPr id="3" name="Imagem 2"/>
          <p:cNvPicPr>
            <a:picLocks noChangeAspect="1"/>
          </p:cNvPicPr>
          <p:nvPr/>
        </p:nvPicPr>
        <p:blipFill>
          <a:blip r:embed="rId2"/>
          <a:stretch>
            <a:fillRect/>
          </a:stretch>
        </p:blipFill>
        <p:spPr>
          <a:xfrm>
            <a:off x="1815739" y="1247254"/>
            <a:ext cx="4177937" cy="2503902"/>
          </a:xfrm>
          <a:prstGeom prst="rect">
            <a:avLst/>
          </a:prstGeom>
        </p:spPr>
      </p:pic>
      <p:graphicFrame>
        <p:nvGraphicFramePr>
          <p:cNvPr id="4" name="Tabela 3"/>
          <p:cNvGraphicFramePr>
            <a:graphicFrameLocks noGrp="1"/>
          </p:cNvGraphicFramePr>
          <p:nvPr>
            <p:extLst>
              <p:ext uri="{D42A27DB-BD31-4B8C-83A1-F6EECF244321}">
                <p14:modId xmlns:p14="http://schemas.microsoft.com/office/powerpoint/2010/main" val="2524907493"/>
              </p:ext>
            </p:extLst>
          </p:nvPr>
        </p:nvGraphicFramePr>
        <p:xfrm>
          <a:off x="6248402" y="4111874"/>
          <a:ext cx="5212079" cy="1840654"/>
        </p:xfrm>
        <a:graphic>
          <a:graphicData uri="http://schemas.openxmlformats.org/drawingml/2006/table">
            <a:tbl>
              <a:tblPr firstRow="1" bandRow="1">
                <a:tableStyleId>{5C22544A-7EE6-4342-B048-85BDC9FD1C3A}</a:tableStyleId>
              </a:tblPr>
              <a:tblGrid>
                <a:gridCol w="1933301">
                  <a:extLst>
                    <a:ext uri="{9D8B030D-6E8A-4147-A177-3AD203B41FA5}">
                      <a16:colId xmlns:a16="http://schemas.microsoft.com/office/drawing/2014/main" val="3302884617"/>
                    </a:ext>
                  </a:extLst>
                </a:gridCol>
                <a:gridCol w="806646">
                  <a:extLst>
                    <a:ext uri="{9D8B030D-6E8A-4147-A177-3AD203B41FA5}">
                      <a16:colId xmlns:a16="http://schemas.microsoft.com/office/drawing/2014/main" val="2930479611"/>
                    </a:ext>
                  </a:extLst>
                </a:gridCol>
                <a:gridCol w="1518542">
                  <a:extLst>
                    <a:ext uri="{9D8B030D-6E8A-4147-A177-3AD203B41FA5}">
                      <a16:colId xmlns:a16="http://schemas.microsoft.com/office/drawing/2014/main" val="1639984889"/>
                    </a:ext>
                  </a:extLst>
                </a:gridCol>
                <a:gridCol w="953590">
                  <a:extLst>
                    <a:ext uri="{9D8B030D-6E8A-4147-A177-3AD203B41FA5}">
                      <a16:colId xmlns:a16="http://schemas.microsoft.com/office/drawing/2014/main" val="3706377985"/>
                    </a:ext>
                  </a:extLst>
                </a:gridCol>
              </a:tblGrid>
              <a:tr h="331269">
                <a:tc gridSpan="4">
                  <a:txBody>
                    <a:bodyPr/>
                    <a:lstStyle/>
                    <a:p>
                      <a:pPr algn="ctr"/>
                      <a:r>
                        <a:rPr lang="pt-BR" dirty="0"/>
                        <a:t>Estados brasileiros</a:t>
                      </a:r>
                    </a:p>
                  </a:txBody>
                  <a:tcPr/>
                </a:tc>
                <a:tc hMerge="1">
                  <a:txBody>
                    <a:bodyPr/>
                    <a:lstStyle/>
                    <a:p>
                      <a:pPr algn="ctr"/>
                      <a:endParaRPr lang="pt-BR" dirty="0"/>
                    </a:p>
                  </a:txBody>
                  <a:tcPr/>
                </a:tc>
                <a:tc hMerge="1">
                  <a:txBody>
                    <a:bodyPr/>
                    <a:lstStyle/>
                    <a:p>
                      <a:pPr algn="ctr"/>
                      <a:endParaRPr lang="pt-BR" dirty="0"/>
                    </a:p>
                  </a:txBody>
                  <a:tcPr/>
                </a:tc>
                <a:tc hMerge="1">
                  <a:txBody>
                    <a:bodyPr/>
                    <a:lstStyle/>
                    <a:p>
                      <a:pPr algn="ctr"/>
                      <a:endParaRPr lang="pt-BR" dirty="0"/>
                    </a:p>
                  </a:txBody>
                  <a:tcPr/>
                </a:tc>
                <a:extLst>
                  <a:ext uri="{0D108BD9-81ED-4DB2-BD59-A6C34878D82A}">
                    <a16:rowId xmlns:a16="http://schemas.microsoft.com/office/drawing/2014/main" val="551439084"/>
                  </a:ext>
                </a:extLst>
              </a:tr>
              <a:tr h="331269">
                <a:tc>
                  <a:txBody>
                    <a:bodyPr/>
                    <a:lstStyle/>
                    <a:p>
                      <a:pPr algn="ctr"/>
                      <a:r>
                        <a:rPr lang="pt-BR" b="1" dirty="0"/>
                        <a:t>Estado</a:t>
                      </a:r>
                    </a:p>
                  </a:txBody>
                  <a:tcPr>
                    <a:solidFill>
                      <a:schemeClr val="bg1"/>
                    </a:solidFill>
                  </a:tcPr>
                </a:tc>
                <a:tc>
                  <a:txBody>
                    <a:bodyPr/>
                    <a:lstStyle/>
                    <a:p>
                      <a:pPr algn="ctr"/>
                      <a:r>
                        <a:rPr lang="pt-BR" b="1" dirty="0"/>
                        <a:t>Sigla</a:t>
                      </a:r>
                    </a:p>
                  </a:txBody>
                  <a:tcPr>
                    <a:solidFill>
                      <a:schemeClr val="bg1"/>
                    </a:solidFill>
                  </a:tcPr>
                </a:tc>
                <a:tc>
                  <a:txBody>
                    <a:bodyPr/>
                    <a:lstStyle/>
                    <a:p>
                      <a:pPr algn="ctr"/>
                      <a:r>
                        <a:rPr lang="pt-BR" b="1" dirty="0"/>
                        <a:t>Capital</a:t>
                      </a:r>
                    </a:p>
                  </a:txBody>
                  <a:tcPr>
                    <a:solidFill>
                      <a:schemeClr val="bg1"/>
                    </a:solidFill>
                  </a:tcPr>
                </a:tc>
                <a:tc>
                  <a:txBody>
                    <a:bodyPr/>
                    <a:lstStyle/>
                    <a:p>
                      <a:pPr algn="ctr"/>
                      <a:r>
                        <a:rPr lang="pt-BR" b="1" dirty="0"/>
                        <a:t>Região</a:t>
                      </a:r>
                    </a:p>
                  </a:txBody>
                  <a:tcPr>
                    <a:solidFill>
                      <a:schemeClr val="bg1"/>
                    </a:solidFill>
                  </a:tcPr>
                </a:tc>
                <a:extLst>
                  <a:ext uri="{0D108BD9-81ED-4DB2-BD59-A6C34878D82A}">
                    <a16:rowId xmlns:a16="http://schemas.microsoft.com/office/drawing/2014/main" val="403398532"/>
                  </a:ext>
                </a:extLst>
              </a:tr>
              <a:tr h="331269">
                <a:tc>
                  <a:txBody>
                    <a:bodyPr/>
                    <a:lstStyle/>
                    <a:p>
                      <a:pPr algn="ctr"/>
                      <a:r>
                        <a:rPr lang="pt-BR" dirty="0"/>
                        <a:t>Rio Grande</a:t>
                      </a:r>
                      <a:r>
                        <a:rPr lang="pt-BR" baseline="0" dirty="0"/>
                        <a:t> do Sul</a:t>
                      </a:r>
                      <a:endParaRPr lang="pt-BR" dirty="0"/>
                    </a:p>
                  </a:txBody>
                  <a:tcPr>
                    <a:solidFill>
                      <a:schemeClr val="bg1"/>
                    </a:solidFill>
                  </a:tcPr>
                </a:tc>
                <a:tc>
                  <a:txBody>
                    <a:bodyPr/>
                    <a:lstStyle/>
                    <a:p>
                      <a:pPr algn="ctr"/>
                      <a:r>
                        <a:rPr lang="pt-BR" dirty="0"/>
                        <a:t>RS</a:t>
                      </a:r>
                    </a:p>
                  </a:txBody>
                  <a:tcPr>
                    <a:solidFill>
                      <a:schemeClr val="bg1"/>
                    </a:solidFill>
                  </a:tcPr>
                </a:tc>
                <a:tc>
                  <a:txBody>
                    <a:bodyPr/>
                    <a:lstStyle/>
                    <a:p>
                      <a:pPr algn="ctr"/>
                      <a:r>
                        <a:rPr lang="pt-BR" dirty="0"/>
                        <a:t>Porto Alegre</a:t>
                      </a:r>
                    </a:p>
                  </a:txBody>
                  <a:tcPr>
                    <a:solidFill>
                      <a:schemeClr val="bg1"/>
                    </a:solidFill>
                  </a:tcPr>
                </a:tc>
                <a:tc>
                  <a:txBody>
                    <a:bodyPr/>
                    <a:lstStyle/>
                    <a:p>
                      <a:pPr algn="ctr"/>
                      <a:r>
                        <a:rPr lang="pt-BR" dirty="0"/>
                        <a:t>Sul</a:t>
                      </a:r>
                    </a:p>
                  </a:txBody>
                  <a:tcPr>
                    <a:solidFill>
                      <a:schemeClr val="bg1"/>
                    </a:solidFill>
                  </a:tcPr>
                </a:tc>
                <a:extLst>
                  <a:ext uri="{0D108BD9-81ED-4DB2-BD59-A6C34878D82A}">
                    <a16:rowId xmlns:a16="http://schemas.microsoft.com/office/drawing/2014/main" val="3812981104"/>
                  </a:ext>
                </a:extLst>
              </a:tr>
              <a:tr h="331269">
                <a:tc>
                  <a:txBody>
                    <a:bodyPr/>
                    <a:lstStyle/>
                    <a:p>
                      <a:pPr algn="ctr"/>
                      <a:r>
                        <a:rPr lang="pt-BR" dirty="0"/>
                        <a:t>Santa Catarina</a:t>
                      </a:r>
                    </a:p>
                  </a:txBody>
                  <a:tcPr>
                    <a:solidFill>
                      <a:schemeClr val="bg1"/>
                    </a:solidFill>
                  </a:tcPr>
                </a:tc>
                <a:tc>
                  <a:txBody>
                    <a:bodyPr/>
                    <a:lstStyle/>
                    <a:p>
                      <a:pPr algn="ctr"/>
                      <a:r>
                        <a:rPr lang="pt-BR" dirty="0"/>
                        <a:t>SC</a:t>
                      </a:r>
                    </a:p>
                  </a:txBody>
                  <a:tcPr>
                    <a:solidFill>
                      <a:schemeClr val="bg1"/>
                    </a:solidFill>
                  </a:tcPr>
                </a:tc>
                <a:tc>
                  <a:txBody>
                    <a:bodyPr/>
                    <a:lstStyle/>
                    <a:p>
                      <a:pPr algn="ctr"/>
                      <a:r>
                        <a:rPr lang="pt-BR" dirty="0"/>
                        <a:t>Florianópolis</a:t>
                      </a:r>
                    </a:p>
                  </a:txBody>
                  <a:tcPr>
                    <a:solidFill>
                      <a:schemeClr val="bg1"/>
                    </a:solidFill>
                  </a:tcPr>
                </a:tc>
                <a:tc>
                  <a:txBody>
                    <a:bodyPr/>
                    <a:lstStyle/>
                    <a:p>
                      <a:pPr algn="ctr"/>
                      <a:r>
                        <a:rPr lang="pt-BR" dirty="0"/>
                        <a:t>Sul</a:t>
                      </a:r>
                    </a:p>
                  </a:txBody>
                  <a:tcPr>
                    <a:solidFill>
                      <a:schemeClr val="bg1"/>
                    </a:solidFill>
                  </a:tcPr>
                </a:tc>
                <a:extLst>
                  <a:ext uri="{0D108BD9-81ED-4DB2-BD59-A6C34878D82A}">
                    <a16:rowId xmlns:a16="http://schemas.microsoft.com/office/drawing/2014/main" val="3627056248"/>
                  </a:ext>
                </a:extLst>
              </a:tr>
              <a:tr h="377614">
                <a:tc>
                  <a:txBody>
                    <a:bodyPr/>
                    <a:lstStyle/>
                    <a:p>
                      <a:pPr algn="ctr"/>
                      <a:r>
                        <a:rPr lang="pt-BR" dirty="0"/>
                        <a:t>Paraná</a:t>
                      </a:r>
                    </a:p>
                  </a:txBody>
                  <a:tcPr>
                    <a:solidFill>
                      <a:schemeClr val="bg1"/>
                    </a:solidFill>
                  </a:tcPr>
                </a:tc>
                <a:tc>
                  <a:txBody>
                    <a:bodyPr/>
                    <a:lstStyle/>
                    <a:p>
                      <a:pPr algn="ctr"/>
                      <a:r>
                        <a:rPr lang="pt-BR" dirty="0"/>
                        <a:t>PR</a:t>
                      </a:r>
                    </a:p>
                  </a:txBody>
                  <a:tcP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t-BR" dirty="0"/>
                        <a:t>Curitiba</a:t>
                      </a:r>
                    </a:p>
                  </a:txBody>
                  <a:tcPr>
                    <a:solidFill>
                      <a:schemeClr val="bg1"/>
                    </a:solidFill>
                  </a:tcPr>
                </a:tc>
                <a:tc>
                  <a:txBody>
                    <a:bodyPr/>
                    <a:lstStyle/>
                    <a:p>
                      <a:pPr algn="ctr"/>
                      <a:r>
                        <a:rPr lang="pt-BR" dirty="0"/>
                        <a:t>Sul</a:t>
                      </a:r>
                    </a:p>
                  </a:txBody>
                  <a:tcPr>
                    <a:solidFill>
                      <a:schemeClr val="bg1"/>
                    </a:solidFill>
                  </a:tcPr>
                </a:tc>
                <a:extLst>
                  <a:ext uri="{0D108BD9-81ED-4DB2-BD59-A6C34878D82A}">
                    <a16:rowId xmlns:a16="http://schemas.microsoft.com/office/drawing/2014/main" val="3634348381"/>
                  </a:ext>
                </a:extLst>
              </a:tr>
            </a:tbl>
          </a:graphicData>
        </a:graphic>
      </p:graphicFrame>
      <p:sp>
        <p:nvSpPr>
          <p:cNvPr id="8" name="Espaço Reservado para Número de Slide 7"/>
          <p:cNvSpPr>
            <a:spLocks noGrp="1"/>
          </p:cNvSpPr>
          <p:nvPr>
            <p:ph type="sldNum" sz="quarter" idx="12"/>
          </p:nvPr>
        </p:nvSpPr>
        <p:spPr/>
        <p:txBody>
          <a:bodyPr/>
          <a:lstStyle/>
          <a:p>
            <a:fld id="{8256F83C-9D86-480B-90E0-0702DBEB9457}" type="slidenum">
              <a:rPr lang="pt-BR" smtClean="0"/>
              <a:t>40</a:t>
            </a:fld>
            <a:endParaRPr lang="pt-BR"/>
          </a:p>
        </p:txBody>
      </p:sp>
    </p:spTree>
    <p:extLst>
      <p:ext uri="{BB962C8B-B14F-4D97-AF65-F5344CB8AC3E}">
        <p14:creationId xmlns:p14="http://schemas.microsoft.com/office/powerpoint/2010/main" val="26023080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p:cNvSpPr txBox="1"/>
          <p:nvPr/>
        </p:nvSpPr>
        <p:spPr>
          <a:xfrm>
            <a:off x="769655" y="480931"/>
            <a:ext cx="10777911" cy="4524315"/>
          </a:xfrm>
          <a:prstGeom prst="rect">
            <a:avLst/>
          </a:prstGeom>
          <a:noFill/>
        </p:spPr>
        <p:txBody>
          <a:bodyPr wrap="square" rtlCol="0">
            <a:spAutoFit/>
          </a:bodyPr>
          <a:lstStyle/>
          <a:p>
            <a:pPr algn="just"/>
            <a:r>
              <a:rPr lang="pt-BR" sz="2400" b="1" dirty="0">
                <a:solidFill>
                  <a:srgbClr val="002060"/>
                </a:solidFill>
                <a:latin typeface="Arial" panose="020B0604020202020204" pitchFamily="34" charset="0"/>
                <a:cs typeface="Arial" panose="020B0604020202020204" pitchFamily="34" charset="0"/>
              </a:rPr>
              <a:t>Para fazer estas personalizações, existem duas formas:</a:t>
            </a:r>
          </a:p>
          <a:p>
            <a:pPr algn="just"/>
            <a:r>
              <a:rPr lang="pt-BR" sz="2400" b="1" dirty="0">
                <a:solidFill>
                  <a:srgbClr val="002060"/>
                </a:solidFill>
                <a:latin typeface="Arial" panose="020B0604020202020204" pitchFamily="34" charset="0"/>
                <a:cs typeface="Arial" panose="020B0604020202020204" pitchFamily="34" charset="0"/>
              </a:rPr>
              <a:t>1º) colocar dentro da própria </a:t>
            </a:r>
            <a:r>
              <a:rPr lang="pt-BR" sz="2400" b="1" dirty="0" err="1">
                <a:solidFill>
                  <a:srgbClr val="002060"/>
                </a:solidFill>
                <a:latin typeface="Arial" panose="020B0604020202020204" pitchFamily="34" charset="0"/>
                <a:cs typeface="Arial" panose="020B0604020202020204" pitchFamily="34" charset="0"/>
              </a:rPr>
              <a:t>tag</a:t>
            </a:r>
            <a:r>
              <a:rPr lang="pt-BR" sz="2400" b="1" dirty="0">
                <a:solidFill>
                  <a:srgbClr val="002060"/>
                </a:solidFill>
                <a:latin typeface="Arial" panose="020B0604020202020204" pitchFamily="34" charset="0"/>
                <a:cs typeface="Arial" panose="020B0604020202020204" pitchFamily="34" charset="0"/>
              </a:rPr>
              <a:t> o atributo que altera a cor, faz o alinhamento, inclui uma cor de fundo, etc..</a:t>
            </a:r>
          </a:p>
          <a:p>
            <a:pPr algn="just"/>
            <a:endParaRPr lang="pt-BR" sz="2400" b="1" dirty="0">
              <a:solidFill>
                <a:srgbClr val="002060"/>
              </a:solidFill>
              <a:latin typeface="Arial" panose="020B0604020202020204" pitchFamily="34" charset="0"/>
              <a:cs typeface="Arial" panose="020B0604020202020204" pitchFamily="34" charset="0"/>
            </a:endParaRPr>
          </a:p>
          <a:p>
            <a:pPr algn="ctr"/>
            <a:r>
              <a:rPr lang="pt-BR" sz="2400" b="1" dirty="0">
                <a:solidFill>
                  <a:srgbClr val="002060"/>
                </a:solidFill>
                <a:latin typeface="Arial" panose="020B0604020202020204" pitchFamily="34" charset="0"/>
                <a:cs typeface="Arial" panose="020B0604020202020204" pitchFamily="34" charset="0"/>
              </a:rPr>
              <a:t>ou</a:t>
            </a:r>
          </a:p>
          <a:p>
            <a:pPr algn="just"/>
            <a:endParaRPr lang="pt-BR" sz="2400" b="1" dirty="0">
              <a:solidFill>
                <a:srgbClr val="002060"/>
              </a:solidFill>
              <a:latin typeface="Arial" panose="020B0604020202020204" pitchFamily="34" charset="0"/>
              <a:cs typeface="Arial" panose="020B0604020202020204" pitchFamily="34" charset="0"/>
            </a:endParaRPr>
          </a:p>
          <a:p>
            <a:pPr algn="just"/>
            <a:r>
              <a:rPr lang="pt-BR" sz="2400" b="1" dirty="0">
                <a:solidFill>
                  <a:srgbClr val="002060"/>
                </a:solidFill>
                <a:latin typeface="Arial" panose="020B0604020202020204" pitchFamily="34" charset="0"/>
                <a:cs typeface="Arial" panose="020B0604020202020204" pitchFamily="34" charset="0"/>
              </a:rPr>
              <a:t>2º) criar um estilo que será usado para todo aquele bloco. Este estilo é chamado de CSS (</a:t>
            </a:r>
            <a:r>
              <a:rPr lang="pt-BR" sz="2400" b="1" dirty="0" err="1">
                <a:solidFill>
                  <a:srgbClr val="002060"/>
                </a:solidFill>
                <a:latin typeface="Arial" panose="020B0604020202020204" pitchFamily="34" charset="0"/>
                <a:cs typeface="Arial" panose="020B0604020202020204" pitchFamily="34" charset="0"/>
              </a:rPr>
              <a:t>Cascading</a:t>
            </a:r>
            <a:r>
              <a:rPr lang="pt-BR" sz="2400" b="1" dirty="0">
                <a:solidFill>
                  <a:srgbClr val="002060"/>
                </a:solidFill>
                <a:latin typeface="Arial" panose="020B0604020202020204" pitchFamily="34" charset="0"/>
                <a:cs typeface="Arial" panose="020B0604020202020204" pitchFamily="34" charset="0"/>
              </a:rPr>
              <a:t> </a:t>
            </a:r>
            <a:r>
              <a:rPr lang="pt-BR" sz="2400" b="1" dirty="0" err="1">
                <a:solidFill>
                  <a:srgbClr val="002060"/>
                </a:solidFill>
                <a:latin typeface="Arial" panose="020B0604020202020204" pitchFamily="34" charset="0"/>
                <a:cs typeface="Arial" panose="020B0604020202020204" pitchFamily="34" charset="0"/>
              </a:rPr>
              <a:t>Style</a:t>
            </a:r>
            <a:r>
              <a:rPr lang="pt-BR" sz="2400" b="1" dirty="0">
                <a:solidFill>
                  <a:srgbClr val="002060"/>
                </a:solidFill>
                <a:latin typeface="Arial" panose="020B0604020202020204" pitchFamily="34" charset="0"/>
                <a:cs typeface="Arial" panose="020B0604020202020204" pitchFamily="34" charset="0"/>
              </a:rPr>
              <a:t> </a:t>
            </a:r>
            <a:r>
              <a:rPr lang="pt-BR" sz="2400" b="1" dirty="0" err="1">
                <a:solidFill>
                  <a:srgbClr val="002060"/>
                </a:solidFill>
                <a:latin typeface="Arial" panose="020B0604020202020204" pitchFamily="34" charset="0"/>
                <a:cs typeface="Arial" panose="020B0604020202020204" pitchFamily="34" charset="0"/>
              </a:rPr>
              <a:t>Sheet</a:t>
            </a:r>
            <a:r>
              <a:rPr lang="pt-BR" sz="2400" b="1" dirty="0">
                <a:solidFill>
                  <a:srgbClr val="002060"/>
                </a:solidFill>
                <a:latin typeface="Arial" panose="020B0604020202020204" pitchFamily="34" charset="0"/>
                <a:cs typeface="Arial" panose="020B0604020202020204" pitchFamily="34" charset="0"/>
              </a:rPr>
              <a:t> – Folha de Estilos em Cascata).</a:t>
            </a:r>
          </a:p>
          <a:p>
            <a:pPr algn="just"/>
            <a:endParaRPr lang="pt-BR" sz="2400" b="1" dirty="0">
              <a:solidFill>
                <a:srgbClr val="002060"/>
              </a:solidFill>
              <a:latin typeface="Arial" panose="020B0604020202020204" pitchFamily="34" charset="0"/>
              <a:cs typeface="Arial" panose="020B0604020202020204" pitchFamily="34" charset="0"/>
            </a:endParaRPr>
          </a:p>
          <a:p>
            <a:pPr algn="just"/>
            <a:r>
              <a:rPr lang="pt-BR" sz="2400" b="1" dirty="0">
                <a:solidFill>
                  <a:srgbClr val="002060"/>
                </a:solidFill>
                <a:latin typeface="Arial" panose="020B0604020202020204" pitchFamily="34" charset="0"/>
                <a:cs typeface="Arial" panose="020B0604020202020204" pitchFamily="34" charset="0"/>
              </a:rPr>
              <a:t>O CSS pode ser declarado em arquivo separado ou dentro do próprio arquivo HTML. Deve ser inserido entre &lt;</a:t>
            </a:r>
            <a:r>
              <a:rPr lang="pt-BR" sz="2400" b="1" dirty="0" err="1">
                <a:solidFill>
                  <a:srgbClr val="002060"/>
                </a:solidFill>
                <a:latin typeface="Arial" panose="020B0604020202020204" pitchFamily="34" charset="0"/>
                <a:cs typeface="Arial" panose="020B0604020202020204" pitchFamily="34" charset="0"/>
              </a:rPr>
              <a:t>head</a:t>
            </a:r>
            <a:r>
              <a:rPr lang="pt-BR" sz="2400" b="1" dirty="0">
                <a:solidFill>
                  <a:srgbClr val="002060"/>
                </a:solidFill>
                <a:latin typeface="Arial" panose="020B0604020202020204" pitchFamily="34" charset="0"/>
                <a:cs typeface="Arial" panose="020B0604020202020204" pitchFamily="34" charset="0"/>
              </a:rPr>
              <a:t>&gt; e &lt;/</a:t>
            </a:r>
            <a:r>
              <a:rPr lang="pt-BR" sz="2400" b="1" dirty="0" err="1">
                <a:solidFill>
                  <a:srgbClr val="002060"/>
                </a:solidFill>
                <a:latin typeface="Arial" panose="020B0604020202020204" pitchFamily="34" charset="0"/>
                <a:cs typeface="Arial" panose="020B0604020202020204" pitchFamily="34" charset="0"/>
              </a:rPr>
              <a:t>head</a:t>
            </a:r>
            <a:r>
              <a:rPr lang="pt-BR" sz="2400" b="1" dirty="0">
                <a:solidFill>
                  <a:srgbClr val="002060"/>
                </a:solidFill>
                <a:latin typeface="Arial" panose="020B0604020202020204" pitchFamily="34" charset="0"/>
                <a:cs typeface="Arial" panose="020B0604020202020204" pitchFamily="34" charset="0"/>
              </a:rPr>
              <a:t>&gt;. Além disso, deve se utilizar uma </a:t>
            </a:r>
            <a:r>
              <a:rPr lang="pt-BR" sz="2400" b="1" dirty="0" err="1">
                <a:solidFill>
                  <a:srgbClr val="002060"/>
                </a:solidFill>
                <a:latin typeface="Arial" panose="020B0604020202020204" pitchFamily="34" charset="0"/>
                <a:cs typeface="Arial" panose="020B0604020202020204" pitchFamily="34" charset="0"/>
              </a:rPr>
              <a:t>tag</a:t>
            </a:r>
            <a:r>
              <a:rPr lang="pt-BR" sz="2400" b="1" dirty="0">
                <a:solidFill>
                  <a:srgbClr val="002060"/>
                </a:solidFill>
                <a:latin typeface="Arial" panose="020B0604020202020204" pitchFamily="34" charset="0"/>
                <a:cs typeface="Arial" panose="020B0604020202020204" pitchFamily="34" charset="0"/>
              </a:rPr>
              <a:t> específica, chamada &lt;</a:t>
            </a:r>
            <a:r>
              <a:rPr lang="pt-BR" sz="2400" b="1" dirty="0" err="1">
                <a:solidFill>
                  <a:srgbClr val="002060"/>
                </a:solidFill>
                <a:latin typeface="Arial" panose="020B0604020202020204" pitchFamily="34" charset="0"/>
                <a:cs typeface="Arial" panose="020B0604020202020204" pitchFamily="34" charset="0"/>
              </a:rPr>
              <a:t>style</a:t>
            </a:r>
            <a:r>
              <a:rPr lang="pt-BR" sz="2400" b="1" dirty="0">
                <a:solidFill>
                  <a:srgbClr val="002060"/>
                </a:solidFill>
                <a:latin typeface="Arial" panose="020B0604020202020204" pitchFamily="34" charset="0"/>
                <a:cs typeface="Arial" panose="020B0604020202020204" pitchFamily="34" charset="0"/>
              </a:rPr>
              <a:t>&gt;....&lt;/</a:t>
            </a:r>
            <a:r>
              <a:rPr lang="pt-BR" sz="2400" b="1" dirty="0" err="1">
                <a:solidFill>
                  <a:srgbClr val="002060"/>
                </a:solidFill>
                <a:latin typeface="Arial" panose="020B0604020202020204" pitchFamily="34" charset="0"/>
                <a:cs typeface="Arial" panose="020B0604020202020204" pitchFamily="34" charset="0"/>
              </a:rPr>
              <a:t>style</a:t>
            </a:r>
            <a:r>
              <a:rPr lang="pt-BR" sz="2400" b="1" dirty="0">
                <a:solidFill>
                  <a:srgbClr val="002060"/>
                </a:solidFill>
                <a:latin typeface="Arial" panose="020B0604020202020204" pitchFamily="34" charset="0"/>
                <a:cs typeface="Arial" panose="020B0604020202020204" pitchFamily="34" charset="0"/>
              </a:rPr>
              <a:t>&gt;</a:t>
            </a:r>
          </a:p>
        </p:txBody>
      </p:sp>
      <p:sp>
        <p:nvSpPr>
          <p:cNvPr id="2" name="Espaço Reservado para Número de Slide 1"/>
          <p:cNvSpPr>
            <a:spLocks noGrp="1"/>
          </p:cNvSpPr>
          <p:nvPr>
            <p:ph type="sldNum" sz="quarter" idx="12"/>
          </p:nvPr>
        </p:nvSpPr>
        <p:spPr/>
        <p:txBody>
          <a:bodyPr/>
          <a:lstStyle/>
          <a:p>
            <a:fld id="{8256F83C-9D86-480B-90E0-0702DBEB9457}" type="slidenum">
              <a:rPr lang="pt-BR" smtClean="0"/>
              <a:t>41</a:t>
            </a:fld>
            <a:endParaRPr lang="pt-BR"/>
          </a:p>
        </p:txBody>
      </p:sp>
    </p:spTree>
    <p:extLst>
      <p:ext uri="{BB962C8B-B14F-4D97-AF65-F5344CB8AC3E}">
        <p14:creationId xmlns:p14="http://schemas.microsoft.com/office/powerpoint/2010/main" val="35632042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p:cNvSpPr txBox="1"/>
          <p:nvPr/>
        </p:nvSpPr>
        <p:spPr>
          <a:xfrm>
            <a:off x="946404" y="388620"/>
            <a:ext cx="10563026" cy="569387"/>
          </a:xfrm>
          <a:prstGeom prst="rect">
            <a:avLst/>
          </a:prstGeom>
          <a:noFill/>
        </p:spPr>
        <p:txBody>
          <a:bodyPr wrap="square" rtlCol="0">
            <a:spAutoFit/>
          </a:bodyPr>
          <a:lstStyle/>
          <a:p>
            <a:pPr algn="ctr"/>
            <a:r>
              <a:rPr lang="pt-BR" sz="3100" b="1" dirty="0">
                <a:solidFill>
                  <a:srgbClr val="002060"/>
                </a:solidFill>
                <a:latin typeface="Arial" panose="020B0604020202020204" pitchFamily="34" charset="0"/>
                <a:cs typeface="Arial" panose="020B0604020202020204" pitchFamily="34" charset="0"/>
              </a:rPr>
              <a:t>INTRODUÇÃO AO CSS</a:t>
            </a:r>
          </a:p>
        </p:txBody>
      </p:sp>
      <p:sp>
        <p:nvSpPr>
          <p:cNvPr id="6" name="Espaço Reservado para Conteúdo 1"/>
          <p:cNvSpPr txBox="1">
            <a:spLocks/>
          </p:cNvSpPr>
          <p:nvPr/>
        </p:nvSpPr>
        <p:spPr>
          <a:xfrm>
            <a:off x="689844" y="952805"/>
            <a:ext cx="11179939" cy="129506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sz="2400" b="1" u="sng" dirty="0"/>
              <a:t>Objetivo:</a:t>
            </a:r>
            <a:r>
              <a:rPr lang="pt-BR" sz="2400" dirty="0"/>
              <a:t> o CSS é usado para formatar páginas HTML, modificando a aparência da página.</a:t>
            </a:r>
          </a:p>
          <a:p>
            <a:pPr marL="0" indent="0" algn="just">
              <a:buNone/>
            </a:pPr>
            <a:r>
              <a:rPr lang="pt-BR" sz="2400" b="1" u="sng" dirty="0"/>
              <a:t>Versões do CSS:</a:t>
            </a:r>
            <a:r>
              <a:rPr lang="pt-BR" sz="2400" dirty="0"/>
              <a:t> abaixo as versões desde 1996:</a:t>
            </a:r>
            <a:endParaRPr lang="pt-BR" sz="2400" b="1" u="sng" dirty="0"/>
          </a:p>
        </p:txBody>
      </p:sp>
      <p:cxnSp>
        <p:nvCxnSpPr>
          <p:cNvPr id="8" name="Conector reto 7"/>
          <p:cNvCxnSpPr/>
          <p:nvPr/>
        </p:nvCxnSpPr>
        <p:spPr>
          <a:xfrm>
            <a:off x="1410791" y="3944979"/>
            <a:ext cx="10228218"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0" name="Conector reto 9"/>
          <p:cNvCxnSpPr/>
          <p:nvPr/>
        </p:nvCxnSpPr>
        <p:spPr>
          <a:xfrm>
            <a:off x="2338257" y="3958042"/>
            <a:ext cx="0" cy="535577"/>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 name="Conector reto 10"/>
          <p:cNvCxnSpPr/>
          <p:nvPr/>
        </p:nvCxnSpPr>
        <p:spPr>
          <a:xfrm>
            <a:off x="10367558" y="3997231"/>
            <a:ext cx="0" cy="535577"/>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2" name="Conector reto 11"/>
          <p:cNvCxnSpPr/>
          <p:nvPr/>
        </p:nvCxnSpPr>
        <p:spPr>
          <a:xfrm>
            <a:off x="6392106" y="3964573"/>
            <a:ext cx="0" cy="535577"/>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Retângulo 12"/>
          <p:cNvSpPr/>
          <p:nvPr/>
        </p:nvSpPr>
        <p:spPr>
          <a:xfrm>
            <a:off x="394552" y="4493619"/>
            <a:ext cx="3887410" cy="2246769"/>
          </a:xfrm>
          <a:prstGeom prst="rect">
            <a:avLst/>
          </a:prstGeom>
        </p:spPr>
        <p:txBody>
          <a:bodyPr wrap="square">
            <a:spAutoFit/>
          </a:bodyPr>
          <a:lstStyle/>
          <a:p>
            <a:pPr algn="ctr"/>
            <a:r>
              <a:rPr lang="pt-BR" sz="2000" b="1" dirty="0">
                <a:solidFill>
                  <a:srgbClr val="002060"/>
                </a:solidFill>
              </a:rPr>
              <a:t>12/1996</a:t>
            </a:r>
          </a:p>
          <a:p>
            <a:pPr algn="ctr"/>
            <a:r>
              <a:rPr lang="pt-BR" sz="2000" b="1" u="sng" dirty="0">
                <a:solidFill>
                  <a:srgbClr val="002060"/>
                </a:solidFill>
              </a:rPr>
              <a:t>CSS1</a:t>
            </a:r>
          </a:p>
          <a:p>
            <a:pPr algn="ctr"/>
            <a:r>
              <a:rPr lang="pt-BR" sz="2000" b="1" dirty="0">
                <a:solidFill>
                  <a:srgbClr val="002060"/>
                </a:solidFill>
              </a:rPr>
              <a:t>Definição da W3C: “simples mecanismo de estilos que</a:t>
            </a:r>
          </a:p>
          <a:p>
            <a:pPr algn="ctr"/>
            <a:r>
              <a:rPr lang="pt-BR" sz="2000" b="1" dirty="0">
                <a:solidFill>
                  <a:srgbClr val="002060"/>
                </a:solidFill>
              </a:rPr>
              <a:t>permite que autores e leitores anexem estilos ao documento HTML”</a:t>
            </a:r>
          </a:p>
        </p:txBody>
      </p:sp>
      <p:sp>
        <p:nvSpPr>
          <p:cNvPr id="14" name="Retângulo 13"/>
          <p:cNvSpPr/>
          <p:nvPr/>
        </p:nvSpPr>
        <p:spPr>
          <a:xfrm>
            <a:off x="4448401" y="4506681"/>
            <a:ext cx="3887410" cy="1323439"/>
          </a:xfrm>
          <a:prstGeom prst="rect">
            <a:avLst/>
          </a:prstGeom>
        </p:spPr>
        <p:txBody>
          <a:bodyPr wrap="square">
            <a:spAutoFit/>
          </a:bodyPr>
          <a:lstStyle/>
          <a:p>
            <a:pPr algn="ctr"/>
            <a:r>
              <a:rPr lang="pt-BR" sz="2000" b="1" dirty="0">
                <a:solidFill>
                  <a:srgbClr val="002060"/>
                </a:solidFill>
              </a:rPr>
              <a:t>05/1998</a:t>
            </a:r>
          </a:p>
          <a:p>
            <a:pPr algn="ctr"/>
            <a:r>
              <a:rPr lang="pt-BR" sz="2000" b="1" u="sng" dirty="0">
                <a:solidFill>
                  <a:srgbClr val="002060"/>
                </a:solidFill>
              </a:rPr>
              <a:t>CSS2</a:t>
            </a:r>
          </a:p>
          <a:p>
            <a:pPr algn="ctr"/>
            <a:r>
              <a:rPr lang="pt-BR" sz="2000" b="1" dirty="0">
                <a:solidFill>
                  <a:srgbClr val="002060"/>
                </a:solidFill>
              </a:rPr>
              <a:t>Foram adicionados mais de 70 propriedades a versão CSS1.</a:t>
            </a:r>
          </a:p>
        </p:txBody>
      </p:sp>
      <p:cxnSp>
        <p:nvCxnSpPr>
          <p:cNvPr id="15" name="Conector reto 14"/>
          <p:cNvCxnSpPr/>
          <p:nvPr/>
        </p:nvCxnSpPr>
        <p:spPr>
          <a:xfrm>
            <a:off x="8155579" y="3428996"/>
            <a:ext cx="0" cy="535577"/>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sp>
        <p:nvSpPr>
          <p:cNvPr id="16" name="Retângulo 15"/>
          <p:cNvSpPr/>
          <p:nvPr/>
        </p:nvSpPr>
        <p:spPr>
          <a:xfrm>
            <a:off x="6211874" y="2139130"/>
            <a:ext cx="3887410" cy="1323439"/>
          </a:xfrm>
          <a:prstGeom prst="rect">
            <a:avLst/>
          </a:prstGeom>
        </p:spPr>
        <p:txBody>
          <a:bodyPr wrap="square">
            <a:spAutoFit/>
          </a:bodyPr>
          <a:lstStyle/>
          <a:p>
            <a:pPr algn="ctr"/>
            <a:r>
              <a:rPr lang="pt-BR" sz="2000" b="1" u="sng" dirty="0">
                <a:solidFill>
                  <a:srgbClr val="002060"/>
                </a:solidFill>
              </a:rPr>
              <a:t>CSS2.1</a:t>
            </a:r>
          </a:p>
          <a:p>
            <a:pPr algn="ctr"/>
            <a:r>
              <a:rPr lang="pt-BR" sz="2000" b="1" dirty="0">
                <a:solidFill>
                  <a:srgbClr val="002060"/>
                </a:solidFill>
              </a:rPr>
              <a:t>Foram corrigidos diversos detalhes da versão CSS2.</a:t>
            </a:r>
          </a:p>
          <a:p>
            <a:pPr algn="ctr"/>
            <a:r>
              <a:rPr lang="pt-BR" sz="2000" b="1" dirty="0">
                <a:solidFill>
                  <a:srgbClr val="002060"/>
                </a:solidFill>
              </a:rPr>
              <a:t>07/2007</a:t>
            </a:r>
          </a:p>
        </p:txBody>
      </p:sp>
      <p:sp>
        <p:nvSpPr>
          <p:cNvPr id="18" name="Retângulo 17"/>
          <p:cNvSpPr/>
          <p:nvPr/>
        </p:nvSpPr>
        <p:spPr>
          <a:xfrm>
            <a:off x="8647611" y="4532808"/>
            <a:ext cx="3383280" cy="1938992"/>
          </a:xfrm>
          <a:prstGeom prst="rect">
            <a:avLst/>
          </a:prstGeom>
        </p:spPr>
        <p:txBody>
          <a:bodyPr wrap="square">
            <a:spAutoFit/>
          </a:bodyPr>
          <a:lstStyle/>
          <a:p>
            <a:pPr algn="ctr"/>
            <a:r>
              <a:rPr lang="pt-BR" sz="2000" b="1" dirty="0">
                <a:solidFill>
                  <a:srgbClr val="002060"/>
                </a:solidFill>
              </a:rPr>
              <a:t>2012</a:t>
            </a:r>
          </a:p>
          <a:p>
            <a:pPr algn="ctr"/>
            <a:r>
              <a:rPr lang="pt-BR" sz="2000" b="1" u="sng" dirty="0">
                <a:solidFill>
                  <a:srgbClr val="002060"/>
                </a:solidFill>
              </a:rPr>
              <a:t>CSS3</a:t>
            </a:r>
          </a:p>
          <a:p>
            <a:pPr algn="ctr"/>
            <a:r>
              <a:rPr lang="pt-BR" sz="2000" b="1" dirty="0">
                <a:solidFill>
                  <a:srgbClr val="002060"/>
                </a:solidFill>
              </a:rPr>
              <a:t>CSS3 evoluiu para se tornar "modular", com isso facilitando a sua implementação.</a:t>
            </a:r>
          </a:p>
        </p:txBody>
      </p:sp>
      <p:sp>
        <p:nvSpPr>
          <p:cNvPr id="3" name="Espaço Reservado para Número de Slide 2"/>
          <p:cNvSpPr>
            <a:spLocks noGrp="1"/>
          </p:cNvSpPr>
          <p:nvPr>
            <p:ph type="sldNum" sz="quarter" idx="12"/>
          </p:nvPr>
        </p:nvSpPr>
        <p:spPr/>
        <p:txBody>
          <a:bodyPr/>
          <a:lstStyle/>
          <a:p>
            <a:fld id="{8256F83C-9D86-480B-90E0-0702DBEB9457}" type="slidenum">
              <a:rPr lang="pt-BR" smtClean="0"/>
              <a:t>42</a:t>
            </a:fld>
            <a:endParaRPr lang="pt-BR"/>
          </a:p>
        </p:txBody>
      </p:sp>
    </p:spTree>
    <p:extLst>
      <p:ext uri="{BB962C8B-B14F-4D97-AF65-F5344CB8AC3E}">
        <p14:creationId xmlns:p14="http://schemas.microsoft.com/office/powerpoint/2010/main" val="14344394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ângulo 2"/>
          <p:cNvSpPr/>
          <p:nvPr/>
        </p:nvSpPr>
        <p:spPr>
          <a:xfrm>
            <a:off x="744584" y="688708"/>
            <a:ext cx="5094520" cy="5909310"/>
          </a:xfrm>
          <a:prstGeom prst="rect">
            <a:avLst/>
          </a:prstGeom>
          <a:ln>
            <a:solidFill>
              <a:schemeClr val="tx1"/>
            </a:solidFill>
          </a:ln>
        </p:spPr>
        <p:txBody>
          <a:bodyPr wrap="square">
            <a:spAutoFit/>
          </a:bodyPr>
          <a:lstStyle/>
          <a:p>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head</a:t>
            </a:r>
            <a:r>
              <a:rPr lang="pt-BR" b="1" dirty="0">
                <a:solidFill>
                  <a:srgbClr val="002060"/>
                </a:solidFill>
                <a:latin typeface="Consolas" panose="020B0609020204030204" pitchFamily="49" charset="0"/>
              </a:rPr>
              <a:t>&gt;</a:t>
            </a:r>
          </a:p>
          <a:p>
            <a:r>
              <a:rPr lang="pt-BR" b="1" dirty="0">
                <a:solidFill>
                  <a:srgbClr val="002060"/>
                </a:solidFill>
                <a:latin typeface="Consolas" panose="020B0609020204030204" pitchFamily="49" charset="0"/>
              </a:rPr>
              <a:t>    &lt;meta </a:t>
            </a:r>
            <a:r>
              <a:rPr lang="pt-BR" b="1" i="1" dirty="0" err="1">
                <a:solidFill>
                  <a:srgbClr val="002060"/>
                </a:solidFill>
                <a:latin typeface="Consolas" panose="020B0609020204030204" pitchFamily="49" charset="0"/>
              </a:rPr>
              <a:t>charset</a:t>
            </a:r>
            <a:r>
              <a:rPr lang="pt-BR" b="1" dirty="0">
                <a:solidFill>
                  <a:srgbClr val="002060"/>
                </a:solidFill>
                <a:latin typeface="Consolas" panose="020B0609020204030204" pitchFamily="49" charset="0"/>
              </a:rPr>
              <a:t>="UTF-8"&gt;</a:t>
            </a: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title</a:t>
            </a:r>
            <a:r>
              <a:rPr lang="pt-BR" b="1" dirty="0">
                <a:solidFill>
                  <a:srgbClr val="002060"/>
                </a:solidFill>
                <a:latin typeface="Consolas" panose="020B0609020204030204" pitchFamily="49" charset="0"/>
              </a:rPr>
              <a:t>&gt;</a:t>
            </a:r>
            <a:r>
              <a:rPr lang="pt-BR" b="1" dirty="0" err="1">
                <a:solidFill>
                  <a:srgbClr val="002060"/>
                </a:solidFill>
                <a:latin typeface="Consolas" panose="020B0609020204030204" pitchFamily="49" charset="0"/>
              </a:rPr>
              <a:t>Document</a:t>
            </a:r>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title</a:t>
            </a:r>
            <a:r>
              <a:rPr lang="pt-BR" b="1" dirty="0">
                <a:solidFill>
                  <a:srgbClr val="002060"/>
                </a:solidFill>
                <a:latin typeface="Consolas" panose="020B0609020204030204" pitchFamily="49" charset="0"/>
              </a:rPr>
              <a:t>&gt;</a:t>
            </a:r>
          </a:p>
          <a:p>
            <a:endParaRPr lang="pt-BR" b="1" dirty="0">
              <a:solidFill>
                <a:srgbClr val="002060"/>
              </a:solidFill>
              <a:latin typeface="Consolas" panose="020B0609020204030204" pitchFamily="49" charset="0"/>
            </a:endParaRPr>
          </a:p>
          <a:p>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style</a:t>
            </a:r>
            <a:r>
              <a:rPr lang="pt-BR" b="1" dirty="0">
                <a:solidFill>
                  <a:srgbClr val="002060"/>
                </a:solidFill>
                <a:latin typeface="Consolas" panose="020B0609020204030204" pitchFamily="49" charset="0"/>
              </a:rPr>
              <a:t>&gt;</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caption</a:t>
            </a:r>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background-color:royalblue</a:t>
            </a:r>
            <a:r>
              <a:rPr lang="pt-BR" b="1" dirty="0">
                <a:solidFill>
                  <a:srgbClr val="002060"/>
                </a:solidFill>
                <a:latin typeface="Consolas" panose="020B0609020204030204" pitchFamily="49" charset="0"/>
              </a:rPr>
              <a:t>;</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color:white</a:t>
            </a:r>
            <a:r>
              <a:rPr lang="pt-BR" b="1" dirty="0">
                <a:solidFill>
                  <a:srgbClr val="002060"/>
                </a:solidFill>
                <a:latin typeface="Consolas" panose="020B0609020204030204" pitchFamily="49" charset="0"/>
              </a:rPr>
              <a:t>;</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font-weight</a:t>
            </a:r>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bold</a:t>
            </a:r>
            <a:r>
              <a:rPr lang="pt-BR" b="1" dirty="0">
                <a:solidFill>
                  <a:srgbClr val="002060"/>
                </a:solidFill>
                <a:latin typeface="Consolas" panose="020B0609020204030204" pitchFamily="49" charset="0"/>
              </a:rPr>
              <a:t>;</a:t>
            </a:r>
          </a:p>
          <a:p>
            <a:r>
              <a:rPr lang="pt-BR" b="1" dirty="0">
                <a:solidFill>
                  <a:srgbClr val="002060"/>
                </a:solidFill>
                <a:latin typeface="Consolas" panose="020B0609020204030204" pitchFamily="49" charset="0"/>
              </a:rPr>
              <a:t>        }</a:t>
            </a:r>
          </a:p>
          <a:p>
            <a:br>
              <a:rPr lang="pt-BR" b="1" dirty="0">
                <a:solidFill>
                  <a:srgbClr val="002060"/>
                </a:solidFill>
                <a:latin typeface="Consolas" panose="020B0609020204030204" pitchFamily="49" charset="0"/>
              </a:rPr>
            </a:br>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tbody</a:t>
            </a:r>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text-align</a:t>
            </a:r>
            <a:r>
              <a:rPr lang="pt-BR" b="1" dirty="0">
                <a:solidFill>
                  <a:srgbClr val="002060"/>
                </a:solidFill>
                <a:latin typeface="Consolas" panose="020B0609020204030204" pitchFamily="49" charset="0"/>
              </a:rPr>
              <a:t>: center;</a:t>
            </a:r>
          </a:p>
          <a:p>
            <a:r>
              <a:rPr lang="pt-BR" b="1" dirty="0">
                <a:solidFill>
                  <a:srgbClr val="002060"/>
                </a:solidFill>
                <a:latin typeface="Consolas" panose="020B0609020204030204" pitchFamily="49" charset="0"/>
              </a:rPr>
              <a:t>        }</a:t>
            </a: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style</a:t>
            </a:r>
            <a:r>
              <a:rPr lang="pt-BR" b="1" dirty="0">
                <a:solidFill>
                  <a:srgbClr val="002060"/>
                </a:solidFill>
                <a:latin typeface="Consolas" panose="020B0609020204030204" pitchFamily="49" charset="0"/>
              </a:rPr>
              <a:t>&gt;</a:t>
            </a:r>
          </a:p>
          <a:p>
            <a:endParaRPr lang="pt-BR" b="1" dirty="0">
              <a:solidFill>
                <a:srgbClr val="002060"/>
              </a:solidFill>
              <a:latin typeface="Consolas" panose="020B0609020204030204" pitchFamily="49" charset="0"/>
            </a:endParaRPr>
          </a:p>
          <a:p>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head</a:t>
            </a:r>
            <a:r>
              <a:rPr lang="pt-BR" b="1" dirty="0">
                <a:solidFill>
                  <a:srgbClr val="002060"/>
                </a:solidFill>
                <a:latin typeface="Consolas" panose="020B0609020204030204" pitchFamily="49" charset="0"/>
              </a:rPr>
              <a:t>&gt;</a:t>
            </a:r>
            <a:endParaRPr lang="pt-BR" b="1" dirty="0">
              <a:solidFill>
                <a:srgbClr val="002060"/>
              </a:solidFill>
              <a:effectLst/>
              <a:latin typeface="Consolas" panose="020B0609020204030204" pitchFamily="49" charset="0"/>
            </a:endParaRPr>
          </a:p>
        </p:txBody>
      </p:sp>
      <p:sp>
        <p:nvSpPr>
          <p:cNvPr id="4" name="Chave Direita 3"/>
          <p:cNvSpPr/>
          <p:nvPr/>
        </p:nvSpPr>
        <p:spPr>
          <a:xfrm>
            <a:off x="5839105" y="2155371"/>
            <a:ext cx="444137" cy="3513909"/>
          </a:xfrm>
          <a:prstGeom prst="rightBrace">
            <a:avLst>
              <a:gd name="adj1" fmla="val 85564"/>
              <a:gd name="adj2"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5" name="Retângulo 4"/>
          <p:cNvSpPr/>
          <p:nvPr/>
        </p:nvSpPr>
        <p:spPr>
          <a:xfrm>
            <a:off x="6348425" y="1951111"/>
            <a:ext cx="5368958" cy="4247317"/>
          </a:xfrm>
          <a:prstGeom prst="rect">
            <a:avLst/>
          </a:prstGeom>
        </p:spPr>
        <p:txBody>
          <a:bodyPr wrap="square">
            <a:spAutoFit/>
          </a:bodyPr>
          <a:lstStyle/>
          <a:p>
            <a:r>
              <a:rPr lang="pt-BR" b="1" dirty="0">
                <a:solidFill>
                  <a:srgbClr val="002060"/>
                </a:solidFill>
                <a:latin typeface="Arial" panose="020B0604020202020204" pitchFamily="34" charset="0"/>
                <a:cs typeface="Arial" panose="020B0604020202020204" pitchFamily="34" charset="0"/>
              </a:rPr>
              <a:t>O CSS pode ser usado de duas formas:</a:t>
            </a:r>
          </a:p>
          <a:p>
            <a:endParaRPr lang="pt-BR" b="1" dirty="0">
              <a:solidFill>
                <a:srgbClr val="002060"/>
              </a:solidFill>
              <a:latin typeface="Arial" panose="020B0604020202020204" pitchFamily="34" charset="0"/>
              <a:cs typeface="Arial" panose="020B0604020202020204" pitchFamily="34" charset="0"/>
            </a:endParaRPr>
          </a:p>
          <a:p>
            <a:r>
              <a:rPr lang="pt-BR" b="1" dirty="0">
                <a:solidFill>
                  <a:srgbClr val="002060"/>
                </a:solidFill>
                <a:latin typeface="Arial" panose="020B0604020202020204" pitchFamily="34" charset="0"/>
                <a:cs typeface="Arial" panose="020B0604020202020204" pitchFamily="34" charset="0"/>
              </a:rPr>
              <a:t>1º) deseja-se criar um estilo personalizado para uma figura ou texto, pode simplesmente fazer o seguinte:</a:t>
            </a:r>
          </a:p>
          <a:p>
            <a:endParaRPr lang="pt-BR" b="1" dirty="0">
              <a:solidFill>
                <a:srgbClr val="002060"/>
              </a:solidFill>
              <a:latin typeface="Arial" panose="020B0604020202020204" pitchFamily="34" charset="0"/>
              <a:cs typeface="Arial" panose="020B0604020202020204" pitchFamily="34" charset="0"/>
            </a:endParaRPr>
          </a:p>
          <a:p>
            <a:r>
              <a:rPr lang="pt-BR" b="1" dirty="0">
                <a:solidFill>
                  <a:srgbClr val="002060"/>
                </a:solidFill>
                <a:latin typeface="Arial" panose="020B0604020202020204" pitchFamily="34" charset="0"/>
                <a:cs typeface="Arial" panose="020B0604020202020204" pitchFamily="34" charset="0"/>
              </a:rPr>
              <a:t>.</a:t>
            </a:r>
            <a:r>
              <a:rPr lang="pt-BR" b="1" dirty="0" err="1">
                <a:solidFill>
                  <a:srgbClr val="002060"/>
                </a:solidFill>
                <a:latin typeface="Arial" panose="020B0604020202020204" pitchFamily="34" charset="0"/>
                <a:cs typeface="Arial" panose="020B0604020202020204" pitchFamily="34" charset="0"/>
              </a:rPr>
              <a:t>css_texto</a:t>
            </a:r>
            <a:endParaRPr lang="pt-BR" b="1" dirty="0">
              <a:solidFill>
                <a:srgbClr val="002060"/>
              </a:solidFill>
              <a:latin typeface="Arial" panose="020B0604020202020204" pitchFamily="34" charset="0"/>
              <a:cs typeface="Arial" panose="020B0604020202020204" pitchFamily="34" charset="0"/>
            </a:endParaRPr>
          </a:p>
          <a:p>
            <a:r>
              <a:rPr lang="pt-BR" b="1" dirty="0">
                <a:solidFill>
                  <a:srgbClr val="002060"/>
                </a:solidFill>
                <a:latin typeface="Arial" panose="020B0604020202020204" pitchFamily="34" charset="0"/>
                <a:cs typeface="Arial" panose="020B0604020202020204" pitchFamily="34" charset="0"/>
              </a:rPr>
              <a:t>{</a:t>
            </a:r>
          </a:p>
          <a:p>
            <a:r>
              <a:rPr lang="pt-BR" b="1" dirty="0">
                <a:solidFill>
                  <a:srgbClr val="002060"/>
                </a:solidFill>
                <a:latin typeface="Arial" panose="020B0604020202020204" pitchFamily="34" charset="0"/>
                <a:cs typeface="Arial" panose="020B0604020202020204" pitchFamily="34" charset="0"/>
              </a:rPr>
              <a:t>	</a:t>
            </a:r>
            <a:r>
              <a:rPr lang="pt-BR" b="1" dirty="0" err="1">
                <a:solidFill>
                  <a:srgbClr val="002060"/>
                </a:solidFill>
                <a:latin typeface="Arial" panose="020B0604020202020204" pitchFamily="34" charset="0"/>
                <a:cs typeface="Arial" panose="020B0604020202020204" pitchFamily="34" charset="0"/>
              </a:rPr>
              <a:t>font-weight</a:t>
            </a:r>
            <a:r>
              <a:rPr lang="pt-BR" b="1" dirty="0">
                <a:solidFill>
                  <a:srgbClr val="002060"/>
                </a:solidFill>
                <a:latin typeface="Arial" panose="020B0604020202020204" pitchFamily="34" charset="0"/>
                <a:cs typeface="Arial" panose="020B0604020202020204" pitchFamily="34" charset="0"/>
              </a:rPr>
              <a:t> : </a:t>
            </a:r>
            <a:r>
              <a:rPr lang="pt-BR" b="1" dirty="0" err="1">
                <a:solidFill>
                  <a:srgbClr val="002060"/>
                </a:solidFill>
                <a:latin typeface="Arial" panose="020B0604020202020204" pitchFamily="34" charset="0"/>
                <a:cs typeface="Arial" panose="020B0604020202020204" pitchFamily="34" charset="0"/>
              </a:rPr>
              <a:t>bold</a:t>
            </a:r>
            <a:r>
              <a:rPr lang="pt-BR" b="1" dirty="0">
                <a:solidFill>
                  <a:srgbClr val="002060"/>
                </a:solidFill>
                <a:latin typeface="Arial" panose="020B0604020202020204" pitchFamily="34" charset="0"/>
                <a:cs typeface="Arial" panose="020B0604020202020204" pitchFamily="34" charset="0"/>
              </a:rPr>
              <a:t>;</a:t>
            </a:r>
          </a:p>
          <a:p>
            <a:r>
              <a:rPr lang="pt-BR" b="1" dirty="0">
                <a:solidFill>
                  <a:srgbClr val="002060"/>
                </a:solidFill>
                <a:latin typeface="Arial" panose="020B0604020202020204" pitchFamily="34" charset="0"/>
                <a:cs typeface="Arial" panose="020B0604020202020204" pitchFamily="34" charset="0"/>
              </a:rPr>
              <a:t>	color: blue;</a:t>
            </a:r>
          </a:p>
          <a:p>
            <a:r>
              <a:rPr lang="pt-BR" b="1" dirty="0">
                <a:solidFill>
                  <a:srgbClr val="002060"/>
                </a:solidFill>
                <a:latin typeface="Arial" panose="020B0604020202020204" pitchFamily="34" charset="0"/>
                <a:cs typeface="Arial" panose="020B0604020202020204" pitchFamily="34" charset="0"/>
              </a:rPr>
              <a:t>}</a:t>
            </a:r>
          </a:p>
          <a:p>
            <a:endParaRPr lang="pt-BR" b="1" dirty="0">
              <a:solidFill>
                <a:srgbClr val="002060"/>
              </a:solidFill>
              <a:latin typeface="Arial" panose="020B0604020202020204" pitchFamily="34" charset="0"/>
              <a:cs typeface="Arial" panose="020B0604020202020204" pitchFamily="34" charset="0"/>
            </a:endParaRPr>
          </a:p>
          <a:p>
            <a:r>
              <a:rPr lang="pt-BR" b="1" dirty="0">
                <a:solidFill>
                  <a:srgbClr val="002060"/>
                </a:solidFill>
                <a:latin typeface="Arial" panose="020B0604020202020204" pitchFamily="34" charset="0"/>
                <a:cs typeface="Arial" panose="020B0604020202020204" pitchFamily="34" charset="0"/>
              </a:rPr>
              <a:t>.......</a:t>
            </a:r>
          </a:p>
          <a:p>
            <a:endParaRPr lang="pt-BR" b="1" dirty="0">
              <a:solidFill>
                <a:srgbClr val="002060"/>
              </a:solidFill>
              <a:latin typeface="Arial" panose="020B0604020202020204" pitchFamily="34" charset="0"/>
              <a:cs typeface="Arial" panose="020B0604020202020204" pitchFamily="34" charset="0"/>
            </a:endParaRPr>
          </a:p>
          <a:p>
            <a:r>
              <a:rPr lang="pt-BR" b="1" dirty="0">
                <a:solidFill>
                  <a:srgbClr val="002060"/>
                </a:solidFill>
                <a:latin typeface="Arial" panose="020B0604020202020204" pitchFamily="34" charset="0"/>
                <a:cs typeface="Arial" panose="020B0604020202020204" pitchFamily="34" charset="0"/>
              </a:rPr>
              <a:t>&lt;p </a:t>
            </a:r>
            <a:r>
              <a:rPr lang="pt-BR" b="1" dirty="0" err="1">
                <a:solidFill>
                  <a:srgbClr val="002060"/>
                </a:solidFill>
                <a:latin typeface="Arial" panose="020B0604020202020204" pitchFamily="34" charset="0"/>
                <a:cs typeface="Arial" panose="020B0604020202020204" pitchFamily="34" charset="0"/>
              </a:rPr>
              <a:t>class</a:t>
            </a:r>
            <a:r>
              <a:rPr lang="pt-BR" b="1" dirty="0">
                <a:solidFill>
                  <a:srgbClr val="002060"/>
                </a:solidFill>
                <a:latin typeface="Arial" panose="020B0604020202020204" pitchFamily="34" charset="0"/>
                <a:cs typeface="Arial" panose="020B0604020202020204" pitchFamily="34" charset="0"/>
              </a:rPr>
              <a:t>=“</a:t>
            </a:r>
            <a:r>
              <a:rPr lang="pt-BR" b="1" dirty="0" err="1">
                <a:solidFill>
                  <a:srgbClr val="002060"/>
                </a:solidFill>
                <a:latin typeface="Arial" panose="020B0604020202020204" pitchFamily="34" charset="0"/>
                <a:cs typeface="Arial" panose="020B0604020202020204" pitchFamily="34" charset="0"/>
              </a:rPr>
              <a:t>css_texto</a:t>
            </a:r>
            <a:r>
              <a:rPr lang="pt-BR" b="1" dirty="0">
                <a:solidFill>
                  <a:srgbClr val="002060"/>
                </a:solidFill>
                <a:latin typeface="Arial" panose="020B0604020202020204" pitchFamily="34" charset="0"/>
                <a:cs typeface="Arial" panose="020B0604020202020204" pitchFamily="34" charset="0"/>
              </a:rPr>
              <a:t>”&gt;Configura texto&lt;/p&gt;</a:t>
            </a:r>
          </a:p>
        </p:txBody>
      </p:sp>
      <p:sp>
        <p:nvSpPr>
          <p:cNvPr id="6" name="Texto Explicativo Retangular com Cantos Arredondados 5"/>
          <p:cNvSpPr/>
          <p:nvPr/>
        </p:nvSpPr>
        <p:spPr>
          <a:xfrm>
            <a:off x="8667205" y="3299677"/>
            <a:ext cx="3050177" cy="828186"/>
          </a:xfrm>
          <a:prstGeom prst="wedgeRoundRectCallout">
            <a:avLst>
              <a:gd name="adj1" fmla="val -81647"/>
              <a:gd name="adj2" fmla="val 685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a:solidFill>
                  <a:srgbClr val="FFFF00"/>
                </a:solidFill>
              </a:rPr>
              <a:t>Não esqueça de colocar ponto (.) antes do nome do estilo</a:t>
            </a:r>
          </a:p>
        </p:txBody>
      </p:sp>
      <p:sp>
        <p:nvSpPr>
          <p:cNvPr id="7" name="Texto Explicativo Retangular com Cantos Arredondados 6"/>
          <p:cNvSpPr/>
          <p:nvPr/>
        </p:nvSpPr>
        <p:spPr>
          <a:xfrm>
            <a:off x="8667206" y="5290456"/>
            <a:ext cx="3050176" cy="378823"/>
          </a:xfrm>
          <a:prstGeom prst="wedgeRoundRectCallout">
            <a:avLst>
              <a:gd name="adj1" fmla="val -81647"/>
              <a:gd name="adj2" fmla="val 7743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b="1" dirty="0">
                <a:solidFill>
                  <a:srgbClr val="FFFF00"/>
                </a:solidFill>
              </a:rPr>
              <a:t>Aqui não vai o ponto (.)</a:t>
            </a:r>
          </a:p>
        </p:txBody>
      </p:sp>
      <p:sp>
        <p:nvSpPr>
          <p:cNvPr id="2" name="Espaço Reservado para Número de Slide 1"/>
          <p:cNvSpPr>
            <a:spLocks noGrp="1"/>
          </p:cNvSpPr>
          <p:nvPr>
            <p:ph type="sldNum" sz="quarter" idx="12"/>
          </p:nvPr>
        </p:nvSpPr>
        <p:spPr/>
        <p:txBody>
          <a:bodyPr/>
          <a:lstStyle/>
          <a:p>
            <a:fld id="{8256F83C-9D86-480B-90E0-0702DBEB9457}" type="slidenum">
              <a:rPr lang="pt-BR" smtClean="0"/>
              <a:t>43</a:t>
            </a:fld>
            <a:endParaRPr lang="pt-BR"/>
          </a:p>
        </p:txBody>
      </p:sp>
    </p:spTree>
    <p:extLst>
      <p:ext uri="{BB962C8B-B14F-4D97-AF65-F5344CB8AC3E}">
        <p14:creationId xmlns:p14="http://schemas.microsoft.com/office/powerpoint/2010/main" val="39947801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735878" y="688708"/>
            <a:ext cx="5155474" cy="5909310"/>
          </a:xfrm>
          <a:prstGeom prst="rect">
            <a:avLst/>
          </a:prstGeom>
          <a:ln>
            <a:solidFill>
              <a:schemeClr val="tx1"/>
            </a:solidFill>
          </a:ln>
        </p:spPr>
        <p:txBody>
          <a:bodyPr wrap="square">
            <a:spAutoFit/>
          </a:bodyPr>
          <a:lstStyle/>
          <a:p>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head</a:t>
            </a:r>
            <a:r>
              <a:rPr lang="pt-BR" b="1" dirty="0">
                <a:solidFill>
                  <a:srgbClr val="002060"/>
                </a:solidFill>
                <a:latin typeface="Consolas" panose="020B0609020204030204" pitchFamily="49" charset="0"/>
              </a:rPr>
              <a:t>&gt;</a:t>
            </a:r>
          </a:p>
          <a:p>
            <a:r>
              <a:rPr lang="pt-BR" b="1" dirty="0">
                <a:solidFill>
                  <a:srgbClr val="002060"/>
                </a:solidFill>
                <a:latin typeface="Consolas" panose="020B0609020204030204" pitchFamily="49" charset="0"/>
              </a:rPr>
              <a:t>    &lt;meta </a:t>
            </a:r>
            <a:r>
              <a:rPr lang="pt-BR" b="1" i="1" dirty="0" err="1">
                <a:solidFill>
                  <a:srgbClr val="002060"/>
                </a:solidFill>
                <a:latin typeface="Consolas" panose="020B0609020204030204" pitchFamily="49" charset="0"/>
              </a:rPr>
              <a:t>charset</a:t>
            </a:r>
            <a:r>
              <a:rPr lang="pt-BR" b="1" dirty="0">
                <a:solidFill>
                  <a:srgbClr val="002060"/>
                </a:solidFill>
                <a:latin typeface="Consolas" panose="020B0609020204030204" pitchFamily="49" charset="0"/>
              </a:rPr>
              <a:t>="UTF-8"&gt;</a:t>
            </a: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title</a:t>
            </a:r>
            <a:r>
              <a:rPr lang="pt-BR" b="1" dirty="0">
                <a:solidFill>
                  <a:srgbClr val="002060"/>
                </a:solidFill>
                <a:latin typeface="Consolas" panose="020B0609020204030204" pitchFamily="49" charset="0"/>
              </a:rPr>
              <a:t>&gt;</a:t>
            </a:r>
            <a:r>
              <a:rPr lang="pt-BR" b="1" dirty="0" err="1">
                <a:solidFill>
                  <a:srgbClr val="002060"/>
                </a:solidFill>
                <a:latin typeface="Consolas" panose="020B0609020204030204" pitchFamily="49" charset="0"/>
              </a:rPr>
              <a:t>Document</a:t>
            </a:r>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title</a:t>
            </a:r>
            <a:r>
              <a:rPr lang="pt-BR" b="1" dirty="0">
                <a:solidFill>
                  <a:srgbClr val="002060"/>
                </a:solidFill>
                <a:latin typeface="Consolas" panose="020B0609020204030204" pitchFamily="49" charset="0"/>
              </a:rPr>
              <a:t>&gt;</a:t>
            </a:r>
          </a:p>
          <a:p>
            <a:endParaRPr lang="pt-BR" b="1" dirty="0">
              <a:solidFill>
                <a:srgbClr val="002060"/>
              </a:solidFill>
              <a:latin typeface="Consolas" panose="020B0609020204030204" pitchFamily="49" charset="0"/>
            </a:endParaRPr>
          </a:p>
          <a:p>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style</a:t>
            </a:r>
            <a:r>
              <a:rPr lang="pt-BR" b="1" dirty="0">
                <a:solidFill>
                  <a:srgbClr val="002060"/>
                </a:solidFill>
                <a:latin typeface="Consolas" panose="020B0609020204030204" pitchFamily="49" charset="0"/>
              </a:rPr>
              <a:t>&gt;</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caption</a:t>
            </a:r>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background-color:royalblue</a:t>
            </a:r>
            <a:r>
              <a:rPr lang="pt-BR" b="1" dirty="0">
                <a:solidFill>
                  <a:srgbClr val="002060"/>
                </a:solidFill>
                <a:latin typeface="Consolas" panose="020B0609020204030204" pitchFamily="49" charset="0"/>
              </a:rPr>
              <a:t>;</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color:white</a:t>
            </a:r>
            <a:r>
              <a:rPr lang="pt-BR" b="1" dirty="0">
                <a:solidFill>
                  <a:srgbClr val="002060"/>
                </a:solidFill>
                <a:latin typeface="Consolas" panose="020B0609020204030204" pitchFamily="49" charset="0"/>
              </a:rPr>
              <a:t>;</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font-weight</a:t>
            </a:r>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bold</a:t>
            </a:r>
            <a:r>
              <a:rPr lang="pt-BR" b="1" dirty="0">
                <a:solidFill>
                  <a:srgbClr val="002060"/>
                </a:solidFill>
                <a:latin typeface="Consolas" panose="020B0609020204030204" pitchFamily="49" charset="0"/>
              </a:rPr>
              <a:t>;</a:t>
            </a:r>
          </a:p>
          <a:p>
            <a:r>
              <a:rPr lang="pt-BR" b="1" dirty="0">
                <a:solidFill>
                  <a:srgbClr val="002060"/>
                </a:solidFill>
                <a:latin typeface="Consolas" panose="020B0609020204030204" pitchFamily="49" charset="0"/>
              </a:rPr>
              <a:t>        }</a:t>
            </a:r>
          </a:p>
          <a:p>
            <a:br>
              <a:rPr lang="pt-BR" b="1" dirty="0">
                <a:solidFill>
                  <a:srgbClr val="002060"/>
                </a:solidFill>
                <a:latin typeface="Consolas" panose="020B0609020204030204" pitchFamily="49" charset="0"/>
              </a:rPr>
            </a:br>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tbody</a:t>
            </a:r>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text-align</a:t>
            </a:r>
            <a:r>
              <a:rPr lang="pt-BR" b="1" dirty="0">
                <a:solidFill>
                  <a:srgbClr val="002060"/>
                </a:solidFill>
                <a:latin typeface="Consolas" panose="020B0609020204030204" pitchFamily="49" charset="0"/>
              </a:rPr>
              <a:t>: center;</a:t>
            </a:r>
          </a:p>
          <a:p>
            <a:r>
              <a:rPr lang="pt-BR" b="1" dirty="0">
                <a:solidFill>
                  <a:srgbClr val="002060"/>
                </a:solidFill>
                <a:latin typeface="Consolas" panose="020B0609020204030204" pitchFamily="49" charset="0"/>
              </a:rPr>
              <a:t>        }</a:t>
            </a: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style</a:t>
            </a:r>
            <a:r>
              <a:rPr lang="pt-BR" b="1" dirty="0">
                <a:solidFill>
                  <a:srgbClr val="002060"/>
                </a:solidFill>
                <a:latin typeface="Consolas" panose="020B0609020204030204" pitchFamily="49" charset="0"/>
              </a:rPr>
              <a:t>&gt;</a:t>
            </a:r>
          </a:p>
          <a:p>
            <a:endParaRPr lang="pt-BR" b="1" dirty="0">
              <a:solidFill>
                <a:srgbClr val="002060"/>
              </a:solidFill>
              <a:latin typeface="Consolas" panose="020B0609020204030204" pitchFamily="49" charset="0"/>
            </a:endParaRPr>
          </a:p>
          <a:p>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head</a:t>
            </a:r>
            <a:r>
              <a:rPr lang="pt-BR" b="1" dirty="0">
                <a:solidFill>
                  <a:srgbClr val="002060"/>
                </a:solidFill>
                <a:latin typeface="Consolas" panose="020B0609020204030204" pitchFamily="49" charset="0"/>
              </a:rPr>
              <a:t>&gt;</a:t>
            </a:r>
            <a:endParaRPr lang="pt-BR" b="1" dirty="0">
              <a:solidFill>
                <a:srgbClr val="002060"/>
              </a:solidFill>
              <a:effectLst/>
              <a:latin typeface="Consolas" panose="020B0609020204030204" pitchFamily="49" charset="0"/>
            </a:endParaRPr>
          </a:p>
        </p:txBody>
      </p:sp>
      <p:sp>
        <p:nvSpPr>
          <p:cNvPr id="3" name="Chave Direita 2"/>
          <p:cNvSpPr/>
          <p:nvPr/>
        </p:nvSpPr>
        <p:spPr>
          <a:xfrm>
            <a:off x="5891352" y="2155371"/>
            <a:ext cx="261264" cy="3513909"/>
          </a:xfrm>
          <a:prstGeom prst="rightBrace">
            <a:avLst>
              <a:gd name="adj1" fmla="val 85564"/>
              <a:gd name="adj2" fmla="val 50000"/>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4" name="Retângulo 3"/>
          <p:cNvSpPr/>
          <p:nvPr/>
        </p:nvSpPr>
        <p:spPr>
          <a:xfrm>
            <a:off x="6348551" y="949023"/>
            <a:ext cx="5904412" cy="4524315"/>
          </a:xfrm>
          <a:prstGeom prst="rect">
            <a:avLst/>
          </a:prstGeom>
        </p:spPr>
        <p:txBody>
          <a:bodyPr wrap="square">
            <a:spAutoFit/>
          </a:bodyPr>
          <a:lstStyle/>
          <a:p>
            <a:r>
              <a:rPr lang="pt-BR" b="1" dirty="0">
                <a:solidFill>
                  <a:srgbClr val="002060"/>
                </a:solidFill>
                <a:latin typeface="Arial" panose="020B0604020202020204" pitchFamily="34" charset="0"/>
                <a:cs typeface="Arial" panose="020B0604020202020204" pitchFamily="34" charset="0"/>
              </a:rPr>
              <a:t>2º) pode utilizar o próprio nome da </a:t>
            </a:r>
            <a:r>
              <a:rPr lang="pt-BR" b="1" dirty="0" err="1">
                <a:solidFill>
                  <a:srgbClr val="002060"/>
                </a:solidFill>
                <a:latin typeface="Arial" panose="020B0604020202020204" pitchFamily="34" charset="0"/>
                <a:cs typeface="Arial" panose="020B0604020202020204" pitchFamily="34" charset="0"/>
              </a:rPr>
              <a:t>tag</a:t>
            </a:r>
            <a:r>
              <a:rPr lang="pt-BR" b="1" dirty="0">
                <a:solidFill>
                  <a:srgbClr val="002060"/>
                </a:solidFill>
                <a:latin typeface="Arial" panose="020B0604020202020204" pitchFamily="34" charset="0"/>
                <a:cs typeface="Arial" panose="020B0604020202020204" pitchFamily="34" charset="0"/>
              </a:rPr>
              <a:t>, assim não precisa .XXX, mas todos </a:t>
            </a:r>
            <a:r>
              <a:rPr lang="pt-BR" b="1" dirty="0" err="1">
                <a:solidFill>
                  <a:srgbClr val="002060"/>
                </a:solidFill>
                <a:latin typeface="Arial" panose="020B0604020202020204" pitchFamily="34" charset="0"/>
                <a:cs typeface="Arial" panose="020B0604020202020204" pitchFamily="34" charset="0"/>
              </a:rPr>
              <a:t>tags</a:t>
            </a:r>
            <a:r>
              <a:rPr lang="pt-BR" b="1" dirty="0">
                <a:solidFill>
                  <a:srgbClr val="002060"/>
                </a:solidFill>
                <a:latin typeface="Arial" panose="020B0604020202020204" pitchFamily="34" charset="0"/>
                <a:cs typeface="Arial" panose="020B0604020202020204" pitchFamily="34" charset="0"/>
              </a:rPr>
              <a:t> serão personalizados com o mesmo estilo. Isso foi feito no HTML da tabela.</a:t>
            </a:r>
          </a:p>
          <a:p>
            <a:endParaRPr lang="pt-BR" b="1" dirty="0">
              <a:solidFill>
                <a:srgbClr val="002060"/>
              </a:solidFill>
              <a:latin typeface="Arial" panose="020B0604020202020204" pitchFamily="34" charset="0"/>
              <a:cs typeface="Arial" panose="020B0604020202020204" pitchFamily="34" charset="0"/>
            </a:endParaRPr>
          </a:p>
          <a:p>
            <a:r>
              <a:rPr lang="pt-BR" b="1" dirty="0" err="1">
                <a:solidFill>
                  <a:srgbClr val="002060"/>
                </a:solidFill>
                <a:latin typeface="Arial" panose="020B0604020202020204" pitchFamily="34" charset="0"/>
                <a:cs typeface="Arial" panose="020B0604020202020204" pitchFamily="34" charset="0"/>
              </a:rPr>
              <a:t>caption</a:t>
            </a:r>
            <a:endParaRPr lang="pt-BR" b="1" dirty="0">
              <a:solidFill>
                <a:srgbClr val="002060"/>
              </a:solidFill>
              <a:latin typeface="Arial" panose="020B0604020202020204" pitchFamily="34" charset="0"/>
              <a:cs typeface="Arial" panose="020B0604020202020204" pitchFamily="34" charset="0"/>
            </a:endParaRPr>
          </a:p>
          <a:p>
            <a:r>
              <a:rPr lang="pt-BR" b="1" dirty="0">
                <a:solidFill>
                  <a:srgbClr val="002060"/>
                </a:solidFill>
                <a:latin typeface="Arial" panose="020B0604020202020204" pitchFamily="34" charset="0"/>
                <a:cs typeface="Arial" panose="020B0604020202020204" pitchFamily="34" charset="0"/>
              </a:rPr>
              <a:t>{</a:t>
            </a:r>
          </a:p>
          <a:p>
            <a:r>
              <a:rPr lang="pt-BR" b="1" dirty="0">
                <a:solidFill>
                  <a:srgbClr val="002060"/>
                </a:solidFill>
                <a:latin typeface="Arial" panose="020B0604020202020204" pitchFamily="34" charset="0"/>
                <a:cs typeface="Arial" panose="020B0604020202020204" pitchFamily="34" charset="0"/>
              </a:rPr>
              <a:t>      alterou a cor de fundo do </a:t>
            </a:r>
            <a:r>
              <a:rPr lang="pt-BR" b="1" dirty="0" err="1">
                <a:solidFill>
                  <a:srgbClr val="002060"/>
                </a:solidFill>
                <a:latin typeface="Arial" panose="020B0604020202020204" pitchFamily="34" charset="0"/>
                <a:cs typeface="Arial" panose="020B0604020202020204" pitchFamily="34" charset="0"/>
              </a:rPr>
              <a:t>caption</a:t>
            </a:r>
            <a:r>
              <a:rPr lang="pt-BR" b="1" dirty="0">
                <a:solidFill>
                  <a:srgbClr val="002060"/>
                </a:solidFill>
                <a:latin typeface="Arial" panose="020B0604020202020204" pitchFamily="34" charset="0"/>
                <a:cs typeface="Arial" panose="020B0604020202020204" pitchFamily="34" charset="0"/>
              </a:rPr>
              <a:t> para azul </a:t>
            </a:r>
            <a:r>
              <a:rPr lang="pt-BR" b="1" dirty="0" err="1">
                <a:solidFill>
                  <a:srgbClr val="002060"/>
                </a:solidFill>
                <a:latin typeface="Arial" panose="020B0604020202020204" pitchFamily="34" charset="0"/>
                <a:cs typeface="Arial" panose="020B0604020202020204" pitchFamily="34" charset="0"/>
              </a:rPr>
              <a:t>royal</a:t>
            </a:r>
            <a:endParaRPr lang="pt-BR" b="1" dirty="0">
              <a:solidFill>
                <a:srgbClr val="002060"/>
              </a:solidFill>
              <a:latin typeface="Arial" panose="020B0604020202020204" pitchFamily="34" charset="0"/>
              <a:cs typeface="Arial" panose="020B0604020202020204" pitchFamily="34" charset="0"/>
            </a:endParaRPr>
          </a:p>
          <a:p>
            <a:r>
              <a:rPr lang="pt-BR" b="1" dirty="0">
                <a:solidFill>
                  <a:srgbClr val="002060"/>
                </a:solidFill>
                <a:latin typeface="Arial" panose="020B0604020202020204" pitchFamily="34" charset="0"/>
                <a:cs typeface="Arial" panose="020B0604020202020204" pitchFamily="34" charset="0"/>
              </a:rPr>
              <a:t>      alterou a cor do texto para branco</a:t>
            </a:r>
          </a:p>
          <a:p>
            <a:r>
              <a:rPr lang="pt-BR" b="1" dirty="0">
                <a:solidFill>
                  <a:srgbClr val="002060"/>
                </a:solidFill>
                <a:latin typeface="Arial" panose="020B0604020202020204" pitchFamily="34" charset="0"/>
                <a:cs typeface="Arial" panose="020B0604020202020204" pitchFamily="34" charset="0"/>
              </a:rPr>
              <a:t>      colocou o texto em negrito.</a:t>
            </a:r>
          </a:p>
          <a:p>
            <a:r>
              <a:rPr lang="pt-BR" b="1" dirty="0">
                <a:solidFill>
                  <a:srgbClr val="002060"/>
                </a:solidFill>
                <a:latin typeface="Arial" panose="020B0604020202020204" pitchFamily="34" charset="0"/>
                <a:cs typeface="Arial" panose="020B0604020202020204" pitchFamily="34" charset="0"/>
              </a:rPr>
              <a:t>}</a:t>
            </a:r>
          </a:p>
          <a:p>
            <a:endParaRPr lang="pt-BR" b="1" dirty="0">
              <a:solidFill>
                <a:srgbClr val="002060"/>
              </a:solidFill>
              <a:latin typeface="Arial" panose="020B0604020202020204" pitchFamily="34" charset="0"/>
              <a:cs typeface="Arial" panose="020B0604020202020204" pitchFamily="34" charset="0"/>
            </a:endParaRPr>
          </a:p>
          <a:p>
            <a:r>
              <a:rPr lang="pt-BR" b="1" dirty="0" err="1">
                <a:solidFill>
                  <a:srgbClr val="002060"/>
                </a:solidFill>
                <a:latin typeface="Arial" panose="020B0604020202020204" pitchFamily="34" charset="0"/>
                <a:cs typeface="Arial" panose="020B0604020202020204" pitchFamily="34" charset="0"/>
              </a:rPr>
              <a:t>tbody</a:t>
            </a:r>
            <a:endParaRPr lang="pt-BR" b="1" dirty="0">
              <a:solidFill>
                <a:srgbClr val="002060"/>
              </a:solidFill>
              <a:latin typeface="Arial" panose="020B0604020202020204" pitchFamily="34" charset="0"/>
              <a:cs typeface="Arial" panose="020B0604020202020204" pitchFamily="34" charset="0"/>
            </a:endParaRPr>
          </a:p>
          <a:p>
            <a:r>
              <a:rPr lang="pt-BR" b="1" dirty="0">
                <a:solidFill>
                  <a:srgbClr val="002060"/>
                </a:solidFill>
                <a:latin typeface="Arial" panose="020B0604020202020204" pitchFamily="34" charset="0"/>
                <a:cs typeface="Arial" panose="020B0604020202020204" pitchFamily="34" charset="0"/>
              </a:rPr>
              <a:t>{</a:t>
            </a:r>
          </a:p>
          <a:p>
            <a:r>
              <a:rPr lang="pt-BR" b="1" dirty="0">
                <a:solidFill>
                  <a:srgbClr val="002060"/>
                </a:solidFill>
                <a:latin typeface="Arial" panose="020B0604020202020204" pitchFamily="34" charset="0"/>
                <a:cs typeface="Arial" panose="020B0604020202020204" pitchFamily="34" charset="0"/>
              </a:rPr>
              <a:t>       todos os textos foram alinhados no centro</a:t>
            </a:r>
          </a:p>
          <a:p>
            <a:r>
              <a:rPr lang="pt-BR" b="1" dirty="0">
                <a:solidFill>
                  <a:srgbClr val="002060"/>
                </a:solidFill>
                <a:latin typeface="Arial" panose="020B0604020202020204" pitchFamily="34" charset="0"/>
                <a:cs typeface="Arial" panose="020B0604020202020204" pitchFamily="34" charset="0"/>
              </a:rPr>
              <a:t>}</a:t>
            </a:r>
          </a:p>
        </p:txBody>
      </p:sp>
      <p:sp>
        <p:nvSpPr>
          <p:cNvPr id="5" name="Espaço Reservado para Número de Slide 4"/>
          <p:cNvSpPr>
            <a:spLocks noGrp="1"/>
          </p:cNvSpPr>
          <p:nvPr>
            <p:ph type="sldNum" sz="quarter" idx="12"/>
          </p:nvPr>
        </p:nvSpPr>
        <p:spPr/>
        <p:txBody>
          <a:bodyPr/>
          <a:lstStyle/>
          <a:p>
            <a:fld id="{8256F83C-9D86-480B-90E0-0702DBEB9457}" type="slidenum">
              <a:rPr lang="pt-BR" smtClean="0"/>
              <a:t>44</a:t>
            </a:fld>
            <a:endParaRPr lang="pt-BR"/>
          </a:p>
        </p:txBody>
      </p:sp>
    </p:spTree>
    <p:extLst>
      <p:ext uri="{BB962C8B-B14F-4D97-AF65-F5344CB8AC3E}">
        <p14:creationId xmlns:p14="http://schemas.microsoft.com/office/powerpoint/2010/main" val="5010591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984069" y="458439"/>
            <a:ext cx="6252754" cy="6001643"/>
          </a:xfrm>
          <a:prstGeom prst="rect">
            <a:avLst/>
          </a:prstGeom>
        </p:spPr>
        <p:txBody>
          <a:bodyPr wrap="square">
            <a:spAutoFit/>
          </a:bodyPr>
          <a:lstStyle/>
          <a:p>
            <a:r>
              <a:rPr lang="pt-BR" sz="1600" b="1" dirty="0">
                <a:solidFill>
                  <a:srgbClr val="002060"/>
                </a:solidFill>
                <a:latin typeface="Consolas" panose="020B0609020204030204" pitchFamily="49" charset="0"/>
              </a:rPr>
              <a:t>&lt;!DOCTYPE </a:t>
            </a:r>
            <a:r>
              <a:rPr lang="pt-BR" sz="1600" b="1" i="1" dirty="0" err="1">
                <a:solidFill>
                  <a:srgbClr val="002060"/>
                </a:solidFill>
                <a:latin typeface="Consolas" panose="020B0609020204030204" pitchFamily="49" charset="0"/>
              </a:rPr>
              <a:t>html</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&lt;</a:t>
            </a:r>
            <a:r>
              <a:rPr lang="pt-BR" sz="1600" b="1" dirty="0" err="1">
                <a:solidFill>
                  <a:srgbClr val="002060"/>
                </a:solidFill>
                <a:latin typeface="Consolas" panose="020B0609020204030204" pitchFamily="49" charset="0"/>
              </a:rPr>
              <a:t>html</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&lt;</a:t>
            </a:r>
            <a:r>
              <a:rPr lang="pt-BR" sz="1600" b="1" dirty="0" err="1">
                <a:solidFill>
                  <a:srgbClr val="002060"/>
                </a:solidFill>
                <a:latin typeface="Consolas" panose="020B0609020204030204" pitchFamily="49" charset="0"/>
              </a:rPr>
              <a:t>head</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&lt;meta </a:t>
            </a:r>
            <a:r>
              <a:rPr lang="pt-BR" sz="1600" b="1" i="1" dirty="0" err="1">
                <a:solidFill>
                  <a:srgbClr val="002060"/>
                </a:solidFill>
                <a:latin typeface="Consolas" panose="020B0609020204030204" pitchFamily="49" charset="0"/>
              </a:rPr>
              <a:t>charset</a:t>
            </a:r>
            <a:r>
              <a:rPr lang="pt-BR" sz="1600" b="1" dirty="0">
                <a:solidFill>
                  <a:srgbClr val="002060"/>
                </a:solidFill>
                <a:latin typeface="Consolas" panose="020B0609020204030204" pitchFamily="49" charset="0"/>
              </a:rPr>
              <a:t>="UTF-8"&gt;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title</a:t>
            </a:r>
            <a:r>
              <a:rPr lang="pt-BR" sz="1600" b="1" dirty="0">
                <a:solidFill>
                  <a:srgbClr val="002060"/>
                </a:solidFill>
                <a:latin typeface="Consolas" panose="020B0609020204030204" pitchFamily="49" charset="0"/>
              </a:rPr>
              <a:t>&gt;</a:t>
            </a:r>
            <a:r>
              <a:rPr lang="pt-BR" sz="1600" b="1" dirty="0" err="1">
                <a:solidFill>
                  <a:srgbClr val="002060"/>
                </a:solidFill>
                <a:latin typeface="Consolas" panose="020B0609020204030204" pitchFamily="49" charset="0"/>
              </a:rPr>
              <a:t>Document</a:t>
            </a:r>
            <a:r>
              <a:rPr lang="pt-BR" sz="1600" b="1" dirty="0">
                <a:solidFill>
                  <a:srgbClr val="002060"/>
                </a:solidFill>
                <a:latin typeface="Consolas" panose="020B0609020204030204" pitchFamily="49" charset="0"/>
              </a:rPr>
              <a:t>&lt;/</a:t>
            </a:r>
            <a:r>
              <a:rPr lang="pt-BR" sz="1600" b="1" dirty="0" err="1">
                <a:solidFill>
                  <a:srgbClr val="002060"/>
                </a:solidFill>
                <a:latin typeface="Consolas" panose="020B0609020204030204" pitchFamily="49" charset="0"/>
              </a:rPr>
              <a:t>title</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style</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a:t>
            </a:r>
            <a:r>
              <a:rPr lang="pt-BR" sz="1600" b="1" dirty="0" err="1">
                <a:solidFill>
                  <a:srgbClr val="002060"/>
                </a:solidFill>
                <a:latin typeface="Consolas" panose="020B0609020204030204" pitchFamily="49" charset="0"/>
              </a:rPr>
              <a:t>caption</a:t>
            </a:r>
            <a:endParaRPr lang="pt-BR" sz="1600" b="1" dirty="0">
              <a:solidFill>
                <a:srgbClr val="002060"/>
              </a:solidFill>
              <a:latin typeface="Consolas" panose="020B0609020204030204" pitchFamily="49" charset="0"/>
            </a:endParaRPr>
          </a:p>
          <a:p>
            <a:r>
              <a:rPr lang="pt-BR" sz="1600" b="1" dirty="0">
                <a:solidFill>
                  <a:srgbClr val="002060"/>
                </a:solidFill>
                <a:latin typeface="Consolas" panose="020B0609020204030204" pitchFamily="49" charset="0"/>
              </a:rPr>
              <a:t>        {</a:t>
            </a:r>
          </a:p>
          <a:p>
            <a:r>
              <a:rPr lang="pt-BR" sz="1600" b="1" dirty="0">
                <a:solidFill>
                  <a:srgbClr val="002060"/>
                </a:solidFill>
                <a:latin typeface="Consolas" panose="020B0609020204030204" pitchFamily="49" charset="0"/>
              </a:rPr>
              <a:t>            background-color: </a:t>
            </a:r>
            <a:r>
              <a:rPr lang="pt-BR" sz="1600" b="1" dirty="0" err="1">
                <a:solidFill>
                  <a:srgbClr val="002060"/>
                </a:solidFill>
                <a:latin typeface="Consolas" panose="020B0609020204030204" pitchFamily="49" charset="0"/>
              </a:rPr>
              <a:t>royalblue</a:t>
            </a:r>
            <a:r>
              <a:rPr lang="pt-BR" sz="1600" b="1" dirty="0">
                <a:solidFill>
                  <a:srgbClr val="002060"/>
                </a:solidFill>
                <a:latin typeface="Consolas" panose="020B0609020204030204" pitchFamily="49" charset="0"/>
              </a:rPr>
              <a:t>;</a:t>
            </a:r>
          </a:p>
          <a:p>
            <a:r>
              <a:rPr lang="pt-BR" sz="1600" b="1" dirty="0">
                <a:solidFill>
                  <a:srgbClr val="002060"/>
                </a:solidFill>
                <a:latin typeface="Consolas" panose="020B0609020204030204" pitchFamily="49" charset="0"/>
              </a:rPr>
              <a:t>            color: </a:t>
            </a:r>
            <a:r>
              <a:rPr lang="pt-BR" sz="1600" b="1" dirty="0" err="1">
                <a:solidFill>
                  <a:srgbClr val="002060"/>
                </a:solidFill>
                <a:latin typeface="Consolas" panose="020B0609020204030204" pitchFamily="49" charset="0"/>
              </a:rPr>
              <a:t>white</a:t>
            </a:r>
            <a:r>
              <a:rPr lang="pt-BR" sz="1600" b="1" dirty="0">
                <a:solidFill>
                  <a:srgbClr val="002060"/>
                </a:solidFill>
                <a:latin typeface="Consolas" panose="020B0609020204030204" pitchFamily="49" charset="0"/>
              </a:rPr>
              <a:t>;</a:t>
            </a:r>
          </a:p>
          <a:p>
            <a:r>
              <a:rPr lang="pt-BR" sz="1600" b="1" dirty="0">
                <a:solidFill>
                  <a:srgbClr val="002060"/>
                </a:solidFill>
                <a:latin typeface="Consolas" panose="020B0609020204030204" pitchFamily="49" charset="0"/>
              </a:rPr>
              <a:t>            </a:t>
            </a:r>
            <a:r>
              <a:rPr lang="pt-BR" sz="1600" b="1" dirty="0" err="1">
                <a:solidFill>
                  <a:srgbClr val="002060"/>
                </a:solidFill>
                <a:latin typeface="Consolas" panose="020B0609020204030204" pitchFamily="49" charset="0"/>
              </a:rPr>
              <a:t>font-weight</a:t>
            </a:r>
            <a:r>
              <a:rPr lang="pt-BR" sz="1600" b="1" dirty="0">
                <a:solidFill>
                  <a:srgbClr val="002060"/>
                </a:solidFill>
                <a:latin typeface="Consolas" panose="020B0609020204030204" pitchFamily="49" charset="0"/>
              </a:rPr>
              <a:t>: </a:t>
            </a:r>
            <a:r>
              <a:rPr lang="pt-BR" sz="1600" b="1" dirty="0" err="1">
                <a:solidFill>
                  <a:srgbClr val="002060"/>
                </a:solidFill>
                <a:latin typeface="Consolas" panose="020B0609020204030204" pitchFamily="49" charset="0"/>
              </a:rPr>
              <a:t>bold</a:t>
            </a:r>
            <a:r>
              <a:rPr lang="pt-BR" sz="1600" b="1" dirty="0">
                <a:solidFill>
                  <a:srgbClr val="002060"/>
                </a:solidFill>
                <a:latin typeface="Consolas" panose="020B0609020204030204" pitchFamily="49" charset="0"/>
              </a:rPr>
              <a:t>;</a:t>
            </a:r>
          </a:p>
          <a:p>
            <a:r>
              <a:rPr lang="pt-BR" sz="1600" b="1" dirty="0">
                <a:solidFill>
                  <a:srgbClr val="002060"/>
                </a:solidFill>
                <a:latin typeface="Consolas" panose="020B0609020204030204" pitchFamily="49" charset="0"/>
              </a:rPr>
              <a:t>            </a:t>
            </a:r>
            <a:r>
              <a:rPr lang="pt-BR" sz="1600" b="1" dirty="0" err="1">
                <a:solidFill>
                  <a:srgbClr val="002060"/>
                </a:solidFill>
                <a:latin typeface="Consolas" panose="020B0609020204030204" pitchFamily="49" charset="0"/>
              </a:rPr>
              <a:t>font-family</a:t>
            </a:r>
            <a:r>
              <a:rPr lang="pt-BR" sz="1600" b="1" dirty="0">
                <a:solidFill>
                  <a:srgbClr val="002060"/>
                </a:solidFill>
                <a:latin typeface="Consolas" panose="020B0609020204030204" pitchFamily="49" charset="0"/>
              </a:rPr>
              <a:t>: Arial, </a:t>
            </a:r>
            <a:r>
              <a:rPr lang="pt-BR" sz="1600" b="1" dirty="0" err="1">
                <a:solidFill>
                  <a:srgbClr val="002060"/>
                </a:solidFill>
                <a:latin typeface="Consolas" panose="020B0609020204030204" pitchFamily="49" charset="0"/>
              </a:rPr>
              <a:t>Helvetica</a:t>
            </a:r>
            <a:r>
              <a:rPr lang="pt-BR" sz="1600" b="1" dirty="0">
                <a:solidFill>
                  <a:srgbClr val="002060"/>
                </a:solidFill>
                <a:latin typeface="Consolas" panose="020B0609020204030204" pitchFamily="49" charset="0"/>
              </a:rPr>
              <a:t>, </a:t>
            </a:r>
            <a:r>
              <a:rPr lang="pt-BR" sz="1600" b="1" dirty="0" err="1">
                <a:solidFill>
                  <a:srgbClr val="002060"/>
                </a:solidFill>
                <a:latin typeface="Consolas" panose="020B0609020204030204" pitchFamily="49" charset="0"/>
              </a:rPr>
              <a:t>sans-serif</a:t>
            </a:r>
            <a:r>
              <a:rPr lang="pt-BR" sz="1600" b="1" dirty="0">
                <a:solidFill>
                  <a:srgbClr val="002060"/>
                </a:solidFill>
                <a:latin typeface="Consolas" panose="020B0609020204030204" pitchFamily="49" charset="0"/>
              </a:rPr>
              <a:t>;</a:t>
            </a:r>
          </a:p>
          <a:p>
            <a:r>
              <a:rPr lang="pt-BR" sz="1600" b="1" dirty="0">
                <a:solidFill>
                  <a:srgbClr val="002060"/>
                </a:solidFill>
                <a:latin typeface="Consolas" panose="020B0609020204030204" pitchFamily="49" charset="0"/>
              </a:rPr>
              <a:t>            </a:t>
            </a:r>
            <a:r>
              <a:rPr lang="pt-BR" sz="1600" b="1" dirty="0" err="1">
                <a:solidFill>
                  <a:srgbClr val="002060"/>
                </a:solidFill>
                <a:latin typeface="Consolas" panose="020B0609020204030204" pitchFamily="49" charset="0"/>
              </a:rPr>
              <a:t>font-size</a:t>
            </a:r>
            <a:r>
              <a:rPr lang="pt-BR" sz="1600" b="1" dirty="0">
                <a:solidFill>
                  <a:srgbClr val="002060"/>
                </a:solidFill>
                <a:latin typeface="Consolas" panose="020B0609020204030204" pitchFamily="49" charset="0"/>
              </a:rPr>
              <a:t>: 18px;</a:t>
            </a:r>
          </a:p>
          <a:p>
            <a:r>
              <a:rPr lang="pt-BR" sz="1600" b="1" dirty="0">
                <a:solidFill>
                  <a:srgbClr val="002060"/>
                </a:solidFill>
                <a:latin typeface="Consolas" panose="020B0609020204030204" pitchFamily="49" charset="0"/>
              </a:rPr>
              <a:t>        }</a:t>
            </a:r>
          </a:p>
          <a:p>
            <a:r>
              <a:rPr lang="pt-BR" sz="1600" b="1" dirty="0">
                <a:solidFill>
                  <a:srgbClr val="002060"/>
                </a:solidFill>
                <a:latin typeface="Consolas" panose="020B0609020204030204" pitchFamily="49" charset="0"/>
              </a:rPr>
              <a:t>        </a:t>
            </a:r>
            <a:r>
              <a:rPr lang="pt-BR" sz="1600" b="1" dirty="0" err="1">
                <a:solidFill>
                  <a:srgbClr val="002060"/>
                </a:solidFill>
                <a:latin typeface="Consolas" panose="020B0609020204030204" pitchFamily="49" charset="0"/>
              </a:rPr>
              <a:t>table</a:t>
            </a:r>
            <a:endParaRPr lang="pt-BR" sz="1600" b="1" dirty="0">
              <a:solidFill>
                <a:srgbClr val="002060"/>
              </a:solidFill>
              <a:latin typeface="Consolas" panose="020B0609020204030204" pitchFamily="49" charset="0"/>
            </a:endParaRPr>
          </a:p>
          <a:p>
            <a:r>
              <a:rPr lang="pt-BR" sz="1600" b="1" dirty="0">
                <a:solidFill>
                  <a:srgbClr val="002060"/>
                </a:solidFill>
                <a:latin typeface="Consolas" panose="020B0609020204030204" pitchFamily="49" charset="0"/>
              </a:rPr>
              <a:t>        {</a:t>
            </a:r>
          </a:p>
          <a:p>
            <a:r>
              <a:rPr lang="pt-BR" sz="1600" b="1" dirty="0">
                <a:solidFill>
                  <a:srgbClr val="002060"/>
                </a:solidFill>
                <a:latin typeface="Consolas" panose="020B0609020204030204" pitchFamily="49" charset="0"/>
              </a:rPr>
              <a:t>            </a:t>
            </a:r>
            <a:r>
              <a:rPr lang="pt-BR" sz="1600" b="1" dirty="0" err="1">
                <a:solidFill>
                  <a:srgbClr val="002060"/>
                </a:solidFill>
                <a:latin typeface="Consolas" panose="020B0609020204030204" pitchFamily="49" charset="0"/>
              </a:rPr>
              <a:t>text-align</a:t>
            </a:r>
            <a:r>
              <a:rPr lang="pt-BR" sz="1600" b="1" dirty="0">
                <a:solidFill>
                  <a:srgbClr val="002060"/>
                </a:solidFill>
                <a:latin typeface="Consolas" panose="020B0609020204030204" pitchFamily="49" charset="0"/>
              </a:rPr>
              <a:t>: center;</a:t>
            </a:r>
          </a:p>
          <a:p>
            <a:r>
              <a:rPr lang="pt-BR" sz="1600" b="1" dirty="0">
                <a:solidFill>
                  <a:srgbClr val="002060"/>
                </a:solidFill>
                <a:latin typeface="Consolas" panose="020B0609020204030204" pitchFamily="49" charset="0"/>
              </a:rPr>
              <a:t>        }</a:t>
            </a:r>
          </a:p>
          <a:p>
            <a:r>
              <a:rPr lang="pt-BR" sz="1600" b="1" dirty="0">
                <a:solidFill>
                  <a:srgbClr val="002060"/>
                </a:solidFill>
                <a:latin typeface="Consolas" panose="020B0609020204030204" pitchFamily="49" charset="0"/>
              </a:rPr>
              <a:t>	</a:t>
            </a:r>
            <a:r>
              <a:rPr lang="pt-BR" sz="1600" b="1" dirty="0" err="1">
                <a:solidFill>
                  <a:srgbClr val="002060"/>
                </a:solidFill>
                <a:latin typeface="Consolas" panose="020B0609020204030204" pitchFamily="49" charset="0"/>
              </a:rPr>
              <a:t>th</a:t>
            </a:r>
            <a:endParaRPr lang="pt-BR" sz="1600" b="1" dirty="0">
              <a:solidFill>
                <a:srgbClr val="002060"/>
              </a:solidFill>
              <a:latin typeface="Consolas" panose="020B0609020204030204" pitchFamily="49" charset="0"/>
            </a:endParaRPr>
          </a:p>
          <a:p>
            <a:r>
              <a:rPr lang="pt-BR" sz="1600" b="1" dirty="0">
                <a:solidFill>
                  <a:srgbClr val="002060"/>
                </a:solidFill>
                <a:latin typeface="Consolas" panose="020B0609020204030204" pitchFamily="49" charset="0"/>
              </a:rPr>
              <a:t>        {</a:t>
            </a:r>
          </a:p>
          <a:p>
            <a:r>
              <a:rPr lang="pt-BR" sz="1600" b="1" dirty="0">
                <a:solidFill>
                  <a:srgbClr val="002060"/>
                </a:solidFill>
                <a:latin typeface="Consolas" panose="020B0609020204030204" pitchFamily="49" charset="0"/>
              </a:rPr>
              <a:t>            </a:t>
            </a:r>
            <a:r>
              <a:rPr lang="pt-BR" sz="1600" b="1" dirty="0" err="1">
                <a:solidFill>
                  <a:srgbClr val="002060"/>
                </a:solidFill>
                <a:latin typeface="Consolas" panose="020B0609020204030204" pitchFamily="49" charset="0"/>
              </a:rPr>
              <a:t>width</a:t>
            </a:r>
            <a:r>
              <a:rPr lang="pt-BR" sz="1600" b="1" dirty="0">
                <a:solidFill>
                  <a:srgbClr val="002060"/>
                </a:solidFill>
                <a:latin typeface="Consolas" panose="020B0609020204030204" pitchFamily="49" charset="0"/>
              </a:rPr>
              <a:t> : 120px;   </a:t>
            </a:r>
          </a:p>
          <a:p>
            <a:r>
              <a:rPr lang="pt-BR" sz="1600" b="1" dirty="0">
                <a:solidFill>
                  <a:srgbClr val="002060"/>
                </a:solidFill>
                <a:latin typeface="Consolas" panose="020B0609020204030204" pitchFamily="49" charset="0"/>
              </a:rPr>
              <a:t>        }</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style</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&lt;/</a:t>
            </a:r>
            <a:r>
              <a:rPr lang="pt-BR" sz="1600" b="1" dirty="0" err="1">
                <a:solidFill>
                  <a:srgbClr val="002060"/>
                </a:solidFill>
                <a:latin typeface="Consolas" panose="020B0609020204030204" pitchFamily="49" charset="0"/>
              </a:rPr>
              <a:t>head</a:t>
            </a:r>
            <a:r>
              <a:rPr lang="pt-BR" sz="1600" b="1" dirty="0">
                <a:solidFill>
                  <a:srgbClr val="002060"/>
                </a:solidFill>
                <a:latin typeface="Consolas" panose="020B0609020204030204" pitchFamily="49" charset="0"/>
              </a:rPr>
              <a:t>&gt;</a:t>
            </a:r>
          </a:p>
        </p:txBody>
      </p:sp>
      <p:pic>
        <p:nvPicPr>
          <p:cNvPr id="6" name="Imagem 5"/>
          <p:cNvPicPr>
            <a:picLocks noChangeAspect="1"/>
          </p:cNvPicPr>
          <p:nvPr/>
        </p:nvPicPr>
        <p:blipFill>
          <a:blip r:embed="rId2"/>
          <a:stretch>
            <a:fillRect/>
          </a:stretch>
        </p:blipFill>
        <p:spPr>
          <a:xfrm>
            <a:off x="5546253" y="666205"/>
            <a:ext cx="6183921" cy="1540057"/>
          </a:xfrm>
          <a:prstGeom prst="rect">
            <a:avLst/>
          </a:prstGeom>
        </p:spPr>
      </p:pic>
      <p:sp>
        <p:nvSpPr>
          <p:cNvPr id="3" name="Espaço Reservado para Número de Slide 2"/>
          <p:cNvSpPr>
            <a:spLocks noGrp="1"/>
          </p:cNvSpPr>
          <p:nvPr>
            <p:ph type="sldNum" sz="quarter" idx="12"/>
          </p:nvPr>
        </p:nvSpPr>
        <p:spPr/>
        <p:txBody>
          <a:bodyPr/>
          <a:lstStyle/>
          <a:p>
            <a:fld id="{8256F83C-9D86-480B-90E0-0702DBEB9457}" type="slidenum">
              <a:rPr lang="pt-BR" smtClean="0"/>
              <a:t>45</a:t>
            </a:fld>
            <a:endParaRPr lang="pt-BR"/>
          </a:p>
        </p:txBody>
      </p:sp>
    </p:spTree>
    <p:extLst>
      <p:ext uri="{BB962C8B-B14F-4D97-AF65-F5344CB8AC3E}">
        <p14:creationId xmlns:p14="http://schemas.microsoft.com/office/powerpoint/2010/main" val="4517529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ângulo 2"/>
          <p:cNvSpPr/>
          <p:nvPr/>
        </p:nvSpPr>
        <p:spPr>
          <a:xfrm>
            <a:off x="7267304" y="380062"/>
            <a:ext cx="4754879" cy="2554545"/>
          </a:xfrm>
          <a:prstGeom prst="rect">
            <a:avLst/>
          </a:prstGeom>
        </p:spPr>
        <p:txBody>
          <a:bodyPr wrap="square">
            <a:spAutoFit/>
          </a:bodyPr>
          <a:lstStyle/>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tr</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&gt;Paraná&lt;/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&gt;PR&lt;/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&gt;Curitiba&lt;/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&gt;Sul&lt;/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tr</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tbody</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table</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body</a:t>
            </a:r>
            <a:r>
              <a:rPr lang="pt-BR" sz="1600" b="1" dirty="0">
                <a:solidFill>
                  <a:srgbClr val="002060"/>
                </a:solidFill>
                <a:latin typeface="Consolas" panose="020B0609020204030204" pitchFamily="49" charset="0"/>
              </a:rPr>
              <a:t>&gt;  </a:t>
            </a:r>
          </a:p>
          <a:p>
            <a:r>
              <a:rPr lang="pt-BR" sz="1600" b="1" dirty="0">
                <a:solidFill>
                  <a:srgbClr val="002060"/>
                </a:solidFill>
                <a:latin typeface="Consolas" panose="020B0609020204030204" pitchFamily="49" charset="0"/>
              </a:rPr>
              <a:t>&lt;/</a:t>
            </a:r>
            <a:r>
              <a:rPr lang="pt-BR" sz="1600" b="1" dirty="0" err="1">
                <a:solidFill>
                  <a:srgbClr val="002060"/>
                </a:solidFill>
                <a:latin typeface="Consolas" panose="020B0609020204030204" pitchFamily="49" charset="0"/>
              </a:rPr>
              <a:t>html</a:t>
            </a:r>
            <a:r>
              <a:rPr lang="pt-BR" sz="1600" b="1" dirty="0">
                <a:solidFill>
                  <a:srgbClr val="002060"/>
                </a:solidFill>
                <a:latin typeface="Consolas" panose="020B0609020204030204" pitchFamily="49" charset="0"/>
              </a:rPr>
              <a:t>&gt;</a:t>
            </a:r>
            <a:endParaRPr lang="pt-BR" sz="1600" b="1" dirty="0">
              <a:solidFill>
                <a:srgbClr val="002060"/>
              </a:solidFill>
              <a:effectLst/>
              <a:latin typeface="Consolas" panose="020B0609020204030204" pitchFamily="49" charset="0"/>
            </a:endParaRPr>
          </a:p>
        </p:txBody>
      </p:sp>
      <p:sp>
        <p:nvSpPr>
          <p:cNvPr id="4" name="Retângulo 3"/>
          <p:cNvSpPr/>
          <p:nvPr/>
        </p:nvSpPr>
        <p:spPr>
          <a:xfrm>
            <a:off x="809896" y="380062"/>
            <a:ext cx="5473336" cy="6001643"/>
          </a:xfrm>
          <a:prstGeom prst="rect">
            <a:avLst/>
          </a:prstGeom>
        </p:spPr>
        <p:txBody>
          <a:bodyPr wrap="square">
            <a:spAutoFit/>
          </a:bodyPr>
          <a:lstStyle/>
          <a:p>
            <a:r>
              <a:rPr lang="pt-BR" sz="1600" b="1" dirty="0">
                <a:solidFill>
                  <a:srgbClr val="002060"/>
                </a:solidFill>
                <a:latin typeface="Consolas" panose="020B0609020204030204" pitchFamily="49" charset="0"/>
              </a:rPr>
              <a:t>&lt;</a:t>
            </a:r>
            <a:r>
              <a:rPr lang="pt-BR" sz="1600" b="1" dirty="0" err="1">
                <a:solidFill>
                  <a:srgbClr val="002060"/>
                </a:solidFill>
                <a:latin typeface="Consolas" panose="020B0609020204030204" pitchFamily="49" charset="0"/>
              </a:rPr>
              <a:t>body</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table</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caption</a:t>
            </a:r>
            <a:r>
              <a:rPr lang="pt-BR" sz="1600" b="1" dirty="0">
                <a:solidFill>
                  <a:srgbClr val="002060"/>
                </a:solidFill>
                <a:latin typeface="Consolas" panose="020B0609020204030204" pitchFamily="49" charset="0"/>
              </a:rPr>
              <a:t>&gt;Estados brasileiros&lt;/</a:t>
            </a:r>
            <a:r>
              <a:rPr lang="pt-BR" sz="1600" b="1" dirty="0" err="1">
                <a:solidFill>
                  <a:srgbClr val="002060"/>
                </a:solidFill>
                <a:latin typeface="Consolas" panose="020B0609020204030204" pitchFamily="49" charset="0"/>
              </a:rPr>
              <a:t>caption</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thead</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tr</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th</a:t>
            </a:r>
            <a:r>
              <a:rPr lang="pt-BR" sz="1600" b="1" dirty="0">
                <a:solidFill>
                  <a:srgbClr val="002060"/>
                </a:solidFill>
                <a:latin typeface="Consolas" panose="020B0609020204030204" pitchFamily="49" charset="0"/>
              </a:rPr>
              <a:t>&gt;Estado&lt;/</a:t>
            </a:r>
            <a:r>
              <a:rPr lang="pt-BR" sz="1600" b="1" dirty="0" err="1">
                <a:solidFill>
                  <a:srgbClr val="002060"/>
                </a:solidFill>
                <a:latin typeface="Consolas" panose="020B0609020204030204" pitchFamily="49" charset="0"/>
              </a:rPr>
              <a:t>th</a:t>
            </a:r>
            <a:r>
              <a:rPr lang="pt-BR" sz="1600" b="1" dirty="0">
                <a:solidFill>
                  <a:srgbClr val="002060"/>
                </a:solidFill>
                <a:latin typeface="Consolas" panose="020B0609020204030204" pitchFamily="49" charset="0"/>
              </a:rPr>
              <a:t>&gt; </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th</a:t>
            </a:r>
            <a:r>
              <a:rPr lang="pt-BR" sz="1600" b="1" dirty="0">
                <a:solidFill>
                  <a:srgbClr val="002060"/>
                </a:solidFill>
                <a:latin typeface="Consolas" panose="020B0609020204030204" pitchFamily="49" charset="0"/>
              </a:rPr>
              <a:t>&gt;Sigla&lt;/</a:t>
            </a:r>
            <a:r>
              <a:rPr lang="pt-BR" sz="1600" b="1" dirty="0" err="1">
                <a:solidFill>
                  <a:srgbClr val="002060"/>
                </a:solidFill>
                <a:latin typeface="Consolas" panose="020B0609020204030204" pitchFamily="49" charset="0"/>
              </a:rPr>
              <a:t>th</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th</a:t>
            </a:r>
            <a:r>
              <a:rPr lang="pt-BR" sz="1600" b="1" dirty="0">
                <a:solidFill>
                  <a:srgbClr val="002060"/>
                </a:solidFill>
                <a:latin typeface="Consolas" panose="020B0609020204030204" pitchFamily="49" charset="0"/>
              </a:rPr>
              <a:t>&gt;Capital&lt;/</a:t>
            </a:r>
            <a:r>
              <a:rPr lang="pt-BR" sz="1600" b="1" dirty="0" err="1">
                <a:solidFill>
                  <a:srgbClr val="002060"/>
                </a:solidFill>
                <a:latin typeface="Consolas" panose="020B0609020204030204" pitchFamily="49" charset="0"/>
              </a:rPr>
              <a:t>th</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th</a:t>
            </a:r>
            <a:r>
              <a:rPr lang="pt-BR" sz="1600" b="1" dirty="0">
                <a:solidFill>
                  <a:srgbClr val="002060"/>
                </a:solidFill>
                <a:latin typeface="Consolas" panose="020B0609020204030204" pitchFamily="49" charset="0"/>
              </a:rPr>
              <a:t>&gt;Região&lt;/</a:t>
            </a:r>
            <a:r>
              <a:rPr lang="pt-BR" sz="1600" b="1" dirty="0" err="1">
                <a:solidFill>
                  <a:srgbClr val="002060"/>
                </a:solidFill>
                <a:latin typeface="Consolas" panose="020B0609020204030204" pitchFamily="49" charset="0"/>
              </a:rPr>
              <a:t>th</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tr</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thead</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tbody</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tr</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&gt;Rio Grande do Sul&lt;/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&gt;RS&lt;/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&gt;Porto Alegre&lt;/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&gt;Sul&lt;/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tr</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tr</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&gt;Santa Catarina&lt;/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&gt;SC&lt;/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&gt;Florianópolis&lt;/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&gt;Sul&lt;/</a:t>
            </a:r>
            <a:r>
              <a:rPr lang="pt-BR" sz="1600" b="1" dirty="0" err="1">
                <a:solidFill>
                  <a:srgbClr val="002060"/>
                </a:solidFill>
                <a:latin typeface="Consolas" panose="020B0609020204030204" pitchFamily="49" charset="0"/>
              </a:rPr>
              <a:t>td</a:t>
            </a:r>
            <a:r>
              <a:rPr lang="pt-BR" sz="1600" b="1" dirty="0">
                <a:solidFill>
                  <a:srgbClr val="002060"/>
                </a:solidFill>
                <a:latin typeface="Consolas" panose="020B0609020204030204" pitchFamily="49" charset="0"/>
              </a:rPr>
              <a:t>&gt;</a:t>
            </a:r>
          </a:p>
          <a:p>
            <a:r>
              <a:rPr lang="pt-BR" sz="1600" b="1" dirty="0">
                <a:solidFill>
                  <a:srgbClr val="002060"/>
                </a:solidFill>
                <a:latin typeface="Consolas" panose="020B0609020204030204" pitchFamily="49" charset="0"/>
              </a:rPr>
              <a:t>            &lt;/</a:t>
            </a:r>
            <a:r>
              <a:rPr lang="pt-BR" sz="1600" b="1" dirty="0" err="1">
                <a:solidFill>
                  <a:srgbClr val="002060"/>
                </a:solidFill>
                <a:latin typeface="Consolas" panose="020B0609020204030204" pitchFamily="49" charset="0"/>
              </a:rPr>
              <a:t>tr</a:t>
            </a:r>
            <a:r>
              <a:rPr lang="pt-BR" sz="1600" b="1" dirty="0">
                <a:solidFill>
                  <a:srgbClr val="002060"/>
                </a:solidFill>
                <a:latin typeface="Consolas" panose="020B0609020204030204" pitchFamily="49" charset="0"/>
              </a:rPr>
              <a:t>&gt;</a:t>
            </a:r>
          </a:p>
        </p:txBody>
      </p:sp>
      <p:cxnSp>
        <p:nvCxnSpPr>
          <p:cNvPr id="5" name="Conector reto 4"/>
          <p:cNvCxnSpPr/>
          <p:nvPr/>
        </p:nvCxnSpPr>
        <p:spPr>
          <a:xfrm>
            <a:off x="6492241" y="458439"/>
            <a:ext cx="0" cy="600164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6" name="Imagem 5"/>
          <p:cNvPicPr>
            <a:picLocks noChangeAspect="1"/>
          </p:cNvPicPr>
          <p:nvPr/>
        </p:nvPicPr>
        <p:blipFill>
          <a:blip r:embed="rId2"/>
          <a:stretch>
            <a:fillRect/>
          </a:stretch>
        </p:blipFill>
        <p:spPr>
          <a:xfrm>
            <a:off x="6739579" y="3605349"/>
            <a:ext cx="5282604" cy="1315591"/>
          </a:xfrm>
          <a:prstGeom prst="rect">
            <a:avLst/>
          </a:prstGeom>
        </p:spPr>
      </p:pic>
      <p:sp>
        <p:nvSpPr>
          <p:cNvPr id="2" name="Espaço Reservado para Número de Slide 1"/>
          <p:cNvSpPr>
            <a:spLocks noGrp="1"/>
          </p:cNvSpPr>
          <p:nvPr>
            <p:ph type="sldNum" sz="quarter" idx="12"/>
          </p:nvPr>
        </p:nvSpPr>
        <p:spPr/>
        <p:txBody>
          <a:bodyPr/>
          <a:lstStyle/>
          <a:p>
            <a:fld id="{8256F83C-9D86-480B-90E0-0702DBEB9457}" type="slidenum">
              <a:rPr lang="pt-BR" smtClean="0"/>
              <a:t>46</a:t>
            </a:fld>
            <a:endParaRPr lang="pt-BR"/>
          </a:p>
        </p:txBody>
      </p:sp>
    </p:spTree>
    <p:extLst>
      <p:ext uri="{BB962C8B-B14F-4D97-AF65-F5344CB8AC3E}">
        <p14:creationId xmlns:p14="http://schemas.microsoft.com/office/powerpoint/2010/main" val="356221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a 1"/>
          <p:cNvGraphicFramePr>
            <a:graphicFrameLocks noGrp="1"/>
          </p:cNvGraphicFramePr>
          <p:nvPr/>
        </p:nvGraphicFramePr>
        <p:xfrm>
          <a:off x="2606039" y="1645922"/>
          <a:ext cx="7171509" cy="3043695"/>
        </p:xfrm>
        <a:graphic>
          <a:graphicData uri="http://schemas.openxmlformats.org/drawingml/2006/table">
            <a:tbl>
              <a:tblPr/>
              <a:tblGrid>
                <a:gridCol w="2241097">
                  <a:extLst>
                    <a:ext uri="{9D8B030D-6E8A-4147-A177-3AD203B41FA5}">
                      <a16:colId xmlns:a16="http://schemas.microsoft.com/office/drawing/2014/main" val="394624621"/>
                    </a:ext>
                  </a:extLst>
                </a:gridCol>
                <a:gridCol w="2631349">
                  <a:extLst>
                    <a:ext uri="{9D8B030D-6E8A-4147-A177-3AD203B41FA5}">
                      <a16:colId xmlns:a16="http://schemas.microsoft.com/office/drawing/2014/main" val="4005981056"/>
                    </a:ext>
                  </a:extLst>
                </a:gridCol>
                <a:gridCol w="2299063">
                  <a:extLst>
                    <a:ext uri="{9D8B030D-6E8A-4147-A177-3AD203B41FA5}">
                      <a16:colId xmlns:a16="http://schemas.microsoft.com/office/drawing/2014/main" val="179449751"/>
                    </a:ext>
                  </a:extLst>
                </a:gridCol>
              </a:tblGrid>
              <a:tr h="192977">
                <a:tc>
                  <a:txBody>
                    <a:bodyPr/>
                    <a:lstStyle/>
                    <a:p>
                      <a:pPr algn="ctr"/>
                      <a:r>
                        <a:rPr lang="pt-BR" sz="1600" b="1" dirty="0">
                          <a:solidFill>
                            <a:srgbClr val="002060"/>
                          </a:solidFill>
                          <a:effectLst/>
                          <a:latin typeface="Arial" panose="020B0604020202020204" pitchFamily="34" charset="0"/>
                          <a:cs typeface="Arial" panose="020B0604020202020204" pitchFamily="34" charset="0"/>
                        </a:rPr>
                        <a:t>Propriedade</a:t>
                      </a:r>
                    </a:p>
                  </a:txBody>
                  <a:tcPr marL="12462" marR="12462" marT="12462" marB="12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Descrição</a:t>
                      </a:r>
                    </a:p>
                  </a:txBody>
                  <a:tcPr marL="12462" marR="12462" marT="12462" marB="12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cs typeface="Arial" panose="020B0604020202020204" pitchFamily="34" charset="0"/>
                        </a:rPr>
                        <a:t>Valores Possíveis</a:t>
                      </a:r>
                    </a:p>
                  </a:txBody>
                  <a:tcPr marL="12462" marR="12462" marT="12462" marB="12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942387070"/>
                  </a:ext>
                </a:extLst>
              </a:tr>
              <a:tr h="353199">
                <a:tc>
                  <a:txBody>
                    <a:bodyPr/>
                    <a:lstStyle/>
                    <a:p>
                      <a:pPr algn="ctr"/>
                      <a:r>
                        <a:rPr lang="pt-BR" sz="1400" b="1">
                          <a:solidFill>
                            <a:srgbClr val="002060"/>
                          </a:solidFill>
                          <a:effectLst/>
                          <a:latin typeface="Arial" panose="020B0604020202020204" pitchFamily="34" charset="0"/>
                          <a:cs typeface="Arial" panose="020B0604020202020204" pitchFamily="34" charset="0"/>
                        </a:rPr>
                        <a:t>color</a:t>
                      </a:r>
                    </a:p>
                  </a:txBody>
                  <a:tcPr marL="12462" marR="12462" marT="12462" marB="12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400" b="1" dirty="0">
                          <a:solidFill>
                            <a:srgbClr val="002060"/>
                          </a:solidFill>
                          <a:effectLst/>
                          <a:latin typeface="Arial" panose="020B0604020202020204" pitchFamily="34" charset="0"/>
                          <a:cs typeface="Arial" panose="020B0604020202020204" pitchFamily="34" charset="0"/>
                        </a:rPr>
                        <a:t>Configura a cor de um texto</a:t>
                      </a:r>
                    </a:p>
                  </a:txBody>
                  <a:tcPr marL="12462" marR="12462" marT="12462" marB="12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400" b="1" i="1" dirty="0">
                          <a:solidFill>
                            <a:srgbClr val="002060"/>
                          </a:solidFill>
                          <a:effectLst/>
                          <a:latin typeface="Arial" panose="020B0604020202020204" pitchFamily="34" charset="0"/>
                          <a:cs typeface="Arial" panose="020B0604020202020204" pitchFamily="34" charset="0"/>
                        </a:rPr>
                        <a:t>color</a:t>
                      </a:r>
                      <a:endParaRPr lang="pt-BR" sz="1400" b="1" dirty="0">
                        <a:solidFill>
                          <a:srgbClr val="002060"/>
                        </a:solidFill>
                        <a:effectLst/>
                        <a:latin typeface="Arial" panose="020B0604020202020204" pitchFamily="34" charset="0"/>
                        <a:cs typeface="Arial" panose="020B0604020202020204" pitchFamily="34" charset="0"/>
                      </a:endParaRPr>
                    </a:p>
                  </a:txBody>
                  <a:tcPr marL="12462" marR="12462" marT="12462" marB="12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2972594166"/>
                  </a:ext>
                </a:extLst>
              </a:tr>
              <a:tr h="353199">
                <a:tc>
                  <a:txBody>
                    <a:bodyPr/>
                    <a:lstStyle/>
                    <a:p>
                      <a:pPr algn="ctr"/>
                      <a:r>
                        <a:rPr lang="pt-BR" sz="1400" b="1" dirty="0" err="1">
                          <a:solidFill>
                            <a:srgbClr val="002060"/>
                          </a:solidFill>
                          <a:effectLst/>
                          <a:latin typeface="Arial" panose="020B0604020202020204" pitchFamily="34" charset="0"/>
                          <a:cs typeface="Arial" panose="020B0604020202020204" pitchFamily="34" charset="0"/>
                        </a:rPr>
                        <a:t>letter-spacing</a:t>
                      </a:r>
                      <a:endParaRPr lang="pt-BR" sz="1400" b="1" dirty="0">
                        <a:solidFill>
                          <a:srgbClr val="002060"/>
                        </a:solidFill>
                        <a:effectLst/>
                        <a:latin typeface="Arial" panose="020B0604020202020204" pitchFamily="34" charset="0"/>
                        <a:cs typeface="Arial" panose="020B0604020202020204" pitchFamily="34" charset="0"/>
                      </a:endParaRPr>
                    </a:p>
                  </a:txBody>
                  <a:tcPr marL="12462" marR="12462" marT="12462" marB="12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400" b="1" dirty="0">
                          <a:solidFill>
                            <a:srgbClr val="002060"/>
                          </a:solidFill>
                          <a:effectLst/>
                          <a:latin typeface="Arial" panose="020B0604020202020204" pitchFamily="34" charset="0"/>
                          <a:cs typeface="Arial" panose="020B0604020202020204" pitchFamily="34" charset="0"/>
                        </a:rPr>
                        <a:t>Aumenta ou diminui o espaço entre os caracteres</a:t>
                      </a:r>
                    </a:p>
                  </a:txBody>
                  <a:tcPr marL="12462" marR="12462" marT="12462" marB="12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400" b="1">
                          <a:solidFill>
                            <a:srgbClr val="002060"/>
                          </a:solidFill>
                          <a:effectLst/>
                          <a:latin typeface="Arial" panose="020B0604020202020204" pitchFamily="34" charset="0"/>
                          <a:cs typeface="Arial" panose="020B0604020202020204" pitchFamily="34" charset="0"/>
                        </a:rPr>
                        <a:t>normal</a:t>
                      </a:r>
                      <a:br>
                        <a:rPr lang="pt-BR" sz="1400" b="1">
                          <a:solidFill>
                            <a:srgbClr val="002060"/>
                          </a:solidFill>
                          <a:effectLst/>
                          <a:latin typeface="Arial" panose="020B0604020202020204" pitchFamily="34" charset="0"/>
                          <a:cs typeface="Arial" panose="020B0604020202020204" pitchFamily="34" charset="0"/>
                        </a:rPr>
                      </a:br>
                      <a:r>
                        <a:rPr lang="pt-BR" sz="1400" b="1" i="1">
                          <a:solidFill>
                            <a:srgbClr val="002060"/>
                          </a:solidFill>
                          <a:effectLst/>
                          <a:latin typeface="Arial" panose="020B0604020202020204" pitchFamily="34" charset="0"/>
                          <a:cs typeface="Arial" panose="020B0604020202020204" pitchFamily="34" charset="0"/>
                        </a:rPr>
                        <a:t>length</a:t>
                      </a:r>
                      <a:endParaRPr lang="pt-BR" sz="1400" b="1">
                        <a:solidFill>
                          <a:srgbClr val="002060"/>
                        </a:solidFill>
                        <a:effectLst/>
                        <a:latin typeface="Arial" panose="020B0604020202020204" pitchFamily="34" charset="0"/>
                        <a:cs typeface="Arial" panose="020B0604020202020204" pitchFamily="34" charset="0"/>
                      </a:endParaRPr>
                    </a:p>
                  </a:txBody>
                  <a:tcPr marL="12462" marR="12462" marT="12462" marB="12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564447465"/>
                  </a:ext>
                </a:extLst>
              </a:tr>
              <a:tr h="673644">
                <a:tc>
                  <a:txBody>
                    <a:bodyPr/>
                    <a:lstStyle/>
                    <a:p>
                      <a:pPr algn="ctr"/>
                      <a:r>
                        <a:rPr lang="pt-BR" sz="1400" b="1">
                          <a:solidFill>
                            <a:srgbClr val="002060"/>
                          </a:solidFill>
                          <a:effectLst/>
                          <a:latin typeface="Arial" panose="020B0604020202020204" pitchFamily="34" charset="0"/>
                          <a:cs typeface="Arial" panose="020B0604020202020204" pitchFamily="34" charset="0"/>
                        </a:rPr>
                        <a:t>text-align</a:t>
                      </a:r>
                    </a:p>
                  </a:txBody>
                  <a:tcPr marL="12462" marR="12462" marT="12462" marB="12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400" b="1" dirty="0">
                          <a:solidFill>
                            <a:srgbClr val="002060"/>
                          </a:solidFill>
                          <a:effectLst/>
                          <a:latin typeface="Arial" panose="020B0604020202020204" pitchFamily="34" charset="0"/>
                          <a:cs typeface="Arial" panose="020B0604020202020204" pitchFamily="34" charset="0"/>
                        </a:rPr>
                        <a:t>Alinha o texto num elemento</a:t>
                      </a:r>
                    </a:p>
                  </a:txBody>
                  <a:tcPr marL="12462" marR="12462" marT="12462" marB="12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400" b="1">
                          <a:solidFill>
                            <a:srgbClr val="002060"/>
                          </a:solidFill>
                          <a:effectLst/>
                          <a:latin typeface="Arial" panose="020B0604020202020204" pitchFamily="34" charset="0"/>
                          <a:cs typeface="Arial" panose="020B0604020202020204" pitchFamily="34" charset="0"/>
                        </a:rPr>
                        <a:t>left</a:t>
                      </a:r>
                      <a:br>
                        <a:rPr lang="pt-BR" sz="1400" b="1">
                          <a:solidFill>
                            <a:srgbClr val="002060"/>
                          </a:solidFill>
                          <a:effectLst/>
                          <a:latin typeface="Arial" panose="020B0604020202020204" pitchFamily="34" charset="0"/>
                          <a:cs typeface="Arial" panose="020B0604020202020204" pitchFamily="34" charset="0"/>
                        </a:rPr>
                      </a:br>
                      <a:r>
                        <a:rPr lang="pt-BR" sz="1400" b="1">
                          <a:solidFill>
                            <a:srgbClr val="002060"/>
                          </a:solidFill>
                          <a:effectLst/>
                          <a:latin typeface="Arial" panose="020B0604020202020204" pitchFamily="34" charset="0"/>
                          <a:cs typeface="Arial" panose="020B0604020202020204" pitchFamily="34" charset="0"/>
                        </a:rPr>
                        <a:t>right</a:t>
                      </a:r>
                      <a:br>
                        <a:rPr lang="pt-BR" sz="1400" b="1">
                          <a:solidFill>
                            <a:srgbClr val="002060"/>
                          </a:solidFill>
                          <a:effectLst/>
                          <a:latin typeface="Arial" panose="020B0604020202020204" pitchFamily="34" charset="0"/>
                          <a:cs typeface="Arial" panose="020B0604020202020204" pitchFamily="34" charset="0"/>
                        </a:rPr>
                      </a:br>
                      <a:r>
                        <a:rPr lang="pt-BR" sz="1400" b="1">
                          <a:solidFill>
                            <a:srgbClr val="002060"/>
                          </a:solidFill>
                          <a:effectLst/>
                          <a:latin typeface="Arial" panose="020B0604020202020204" pitchFamily="34" charset="0"/>
                          <a:cs typeface="Arial" panose="020B0604020202020204" pitchFamily="34" charset="0"/>
                        </a:rPr>
                        <a:t>center</a:t>
                      </a:r>
                      <a:br>
                        <a:rPr lang="pt-BR" sz="1400" b="1">
                          <a:solidFill>
                            <a:srgbClr val="002060"/>
                          </a:solidFill>
                          <a:effectLst/>
                          <a:latin typeface="Arial" panose="020B0604020202020204" pitchFamily="34" charset="0"/>
                          <a:cs typeface="Arial" panose="020B0604020202020204" pitchFamily="34" charset="0"/>
                        </a:rPr>
                      </a:br>
                      <a:r>
                        <a:rPr lang="pt-BR" sz="1400" b="1">
                          <a:solidFill>
                            <a:srgbClr val="002060"/>
                          </a:solidFill>
                          <a:effectLst/>
                          <a:latin typeface="Arial" panose="020B0604020202020204" pitchFamily="34" charset="0"/>
                          <a:cs typeface="Arial" panose="020B0604020202020204" pitchFamily="34" charset="0"/>
                        </a:rPr>
                        <a:t>justify</a:t>
                      </a:r>
                    </a:p>
                  </a:txBody>
                  <a:tcPr marL="12462" marR="12462" marT="12462" marB="12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904877481"/>
                  </a:ext>
                </a:extLst>
              </a:tr>
              <a:tr h="833867">
                <a:tc>
                  <a:txBody>
                    <a:bodyPr/>
                    <a:lstStyle/>
                    <a:p>
                      <a:pPr algn="ctr"/>
                      <a:r>
                        <a:rPr lang="pt-BR" sz="1400" b="1">
                          <a:solidFill>
                            <a:srgbClr val="002060"/>
                          </a:solidFill>
                          <a:effectLst/>
                          <a:latin typeface="Arial" panose="020B0604020202020204" pitchFamily="34" charset="0"/>
                          <a:cs typeface="Arial" panose="020B0604020202020204" pitchFamily="34" charset="0"/>
                        </a:rPr>
                        <a:t>text-decoration</a:t>
                      </a:r>
                    </a:p>
                  </a:txBody>
                  <a:tcPr marL="12462" marR="12462" marT="12462" marB="12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400" b="1">
                          <a:solidFill>
                            <a:srgbClr val="002060"/>
                          </a:solidFill>
                          <a:effectLst/>
                          <a:latin typeface="Arial" panose="020B0604020202020204" pitchFamily="34" charset="0"/>
                          <a:cs typeface="Arial" panose="020B0604020202020204" pitchFamily="34" charset="0"/>
                        </a:rPr>
                        <a:t>Adiciona decoração ao texto</a:t>
                      </a:r>
                    </a:p>
                  </a:txBody>
                  <a:tcPr marL="12462" marR="12462" marT="12462" marB="12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en-US" sz="1400" b="1" dirty="0">
                          <a:solidFill>
                            <a:srgbClr val="002060"/>
                          </a:solidFill>
                          <a:effectLst/>
                          <a:latin typeface="Arial" panose="020B0604020202020204" pitchFamily="34" charset="0"/>
                          <a:cs typeface="Arial" panose="020B0604020202020204" pitchFamily="34" charset="0"/>
                        </a:rPr>
                        <a:t>none</a:t>
                      </a:r>
                      <a:br>
                        <a:rPr lang="en-US" sz="1400" b="1" dirty="0">
                          <a:solidFill>
                            <a:srgbClr val="002060"/>
                          </a:solidFill>
                          <a:effectLst/>
                          <a:latin typeface="Arial" panose="020B0604020202020204" pitchFamily="34" charset="0"/>
                          <a:cs typeface="Arial" panose="020B0604020202020204" pitchFamily="34" charset="0"/>
                        </a:rPr>
                      </a:br>
                      <a:r>
                        <a:rPr lang="en-US" sz="1400" b="1" dirty="0">
                          <a:solidFill>
                            <a:srgbClr val="002060"/>
                          </a:solidFill>
                          <a:effectLst/>
                          <a:latin typeface="Arial" panose="020B0604020202020204" pitchFamily="34" charset="0"/>
                          <a:cs typeface="Arial" panose="020B0604020202020204" pitchFamily="34" charset="0"/>
                        </a:rPr>
                        <a:t>underline</a:t>
                      </a:r>
                      <a:br>
                        <a:rPr lang="en-US" sz="1400" b="1" dirty="0">
                          <a:solidFill>
                            <a:srgbClr val="002060"/>
                          </a:solidFill>
                          <a:effectLst/>
                          <a:latin typeface="Arial" panose="020B0604020202020204" pitchFamily="34" charset="0"/>
                          <a:cs typeface="Arial" panose="020B0604020202020204" pitchFamily="34" charset="0"/>
                        </a:rPr>
                      </a:br>
                      <a:r>
                        <a:rPr lang="en-US" sz="1400" b="1" dirty="0" err="1">
                          <a:solidFill>
                            <a:srgbClr val="002060"/>
                          </a:solidFill>
                          <a:effectLst/>
                          <a:latin typeface="Arial" panose="020B0604020202020204" pitchFamily="34" charset="0"/>
                          <a:cs typeface="Arial" panose="020B0604020202020204" pitchFamily="34" charset="0"/>
                        </a:rPr>
                        <a:t>overline</a:t>
                      </a:r>
                      <a:br>
                        <a:rPr lang="en-US" sz="1400" b="1" dirty="0">
                          <a:solidFill>
                            <a:srgbClr val="002060"/>
                          </a:solidFill>
                          <a:effectLst/>
                          <a:latin typeface="Arial" panose="020B0604020202020204" pitchFamily="34" charset="0"/>
                          <a:cs typeface="Arial" panose="020B0604020202020204" pitchFamily="34" charset="0"/>
                        </a:rPr>
                      </a:br>
                      <a:r>
                        <a:rPr lang="en-US" sz="1400" b="1" dirty="0">
                          <a:solidFill>
                            <a:srgbClr val="002060"/>
                          </a:solidFill>
                          <a:effectLst/>
                          <a:latin typeface="Arial" panose="020B0604020202020204" pitchFamily="34" charset="0"/>
                          <a:cs typeface="Arial" panose="020B0604020202020204" pitchFamily="34" charset="0"/>
                        </a:rPr>
                        <a:t>line-through</a:t>
                      </a:r>
                      <a:br>
                        <a:rPr lang="en-US" sz="1400" b="1" dirty="0">
                          <a:solidFill>
                            <a:srgbClr val="002060"/>
                          </a:solidFill>
                          <a:effectLst/>
                          <a:latin typeface="Arial" panose="020B0604020202020204" pitchFamily="34" charset="0"/>
                          <a:cs typeface="Arial" panose="020B0604020202020204" pitchFamily="34" charset="0"/>
                        </a:rPr>
                      </a:br>
                      <a:r>
                        <a:rPr lang="en-US" sz="1400" b="1" dirty="0">
                          <a:solidFill>
                            <a:srgbClr val="002060"/>
                          </a:solidFill>
                          <a:effectLst/>
                          <a:latin typeface="Arial" panose="020B0604020202020204" pitchFamily="34" charset="0"/>
                          <a:cs typeface="Arial" panose="020B0604020202020204" pitchFamily="34" charset="0"/>
                        </a:rPr>
                        <a:t>blink</a:t>
                      </a:r>
                    </a:p>
                  </a:txBody>
                  <a:tcPr marL="12462" marR="12462" marT="12462" marB="124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869847590"/>
                  </a:ext>
                </a:extLst>
              </a:tr>
            </a:tbl>
          </a:graphicData>
        </a:graphic>
      </p:graphicFrame>
      <p:sp>
        <p:nvSpPr>
          <p:cNvPr id="4" name="Retângulo 3"/>
          <p:cNvSpPr/>
          <p:nvPr/>
        </p:nvSpPr>
        <p:spPr>
          <a:xfrm>
            <a:off x="783771" y="508091"/>
            <a:ext cx="11155681" cy="923330"/>
          </a:xfrm>
          <a:prstGeom prst="rect">
            <a:avLst/>
          </a:prstGeom>
        </p:spPr>
        <p:txBody>
          <a:bodyPr wrap="square">
            <a:spAutoFit/>
          </a:bodyPr>
          <a:lstStyle/>
          <a:p>
            <a:r>
              <a:rPr lang="pt-BR" b="1" dirty="0">
                <a:solidFill>
                  <a:srgbClr val="002060"/>
                </a:solidFill>
                <a:latin typeface="Arial" panose="020B0604020202020204" pitchFamily="34" charset="0"/>
                <a:cs typeface="Arial" panose="020B0604020202020204" pitchFamily="34" charset="0"/>
              </a:rPr>
              <a:t>A seguir alguns parâmetros úteis na hora de personalizar.</a:t>
            </a:r>
          </a:p>
          <a:p>
            <a:endParaRPr lang="pt-BR" b="1" dirty="0">
              <a:solidFill>
                <a:srgbClr val="002060"/>
              </a:solidFill>
              <a:latin typeface="Arial" panose="020B0604020202020204" pitchFamily="34" charset="0"/>
              <a:cs typeface="Arial" panose="020B0604020202020204" pitchFamily="34" charset="0"/>
            </a:endParaRPr>
          </a:p>
          <a:p>
            <a:r>
              <a:rPr lang="pt-BR" b="1" dirty="0">
                <a:solidFill>
                  <a:srgbClr val="002060"/>
                </a:solidFill>
                <a:latin typeface="Arial" panose="020B0604020202020204" pitchFamily="34" charset="0"/>
                <a:cs typeface="Arial" panose="020B0604020202020204" pitchFamily="34" charset="0"/>
              </a:rPr>
              <a:t>Texto:</a:t>
            </a:r>
          </a:p>
        </p:txBody>
      </p:sp>
      <p:sp>
        <p:nvSpPr>
          <p:cNvPr id="3" name="Espaço Reservado para Número de Slide 2"/>
          <p:cNvSpPr>
            <a:spLocks noGrp="1"/>
          </p:cNvSpPr>
          <p:nvPr>
            <p:ph type="sldNum" sz="quarter" idx="12"/>
          </p:nvPr>
        </p:nvSpPr>
        <p:spPr/>
        <p:txBody>
          <a:bodyPr/>
          <a:lstStyle/>
          <a:p>
            <a:fld id="{8256F83C-9D86-480B-90E0-0702DBEB9457}" type="slidenum">
              <a:rPr lang="pt-BR" smtClean="0"/>
              <a:t>47</a:t>
            </a:fld>
            <a:endParaRPr lang="pt-BR"/>
          </a:p>
        </p:txBody>
      </p:sp>
    </p:spTree>
    <p:extLst>
      <p:ext uri="{BB962C8B-B14F-4D97-AF65-F5344CB8AC3E}">
        <p14:creationId xmlns:p14="http://schemas.microsoft.com/office/powerpoint/2010/main" val="5078454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a 1"/>
          <p:cNvGraphicFramePr>
            <a:graphicFrameLocks noGrp="1"/>
          </p:cNvGraphicFramePr>
          <p:nvPr/>
        </p:nvGraphicFramePr>
        <p:xfrm>
          <a:off x="1719071" y="548641"/>
          <a:ext cx="8945446" cy="6162270"/>
        </p:xfrm>
        <a:graphic>
          <a:graphicData uri="http://schemas.openxmlformats.org/drawingml/2006/table">
            <a:tbl>
              <a:tblPr/>
              <a:tblGrid>
                <a:gridCol w="2795451">
                  <a:extLst>
                    <a:ext uri="{9D8B030D-6E8A-4147-A177-3AD203B41FA5}">
                      <a16:colId xmlns:a16="http://schemas.microsoft.com/office/drawing/2014/main" val="1595359376"/>
                    </a:ext>
                  </a:extLst>
                </a:gridCol>
                <a:gridCol w="3354544">
                  <a:extLst>
                    <a:ext uri="{9D8B030D-6E8A-4147-A177-3AD203B41FA5}">
                      <a16:colId xmlns:a16="http://schemas.microsoft.com/office/drawing/2014/main" val="1492185788"/>
                    </a:ext>
                  </a:extLst>
                </a:gridCol>
                <a:gridCol w="2795451">
                  <a:extLst>
                    <a:ext uri="{9D8B030D-6E8A-4147-A177-3AD203B41FA5}">
                      <a16:colId xmlns:a16="http://schemas.microsoft.com/office/drawing/2014/main" val="563123027"/>
                    </a:ext>
                  </a:extLst>
                </a:gridCol>
              </a:tblGrid>
              <a:tr h="107391">
                <a:tc>
                  <a:txBody>
                    <a:bodyPr/>
                    <a:lstStyle/>
                    <a:p>
                      <a:pPr algn="ctr"/>
                      <a:r>
                        <a:rPr lang="pt-BR" sz="1600" b="1" dirty="0">
                          <a:solidFill>
                            <a:srgbClr val="002060"/>
                          </a:solidFill>
                          <a:effectLst/>
                          <a:latin typeface="Arial" panose="020B0604020202020204" pitchFamily="34" charset="0"/>
                          <a:cs typeface="Arial" panose="020B0604020202020204" pitchFamily="34" charset="0"/>
                        </a:rPr>
                        <a:t>Propriedade</a:t>
                      </a:r>
                    </a:p>
                  </a:txBody>
                  <a:tcPr marL="6627" marR="6627" marT="6627" marB="6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Descrição</a:t>
                      </a:r>
                    </a:p>
                  </a:txBody>
                  <a:tcPr marL="6627" marR="6627" marT="6627" marB="6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Valores</a:t>
                      </a:r>
                    </a:p>
                  </a:txBody>
                  <a:tcPr marL="6627" marR="6627" marT="6627" marB="6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187834689"/>
                  </a:ext>
                </a:extLst>
              </a:tr>
              <a:tr h="462893">
                <a:tc>
                  <a:txBody>
                    <a:bodyPr/>
                    <a:lstStyle/>
                    <a:p>
                      <a:pPr algn="ctr"/>
                      <a:r>
                        <a:rPr lang="pt-BR" sz="1600" b="1" dirty="0" err="1">
                          <a:solidFill>
                            <a:srgbClr val="002060"/>
                          </a:solidFill>
                          <a:effectLst/>
                          <a:latin typeface="Arial" panose="020B0604020202020204" pitchFamily="34" charset="0"/>
                          <a:cs typeface="Arial" panose="020B0604020202020204" pitchFamily="34" charset="0"/>
                        </a:rPr>
                        <a:t>font-family</a:t>
                      </a:r>
                      <a:endParaRPr lang="pt-BR" sz="1600" b="1" dirty="0">
                        <a:solidFill>
                          <a:srgbClr val="002060"/>
                        </a:solidFill>
                        <a:effectLst/>
                        <a:latin typeface="Arial" panose="020B0604020202020204" pitchFamily="34" charset="0"/>
                        <a:cs typeface="Arial" panose="020B0604020202020204" pitchFamily="34" charset="0"/>
                      </a:endParaRPr>
                    </a:p>
                  </a:txBody>
                  <a:tcPr marL="6627" marR="6627" marT="6627" marB="6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cs typeface="Arial" panose="020B0604020202020204" pitchFamily="34" charset="0"/>
                        </a:rPr>
                        <a:t>Uma lista priorizada de nomes de famílias de fontes e/ou nomes de famílias genéricos para um elemento</a:t>
                      </a:r>
                    </a:p>
                  </a:txBody>
                  <a:tcPr marL="6627" marR="6627" marT="6627" marB="6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i="1" dirty="0" err="1">
                          <a:solidFill>
                            <a:srgbClr val="002060"/>
                          </a:solidFill>
                          <a:effectLst/>
                          <a:latin typeface="Arial" panose="020B0604020202020204" pitchFamily="34" charset="0"/>
                          <a:cs typeface="Arial" panose="020B0604020202020204" pitchFamily="34" charset="0"/>
                        </a:rPr>
                        <a:t>family-name</a:t>
                      </a:r>
                      <a:br>
                        <a:rPr lang="pt-BR" sz="1600" b="1" i="1" dirty="0">
                          <a:solidFill>
                            <a:srgbClr val="002060"/>
                          </a:solidFill>
                          <a:effectLst/>
                          <a:latin typeface="Arial" panose="020B0604020202020204" pitchFamily="34" charset="0"/>
                          <a:cs typeface="Arial" panose="020B0604020202020204" pitchFamily="34" charset="0"/>
                        </a:rPr>
                      </a:br>
                      <a:r>
                        <a:rPr lang="pt-BR" sz="1600" b="1" i="1" dirty="0" err="1">
                          <a:solidFill>
                            <a:srgbClr val="002060"/>
                          </a:solidFill>
                          <a:effectLst/>
                          <a:latin typeface="Arial" panose="020B0604020202020204" pitchFamily="34" charset="0"/>
                          <a:cs typeface="Arial" panose="020B0604020202020204" pitchFamily="34" charset="0"/>
                        </a:rPr>
                        <a:t>generic-family</a:t>
                      </a:r>
                      <a:endParaRPr lang="pt-BR" sz="1600" b="1" dirty="0">
                        <a:solidFill>
                          <a:srgbClr val="002060"/>
                        </a:solidFill>
                        <a:effectLst/>
                        <a:latin typeface="Arial" panose="020B0604020202020204" pitchFamily="34" charset="0"/>
                        <a:cs typeface="Arial" panose="020B0604020202020204" pitchFamily="34" charset="0"/>
                      </a:endParaRPr>
                    </a:p>
                  </a:txBody>
                  <a:tcPr marL="6627" marR="6627" marT="6627" marB="6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2164573303"/>
                  </a:ext>
                </a:extLst>
              </a:tr>
              <a:tr h="996146">
                <a:tc>
                  <a:txBody>
                    <a:bodyPr/>
                    <a:lstStyle/>
                    <a:p>
                      <a:pPr algn="ctr"/>
                      <a:r>
                        <a:rPr lang="pt-BR" sz="1600" b="1">
                          <a:solidFill>
                            <a:srgbClr val="002060"/>
                          </a:solidFill>
                          <a:effectLst/>
                          <a:latin typeface="Arial" panose="020B0604020202020204" pitchFamily="34" charset="0"/>
                          <a:cs typeface="Arial" panose="020B0604020202020204" pitchFamily="34" charset="0"/>
                        </a:rPr>
                        <a:t>font-size</a:t>
                      </a:r>
                    </a:p>
                  </a:txBody>
                  <a:tcPr marL="6627" marR="6627" marT="6627" marB="6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cs typeface="Arial" panose="020B0604020202020204" pitchFamily="34" charset="0"/>
                        </a:rPr>
                        <a:t>Especifica o tamanho de uma fonte</a:t>
                      </a:r>
                    </a:p>
                  </a:txBody>
                  <a:tcPr marL="6627" marR="6627" marT="6627" marB="6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en-US" sz="1600" b="1" dirty="0">
                          <a:solidFill>
                            <a:srgbClr val="002060"/>
                          </a:solidFill>
                          <a:effectLst/>
                          <a:latin typeface="Arial" panose="020B0604020202020204" pitchFamily="34" charset="0"/>
                          <a:cs typeface="Arial" panose="020B0604020202020204" pitchFamily="34" charset="0"/>
                        </a:rPr>
                        <a:t>xx-small</a:t>
                      </a:r>
                      <a:br>
                        <a:rPr lang="en-US" sz="1600" b="1" dirty="0">
                          <a:solidFill>
                            <a:srgbClr val="002060"/>
                          </a:solidFill>
                          <a:effectLst/>
                          <a:latin typeface="Arial" panose="020B0604020202020204" pitchFamily="34" charset="0"/>
                          <a:cs typeface="Arial" panose="020B0604020202020204" pitchFamily="34" charset="0"/>
                        </a:rPr>
                      </a:br>
                      <a:r>
                        <a:rPr lang="en-US" sz="1600" b="1" dirty="0">
                          <a:solidFill>
                            <a:srgbClr val="002060"/>
                          </a:solidFill>
                          <a:effectLst/>
                          <a:latin typeface="Arial" panose="020B0604020202020204" pitchFamily="34" charset="0"/>
                          <a:cs typeface="Arial" panose="020B0604020202020204" pitchFamily="34" charset="0"/>
                        </a:rPr>
                        <a:t>x-small</a:t>
                      </a:r>
                      <a:br>
                        <a:rPr lang="en-US" sz="1600" b="1" dirty="0">
                          <a:solidFill>
                            <a:srgbClr val="002060"/>
                          </a:solidFill>
                          <a:effectLst/>
                          <a:latin typeface="Arial" panose="020B0604020202020204" pitchFamily="34" charset="0"/>
                          <a:cs typeface="Arial" panose="020B0604020202020204" pitchFamily="34" charset="0"/>
                        </a:rPr>
                      </a:br>
                      <a:r>
                        <a:rPr lang="en-US" sz="1600" b="1" dirty="0">
                          <a:solidFill>
                            <a:srgbClr val="002060"/>
                          </a:solidFill>
                          <a:effectLst/>
                          <a:latin typeface="Arial" panose="020B0604020202020204" pitchFamily="34" charset="0"/>
                          <a:cs typeface="Arial" panose="020B0604020202020204" pitchFamily="34" charset="0"/>
                        </a:rPr>
                        <a:t>small</a:t>
                      </a:r>
                      <a:br>
                        <a:rPr lang="en-US" sz="1600" b="1" dirty="0">
                          <a:solidFill>
                            <a:srgbClr val="002060"/>
                          </a:solidFill>
                          <a:effectLst/>
                          <a:latin typeface="Arial" panose="020B0604020202020204" pitchFamily="34" charset="0"/>
                          <a:cs typeface="Arial" panose="020B0604020202020204" pitchFamily="34" charset="0"/>
                        </a:rPr>
                      </a:br>
                      <a:r>
                        <a:rPr lang="en-US" sz="1600" b="1" dirty="0">
                          <a:solidFill>
                            <a:srgbClr val="002060"/>
                          </a:solidFill>
                          <a:effectLst/>
                          <a:latin typeface="Arial" panose="020B0604020202020204" pitchFamily="34" charset="0"/>
                          <a:cs typeface="Arial" panose="020B0604020202020204" pitchFamily="34" charset="0"/>
                        </a:rPr>
                        <a:t>medium</a:t>
                      </a:r>
                      <a:br>
                        <a:rPr lang="en-US" sz="1600" b="1" dirty="0">
                          <a:solidFill>
                            <a:srgbClr val="002060"/>
                          </a:solidFill>
                          <a:effectLst/>
                          <a:latin typeface="Arial" panose="020B0604020202020204" pitchFamily="34" charset="0"/>
                          <a:cs typeface="Arial" panose="020B0604020202020204" pitchFamily="34" charset="0"/>
                        </a:rPr>
                      </a:br>
                      <a:r>
                        <a:rPr lang="en-US" sz="1600" b="1" dirty="0">
                          <a:solidFill>
                            <a:srgbClr val="002060"/>
                          </a:solidFill>
                          <a:effectLst/>
                          <a:latin typeface="Arial" panose="020B0604020202020204" pitchFamily="34" charset="0"/>
                          <a:cs typeface="Arial" panose="020B0604020202020204" pitchFamily="34" charset="0"/>
                        </a:rPr>
                        <a:t>large</a:t>
                      </a:r>
                      <a:br>
                        <a:rPr lang="en-US" sz="1600" b="1" dirty="0">
                          <a:solidFill>
                            <a:srgbClr val="002060"/>
                          </a:solidFill>
                          <a:effectLst/>
                          <a:latin typeface="Arial" panose="020B0604020202020204" pitchFamily="34" charset="0"/>
                          <a:cs typeface="Arial" panose="020B0604020202020204" pitchFamily="34" charset="0"/>
                        </a:rPr>
                      </a:br>
                      <a:r>
                        <a:rPr lang="en-US" sz="1600" b="1" dirty="0">
                          <a:solidFill>
                            <a:srgbClr val="002060"/>
                          </a:solidFill>
                          <a:effectLst/>
                          <a:latin typeface="Arial" panose="020B0604020202020204" pitchFamily="34" charset="0"/>
                          <a:cs typeface="Arial" panose="020B0604020202020204" pitchFamily="34" charset="0"/>
                        </a:rPr>
                        <a:t>x-large</a:t>
                      </a:r>
                      <a:br>
                        <a:rPr lang="en-US" sz="1600" b="1" dirty="0">
                          <a:solidFill>
                            <a:srgbClr val="002060"/>
                          </a:solidFill>
                          <a:effectLst/>
                          <a:latin typeface="Arial" panose="020B0604020202020204" pitchFamily="34" charset="0"/>
                          <a:cs typeface="Arial" panose="020B0604020202020204" pitchFamily="34" charset="0"/>
                        </a:rPr>
                      </a:br>
                      <a:r>
                        <a:rPr lang="en-US" sz="1600" b="1" dirty="0">
                          <a:solidFill>
                            <a:srgbClr val="002060"/>
                          </a:solidFill>
                          <a:effectLst/>
                          <a:latin typeface="Arial" panose="020B0604020202020204" pitchFamily="34" charset="0"/>
                          <a:cs typeface="Arial" panose="020B0604020202020204" pitchFamily="34" charset="0"/>
                        </a:rPr>
                        <a:t>xx-large</a:t>
                      </a:r>
                      <a:br>
                        <a:rPr lang="en-US" sz="1600" b="1" dirty="0">
                          <a:solidFill>
                            <a:srgbClr val="002060"/>
                          </a:solidFill>
                          <a:effectLst/>
                          <a:latin typeface="Arial" panose="020B0604020202020204" pitchFamily="34" charset="0"/>
                          <a:cs typeface="Arial" panose="020B0604020202020204" pitchFamily="34" charset="0"/>
                        </a:rPr>
                      </a:br>
                      <a:r>
                        <a:rPr lang="en-US" sz="1600" b="1" dirty="0">
                          <a:solidFill>
                            <a:srgbClr val="002060"/>
                          </a:solidFill>
                          <a:effectLst/>
                          <a:latin typeface="Arial" panose="020B0604020202020204" pitchFamily="34" charset="0"/>
                          <a:cs typeface="Arial" panose="020B0604020202020204" pitchFamily="34" charset="0"/>
                        </a:rPr>
                        <a:t>smaller</a:t>
                      </a:r>
                      <a:br>
                        <a:rPr lang="en-US" sz="1600" b="1" dirty="0">
                          <a:solidFill>
                            <a:srgbClr val="002060"/>
                          </a:solidFill>
                          <a:effectLst/>
                          <a:latin typeface="Arial" panose="020B0604020202020204" pitchFamily="34" charset="0"/>
                          <a:cs typeface="Arial" panose="020B0604020202020204" pitchFamily="34" charset="0"/>
                        </a:rPr>
                      </a:br>
                      <a:r>
                        <a:rPr lang="en-US" sz="1600" b="1" dirty="0">
                          <a:solidFill>
                            <a:srgbClr val="002060"/>
                          </a:solidFill>
                          <a:effectLst/>
                          <a:latin typeface="Arial" panose="020B0604020202020204" pitchFamily="34" charset="0"/>
                          <a:cs typeface="Arial" panose="020B0604020202020204" pitchFamily="34" charset="0"/>
                        </a:rPr>
                        <a:t>larger</a:t>
                      </a:r>
                      <a:br>
                        <a:rPr lang="en-US" sz="1600" b="1" i="1" dirty="0">
                          <a:solidFill>
                            <a:srgbClr val="002060"/>
                          </a:solidFill>
                          <a:effectLst/>
                          <a:latin typeface="Arial" panose="020B0604020202020204" pitchFamily="34" charset="0"/>
                          <a:cs typeface="Arial" panose="020B0604020202020204" pitchFamily="34" charset="0"/>
                        </a:rPr>
                      </a:br>
                      <a:r>
                        <a:rPr lang="en-US" sz="1600" b="1" i="1" dirty="0">
                          <a:solidFill>
                            <a:srgbClr val="002060"/>
                          </a:solidFill>
                          <a:effectLst/>
                          <a:latin typeface="Arial" panose="020B0604020202020204" pitchFamily="34" charset="0"/>
                          <a:cs typeface="Arial" panose="020B0604020202020204" pitchFamily="34" charset="0"/>
                        </a:rPr>
                        <a:t>length</a:t>
                      </a:r>
                      <a:br>
                        <a:rPr lang="en-US" sz="1600" b="1" i="1" dirty="0">
                          <a:solidFill>
                            <a:srgbClr val="002060"/>
                          </a:solidFill>
                          <a:effectLst/>
                          <a:latin typeface="Arial" panose="020B0604020202020204" pitchFamily="34" charset="0"/>
                          <a:cs typeface="Arial" panose="020B0604020202020204" pitchFamily="34" charset="0"/>
                        </a:rPr>
                      </a:br>
                      <a:r>
                        <a:rPr lang="en-US" sz="1600" b="1" i="1" dirty="0">
                          <a:solidFill>
                            <a:srgbClr val="002060"/>
                          </a:solidFill>
                          <a:effectLst/>
                          <a:latin typeface="Arial" panose="020B0604020202020204" pitchFamily="34" charset="0"/>
                          <a:cs typeface="Arial" panose="020B0604020202020204" pitchFamily="34" charset="0"/>
                        </a:rPr>
                        <a:t>%</a:t>
                      </a:r>
                      <a:endParaRPr lang="en-US" sz="1600" b="1" i="0" dirty="0">
                        <a:solidFill>
                          <a:srgbClr val="002060"/>
                        </a:solidFill>
                        <a:effectLst/>
                        <a:latin typeface="Arial" panose="020B0604020202020204" pitchFamily="34" charset="0"/>
                        <a:cs typeface="Arial" panose="020B0604020202020204" pitchFamily="34" charset="0"/>
                      </a:endParaRPr>
                    </a:p>
                    <a:p>
                      <a:pPr algn="ctr"/>
                      <a:r>
                        <a:rPr lang="en-US" sz="1600" b="1" i="0" dirty="0">
                          <a:solidFill>
                            <a:srgbClr val="002060"/>
                          </a:solidFill>
                          <a:effectLst/>
                          <a:latin typeface="Arial" panose="020B0604020202020204" pitchFamily="34" charset="0"/>
                          <a:cs typeface="Arial" panose="020B0604020202020204" pitchFamily="34" charset="0"/>
                        </a:rPr>
                        <a:t>valor</a:t>
                      </a:r>
                      <a:r>
                        <a:rPr lang="en-US" sz="1600" b="1" i="0" baseline="0" dirty="0">
                          <a:solidFill>
                            <a:srgbClr val="002060"/>
                          </a:solidFill>
                          <a:effectLst/>
                          <a:latin typeface="Arial" panose="020B0604020202020204" pitchFamily="34" charset="0"/>
                          <a:cs typeface="Arial" panose="020B0604020202020204" pitchFamily="34" charset="0"/>
                        </a:rPr>
                        <a:t> em pixel (ex.: 16px)</a:t>
                      </a:r>
                      <a:endParaRPr lang="en-US" sz="1600" b="1" i="1" dirty="0">
                        <a:solidFill>
                          <a:srgbClr val="002060"/>
                        </a:solidFill>
                        <a:effectLst/>
                        <a:latin typeface="Arial" panose="020B0604020202020204" pitchFamily="34" charset="0"/>
                        <a:cs typeface="Arial" panose="020B0604020202020204" pitchFamily="34" charset="0"/>
                      </a:endParaRPr>
                    </a:p>
                  </a:txBody>
                  <a:tcPr marL="6627" marR="6627" marT="6627" marB="6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362424208"/>
                  </a:ext>
                </a:extLst>
              </a:tr>
              <a:tr h="285143">
                <a:tc>
                  <a:txBody>
                    <a:bodyPr/>
                    <a:lstStyle/>
                    <a:p>
                      <a:pPr algn="ctr"/>
                      <a:r>
                        <a:rPr lang="pt-BR" sz="1600" b="1" dirty="0" err="1">
                          <a:solidFill>
                            <a:srgbClr val="002060"/>
                          </a:solidFill>
                          <a:effectLst/>
                          <a:latin typeface="Arial" panose="020B0604020202020204" pitchFamily="34" charset="0"/>
                          <a:cs typeface="Arial" panose="020B0604020202020204" pitchFamily="34" charset="0"/>
                        </a:rPr>
                        <a:t>font-style</a:t>
                      </a:r>
                      <a:endParaRPr lang="pt-BR" sz="1600" b="1" dirty="0">
                        <a:solidFill>
                          <a:srgbClr val="002060"/>
                        </a:solidFill>
                        <a:effectLst/>
                        <a:latin typeface="Arial" panose="020B0604020202020204" pitchFamily="34" charset="0"/>
                        <a:cs typeface="Arial" panose="020B0604020202020204" pitchFamily="34" charset="0"/>
                      </a:endParaRPr>
                    </a:p>
                  </a:txBody>
                  <a:tcPr marL="6627" marR="6627" marT="6627" marB="6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Especifica o estilo da fonte</a:t>
                      </a:r>
                    </a:p>
                  </a:txBody>
                  <a:tcPr marL="6627" marR="6627" marT="6627" marB="6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cs typeface="Arial" panose="020B0604020202020204" pitchFamily="34" charset="0"/>
                        </a:rPr>
                        <a:t>normal</a:t>
                      </a:r>
                      <a:br>
                        <a:rPr lang="pt-BR" sz="1600" b="1" dirty="0">
                          <a:solidFill>
                            <a:srgbClr val="002060"/>
                          </a:solidFill>
                          <a:effectLst/>
                          <a:latin typeface="Arial" panose="020B0604020202020204" pitchFamily="34" charset="0"/>
                          <a:cs typeface="Arial" panose="020B0604020202020204" pitchFamily="34" charset="0"/>
                        </a:rPr>
                      </a:br>
                      <a:r>
                        <a:rPr lang="pt-BR" sz="1600" b="1" dirty="0" err="1">
                          <a:solidFill>
                            <a:srgbClr val="002060"/>
                          </a:solidFill>
                          <a:effectLst/>
                          <a:latin typeface="Arial" panose="020B0604020202020204" pitchFamily="34" charset="0"/>
                          <a:cs typeface="Arial" panose="020B0604020202020204" pitchFamily="34" charset="0"/>
                        </a:rPr>
                        <a:t>italic</a:t>
                      </a:r>
                      <a:br>
                        <a:rPr lang="pt-BR" sz="1600" b="1" dirty="0">
                          <a:solidFill>
                            <a:srgbClr val="002060"/>
                          </a:solidFill>
                          <a:effectLst/>
                          <a:latin typeface="Arial" panose="020B0604020202020204" pitchFamily="34" charset="0"/>
                          <a:cs typeface="Arial" panose="020B0604020202020204" pitchFamily="34" charset="0"/>
                        </a:rPr>
                      </a:br>
                      <a:r>
                        <a:rPr lang="pt-BR" sz="1600" b="1" dirty="0">
                          <a:solidFill>
                            <a:srgbClr val="002060"/>
                          </a:solidFill>
                          <a:effectLst/>
                          <a:latin typeface="Arial" panose="020B0604020202020204" pitchFamily="34" charset="0"/>
                          <a:cs typeface="Arial" panose="020B0604020202020204" pitchFamily="34" charset="0"/>
                        </a:rPr>
                        <a:t>oblique</a:t>
                      </a:r>
                    </a:p>
                  </a:txBody>
                  <a:tcPr marL="6627" marR="6627" marT="6627" marB="6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851890885"/>
                  </a:ext>
                </a:extLst>
              </a:tr>
              <a:tr h="1173898">
                <a:tc>
                  <a:txBody>
                    <a:bodyPr/>
                    <a:lstStyle/>
                    <a:p>
                      <a:pPr algn="ctr"/>
                      <a:r>
                        <a:rPr lang="pt-BR" sz="1600" b="1" dirty="0" err="1">
                          <a:solidFill>
                            <a:srgbClr val="002060"/>
                          </a:solidFill>
                          <a:effectLst/>
                          <a:latin typeface="Arial" panose="020B0604020202020204" pitchFamily="34" charset="0"/>
                          <a:cs typeface="Arial" panose="020B0604020202020204" pitchFamily="34" charset="0"/>
                        </a:rPr>
                        <a:t>font-weight</a:t>
                      </a:r>
                      <a:endParaRPr lang="pt-BR" sz="1600" b="1" dirty="0">
                        <a:solidFill>
                          <a:srgbClr val="002060"/>
                        </a:solidFill>
                        <a:effectLst/>
                        <a:latin typeface="Arial" panose="020B0604020202020204" pitchFamily="34" charset="0"/>
                        <a:cs typeface="Arial" panose="020B0604020202020204" pitchFamily="34" charset="0"/>
                      </a:endParaRPr>
                    </a:p>
                  </a:txBody>
                  <a:tcPr marL="6627" marR="6627" marT="6627" marB="6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cs typeface="Arial" panose="020B0604020202020204" pitchFamily="34" charset="0"/>
                        </a:rPr>
                        <a:t>Especifica o peso de uma fonte</a:t>
                      </a:r>
                    </a:p>
                  </a:txBody>
                  <a:tcPr marL="6627" marR="6627" marT="6627" marB="6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cs typeface="Arial" panose="020B0604020202020204" pitchFamily="34" charset="0"/>
                        </a:rPr>
                        <a:t>normal</a:t>
                      </a:r>
                      <a:br>
                        <a:rPr lang="pt-BR" sz="1600" b="1" dirty="0">
                          <a:solidFill>
                            <a:srgbClr val="002060"/>
                          </a:solidFill>
                          <a:effectLst/>
                          <a:latin typeface="Arial" panose="020B0604020202020204" pitchFamily="34" charset="0"/>
                          <a:cs typeface="Arial" panose="020B0604020202020204" pitchFamily="34" charset="0"/>
                        </a:rPr>
                      </a:br>
                      <a:r>
                        <a:rPr lang="pt-BR" sz="1600" b="1" dirty="0" err="1">
                          <a:solidFill>
                            <a:srgbClr val="002060"/>
                          </a:solidFill>
                          <a:effectLst/>
                          <a:latin typeface="Arial" panose="020B0604020202020204" pitchFamily="34" charset="0"/>
                          <a:cs typeface="Arial" panose="020B0604020202020204" pitchFamily="34" charset="0"/>
                        </a:rPr>
                        <a:t>bold</a:t>
                      </a:r>
                      <a:br>
                        <a:rPr lang="pt-BR" sz="1600" b="1" dirty="0">
                          <a:solidFill>
                            <a:srgbClr val="002060"/>
                          </a:solidFill>
                          <a:effectLst/>
                          <a:latin typeface="Arial" panose="020B0604020202020204" pitchFamily="34" charset="0"/>
                          <a:cs typeface="Arial" panose="020B0604020202020204" pitchFamily="34" charset="0"/>
                        </a:rPr>
                      </a:br>
                      <a:r>
                        <a:rPr lang="pt-BR" sz="1600" b="1" dirty="0" err="1">
                          <a:solidFill>
                            <a:srgbClr val="002060"/>
                          </a:solidFill>
                          <a:effectLst/>
                          <a:latin typeface="Arial" panose="020B0604020202020204" pitchFamily="34" charset="0"/>
                          <a:cs typeface="Arial" panose="020B0604020202020204" pitchFamily="34" charset="0"/>
                        </a:rPr>
                        <a:t>bolder</a:t>
                      </a:r>
                      <a:r>
                        <a:rPr lang="pt-BR" sz="1600" b="1" dirty="0">
                          <a:solidFill>
                            <a:srgbClr val="002060"/>
                          </a:solidFill>
                          <a:effectLst/>
                          <a:latin typeface="Arial" panose="020B0604020202020204" pitchFamily="34" charset="0"/>
                          <a:cs typeface="Arial" panose="020B0604020202020204" pitchFamily="34" charset="0"/>
                        </a:rPr>
                        <a:t> (mais negrito)</a:t>
                      </a:r>
                      <a:br>
                        <a:rPr lang="pt-BR" sz="1600" b="1" dirty="0">
                          <a:solidFill>
                            <a:srgbClr val="002060"/>
                          </a:solidFill>
                          <a:effectLst/>
                          <a:latin typeface="Arial" panose="020B0604020202020204" pitchFamily="34" charset="0"/>
                          <a:cs typeface="Arial" panose="020B0604020202020204" pitchFamily="34" charset="0"/>
                        </a:rPr>
                      </a:br>
                      <a:r>
                        <a:rPr lang="pt-BR" sz="1600" b="1" dirty="0" err="1">
                          <a:solidFill>
                            <a:srgbClr val="002060"/>
                          </a:solidFill>
                          <a:effectLst/>
                          <a:latin typeface="Arial" panose="020B0604020202020204" pitchFamily="34" charset="0"/>
                          <a:cs typeface="Arial" panose="020B0604020202020204" pitchFamily="34" charset="0"/>
                        </a:rPr>
                        <a:t>lighter</a:t>
                      </a:r>
                      <a:r>
                        <a:rPr lang="pt-BR" sz="1600" b="1" dirty="0">
                          <a:solidFill>
                            <a:srgbClr val="002060"/>
                          </a:solidFill>
                          <a:effectLst/>
                          <a:latin typeface="Arial" panose="020B0604020202020204" pitchFamily="34" charset="0"/>
                          <a:cs typeface="Arial" panose="020B0604020202020204" pitchFamily="34" charset="0"/>
                        </a:rPr>
                        <a:t> (mais claro)</a:t>
                      </a:r>
                      <a:br>
                        <a:rPr lang="pt-BR" sz="1600" b="1" dirty="0">
                          <a:solidFill>
                            <a:srgbClr val="002060"/>
                          </a:solidFill>
                          <a:effectLst/>
                          <a:latin typeface="Arial" panose="020B0604020202020204" pitchFamily="34" charset="0"/>
                          <a:cs typeface="Arial" panose="020B0604020202020204" pitchFamily="34" charset="0"/>
                        </a:rPr>
                      </a:br>
                      <a:r>
                        <a:rPr lang="pt-BR" sz="1600" b="1" dirty="0">
                          <a:solidFill>
                            <a:srgbClr val="002060"/>
                          </a:solidFill>
                          <a:effectLst/>
                          <a:latin typeface="Arial" panose="020B0604020202020204" pitchFamily="34" charset="0"/>
                          <a:cs typeface="Arial" panose="020B0604020202020204" pitchFamily="34" charset="0"/>
                        </a:rPr>
                        <a:t>100</a:t>
                      </a:r>
                      <a:r>
                        <a:rPr lang="pt-BR" sz="1600" b="1" baseline="0" dirty="0">
                          <a:solidFill>
                            <a:srgbClr val="002060"/>
                          </a:solidFill>
                          <a:effectLst/>
                          <a:latin typeface="Arial" panose="020B0604020202020204" pitchFamily="34" charset="0"/>
                          <a:cs typeface="Arial" panose="020B0604020202020204" pitchFamily="34" charset="0"/>
                        </a:rPr>
                        <a:t> a 900</a:t>
                      </a:r>
                      <a:endParaRPr lang="pt-BR" sz="1600" b="1" dirty="0">
                        <a:solidFill>
                          <a:srgbClr val="002060"/>
                        </a:solidFill>
                        <a:effectLst/>
                        <a:latin typeface="Arial" panose="020B0604020202020204" pitchFamily="34" charset="0"/>
                        <a:cs typeface="Arial" panose="020B0604020202020204" pitchFamily="34" charset="0"/>
                      </a:endParaRPr>
                    </a:p>
                  </a:txBody>
                  <a:tcPr marL="6627" marR="6627" marT="6627" marB="6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133383820"/>
                  </a:ext>
                </a:extLst>
              </a:tr>
            </a:tbl>
          </a:graphicData>
        </a:graphic>
      </p:graphicFrame>
      <p:sp>
        <p:nvSpPr>
          <p:cNvPr id="3" name="Retângulo 2"/>
          <p:cNvSpPr/>
          <p:nvPr/>
        </p:nvSpPr>
        <p:spPr>
          <a:xfrm>
            <a:off x="696685" y="52252"/>
            <a:ext cx="11495315" cy="369332"/>
          </a:xfrm>
          <a:prstGeom prst="rect">
            <a:avLst/>
          </a:prstGeom>
        </p:spPr>
        <p:txBody>
          <a:bodyPr wrap="square">
            <a:spAutoFit/>
          </a:bodyPr>
          <a:lstStyle/>
          <a:p>
            <a:r>
              <a:rPr lang="pt-BR" b="1" dirty="0">
                <a:solidFill>
                  <a:srgbClr val="002060"/>
                </a:solidFill>
                <a:latin typeface="Arial" panose="020B0604020202020204" pitchFamily="34" charset="0"/>
                <a:cs typeface="Arial" panose="020B0604020202020204" pitchFamily="34" charset="0"/>
              </a:rPr>
              <a:t>Fonte:</a:t>
            </a:r>
          </a:p>
        </p:txBody>
      </p:sp>
      <p:sp>
        <p:nvSpPr>
          <p:cNvPr id="4" name="Espaço Reservado para Número de Slide 3"/>
          <p:cNvSpPr>
            <a:spLocks noGrp="1"/>
          </p:cNvSpPr>
          <p:nvPr>
            <p:ph type="sldNum" sz="quarter" idx="12"/>
          </p:nvPr>
        </p:nvSpPr>
        <p:spPr/>
        <p:txBody>
          <a:bodyPr/>
          <a:lstStyle/>
          <a:p>
            <a:fld id="{8256F83C-9D86-480B-90E0-0702DBEB9457}" type="slidenum">
              <a:rPr lang="pt-BR" smtClean="0"/>
              <a:t>48</a:t>
            </a:fld>
            <a:endParaRPr lang="pt-BR"/>
          </a:p>
        </p:txBody>
      </p:sp>
    </p:spTree>
    <p:extLst>
      <p:ext uri="{BB962C8B-B14F-4D97-AF65-F5344CB8AC3E}">
        <p14:creationId xmlns:p14="http://schemas.microsoft.com/office/powerpoint/2010/main" val="29922983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a 1"/>
          <p:cNvGraphicFramePr>
            <a:graphicFrameLocks noGrp="1"/>
          </p:cNvGraphicFramePr>
          <p:nvPr/>
        </p:nvGraphicFramePr>
        <p:xfrm>
          <a:off x="1959430" y="574767"/>
          <a:ext cx="9901645" cy="4929052"/>
        </p:xfrm>
        <a:graphic>
          <a:graphicData uri="http://schemas.openxmlformats.org/drawingml/2006/table">
            <a:tbl>
              <a:tblPr/>
              <a:tblGrid>
                <a:gridCol w="2370138">
                  <a:extLst>
                    <a:ext uri="{9D8B030D-6E8A-4147-A177-3AD203B41FA5}">
                      <a16:colId xmlns:a16="http://schemas.microsoft.com/office/drawing/2014/main" val="646926091"/>
                    </a:ext>
                  </a:extLst>
                </a:gridCol>
                <a:gridCol w="3403644">
                  <a:extLst>
                    <a:ext uri="{9D8B030D-6E8A-4147-A177-3AD203B41FA5}">
                      <a16:colId xmlns:a16="http://schemas.microsoft.com/office/drawing/2014/main" val="1905827270"/>
                    </a:ext>
                  </a:extLst>
                </a:gridCol>
                <a:gridCol w="4127863">
                  <a:extLst>
                    <a:ext uri="{9D8B030D-6E8A-4147-A177-3AD203B41FA5}">
                      <a16:colId xmlns:a16="http://schemas.microsoft.com/office/drawing/2014/main" val="3867092642"/>
                    </a:ext>
                  </a:extLst>
                </a:gridCol>
              </a:tblGrid>
              <a:tr h="204432">
                <a:tc>
                  <a:txBody>
                    <a:bodyPr/>
                    <a:lstStyle/>
                    <a:p>
                      <a:pPr algn="ctr"/>
                      <a:r>
                        <a:rPr lang="pt-BR" sz="1600" b="1" dirty="0">
                          <a:solidFill>
                            <a:srgbClr val="002060"/>
                          </a:solidFill>
                          <a:effectLst/>
                          <a:latin typeface="Arial" panose="020B0604020202020204" pitchFamily="34" charset="0"/>
                          <a:cs typeface="Arial" panose="020B0604020202020204" pitchFamily="34" charset="0"/>
                        </a:rPr>
                        <a:t>Propriedade</a:t>
                      </a:r>
                    </a:p>
                  </a:txBody>
                  <a:tcPr marL="13246" marR="13246" marT="13246" marB="132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Descrição</a:t>
                      </a:r>
                    </a:p>
                  </a:txBody>
                  <a:tcPr marL="13246" marR="13246" marT="13246" marB="132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Valores</a:t>
                      </a:r>
                    </a:p>
                  </a:txBody>
                  <a:tcPr marL="13246" marR="13246" marT="13246" marB="132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925627693"/>
                  </a:ext>
                </a:extLst>
              </a:tr>
              <a:tr h="542803">
                <a:tc>
                  <a:txBody>
                    <a:bodyPr/>
                    <a:lstStyle/>
                    <a:p>
                      <a:pPr algn="ctr"/>
                      <a:r>
                        <a:rPr lang="pt-BR" sz="1600" b="1" dirty="0">
                          <a:solidFill>
                            <a:srgbClr val="002060"/>
                          </a:solidFill>
                          <a:effectLst/>
                          <a:latin typeface="Arial" panose="020B0604020202020204" pitchFamily="34" charset="0"/>
                          <a:cs typeface="Arial" panose="020B0604020202020204" pitchFamily="34" charset="0"/>
                        </a:rPr>
                        <a:t>background-</a:t>
                      </a:r>
                      <a:r>
                        <a:rPr lang="pt-BR" sz="1600" b="1" dirty="0" err="1">
                          <a:solidFill>
                            <a:srgbClr val="002060"/>
                          </a:solidFill>
                          <a:effectLst/>
                          <a:latin typeface="Arial" panose="020B0604020202020204" pitchFamily="34" charset="0"/>
                          <a:cs typeface="Arial" panose="020B0604020202020204" pitchFamily="34" charset="0"/>
                        </a:rPr>
                        <a:t>attachment</a:t>
                      </a:r>
                      <a:endParaRPr lang="pt-BR" sz="1600" b="1" dirty="0">
                        <a:solidFill>
                          <a:srgbClr val="002060"/>
                        </a:solidFill>
                        <a:effectLst/>
                        <a:latin typeface="Arial" panose="020B0604020202020204" pitchFamily="34" charset="0"/>
                        <a:cs typeface="Arial" panose="020B0604020202020204" pitchFamily="34" charset="0"/>
                      </a:endParaRPr>
                    </a:p>
                  </a:txBody>
                  <a:tcPr marL="13246" marR="13246" marT="13246" marB="132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Especifica se uma imagem de plano de fundo é fixa ou rola com o resto da página</a:t>
                      </a:r>
                    </a:p>
                  </a:txBody>
                  <a:tcPr marL="13246" marR="13246" marT="13246" marB="132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scroll</a:t>
                      </a:r>
                      <a:br>
                        <a:rPr lang="pt-BR" sz="1600" b="1">
                          <a:solidFill>
                            <a:srgbClr val="002060"/>
                          </a:solidFill>
                          <a:effectLst/>
                          <a:latin typeface="Arial" panose="020B0604020202020204" pitchFamily="34" charset="0"/>
                          <a:cs typeface="Arial" panose="020B0604020202020204" pitchFamily="34" charset="0"/>
                        </a:rPr>
                      </a:br>
                      <a:r>
                        <a:rPr lang="pt-BR" sz="1600" b="1">
                          <a:solidFill>
                            <a:srgbClr val="002060"/>
                          </a:solidFill>
                          <a:effectLst/>
                          <a:latin typeface="Arial" panose="020B0604020202020204" pitchFamily="34" charset="0"/>
                          <a:cs typeface="Arial" panose="020B0604020202020204" pitchFamily="34" charset="0"/>
                        </a:rPr>
                        <a:t>fixed</a:t>
                      </a:r>
                    </a:p>
                  </a:txBody>
                  <a:tcPr marL="13246" marR="13246" marT="13246" marB="132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685324688"/>
                  </a:ext>
                </a:extLst>
              </a:tr>
              <a:tr h="711989">
                <a:tc>
                  <a:txBody>
                    <a:bodyPr/>
                    <a:lstStyle/>
                    <a:p>
                      <a:pPr algn="ctr"/>
                      <a:r>
                        <a:rPr lang="pt-BR" sz="1600" b="1" dirty="0">
                          <a:solidFill>
                            <a:srgbClr val="002060"/>
                          </a:solidFill>
                          <a:effectLst/>
                          <a:latin typeface="Arial" panose="020B0604020202020204" pitchFamily="34" charset="0"/>
                          <a:cs typeface="Arial" panose="020B0604020202020204" pitchFamily="34" charset="0"/>
                        </a:rPr>
                        <a:t>background-color</a:t>
                      </a:r>
                    </a:p>
                  </a:txBody>
                  <a:tcPr marL="13246" marR="13246" marT="13246" marB="132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Configura a cor do plano de fundo de um elemento</a:t>
                      </a:r>
                    </a:p>
                  </a:txBody>
                  <a:tcPr marL="13246" marR="13246" marT="13246" marB="132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i="1">
                          <a:solidFill>
                            <a:srgbClr val="002060"/>
                          </a:solidFill>
                          <a:effectLst/>
                          <a:latin typeface="Arial" panose="020B0604020202020204" pitchFamily="34" charset="0"/>
                          <a:cs typeface="Arial" panose="020B0604020202020204" pitchFamily="34" charset="0"/>
                        </a:rPr>
                        <a:t>color-rgb</a:t>
                      </a:r>
                      <a:br>
                        <a:rPr lang="pt-BR" sz="1600" b="1" i="1">
                          <a:solidFill>
                            <a:srgbClr val="002060"/>
                          </a:solidFill>
                          <a:effectLst/>
                          <a:latin typeface="Arial" panose="020B0604020202020204" pitchFamily="34" charset="0"/>
                          <a:cs typeface="Arial" panose="020B0604020202020204" pitchFamily="34" charset="0"/>
                        </a:rPr>
                      </a:br>
                      <a:r>
                        <a:rPr lang="pt-BR" sz="1600" b="1" i="1">
                          <a:solidFill>
                            <a:srgbClr val="002060"/>
                          </a:solidFill>
                          <a:effectLst/>
                          <a:latin typeface="Arial" panose="020B0604020202020204" pitchFamily="34" charset="0"/>
                          <a:cs typeface="Arial" panose="020B0604020202020204" pitchFamily="34" charset="0"/>
                        </a:rPr>
                        <a:t>color-hex</a:t>
                      </a:r>
                      <a:br>
                        <a:rPr lang="pt-BR" sz="1600" b="1" i="1">
                          <a:solidFill>
                            <a:srgbClr val="002060"/>
                          </a:solidFill>
                          <a:effectLst/>
                          <a:latin typeface="Arial" panose="020B0604020202020204" pitchFamily="34" charset="0"/>
                          <a:cs typeface="Arial" panose="020B0604020202020204" pitchFamily="34" charset="0"/>
                        </a:rPr>
                      </a:br>
                      <a:r>
                        <a:rPr lang="pt-BR" sz="1600" b="1" i="1">
                          <a:solidFill>
                            <a:srgbClr val="002060"/>
                          </a:solidFill>
                          <a:effectLst/>
                          <a:latin typeface="Arial" panose="020B0604020202020204" pitchFamily="34" charset="0"/>
                          <a:cs typeface="Arial" panose="020B0604020202020204" pitchFamily="34" charset="0"/>
                        </a:rPr>
                        <a:t>color-name</a:t>
                      </a:r>
                      <a:br>
                        <a:rPr lang="pt-BR" sz="1600" b="1" i="1">
                          <a:solidFill>
                            <a:srgbClr val="002060"/>
                          </a:solidFill>
                          <a:effectLst/>
                          <a:latin typeface="Arial" panose="020B0604020202020204" pitchFamily="34" charset="0"/>
                          <a:cs typeface="Arial" panose="020B0604020202020204" pitchFamily="34" charset="0"/>
                        </a:rPr>
                      </a:br>
                      <a:r>
                        <a:rPr lang="pt-BR" sz="1600" b="1">
                          <a:solidFill>
                            <a:srgbClr val="002060"/>
                          </a:solidFill>
                          <a:effectLst/>
                          <a:latin typeface="Arial" panose="020B0604020202020204" pitchFamily="34" charset="0"/>
                          <a:cs typeface="Arial" panose="020B0604020202020204" pitchFamily="34" charset="0"/>
                        </a:rPr>
                        <a:t>transparent</a:t>
                      </a:r>
                    </a:p>
                  </a:txBody>
                  <a:tcPr marL="13246" marR="13246" marT="13246" marB="132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275283953"/>
                  </a:ext>
                </a:extLst>
              </a:tr>
              <a:tr h="373618">
                <a:tc>
                  <a:txBody>
                    <a:bodyPr/>
                    <a:lstStyle/>
                    <a:p>
                      <a:pPr algn="ctr"/>
                      <a:r>
                        <a:rPr lang="pt-BR" sz="1600" b="1">
                          <a:solidFill>
                            <a:srgbClr val="002060"/>
                          </a:solidFill>
                          <a:effectLst/>
                          <a:latin typeface="Arial" panose="020B0604020202020204" pitchFamily="34" charset="0"/>
                          <a:cs typeface="Arial" panose="020B0604020202020204" pitchFamily="34" charset="0"/>
                        </a:rPr>
                        <a:t>background-image</a:t>
                      </a:r>
                    </a:p>
                  </a:txBody>
                  <a:tcPr marL="13246" marR="13246" marT="13246" marB="132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Configura uma imagem como plano de fundo</a:t>
                      </a:r>
                    </a:p>
                  </a:txBody>
                  <a:tcPr marL="13246" marR="13246" marT="13246" marB="132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i="1" dirty="0" err="1">
                          <a:solidFill>
                            <a:srgbClr val="002060"/>
                          </a:solidFill>
                          <a:effectLst/>
                          <a:latin typeface="Arial" panose="020B0604020202020204" pitchFamily="34" charset="0"/>
                          <a:cs typeface="Arial" panose="020B0604020202020204" pitchFamily="34" charset="0"/>
                        </a:rPr>
                        <a:t>url</a:t>
                      </a:r>
                      <a:br>
                        <a:rPr lang="pt-BR" sz="1600" b="1" dirty="0">
                          <a:solidFill>
                            <a:srgbClr val="002060"/>
                          </a:solidFill>
                          <a:effectLst/>
                          <a:latin typeface="Arial" panose="020B0604020202020204" pitchFamily="34" charset="0"/>
                          <a:cs typeface="Arial" panose="020B0604020202020204" pitchFamily="34" charset="0"/>
                        </a:rPr>
                      </a:br>
                      <a:r>
                        <a:rPr lang="pt-BR" sz="1600" b="1" dirty="0" err="1">
                          <a:solidFill>
                            <a:srgbClr val="002060"/>
                          </a:solidFill>
                          <a:effectLst/>
                          <a:latin typeface="Arial" panose="020B0604020202020204" pitchFamily="34" charset="0"/>
                          <a:cs typeface="Arial" panose="020B0604020202020204" pitchFamily="34" charset="0"/>
                        </a:rPr>
                        <a:t>none</a:t>
                      </a:r>
                      <a:endParaRPr lang="pt-BR" sz="1600" b="1" dirty="0">
                        <a:solidFill>
                          <a:srgbClr val="002060"/>
                        </a:solidFill>
                        <a:effectLst/>
                        <a:latin typeface="Arial" panose="020B0604020202020204" pitchFamily="34" charset="0"/>
                        <a:cs typeface="Arial" panose="020B0604020202020204" pitchFamily="34" charset="0"/>
                      </a:endParaRPr>
                    </a:p>
                  </a:txBody>
                  <a:tcPr marL="13246" marR="13246" marT="13246" marB="132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859948599"/>
                  </a:ext>
                </a:extLst>
              </a:tr>
              <a:tr h="1382832">
                <a:tc>
                  <a:txBody>
                    <a:bodyPr/>
                    <a:lstStyle/>
                    <a:p>
                      <a:pPr algn="ctr"/>
                      <a:r>
                        <a:rPr lang="pt-BR" sz="1600" b="1">
                          <a:solidFill>
                            <a:srgbClr val="002060"/>
                          </a:solidFill>
                          <a:effectLst/>
                          <a:latin typeface="Arial" panose="020B0604020202020204" pitchFamily="34" charset="0"/>
                          <a:cs typeface="Arial" panose="020B0604020202020204" pitchFamily="34" charset="0"/>
                        </a:rPr>
                        <a:t>background-position</a:t>
                      </a:r>
                    </a:p>
                  </a:txBody>
                  <a:tcPr marL="13246" marR="13246" marT="13246" marB="132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cs typeface="Arial" panose="020B0604020202020204" pitchFamily="34" charset="0"/>
                        </a:rPr>
                        <a:t>Configura a posição inicial de uma imagem de plano de fundo</a:t>
                      </a:r>
                    </a:p>
                  </a:txBody>
                  <a:tcPr marL="13246" marR="13246" marT="13246" marB="132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en-US" sz="1600" b="1" dirty="0">
                          <a:solidFill>
                            <a:srgbClr val="002060"/>
                          </a:solidFill>
                          <a:effectLst/>
                          <a:latin typeface="Arial" panose="020B0604020202020204" pitchFamily="34" charset="0"/>
                          <a:cs typeface="Arial" panose="020B0604020202020204" pitchFamily="34" charset="0"/>
                        </a:rPr>
                        <a:t>top left /</a:t>
                      </a:r>
                      <a:r>
                        <a:rPr lang="en-US" sz="1600" b="1" baseline="0" dirty="0">
                          <a:solidFill>
                            <a:srgbClr val="002060"/>
                          </a:solidFill>
                          <a:effectLst/>
                          <a:latin typeface="Arial" panose="020B0604020202020204" pitchFamily="34" charset="0"/>
                          <a:cs typeface="Arial" panose="020B0604020202020204" pitchFamily="34" charset="0"/>
                        </a:rPr>
                        <a:t> top center / top right</a:t>
                      </a:r>
                      <a:br>
                        <a:rPr lang="en-US" sz="1600" b="1" dirty="0">
                          <a:solidFill>
                            <a:srgbClr val="002060"/>
                          </a:solidFill>
                          <a:effectLst/>
                          <a:latin typeface="Arial" panose="020B0604020202020204" pitchFamily="34" charset="0"/>
                          <a:cs typeface="Arial" panose="020B0604020202020204" pitchFamily="34" charset="0"/>
                        </a:rPr>
                      </a:br>
                      <a:r>
                        <a:rPr lang="en-US" sz="1600" b="1" dirty="0">
                          <a:solidFill>
                            <a:srgbClr val="002060"/>
                          </a:solidFill>
                          <a:effectLst/>
                          <a:latin typeface="Arial" panose="020B0604020202020204" pitchFamily="34" charset="0"/>
                          <a:cs typeface="Arial" panose="020B0604020202020204" pitchFamily="34" charset="0"/>
                        </a:rPr>
                        <a:t>center left /center </a:t>
                      </a:r>
                      <a:r>
                        <a:rPr lang="en-US" sz="1600" b="1" dirty="0" err="1">
                          <a:solidFill>
                            <a:srgbClr val="002060"/>
                          </a:solidFill>
                          <a:effectLst/>
                          <a:latin typeface="Arial" panose="020B0604020202020204" pitchFamily="34" charset="0"/>
                          <a:cs typeface="Arial" panose="020B0604020202020204" pitchFamily="34" charset="0"/>
                        </a:rPr>
                        <a:t>center</a:t>
                      </a:r>
                      <a:r>
                        <a:rPr lang="en-US" sz="1600" b="1" dirty="0">
                          <a:solidFill>
                            <a:srgbClr val="002060"/>
                          </a:solidFill>
                          <a:effectLst/>
                          <a:latin typeface="Arial" panose="020B0604020202020204" pitchFamily="34" charset="0"/>
                          <a:cs typeface="Arial" panose="020B0604020202020204" pitchFamily="34" charset="0"/>
                        </a:rPr>
                        <a:t> / center right</a:t>
                      </a:r>
                      <a:br>
                        <a:rPr lang="en-US" sz="1600" b="1" dirty="0">
                          <a:solidFill>
                            <a:srgbClr val="002060"/>
                          </a:solidFill>
                          <a:effectLst/>
                          <a:latin typeface="Arial" panose="020B0604020202020204" pitchFamily="34" charset="0"/>
                          <a:cs typeface="Arial" panose="020B0604020202020204" pitchFamily="34" charset="0"/>
                        </a:rPr>
                      </a:br>
                      <a:r>
                        <a:rPr lang="en-US" sz="1600" b="1" dirty="0">
                          <a:solidFill>
                            <a:srgbClr val="002060"/>
                          </a:solidFill>
                          <a:effectLst/>
                          <a:latin typeface="Arial" panose="020B0604020202020204" pitchFamily="34" charset="0"/>
                          <a:cs typeface="Arial" panose="020B0604020202020204" pitchFamily="34" charset="0"/>
                        </a:rPr>
                        <a:t>bottom left / bottom center / bottom right</a:t>
                      </a:r>
                      <a:br>
                        <a:rPr lang="en-US" sz="1600" b="1" dirty="0">
                          <a:solidFill>
                            <a:srgbClr val="002060"/>
                          </a:solidFill>
                          <a:effectLst/>
                          <a:latin typeface="Arial" panose="020B0604020202020204" pitchFamily="34" charset="0"/>
                          <a:cs typeface="Arial" panose="020B0604020202020204" pitchFamily="34" charset="0"/>
                        </a:rPr>
                      </a:br>
                      <a:r>
                        <a:rPr lang="en-US" sz="1600" b="1" i="1" dirty="0">
                          <a:solidFill>
                            <a:srgbClr val="002060"/>
                          </a:solidFill>
                          <a:effectLst/>
                          <a:latin typeface="Arial" panose="020B0604020202020204" pitchFamily="34" charset="0"/>
                          <a:cs typeface="Arial" panose="020B0604020202020204" pitchFamily="34" charset="0"/>
                        </a:rPr>
                        <a:t>x-% y-%</a:t>
                      </a:r>
                      <a:br>
                        <a:rPr lang="en-US" sz="1600" b="1" dirty="0">
                          <a:solidFill>
                            <a:srgbClr val="002060"/>
                          </a:solidFill>
                          <a:effectLst/>
                          <a:latin typeface="Arial" panose="020B0604020202020204" pitchFamily="34" charset="0"/>
                          <a:cs typeface="Arial" panose="020B0604020202020204" pitchFamily="34" charset="0"/>
                        </a:rPr>
                      </a:br>
                      <a:r>
                        <a:rPr lang="en-US" sz="1600" b="1" i="1" dirty="0">
                          <a:solidFill>
                            <a:srgbClr val="002060"/>
                          </a:solidFill>
                          <a:effectLst/>
                          <a:latin typeface="Arial" panose="020B0604020202020204" pitchFamily="34" charset="0"/>
                          <a:cs typeface="Arial" panose="020B0604020202020204" pitchFamily="34" charset="0"/>
                        </a:rPr>
                        <a:t>x-</a:t>
                      </a:r>
                      <a:r>
                        <a:rPr lang="en-US" sz="1600" b="1" i="1" dirty="0" err="1">
                          <a:solidFill>
                            <a:srgbClr val="002060"/>
                          </a:solidFill>
                          <a:effectLst/>
                          <a:latin typeface="Arial" panose="020B0604020202020204" pitchFamily="34" charset="0"/>
                          <a:cs typeface="Arial" panose="020B0604020202020204" pitchFamily="34" charset="0"/>
                        </a:rPr>
                        <a:t>pos</a:t>
                      </a:r>
                      <a:r>
                        <a:rPr lang="en-US" sz="1600" b="1" i="1" dirty="0">
                          <a:solidFill>
                            <a:srgbClr val="002060"/>
                          </a:solidFill>
                          <a:effectLst/>
                          <a:latin typeface="Arial" panose="020B0604020202020204" pitchFamily="34" charset="0"/>
                          <a:cs typeface="Arial" panose="020B0604020202020204" pitchFamily="34" charset="0"/>
                        </a:rPr>
                        <a:t> y-</a:t>
                      </a:r>
                      <a:r>
                        <a:rPr lang="en-US" sz="1600" b="1" i="1" dirty="0" err="1">
                          <a:solidFill>
                            <a:srgbClr val="002060"/>
                          </a:solidFill>
                          <a:effectLst/>
                          <a:latin typeface="Arial" panose="020B0604020202020204" pitchFamily="34" charset="0"/>
                          <a:cs typeface="Arial" panose="020B0604020202020204" pitchFamily="34" charset="0"/>
                        </a:rPr>
                        <a:t>pos</a:t>
                      </a:r>
                      <a:endParaRPr lang="en-US" sz="1600" b="1" dirty="0">
                        <a:solidFill>
                          <a:srgbClr val="002060"/>
                        </a:solidFill>
                        <a:effectLst/>
                        <a:latin typeface="Arial" panose="020B0604020202020204" pitchFamily="34" charset="0"/>
                        <a:cs typeface="Arial" panose="020B0604020202020204" pitchFamily="34" charset="0"/>
                      </a:endParaRPr>
                    </a:p>
                  </a:txBody>
                  <a:tcPr marL="13246" marR="13246" marT="13246" marB="132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2190331281"/>
                  </a:ext>
                </a:extLst>
              </a:tr>
              <a:tr h="711989">
                <a:tc>
                  <a:txBody>
                    <a:bodyPr/>
                    <a:lstStyle/>
                    <a:p>
                      <a:pPr algn="ctr"/>
                      <a:r>
                        <a:rPr lang="pt-BR" sz="1600" b="1" dirty="0">
                          <a:solidFill>
                            <a:srgbClr val="002060"/>
                          </a:solidFill>
                          <a:effectLst/>
                          <a:latin typeface="Arial" panose="020B0604020202020204" pitchFamily="34" charset="0"/>
                          <a:cs typeface="Arial" panose="020B0604020202020204" pitchFamily="34" charset="0"/>
                        </a:rPr>
                        <a:t>background-</a:t>
                      </a:r>
                      <a:r>
                        <a:rPr lang="pt-BR" sz="1600" b="1" dirty="0" err="1">
                          <a:solidFill>
                            <a:srgbClr val="002060"/>
                          </a:solidFill>
                          <a:effectLst/>
                          <a:latin typeface="Arial" panose="020B0604020202020204" pitchFamily="34" charset="0"/>
                          <a:cs typeface="Arial" panose="020B0604020202020204" pitchFamily="34" charset="0"/>
                        </a:rPr>
                        <a:t>repeat</a:t>
                      </a:r>
                      <a:endParaRPr lang="pt-BR" sz="1600" b="1" dirty="0">
                        <a:solidFill>
                          <a:srgbClr val="002060"/>
                        </a:solidFill>
                        <a:effectLst/>
                        <a:latin typeface="Arial" panose="020B0604020202020204" pitchFamily="34" charset="0"/>
                        <a:cs typeface="Arial" panose="020B0604020202020204" pitchFamily="34" charset="0"/>
                      </a:endParaRPr>
                    </a:p>
                  </a:txBody>
                  <a:tcPr marL="13246" marR="13246" marT="13246" marB="132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cs typeface="Arial" panose="020B0604020202020204" pitchFamily="34" charset="0"/>
                        </a:rPr>
                        <a:t>Estabelece se/como uma imagem de plano de fundo será repetida</a:t>
                      </a:r>
                    </a:p>
                  </a:txBody>
                  <a:tcPr marL="13246" marR="13246" marT="13246" marB="132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err="1">
                          <a:solidFill>
                            <a:srgbClr val="002060"/>
                          </a:solidFill>
                          <a:effectLst/>
                          <a:latin typeface="Arial" panose="020B0604020202020204" pitchFamily="34" charset="0"/>
                          <a:cs typeface="Arial" panose="020B0604020202020204" pitchFamily="34" charset="0"/>
                        </a:rPr>
                        <a:t>repeat</a:t>
                      </a:r>
                      <a:br>
                        <a:rPr lang="pt-BR" sz="1600" b="1" dirty="0">
                          <a:solidFill>
                            <a:srgbClr val="002060"/>
                          </a:solidFill>
                          <a:effectLst/>
                          <a:latin typeface="Arial" panose="020B0604020202020204" pitchFamily="34" charset="0"/>
                          <a:cs typeface="Arial" panose="020B0604020202020204" pitchFamily="34" charset="0"/>
                        </a:rPr>
                      </a:br>
                      <a:r>
                        <a:rPr lang="pt-BR" sz="1600" b="1" dirty="0" err="1">
                          <a:solidFill>
                            <a:srgbClr val="002060"/>
                          </a:solidFill>
                          <a:effectLst/>
                          <a:latin typeface="Arial" panose="020B0604020202020204" pitchFamily="34" charset="0"/>
                          <a:cs typeface="Arial" panose="020B0604020202020204" pitchFamily="34" charset="0"/>
                        </a:rPr>
                        <a:t>repeat</a:t>
                      </a:r>
                      <a:r>
                        <a:rPr lang="pt-BR" sz="1600" b="1" dirty="0">
                          <a:solidFill>
                            <a:srgbClr val="002060"/>
                          </a:solidFill>
                          <a:effectLst/>
                          <a:latin typeface="Arial" panose="020B0604020202020204" pitchFamily="34" charset="0"/>
                          <a:cs typeface="Arial" panose="020B0604020202020204" pitchFamily="34" charset="0"/>
                        </a:rPr>
                        <a:t>-x</a:t>
                      </a:r>
                      <a:br>
                        <a:rPr lang="pt-BR" sz="1600" b="1" dirty="0">
                          <a:solidFill>
                            <a:srgbClr val="002060"/>
                          </a:solidFill>
                          <a:effectLst/>
                          <a:latin typeface="Arial" panose="020B0604020202020204" pitchFamily="34" charset="0"/>
                          <a:cs typeface="Arial" panose="020B0604020202020204" pitchFamily="34" charset="0"/>
                        </a:rPr>
                      </a:br>
                      <a:r>
                        <a:rPr lang="pt-BR" sz="1600" b="1" dirty="0" err="1">
                          <a:solidFill>
                            <a:srgbClr val="002060"/>
                          </a:solidFill>
                          <a:effectLst/>
                          <a:latin typeface="Arial" panose="020B0604020202020204" pitchFamily="34" charset="0"/>
                          <a:cs typeface="Arial" panose="020B0604020202020204" pitchFamily="34" charset="0"/>
                        </a:rPr>
                        <a:t>repeat</a:t>
                      </a:r>
                      <a:r>
                        <a:rPr lang="pt-BR" sz="1600" b="1" dirty="0">
                          <a:solidFill>
                            <a:srgbClr val="002060"/>
                          </a:solidFill>
                          <a:effectLst/>
                          <a:latin typeface="Arial" panose="020B0604020202020204" pitchFamily="34" charset="0"/>
                          <a:cs typeface="Arial" panose="020B0604020202020204" pitchFamily="34" charset="0"/>
                        </a:rPr>
                        <a:t>-y</a:t>
                      </a:r>
                      <a:br>
                        <a:rPr lang="pt-BR" sz="1600" b="1" dirty="0">
                          <a:solidFill>
                            <a:srgbClr val="002060"/>
                          </a:solidFill>
                          <a:effectLst/>
                          <a:latin typeface="Arial" panose="020B0604020202020204" pitchFamily="34" charset="0"/>
                          <a:cs typeface="Arial" panose="020B0604020202020204" pitchFamily="34" charset="0"/>
                        </a:rPr>
                      </a:br>
                      <a:r>
                        <a:rPr lang="pt-BR" sz="1600" b="1" dirty="0">
                          <a:solidFill>
                            <a:srgbClr val="002060"/>
                          </a:solidFill>
                          <a:effectLst/>
                          <a:latin typeface="Arial" panose="020B0604020202020204" pitchFamily="34" charset="0"/>
                          <a:cs typeface="Arial" panose="020B0604020202020204" pitchFamily="34" charset="0"/>
                        </a:rPr>
                        <a:t>no-</a:t>
                      </a:r>
                      <a:r>
                        <a:rPr lang="pt-BR" sz="1600" b="1" dirty="0" err="1">
                          <a:solidFill>
                            <a:srgbClr val="002060"/>
                          </a:solidFill>
                          <a:effectLst/>
                          <a:latin typeface="Arial" panose="020B0604020202020204" pitchFamily="34" charset="0"/>
                          <a:cs typeface="Arial" panose="020B0604020202020204" pitchFamily="34" charset="0"/>
                        </a:rPr>
                        <a:t>repeat</a:t>
                      </a:r>
                      <a:endParaRPr lang="pt-BR" sz="1600" b="1" dirty="0">
                        <a:solidFill>
                          <a:srgbClr val="002060"/>
                        </a:solidFill>
                        <a:effectLst/>
                        <a:latin typeface="Arial" panose="020B0604020202020204" pitchFamily="34" charset="0"/>
                        <a:cs typeface="Arial" panose="020B0604020202020204" pitchFamily="34" charset="0"/>
                      </a:endParaRPr>
                    </a:p>
                  </a:txBody>
                  <a:tcPr marL="13246" marR="13246" marT="13246" marB="132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166261175"/>
                  </a:ext>
                </a:extLst>
              </a:tr>
            </a:tbl>
          </a:graphicData>
        </a:graphic>
      </p:graphicFrame>
      <p:sp>
        <p:nvSpPr>
          <p:cNvPr id="3" name="Retângulo 2"/>
          <p:cNvSpPr/>
          <p:nvPr/>
        </p:nvSpPr>
        <p:spPr>
          <a:xfrm>
            <a:off x="696685" y="205435"/>
            <a:ext cx="11495315" cy="369332"/>
          </a:xfrm>
          <a:prstGeom prst="rect">
            <a:avLst/>
          </a:prstGeom>
        </p:spPr>
        <p:txBody>
          <a:bodyPr wrap="square">
            <a:spAutoFit/>
          </a:bodyPr>
          <a:lstStyle/>
          <a:p>
            <a:r>
              <a:rPr lang="pt-BR" b="1" dirty="0">
                <a:solidFill>
                  <a:srgbClr val="002060"/>
                </a:solidFill>
                <a:latin typeface="Arial" panose="020B0604020202020204" pitchFamily="34" charset="0"/>
                <a:cs typeface="Arial" panose="020B0604020202020204" pitchFamily="34" charset="0"/>
              </a:rPr>
              <a:t>Background:</a:t>
            </a:r>
          </a:p>
        </p:txBody>
      </p:sp>
      <p:sp>
        <p:nvSpPr>
          <p:cNvPr id="5" name="Espaço Reservado para Número de Slide 4"/>
          <p:cNvSpPr>
            <a:spLocks noGrp="1"/>
          </p:cNvSpPr>
          <p:nvPr>
            <p:ph type="sldNum" sz="quarter" idx="12"/>
          </p:nvPr>
        </p:nvSpPr>
        <p:spPr/>
        <p:txBody>
          <a:bodyPr/>
          <a:lstStyle/>
          <a:p>
            <a:fld id="{8256F83C-9D86-480B-90E0-0702DBEB9457}" type="slidenum">
              <a:rPr lang="pt-BR" smtClean="0"/>
              <a:t>49</a:t>
            </a:fld>
            <a:endParaRPr lang="pt-BR"/>
          </a:p>
        </p:txBody>
      </p:sp>
    </p:spTree>
    <p:extLst>
      <p:ext uri="{BB962C8B-B14F-4D97-AF65-F5344CB8AC3E}">
        <p14:creationId xmlns:p14="http://schemas.microsoft.com/office/powerpoint/2010/main" val="9974943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ela 2"/>
          <p:cNvGraphicFramePr>
            <a:graphicFrameLocks noGrp="1"/>
          </p:cNvGraphicFramePr>
          <p:nvPr/>
        </p:nvGraphicFramePr>
        <p:xfrm>
          <a:off x="2181496" y="692757"/>
          <a:ext cx="9588137" cy="5446992"/>
        </p:xfrm>
        <a:graphic>
          <a:graphicData uri="http://schemas.openxmlformats.org/drawingml/2006/table">
            <a:tbl>
              <a:tblPr/>
              <a:tblGrid>
                <a:gridCol w="1972490">
                  <a:extLst>
                    <a:ext uri="{9D8B030D-6E8A-4147-A177-3AD203B41FA5}">
                      <a16:colId xmlns:a16="http://schemas.microsoft.com/office/drawing/2014/main" val="2772862138"/>
                    </a:ext>
                  </a:extLst>
                </a:gridCol>
                <a:gridCol w="4619354">
                  <a:extLst>
                    <a:ext uri="{9D8B030D-6E8A-4147-A177-3AD203B41FA5}">
                      <a16:colId xmlns:a16="http://schemas.microsoft.com/office/drawing/2014/main" val="1110705958"/>
                    </a:ext>
                  </a:extLst>
                </a:gridCol>
                <a:gridCol w="2996293">
                  <a:extLst>
                    <a:ext uri="{9D8B030D-6E8A-4147-A177-3AD203B41FA5}">
                      <a16:colId xmlns:a16="http://schemas.microsoft.com/office/drawing/2014/main" val="3055071461"/>
                    </a:ext>
                  </a:extLst>
                </a:gridCol>
              </a:tblGrid>
              <a:tr h="59819">
                <a:tc>
                  <a:txBody>
                    <a:bodyPr/>
                    <a:lstStyle/>
                    <a:p>
                      <a:pPr algn="ctr"/>
                      <a:r>
                        <a:rPr lang="pt-BR" sz="1600" b="1">
                          <a:solidFill>
                            <a:srgbClr val="002060"/>
                          </a:solidFill>
                          <a:effectLst/>
                          <a:latin typeface="Arial" panose="020B0604020202020204" pitchFamily="34" charset="0"/>
                          <a:cs typeface="Arial" panose="020B0604020202020204" pitchFamily="34" charset="0"/>
                        </a:rPr>
                        <a:t>Propriedade</a:t>
                      </a: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Descrição</a:t>
                      </a: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Valores</a:t>
                      </a: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645876171"/>
                  </a:ext>
                </a:extLst>
              </a:tr>
              <a:tr h="257840">
                <a:tc>
                  <a:txBody>
                    <a:bodyPr/>
                    <a:lstStyle/>
                    <a:p>
                      <a:pPr algn="ctr"/>
                      <a:r>
                        <a:rPr lang="pt-BR" sz="1600" b="1">
                          <a:solidFill>
                            <a:srgbClr val="002060"/>
                          </a:solidFill>
                          <a:effectLst/>
                          <a:latin typeface="Arial" panose="020B0604020202020204" pitchFamily="34" charset="0"/>
                          <a:cs typeface="Arial" panose="020B0604020202020204" pitchFamily="34" charset="0"/>
                        </a:rPr>
                        <a:t>border</a:t>
                      </a: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Uma propriedade estenográfica para especificar todas as propriedades para as quatro bordas em uma declaração</a:t>
                      </a: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i="1" dirty="0" err="1">
                          <a:solidFill>
                            <a:srgbClr val="002060"/>
                          </a:solidFill>
                          <a:effectLst/>
                          <a:latin typeface="Arial" panose="020B0604020202020204" pitchFamily="34" charset="0"/>
                          <a:cs typeface="Arial" panose="020B0604020202020204" pitchFamily="34" charset="0"/>
                        </a:rPr>
                        <a:t>border-width</a:t>
                      </a:r>
                      <a:br>
                        <a:rPr lang="pt-BR" sz="1600" b="1" i="1" dirty="0">
                          <a:solidFill>
                            <a:srgbClr val="002060"/>
                          </a:solidFill>
                          <a:effectLst/>
                          <a:latin typeface="Arial" panose="020B0604020202020204" pitchFamily="34" charset="0"/>
                          <a:cs typeface="Arial" panose="020B0604020202020204" pitchFamily="34" charset="0"/>
                        </a:rPr>
                      </a:br>
                      <a:r>
                        <a:rPr lang="pt-BR" sz="1600" b="1" i="1" dirty="0" err="1">
                          <a:solidFill>
                            <a:srgbClr val="002060"/>
                          </a:solidFill>
                          <a:effectLst/>
                          <a:latin typeface="Arial" panose="020B0604020202020204" pitchFamily="34" charset="0"/>
                          <a:cs typeface="Arial" panose="020B0604020202020204" pitchFamily="34" charset="0"/>
                        </a:rPr>
                        <a:t>border-style</a:t>
                      </a:r>
                      <a:br>
                        <a:rPr lang="pt-BR" sz="1600" b="1" i="1" dirty="0">
                          <a:solidFill>
                            <a:srgbClr val="002060"/>
                          </a:solidFill>
                          <a:effectLst/>
                          <a:latin typeface="Arial" panose="020B0604020202020204" pitchFamily="34" charset="0"/>
                          <a:cs typeface="Arial" panose="020B0604020202020204" pitchFamily="34" charset="0"/>
                        </a:rPr>
                      </a:br>
                      <a:r>
                        <a:rPr lang="pt-BR" sz="1600" b="1" i="1" dirty="0" err="1">
                          <a:solidFill>
                            <a:srgbClr val="002060"/>
                          </a:solidFill>
                          <a:effectLst/>
                          <a:latin typeface="Arial" panose="020B0604020202020204" pitchFamily="34" charset="0"/>
                          <a:cs typeface="Arial" panose="020B0604020202020204" pitchFamily="34" charset="0"/>
                        </a:rPr>
                        <a:t>border</a:t>
                      </a:r>
                      <a:r>
                        <a:rPr lang="pt-BR" sz="1600" b="1" i="1" dirty="0">
                          <a:solidFill>
                            <a:srgbClr val="002060"/>
                          </a:solidFill>
                          <a:effectLst/>
                          <a:latin typeface="Arial" panose="020B0604020202020204" pitchFamily="34" charset="0"/>
                          <a:cs typeface="Arial" panose="020B0604020202020204" pitchFamily="34" charset="0"/>
                        </a:rPr>
                        <a:t>-color</a:t>
                      </a:r>
                      <a:endParaRPr lang="pt-BR" sz="1600" b="1" dirty="0">
                        <a:solidFill>
                          <a:srgbClr val="002060"/>
                        </a:solidFill>
                        <a:effectLst/>
                        <a:latin typeface="Arial" panose="020B0604020202020204" pitchFamily="34" charset="0"/>
                        <a:cs typeface="Arial" panose="020B0604020202020204" pitchFamily="34" charset="0"/>
                      </a:endParaRP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554259644"/>
                  </a:ext>
                </a:extLst>
              </a:tr>
              <a:tr h="158829">
                <a:tc>
                  <a:txBody>
                    <a:bodyPr/>
                    <a:lstStyle/>
                    <a:p>
                      <a:pPr algn="ctr"/>
                      <a:r>
                        <a:rPr lang="pt-BR" sz="1600" b="1" dirty="0" err="1">
                          <a:solidFill>
                            <a:srgbClr val="002060"/>
                          </a:solidFill>
                          <a:effectLst/>
                          <a:latin typeface="Arial" panose="020B0604020202020204" pitchFamily="34" charset="0"/>
                          <a:cs typeface="Arial" panose="020B0604020202020204" pitchFamily="34" charset="0"/>
                        </a:rPr>
                        <a:t>border</a:t>
                      </a:r>
                      <a:r>
                        <a:rPr lang="pt-BR" sz="1600" b="1" dirty="0">
                          <a:solidFill>
                            <a:srgbClr val="002060"/>
                          </a:solidFill>
                          <a:effectLst/>
                          <a:latin typeface="Arial" panose="020B0604020202020204" pitchFamily="34" charset="0"/>
                          <a:cs typeface="Arial" panose="020B0604020202020204" pitchFamily="34" charset="0"/>
                        </a:rPr>
                        <a:t>-color</a:t>
                      </a: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Especifica a cor das quatro bordas, pode ter de uma até quatro cores</a:t>
                      </a: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i="1">
                          <a:solidFill>
                            <a:srgbClr val="002060"/>
                          </a:solidFill>
                          <a:effectLst/>
                          <a:latin typeface="Arial" panose="020B0604020202020204" pitchFamily="34" charset="0"/>
                          <a:cs typeface="Arial" panose="020B0604020202020204" pitchFamily="34" charset="0"/>
                        </a:rPr>
                        <a:t>color</a:t>
                      </a:r>
                      <a:endParaRPr lang="pt-BR" sz="1600" b="1">
                        <a:solidFill>
                          <a:srgbClr val="002060"/>
                        </a:solidFill>
                        <a:effectLst/>
                        <a:latin typeface="Arial" panose="020B0604020202020204" pitchFamily="34" charset="0"/>
                        <a:cs typeface="Arial" panose="020B0604020202020204" pitchFamily="34" charset="0"/>
                      </a:endParaRP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4086432963"/>
                  </a:ext>
                </a:extLst>
              </a:tr>
              <a:tr h="307345">
                <a:tc>
                  <a:txBody>
                    <a:bodyPr/>
                    <a:lstStyle/>
                    <a:p>
                      <a:pPr algn="ctr"/>
                      <a:r>
                        <a:rPr lang="pt-BR" sz="1600" b="1" dirty="0" err="1">
                          <a:solidFill>
                            <a:srgbClr val="002060"/>
                          </a:solidFill>
                          <a:effectLst/>
                          <a:latin typeface="Arial" panose="020B0604020202020204" pitchFamily="34" charset="0"/>
                          <a:cs typeface="Arial" panose="020B0604020202020204" pitchFamily="34" charset="0"/>
                        </a:rPr>
                        <a:t>border-left</a:t>
                      </a:r>
                      <a:endParaRPr lang="pt-BR" sz="1600" b="1" dirty="0">
                        <a:solidFill>
                          <a:srgbClr val="002060"/>
                        </a:solidFill>
                        <a:effectLst/>
                        <a:latin typeface="Arial" panose="020B0604020202020204" pitchFamily="34" charset="0"/>
                        <a:cs typeface="Arial" panose="020B0604020202020204" pitchFamily="34" charset="0"/>
                      </a:endParaRP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Uma propriedade estenográfica para especificar todas as propriedades para a borda esquerda em uma declaração</a:t>
                      </a: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i="1">
                          <a:solidFill>
                            <a:srgbClr val="002060"/>
                          </a:solidFill>
                          <a:effectLst/>
                          <a:latin typeface="Arial" panose="020B0604020202020204" pitchFamily="34" charset="0"/>
                          <a:cs typeface="Arial" panose="020B0604020202020204" pitchFamily="34" charset="0"/>
                        </a:rPr>
                        <a:t>border-left-width</a:t>
                      </a:r>
                      <a:br>
                        <a:rPr lang="pt-BR" sz="1600" b="1" i="1">
                          <a:solidFill>
                            <a:srgbClr val="002060"/>
                          </a:solidFill>
                          <a:effectLst/>
                          <a:latin typeface="Arial" panose="020B0604020202020204" pitchFamily="34" charset="0"/>
                          <a:cs typeface="Arial" panose="020B0604020202020204" pitchFamily="34" charset="0"/>
                        </a:rPr>
                      </a:br>
                      <a:r>
                        <a:rPr lang="pt-BR" sz="1600" b="1" i="1">
                          <a:solidFill>
                            <a:srgbClr val="002060"/>
                          </a:solidFill>
                          <a:effectLst/>
                          <a:latin typeface="Arial" panose="020B0604020202020204" pitchFamily="34" charset="0"/>
                          <a:cs typeface="Arial" panose="020B0604020202020204" pitchFamily="34" charset="0"/>
                        </a:rPr>
                        <a:t>border-style</a:t>
                      </a:r>
                      <a:br>
                        <a:rPr lang="pt-BR" sz="1600" b="1" i="1">
                          <a:solidFill>
                            <a:srgbClr val="002060"/>
                          </a:solidFill>
                          <a:effectLst/>
                          <a:latin typeface="Arial" panose="020B0604020202020204" pitchFamily="34" charset="0"/>
                          <a:cs typeface="Arial" panose="020B0604020202020204" pitchFamily="34" charset="0"/>
                        </a:rPr>
                      </a:br>
                      <a:r>
                        <a:rPr lang="pt-BR" sz="1600" b="1" i="1">
                          <a:solidFill>
                            <a:srgbClr val="002060"/>
                          </a:solidFill>
                          <a:effectLst/>
                          <a:latin typeface="Arial" panose="020B0604020202020204" pitchFamily="34" charset="0"/>
                          <a:cs typeface="Arial" panose="020B0604020202020204" pitchFamily="34" charset="0"/>
                        </a:rPr>
                        <a:t>border-color</a:t>
                      </a:r>
                      <a:endParaRPr lang="pt-BR" sz="1600" b="1">
                        <a:solidFill>
                          <a:srgbClr val="002060"/>
                        </a:solidFill>
                        <a:effectLst/>
                        <a:latin typeface="Arial" panose="020B0604020202020204" pitchFamily="34" charset="0"/>
                        <a:cs typeface="Arial" panose="020B0604020202020204" pitchFamily="34" charset="0"/>
                      </a:endParaRP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943310872"/>
                  </a:ext>
                </a:extLst>
              </a:tr>
              <a:tr h="257840">
                <a:tc>
                  <a:txBody>
                    <a:bodyPr/>
                    <a:lstStyle/>
                    <a:p>
                      <a:pPr algn="ctr"/>
                      <a:r>
                        <a:rPr lang="pt-BR" sz="1600" b="1" dirty="0" err="1">
                          <a:solidFill>
                            <a:srgbClr val="002060"/>
                          </a:solidFill>
                          <a:effectLst/>
                          <a:latin typeface="Arial" panose="020B0604020202020204" pitchFamily="34" charset="0"/>
                          <a:cs typeface="Arial" panose="020B0604020202020204" pitchFamily="34" charset="0"/>
                        </a:rPr>
                        <a:t>border-right</a:t>
                      </a:r>
                      <a:endParaRPr lang="pt-BR" sz="1600" b="1" dirty="0">
                        <a:solidFill>
                          <a:srgbClr val="002060"/>
                        </a:solidFill>
                        <a:effectLst/>
                        <a:latin typeface="Arial" panose="020B0604020202020204" pitchFamily="34" charset="0"/>
                        <a:cs typeface="Arial" panose="020B0604020202020204" pitchFamily="34" charset="0"/>
                      </a:endParaRP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cs typeface="Arial" panose="020B0604020202020204" pitchFamily="34" charset="0"/>
                        </a:rPr>
                        <a:t>Uma propriedade estenográfica para especificar todas as propriedades para a borda direita em uma declaração</a:t>
                      </a: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i="1" dirty="0" err="1">
                          <a:solidFill>
                            <a:srgbClr val="002060"/>
                          </a:solidFill>
                          <a:effectLst/>
                          <a:latin typeface="Arial" panose="020B0604020202020204" pitchFamily="34" charset="0"/>
                          <a:cs typeface="Arial" panose="020B0604020202020204" pitchFamily="34" charset="0"/>
                        </a:rPr>
                        <a:t>border-right-width</a:t>
                      </a:r>
                      <a:br>
                        <a:rPr lang="pt-BR" sz="1600" b="1" i="1" dirty="0">
                          <a:solidFill>
                            <a:srgbClr val="002060"/>
                          </a:solidFill>
                          <a:effectLst/>
                          <a:latin typeface="Arial" panose="020B0604020202020204" pitchFamily="34" charset="0"/>
                          <a:cs typeface="Arial" panose="020B0604020202020204" pitchFamily="34" charset="0"/>
                        </a:rPr>
                      </a:br>
                      <a:r>
                        <a:rPr lang="pt-BR" sz="1600" b="1" i="1" dirty="0" err="1">
                          <a:solidFill>
                            <a:srgbClr val="002060"/>
                          </a:solidFill>
                          <a:effectLst/>
                          <a:latin typeface="Arial" panose="020B0604020202020204" pitchFamily="34" charset="0"/>
                          <a:cs typeface="Arial" panose="020B0604020202020204" pitchFamily="34" charset="0"/>
                        </a:rPr>
                        <a:t>border-style</a:t>
                      </a:r>
                      <a:br>
                        <a:rPr lang="pt-BR" sz="1600" b="1" i="1" dirty="0">
                          <a:solidFill>
                            <a:srgbClr val="002060"/>
                          </a:solidFill>
                          <a:effectLst/>
                          <a:latin typeface="Arial" panose="020B0604020202020204" pitchFamily="34" charset="0"/>
                          <a:cs typeface="Arial" panose="020B0604020202020204" pitchFamily="34" charset="0"/>
                        </a:rPr>
                      </a:br>
                      <a:r>
                        <a:rPr lang="pt-BR" sz="1600" b="1" i="1" dirty="0" err="1">
                          <a:solidFill>
                            <a:srgbClr val="002060"/>
                          </a:solidFill>
                          <a:effectLst/>
                          <a:latin typeface="Arial" panose="020B0604020202020204" pitchFamily="34" charset="0"/>
                          <a:cs typeface="Arial" panose="020B0604020202020204" pitchFamily="34" charset="0"/>
                        </a:rPr>
                        <a:t>border</a:t>
                      </a:r>
                      <a:r>
                        <a:rPr lang="pt-BR" sz="1600" b="1" i="1" dirty="0">
                          <a:solidFill>
                            <a:srgbClr val="002060"/>
                          </a:solidFill>
                          <a:effectLst/>
                          <a:latin typeface="Arial" panose="020B0604020202020204" pitchFamily="34" charset="0"/>
                          <a:cs typeface="Arial" panose="020B0604020202020204" pitchFamily="34" charset="0"/>
                        </a:rPr>
                        <a:t>-color</a:t>
                      </a:r>
                      <a:endParaRPr lang="pt-BR" sz="1600" b="1" dirty="0">
                        <a:solidFill>
                          <a:srgbClr val="002060"/>
                        </a:solidFill>
                        <a:effectLst/>
                        <a:latin typeface="Arial" panose="020B0604020202020204" pitchFamily="34" charset="0"/>
                        <a:cs typeface="Arial" panose="020B0604020202020204" pitchFamily="34" charset="0"/>
                      </a:endParaRP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714261501"/>
                  </a:ext>
                </a:extLst>
              </a:tr>
              <a:tr h="505366">
                <a:tc>
                  <a:txBody>
                    <a:bodyPr/>
                    <a:lstStyle/>
                    <a:p>
                      <a:pPr algn="ctr"/>
                      <a:r>
                        <a:rPr lang="pt-BR" sz="1600" b="1" dirty="0" err="1">
                          <a:solidFill>
                            <a:srgbClr val="002060"/>
                          </a:solidFill>
                          <a:effectLst/>
                          <a:latin typeface="Arial" panose="020B0604020202020204" pitchFamily="34" charset="0"/>
                          <a:cs typeface="Arial" panose="020B0604020202020204" pitchFamily="34" charset="0"/>
                        </a:rPr>
                        <a:t>border-style</a:t>
                      </a:r>
                      <a:endParaRPr lang="pt-BR" sz="1600" b="1" dirty="0">
                        <a:solidFill>
                          <a:srgbClr val="002060"/>
                        </a:solidFill>
                        <a:effectLst/>
                        <a:latin typeface="Arial" panose="020B0604020202020204" pitchFamily="34" charset="0"/>
                        <a:cs typeface="Arial" panose="020B0604020202020204" pitchFamily="34" charset="0"/>
                      </a:endParaRP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Especifica o estilo das quatro bordas, pode ter de um até quatro estilos</a:t>
                      </a: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en-US" sz="1600" b="1" dirty="0">
                          <a:solidFill>
                            <a:srgbClr val="002060"/>
                          </a:solidFill>
                          <a:effectLst/>
                          <a:latin typeface="Arial" panose="020B0604020202020204" pitchFamily="34" charset="0"/>
                          <a:cs typeface="Arial" panose="020B0604020202020204" pitchFamily="34" charset="0"/>
                        </a:rPr>
                        <a:t>none / hidden / dotted / dashed / solid / double / groove / ridge / inset / outset</a:t>
                      </a: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317231891"/>
                  </a:ext>
                </a:extLst>
              </a:tr>
              <a:tr h="307345">
                <a:tc>
                  <a:txBody>
                    <a:bodyPr/>
                    <a:lstStyle/>
                    <a:p>
                      <a:pPr algn="ctr"/>
                      <a:r>
                        <a:rPr lang="pt-BR" sz="1600" b="1">
                          <a:solidFill>
                            <a:srgbClr val="002060"/>
                          </a:solidFill>
                          <a:effectLst/>
                          <a:latin typeface="Arial" panose="020B0604020202020204" pitchFamily="34" charset="0"/>
                          <a:cs typeface="Arial" panose="020B0604020202020204" pitchFamily="34" charset="0"/>
                        </a:rPr>
                        <a:t>border-top</a:t>
                      </a: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Uma propriedade estenográfica para especificar todas as propriedades da borda superior em uma declaração</a:t>
                      </a: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i="1" dirty="0" err="1">
                          <a:solidFill>
                            <a:srgbClr val="002060"/>
                          </a:solidFill>
                          <a:effectLst/>
                          <a:latin typeface="Arial" panose="020B0604020202020204" pitchFamily="34" charset="0"/>
                          <a:cs typeface="Arial" panose="020B0604020202020204" pitchFamily="34" charset="0"/>
                        </a:rPr>
                        <a:t>border</a:t>
                      </a:r>
                      <a:r>
                        <a:rPr lang="pt-BR" sz="1600" b="1" i="1" dirty="0">
                          <a:solidFill>
                            <a:srgbClr val="002060"/>
                          </a:solidFill>
                          <a:effectLst/>
                          <a:latin typeface="Arial" panose="020B0604020202020204" pitchFamily="34" charset="0"/>
                          <a:cs typeface="Arial" panose="020B0604020202020204" pitchFamily="34" charset="0"/>
                        </a:rPr>
                        <a:t>-top-</a:t>
                      </a:r>
                      <a:r>
                        <a:rPr lang="pt-BR" sz="1600" b="1" i="1" dirty="0" err="1">
                          <a:solidFill>
                            <a:srgbClr val="002060"/>
                          </a:solidFill>
                          <a:effectLst/>
                          <a:latin typeface="Arial" panose="020B0604020202020204" pitchFamily="34" charset="0"/>
                          <a:cs typeface="Arial" panose="020B0604020202020204" pitchFamily="34" charset="0"/>
                        </a:rPr>
                        <a:t>width</a:t>
                      </a:r>
                      <a:br>
                        <a:rPr lang="pt-BR" sz="1600" b="1" i="1" dirty="0">
                          <a:solidFill>
                            <a:srgbClr val="002060"/>
                          </a:solidFill>
                          <a:effectLst/>
                          <a:latin typeface="Arial" panose="020B0604020202020204" pitchFamily="34" charset="0"/>
                          <a:cs typeface="Arial" panose="020B0604020202020204" pitchFamily="34" charset="0"/>
                        </a:rPr>
                      </a:br>
                      <a:r>
                        <a:rPr lang="pt-BR" sz="1600" b="1" i="1" dirty="0" err="1">
                          <a:solidFill>
                            <a:srgbClr val="002060"/>
                          </a:solidFill>
                          <a:effectLst/>
                          <a:latin typeface="Arial" panose="020B0604020202020204" pitchFamily="34" charset="0"/>
                          <a:cs typeface="Arial" panose="020B0604020202020204" pitchFamily="34" charset="0"/>
                        </a:rPr>
                        <a:t>border-style</a:t>
                      </a:r>
                      <a:br>
                        <a:rPr lang="pt-BR" sz="1600" b="1" i="1" dirty="0">
                          <a:solidFill>
                            <a:srgbClr val="002060"/>
                          </a:solidFill>
                          <a:effectLst/>
                          <a:latin typeface="Arial" panose="020B0604020202020204" pitchFamily="34" charset="0"/>
                          <a:cs typeface="Arial" panose="020B0604020202020204" pitchFamily="34" charset="0"/>
                        </a:rPr>
                      </a:br>
                      <a:r>
                        <a:rPr lang="pt-BR" sz="1600" b="1" i="1" dirty="0" err="1">
                          <a:solidFill>
                            <a:srgbClr val="002060"/>
                          </a:solidFill>
                          <a:effectLst/>
                          <a:latin typeface="Arial" panose="020B0604020202020204" pitchFamily="34" charset="0"/>
                          <a:cs typeface="Arial" panose="020B0604020202020204" pitchFamily="34" charset="0"/>
                        </a:rPr>
                        <a:t>border</a:t>
                      </a:r>
                      <a:r>
                        <a:rPr lang="pt-BR" sz="1600" b="1" i="1" dirty="0">
                          <a:solidFill>
                            <a:srgbClr val="002060"/>
                          </a:solidFill>
                          <a:effectLst/>
                          <a:latin typeface="Arial" panose="020B0604020202020204" pitchFamily="34" charset="0"/>
                          <a:cs typeface="Arial" panose="020B0604020202020204" pitchFamily="34" charset="0"/>
                        </a:rPr>
                        <a:t>-color</a:t>
                      </a:r>
                      <a:endParaRPr lang="pt-BR" sz="1600" b="1" dirty="0">
                        <a:solidFill>
                          <a:srgbClr val="002060"/>
                        </a:solidFill>
                        <a:effectLst/>
                        <a:latin typeface="Arial" panose="020B0604020202020204" pitchFamily="34" charset="0"/>
                        <a:cs typeface="Arial" panose="020B0604020202020204" pitchFamily="34" charset="0"/>
                      </a:endParaRP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457593506"/>
                  </a:ext>
                </a:extLst>
              </a:tr>
              <a:tr h="307345">
                <a:tc>
                  <a:txBody>
                    <a:bodyPr/>
                    <a:lstStyle/>
                    <a:p>
                      <a:pPr algn="ctr"/>
                      <a:r>
                        <a:rPr lang="pt-BR" sz="1600" b="1" dirty="0" err="1">
                          <a:solidFill>
                            <a:srgbClr val="002060"/>
                          </a:solidFill>
                          <a:effectLst/>
                          <a:latin typeface="Arial" panose="020B0604020202020204" pitchFamily="34" charset="0"/>
                          <a:cs typeface="Arial" panose="020B0604020202020204" pitchFamily="34" charset="0"/>
                        </a:rPr>
                        <a:t>border-width</a:t>
                      </a:r>
                      <a:endParaRPr lang="pt-BR" sz="1600" b="1" dirty="0">
                        <a:solidFill>
                          <a:srgbClr val="002060"/>
                        </a:solidFill>
                        <a:effectLst/>
                        <a:latin typeface="Arial" panose="020B0604020202020204" pitchFamily="34" charset="0"/>
                        <a:cs typeface="Arial" panose="020B0604020202020204" pitchFamily="34" charset="0"/>
                      </a:endParaRP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Uma propriedade estenográfica para especificar a largura de todas as bordas em uma declaração, pode ter de um até quatro valores</a:t>
                      </a: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err="1">
                          <a:solidFill>
                            <a:srgbClr val="002060"/>
                          </a:solidFill>
                          <a:effectLst/>
                          <a:latin typeface="Arial" panose="020B0604020202020204" pitchFamily="34" charset="0"/>
                          <a:cs typeface="Arial" panose="020B0604020202020204" pitchFamily="34" charset="0"/>
                        </a:rPr>
                        <a:t>thin</a:t>
                      </a:r>
                      <a:r>
                        <a:rPr lang="en-US" sz="1600" b="1" dirty="0">
                          <a:solidFill>
                            <a:srgbClr val="002060"/>
                          </a:solidFill>
                          <a:effectLst/>
                          <a:latin typeface="Arial" panose="020B0604020202020204" pitchFamily="34" charset="0"/>
                          <a:cs typeface="Arial" panose="020B0604020202020204" pitchFamily="34" charset="0"/>
                        </a:rPr>
                        <a:t> / </a:t>
                      </a:r>
                      <a:r>
                        <a:rPr lang="pt-BR" sz="1600" b="1" dirty="0" err="1">
                          <a:solidFill>
                            <a:srgbClr val="002060"/>
                          </a:solidFill>
                          <a:effectLst/>
                          <a:latin typeface="Arial" panose="020B0604020202020204" pitchFamily="34" charset="0"/>
                          <a:cs typeface="Arial" panose="020B0604020202020204" pitchFamily="34" charset="0"/>
                        </a:rPr>
                        <a:t>medium</a:t>
                      </a:r>
                      <a:r>
                        <a:rPr lang="en-US" sz="1600" b="1" dirty="0">
                          <a:solidFill>
                            <a:srgbClr val="002060"/>
                          </a:solidFill>
                          <a:effectLst/>
                          <a:latin typeface="Arial" panose="020B0604020202020204" pitchFamily="34" charset="0"/>
                          <a:cs typeface="Arial" panose="020B0604020202020204" pitchFamily="34" charset="0"/>
                        </a:rPr>
                        <a:t> / </a:t>
                      </a:r>
                      <a:r>
                        <a:rPr lang="pt-BR" sz="1600" b="1" dirty="0" err="1">
                          <a:solidFill>
                            <a:srgbClr val="002060"/>
                          </a:solidFill>
                          <a:effectLst/>
                          <a:latin typeface="Arial" panose="020B0604020202020204" pitchFamily="34" charset="0"/>
                          <a:cs typeface="Arial" panose="020B0604020202020204" pitchFamily="34" charset="0"/>
                        </a:rPr>
                        <a:t>thick</a:t>
                      </a:r>
                      <a:r>
                        <a:rPr lang="en-US" sz="1600" b="1" dirty="0">
                          <a:solidFill>
                            <a:srgbClr val="002060"/>
                          </a:solidFill>
                          <a:effectLst/>
                          <a:latin typeface="Arial" panose="020B0604020202020204" pitchFamily="34" charset="0"/>
                          <a:cs typeface="Arial" panose="020B0604020202020204" pitchFamily="34" charset="0"/>
                        </a:rPr>
                        <a:t> / </a:t>
                      </a:r>
                      <a:r>
                        <a:rPr lang="pt-BR" sz="1600" b="1" i="1" dirty="0" err="1">
                          <a:solidFill>
                            <a:srgbClr val="002060"/>
                          </a:solidFill>
                          <a:effectLst/>
                          <a:latin typeface="Arial" panose="020B0604020202020204" pitchFamily="34" charset="0"/>
                          <a:cs typeface="Arial" panose="020B0604020202020204" pitchFamily="34" charset="0"/>
                        </a:rPr>
                        <a:t>length</a:t>
                      </a:r>
                      <a:endParaRPr lang="pt-BR" sz="1600" b="1" dirty="0">
                        <a:solidFill>
                          <a:srgbClr val="002060"/>
                        </a:solidFill>
                        <a:effectLst/>
                        <a:latin typeface="Arial" panose="020B0604020202020204" pitchFamily="34" charset="0"/>
                        <a:cs typeface="Arial" panose="020B0604020202020204" pitchFamily="34" charset="0"/>
                      </a:endParaRPr>
                    </a:p>
                  </a:txBody>
                  <a:tcPr marL="5157" marR="5157" marT="5157" marB="51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049820750"/>
                  </a:ext>
                </a:extLst>
              </a:tr>
            </a:tbl>
          </a:graphicData>
        </a:graphic>
      </p:graphicFrame>
      <p:sp>
        <p:nvSpPr>
          <p:cNvPr id="4" name="Retângulo 3"/>
          <p:cNvSpPr/>
          <p:nvPr/>
        </p:nvSpPr>
        <p:spPr>
          <a:xfrm>
            <a:off x="696685" y="121054"/>
            <a:ext cx="11495315" cy="369332"/>
          </a:xfrm>
          <a:prstGeom prst="rect">
            <a:avLst/>
          </a:prstGeom>
        </p:spPr>
        <p:txBody>
          <a:bodyPr wrap="square">
            <a:spAutoFit/>
          </a:bodyPr>
          <a:lstStyle/>
          <a:p>
            <a:r>
              <a:rPr lang="pt-BR" b="1" dirty="0">
                <a:solidFill>
                  <a:srgbClr val="002060"/>
                </a:solidFill>
                <a:latin typeface="Arial" panose="020B0604020202020204" pitchFamily="34" charset="0"/>
                <a:cs typeface="Arial" panose="020B0604020202020204" pitchFamily="34" charset="0"/>
              </a:rPr>
              <a:t>Bordas:</a:t>
            </a:r>
          </a:p>
        </p:txBody>
      </p:sp>
      <p:sp>
        <p:nvSpPr>
          <p:cNvPr id="2" name="Espaço Reservado para Número de Slide 1"/>
          <p:cNvSpPr>
            <a:spLocks noGrp="1"/>
          </p:cNvSpPr>
          <p:nvPr>
            <p:ph type="sldNum" sz="quarter" idx="12"/>
          </p:nvPr>
        </p:nvSpPr>
        <p:spPr/>
        <p:txBody>
          <a:bodyPr/>
          <a:lstStyle/>
          <a:p>
            <a:fld id="{8256F83C-9D86-480B-90E0-0702DBEB9457}" type="slidenum">
              <a:rPr lang="pt-BR" smtClean="0"/>
              <a:t>50</a:t>
            </a:fld>
            <a:endParaRPr lang="pt-BR"/>
          </a:p>
        </p:txBody>
      </p:sp>
    </p:spTree>
    <p:extLst>
      <p:ext uri="{BB962C8B-B14F-4D97-AF65-F5344CB8AC3E}">
        <p14:creationId xmlns:p14="http://schemas.microsoft.com/office/powerpoint/2010/main" val="1535374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a 1"/>
          <p:cNvGraphicFramePr>
            <a:graphicFrameLocks noGrp="1"/>
          </p:cNvGraphicFramePr>
          <p:nvPr/>
        </p:nvGraphicFramePr>
        <p:xfrm>
          <a:off x="1959432" y="3581434"/>
          <a:ext cx="8330427" cy="3052077"/>
        </p:xfrm>
        <a:graphic>
          <a:graphicData uri="http://schemas.openxmlformats.org/drawingml/2006/table">
            <a:tbl>
              <a:tblPr/>
              <a:tblGrid>
                <a:gridCol w="1763485">
                  <a:extLst>
                    <a:ext uri="{9D8B030D-6E8A-4147-A177-3AD203B41FA5}">
                      <a16:colId xmlns:a16="http://schemas.microsoft.com/office/drawing/2014/main" val="4119588537"/>
                    </a:ext>
                  </a:extLst>
                </a:gridCol>
                <a:gridCol w="4794069">
                  <a:extLst>
                    <a:ext uri="{9D8B030D-6E8A-4147-A177-3AD203B41FA5}">
                      <a16:colId xmlns:a16="http://schemas.microsoft.com/office/drawing/2014/main" val="3586899864"/>
                    </a:ext>
                  </a:extLst>
                </a:gridCol>
                <a:gridCol w="1772873">
                  <a:extLst>
                    <a:ext uri="{9D8B030D-6E8A-4147-A177-3AD203B41FA5}">
                      <a16:colId xmlns:a16="http://schemas.microsoft.com/office/drawing/2014/main" val="1598255817"/>
                    </a:ext>
                  </a:extLst>
                </a:gridCol>
              </a:tblGrid>
              <a:tr h="298140">
                <a:tc>
                  <a:txBody>
                    <a:bodyPr/>
                    <a:lstStyle/>
                    <a:p>
                      <a:pPr algn="ctr"/>
                      <a:r>
                        <a:rPr lang="pt-BR" sz="1600" b="1" dirty="0">
                          <a:solidFill>
                            <a:srgbClr val="002060"/>
                          </a:solidFill>
                          <a:effectLst/>
                          <a:latin typeface="Arial" panose="020B0604020202020204" pitchFamily="34" charset="0"/>
                          <a:cs typeface="Arial" panose="020B0604020202020204" pitchFamily="34" charset="0"/>
                        </a:rPr>
                        <a:t>Propriedade</a:t>
                      </a:r>
                    </a:p>
                  </a:txBody>
                  <a:tcPr marL="68792" marR="68792" marT="34396" marB="343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Descrição</a:t>
                      </a:r>
                    </a:p>
                  </a:txBody>
                  <a:tcPr marL="68792" marR="68792" marT="34396" marB="343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Valores</a:t>
                      </a:r>
                    </a:p>
                  </a:txBody>
                  <a:tcPr marL="68792" marR="68792" marT="34396" marB="343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986738577"/>
                  </a:ext>
                </a:extLst>
              </a:tr>
              <a:tr h="995750">
                <a:tc>
                  <a:txBody>
                    <a:bodyPr/>
                    <a:lstStyle/>
                    <a:p>
                      <a:pPr algn="ctr"/>
                      <a:r>
                        <a:rPr lang="pt-BR" sz="1600" b="1">
                          <a:solidFill>
                            <a:srgbClr val="002060"/>
                          </a:solidFill>
                          <a:effectLst/>
                          <a:latin typeface="Arial" panose="020B0604020202020204" pitchFamily="34" charset="0"/>
                          <a:cs typeface="Arial" panose="020B0604020202020204" pitchFamily="34" charset="0"/>
                        </a:rPr>
                        <a:t>margin</a:t>
                      </a:r>
                    </a:p>
                  </a:txBody>
                  <a:tcPr marL="68792" marR="68792" marT="34396" marB="343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cs typeface="Arial" panose="020B0604020202020204" pitchFamily="34" charset="0"/>
                        </a:rPr>
                        <a:t>Uma propriedade estenográfica para especificar as propriedades das margens em uma declaração</a:t>
                      </a:r>
                    </a:p>
                  </a:txBody>
                  <a:tcPr marL="68792" marR="68792" marT="34396" marB="343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i="1" dirty="0" err="1">
                          <a:solidFill>
                            <a:srgbClr val="002060"/>
                          </a:solidFill>
                          <a:effectLst/>
                          <a:latin typeface="Arial" panose="020B0604020202020204" pitchFamily="34" charset="0"/>
                          <a:cs typeface="Arial" panose="020B0604020202020204" pitchFamily="34" charset="0"/>
                        </a:rPr>
                        <a:t>margin</a:t>
                      </a:r>
                      <a:r>
                        <a:rPr lang="pt-BR" sz="1600" b="1" i="1" dirty="0">
                          <a:solidFill>
                            <a:srgbClr val="002060"/>
                          </a:solidFill>
                          <a:effectLst/>
                          <a:latin typeface="Arial" panose="020B0604020202020204" pitchFamily="34" charset="0"/>
                          <a:cs typeface="Arial" panose="020B0604020202020204" pitchFamily="34" charset="0"/>
                        </a:rPr>
                        <a:t>-top</a:t>
                      </a:r>
                      <a:br>
                        <a:rPr lang="pt-BR" sz="1600" b="1" i="1" dirty="0">
                          <a:solidFill>
                            <a:srgbClr val="002060"/>
                          </a:solidFill>
                          <a:effectLst/>
                          <a:latin typeface="Arial" panose="020B0604020202020204" pitchFamily="34" charset="0"/>
                          <a:cs typeface="Arial" panose="020B0604020202020204" pitchFamily="34" charset="0"/>
                        </a:rPr>
                      </a:br>
                      <a:r>
                        <a:rPr lang="pt-BR" sz="1600" b="1" i="1" dirty="0" err="1">
                          <a:solidFill>
                            <a:srgbClr val="002060"/>
                          </a:solidFill>
                          <a:effectLst/>
                          <a:latin typeface="Arial" panose="020B0604020202020204" pitchFamily="34" charset="0"/>
                          <a:cs typeface="Arial" panose="020B0604020202020204" pitchFamily="34" charset="0"/>
                        </a:rPr>
                        <a:t>margin-right</a:t>
                      </a:r>
                      <a:br>
                        <a:rPr lang="pt-BR" sz="1600" b="1" i="1" dirty="0">
                          <a:solidFill>
                            <a:srgbClr val="002060"/>
                          </a:solidFill>
                          <a:effectLst/>
                          <a:latin typeface="Arial" panose="020B0604020202020204" pitchFamily="34" charset="0"/>
                          <a:cs typeface="Arial" panose="020B0604020202020204" pitchFamily="34" charset="0"/>
                        </a:rPr>
                      </a:br>
                      <a:r>
                        <a:rPr lang="pt-BR" sz="1600" b="1" i="1" dirty="0" err="1">
                          <a:solidFill>
                            <a:srgbClr val="002060"/>
                          </a:solidFill>
                          <a:effectLst/>
                          <a:latin typeface="Arial" panose="020B0604020202020204" pitchFamily="34" charset="0"/>
                          <a:cs typeface="Arial" panose="020B0604020202020204" pitchFamily="34" charset="0"/>
                        </a:rPr>
                        <a:t>margin-bottom</a:t>
                      </a:r>
                      <a:br>
                        <a:rPr lang="pt-BR" sz="1600" b="1" i="1" dirty="0">
                          <a:solidFill>
                            <a:srgbClr val="002060"/>
                          </a:solidFill>
                          <a:effectLst/>
                          <a:latin typeface="Arial" panose="020B0604020202020204" pitchFamily="34" charset="0"/>
                          <a:cs typeface="Arial" panose="020B0604020202020204" pitchFamily="34" charset="0"/>
                        </a:rPr>
                      </a:br>
                      <a:r>
                        <a:rPr lang="pt-BR" sz="1600" b="1" i="1" dirty="0" err="1">
                          <a:solidFill>
                            <a:srgbClr val="002060"/>
                          </a:solidFill>
                          <a:effectLst/>
                          <a:latin typeface="Arial" panose="020B0604020202020204" pitchFamily="34" charset="0"/>
                          <a:cs typeface="Arial" panose="020B0604020202020204" pitchFamily="34" charset="0"/>
                        </a:rPr>
                        <a:t>margin-left</a:t>
                      </a:r>
                      <a:endParaRPr lang="pt-BR" sz="1600" b="1" dirty="0">
                        <a:solidFill>
                          <a:srgbClr val="002060"/>
                        </a:solidFill>
                        <a:effectLst/>
                        <a:latin typeface="Arial" panose="020B0604020202020204" pitchFamily="34" charset="0"/>
                        <a:cs typeface="Arial" panose="020B0604020202020204" pitchFamily="34" charset="0"/>
                      </a:endParaRPr>
                    </a:p>
                  </a:txBody>
                  <a:tcPr marL="68792" marR="68792" marT="34396" marB="343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234627696"/>
                  </a:ext>
                </a:extLst>
              </a:tr>
              <a:tr h="363824">
                <a:tc>
                  <a:txBody>
                    <a:bodyPr/>
                    <a:lstStyle/>
                    <a:p>
                      <a:pPr algn="ctr"/>
                      <a:r>
                        <a:rPr lang="pt-BR" sz="1600" b="1">
                          <a:solidFill>
                            <a:srgbClr val="002060"/>
                          </a:solidFill>
                          <a:effectLst/>
                          <a:latin typeface="Arial" panose="020B0604020202020204" pitchFamily="34" charset="0"/>
                          <a:cs typeface="Arial" panose="020B0604020202020204" pitchFamily="34" charset="0"/>
                        </a:rPr>
                        <a:t>margin-bottom</a:t>
                      </a:r>
                    </a:p>
                  </a:txBody>
                  <a:tcPr marL="68792" marR="68792" marT="34396" marB="343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Especifica a margem inferior de um elemento</a:t>
                      </a:r>
                    </a:p>
                  </a:txBody>
                  <a:tcPr marL="68792" marR="68792" marT="34396" marB="343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cs typeface="Arial" panose="020B0604020202020204" pitchFamily="34" charset="0"/>
                        </a:rPr>
                        <a:t>Auto / </a:t>
                      </a:r>
                      <a:r>
                        <a:rPr lang="pt-BR" sz="1600" b="1" i="1" dirty="0" err="1">
                          <a:solidFill>
                            <a:srgbClr val="002060"/>
                          </a:solidFill>
                          <a:effectLst/>
                          <a:latin typeface="Arial" panose="020B0604020202020204" pitchFamily="34" charset="0"/>
                          <a:cs typeface="Arial" panose="020B0604020202020204" pitchFamily="34" charset="0"/>
                        </a:rPr>
                        <a:t>length</a:t>
                      </a:r>
                      <a:r>
                        <a:rPr lang="pt-BR" sz="1600" b="1" i="1" dirty="0">
                          <a:solidFill>
                            <a:srgbClr val="002060"/>
                          </a:solidFill>
                          <a:effectLst/>
                          <a:latin typeface="Arial" panose="020B0604020202020204" pitchFamily="34" charset="0"/>
                          <a:cs typeface="Arial" panose="020B0604020202020204" pitchFamily="34" charset="0"/>
                        </a:rPr>
                        <a:t> / %</a:t>
                      </a:r>
                      <a:endParaRPr lang="pt-BR" sz="1600" b="1" dirty="0">
                        <a:solidFill>
                          <a:srgbClr val="002060"/>
                        </a:solidFill>
                        <a:effectLst/>
                        <a:latin typeface="Arial" panose="020B0604020202020204" pitchFamily="34" charset="0"/>
                        <a:cs typeface="Arial" panose="020B0604020202020204" pitchFamily="34" charset="0"/>
                      </a:endParaRPr>
                    </a:p>
                  </a:txBody>
                  <a:tcPr marL="68792" marR="68792" marT="34396" marB="343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521764994"/>
                  </a:ext>
                </a:extLst>
              </a:tr>
              <a:tr h="356707">
                <a:tc>
                  <a:txBody>
                    <a:bodyPr/>
                    <a:lstStyle/>
                    <a:p>
                      <a:pPr algn="ctr"/>
                      <a:r>
                        <a:rPr lang="pt-BR" sz="1600" b="1">
                          <a:solidFill>
                            <a:srgbClr val="002060"/>
                          </a:solidFill>
                          <a:effectLst/>
                          <a:latin typeface="Arial" panose="020B0604020202020204" pitchFamily="34" charset="0"/>
                          <a:cs typeface="Arial" panose="020B0604020202020204" pitchFamily="34" charset="0"/>
                        </a:rPr>
                        <a:t>margin-left</a:t>
                      </a:r>
                    </a:p>
                  </a:txBody>
                  <a:tcPr marL="68792" marR="68792" marT="34396" marB="343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Especifica a margem esquerda de um elemento</a:t>
                      </a:r>
                    </a:p>
                  </a:txBody>
                  <a:tcPr marL="68792" marR="68792" marT="34396" marB="343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cs typeface="Arial" panose="020B0604020202020204" pitchFamily="34" charset="0"/>
                        </a:rPr>
                        <a:t>Auto / </a:t>
                      </a:r>
                      <a:r>
                        <a:rPr lang="pt-BR" sz="1600" b="1" i="1" dirty="0" err="1">
                          <a:solidFill>
                            <a:srgbClr val="002060"/>
                          </a:solidFill>
                          <a:effectLst/>
                          <a:latin typeface="Arial" panose="020B0604020202020204" pitchFamily="34" charset="0"/>
                          <a:cs typeface="Arial" panose="020B0604020202020204" pitchFamily="34" charset="0"/>
                        </a:rPr>
                        <a:t>length</a:t>
                      </a:r>
                      <a:r>
                        <a:rPr lang="pt-BR" sz="1600" b="1" i="1" dirty="0">
                          <a:solidFill>
                            <a:srgbClr val="002060"/>
                          </a:solidFill>
                          <a:effectLst/>
                          <a:latin typeface="Arial" panose="020B0604020202020204" pitchFamily="34" charset="0"/>
                          <a:cs typeface="Arial" panose="020B0604020202020204" pitchFamily="34" charset="0"/>
                        </a:rPr>
                        <a:t> / %</a:t>
                      </a:r>
                      <a:endParaRPr lang="pt-BR" sz="1600" b="1" dirty="0">
                        <a:solidFill>
                          <a:srgbClr val="002060"/>
                        </a:solidFill>
                        <a:effectLst/>
                        <a:latin typeface="Arial" panose="020B0604020202020204" pitchFamily="34" charset="0"/>
                        <a:cs typeface="Arial" panose="020B0604020202020204" pitchFamily="34" charset="0"/>
                      </a:endParaRPr>
                    </a:p>
                  </a:txBody>
                  <a:tcPr marL="68792" marR="68792" marT="34396" marB="343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604037734"/>
                  </a:ext>
                </a:extLst>
              </a:tr>
              <a:tr h="387734">
                <a:tc>
                  <a:txBody>
                    <a:bodyPr/>
                    <a:lstStyle/>
                    <a:p>
                      <a:pPr algn="ctr"/>
                      <a:r>
                        <a:rPr lang="pt-BR" sz="1600" b="1">
                          <a:solidFill>
                            <a:srgbClr val="002060"/>
                          </a:solidFill>
                          <a:effectLst/>
                          <a:latin typeface="Arial" panose="020B0604020202020204" pitchFamily="34" charset="0"/>
                          <a:cs typeface="Arial" panose="020B0604020202020204" pitchFamily="34" charset="0"/>
                        </a:rPr>
                        <a:t>margin-right</a:t>
                      </a:r>
                    </a:p>
                  </a:txBody>
                  <a:tcPr marL="68792" marR="68792" marT="34396" marB="343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Especifica a margem direita de um elemento</a:t>
                      </a:r>
                    </a:p>
                  </a:txBody>
                  <a:tcPr marL="68792" marR="68792" marT="34396" marB="343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cs typeface="Arial" panose="020B0604020202020204" pitchFamily="34" charset="0"/>
                        </a:rPr>
                        <a:t>Auto / </a:t>
                      </a:r>
                      <a:r>
                        <a:rPr lang="pt-BR" sz="1600" b="1" i="1" dirty="0" err="1">
                          <a:solidFill>
                            <a:srgbClr val="002060"/>
                          </a:solidFill>
                          <a:effectLst/>
                          <a:latin typeface="Arial" panose="020B0604020202020204" pitchFamily="34" charset="0"/>
                          <a:cs typeface="Arial" panose="020B0604020202020204" pitchFamily="34" charset="0"/>
                        </a:rPr>
                        <a:t>length</a:t>
                      </a:r>
                      <a:r>
                        <a:rPr lang="pt-BR" sz="1600" b="1" i="1" dirty="0">
                          <a:solidFill>
                            <a:srgbClr val="002060"/>
                          </a:solidFill>
                          <a:effectLst/>
                          <a:latin typeface="Arial" panose="020B0604020202020204" pitchFamily="34" charset="0"/>
                          <a:cs typeface="Arial" panose="020B0604020202020204" pitchFamily="34" charset="0"/>
                        </a:rPr>
                        <a:t> / %</a:t>
                      </a:r>
                      <a:endParaRPr lang="pt-BR" sz="1600" b="1" dirty="0">
                        <a:solidFill>
                          <a:srgbClr val="002060"/>
                        </a:solidFill>
                        <a:effectLst/>
                        <a:latin typeface="Arial" panose="020B0604020202020204" pitchFamily="34" charset="0"/>
                        <a:cs typeface="Arial" panose="020B0604020202020204" pitchFamily="34" charset="0"/>
                      </a:endParaRPr>
                    </a:p>
                  </a:txBody>
                  <a:tcPr marL="68792" marR="68792" marT="34396" marB="343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914622268"/>
                  </a:ext>
                </a:extLst>
              </a:tr>
              <a:tr h="587028">
                <a:tc>
                  <a:txBody>
                    <a:bodyPr/>
                    <a:lstStyle/>
                    <a:p>
                      <a:pPr algn="ctr"/>
                      <a:r>
                        <a:rPr lang="pt-BR" sz="1600" b="1">
                          <a:solidFill>
                            <a:srgbClr val="002060"/>
                          </a:solidFill>
                          <a:effectLst/>
                          <a:latin typeface="Arial" panose="020B0604020202020204" pitchFamily="34" charset="0"/>
                          <a:cs typeface="Arial" panose="020B0604020202020204" pitchFamily="34" charset="0"/>
                        </a:rPr>
                        <a:t>margin-top</a:t>
                      </a:r>
                    </a:p>
                  </a:txBody>
                  <a:tcPr marL="68792" marR="68792" marT="34396" marB="343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Especifica a margem superior de um elemento</a:t>
                      </a:r>
                    </a:p>
                  </a:txBody>
                  <a:tcPr marL="68792" marR="68792" marT="34396" marB="343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cs typeface="Arial" panose="020B0604020202020204" pitchFamily="34" charset="0"/>
                        </a:rPr>
                        <a:t>Auto / </a:t>
                      </a:r>
                      <a:r>
                        <a:rPr lang="pt-BR" sz="1600" b="1" i="1" dirty="0" err="1">
                          <a:solidFill>
                            <a:srgbClr val="002060"/>
                          </a:solidFill>
                          <a:effectLst/>
                          <a:latin typeface="Arial" panose="020B0604020202020204" pitchFamily="34" charset="0"/>
                          <a:cs typeface="Arial" panose="020B0604020202020204" pitchFamily="34" charset="0"/>
                        </a:rPr>
                        <a:t>length</a:t>
                      </a:r>
                      <a:r>
                        <a:rPr lang="pt-BR" sz="1600" b="1" i="1" dirty="0">
                          <a:solidFill>
                            <a:srgbClr val="002060"/>
                          </a:solidFill>
                          <a:effectLst/>
                          <a:latin typeface="Arial" panose="020B0604020202020204" pitchFamily="34" charset="0"/>
                          <a:cs typeface="Arial" panose="020B0604020202020204" pitchFamily="34" charset="0"/>
                        </a:rPr>
                        <a:t> / %</a:t>
                      </a:r>
                      <a:endParaRPr lang="pt-BR" sz="1600" b="1" dirty="0">
                        <a:solidFill>
                          <a:srgbClr val="002060"/>
                        </a:solidFill>
                        <a:effectLst/>
                        <a:latin typeface="Arial" panose="020B0604020202020204" pitchFamily="34" charset="0"/>
                        <a:cs typeface="Arial" panose="020B0604020202020204" pitchFamily="34" charset="0"/>
                      </a:endParaRPr>
                    </a:p>
                  </a:txBody>
                  <a:tcPr marL="68792" marR="68792" marT="34396" marB="343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958488730"/>
                  </a:ext>
                </a:extLst>
              </a:tr>
            </a:tbl>
          </a:graphicData>
        </a:graphic>
      </p:graphicFrame>
      <p:sp>
        <p:nvSpPr>
          <p:cNvPr id="3" name="Retângulo 2"/>
          <p:cNvSpPr/>
          <p:nvPr/>
        </p:nvSpPr>
        <p:spPr>
          <a:xfrm>
            <a:off x="770709" y="138759"/>
            <a:ext cx="10998924" cy="369332"/>
          </a:xfrm>
          <a:prstGeom prst="rect">
            <a:avLst/>
          </a:prstGeom>
        </p:spPr>
        <p:txBody>
          <a:bodyPr wrap="square">
            <a:spAutoFit/>
          </a:bodyPr>
          <a:lstStyle/>
          <a:p>
            <a:r>
              <a:rPr lang="pt-BR" b="1" dirty="0">
                <a:solidFill>
                  <a:srgbClr val="002060"/>
                </a:solidFill>
                <a:latin typeface="Arial" panose="020B0604020202020204" pitchFamily="34" charset="0"/>
                <a:cs typeface="Arial" panose="020B0604020202020204" pitchFamily="34" charset="0"/>
              </a:rPr>
              <a:t>Margem:</a:t>
            </a:r>
          </a:p>
        </p:txBody>
      </p:sp>
      <p:pic>
        <p:nvPicPr>
          <p:cNvPr id="4" name="Imagem 3"/>
          <p:cNvPicPr>
            <a:picLocks noChangeAspect="1"/>
          </p:cNvPicPr>
          <p:nvPr/>
        </p:nvPicPr>
        <p:blipFill>
          <a:blip r:embed="rId2"/>
          <a:stretch>
            <a:fillRect/>
          </a:stretch>
        </p:blipFill>
        <p:spPr>
          <a:xfrm>
            <a:off x="3773715" y="508091"/>
            <a:ext cx="4701860" cy="2901315"/>
          </a:xfrm>
          <a:prstGeom prst="rect">
            <a:avLst/>
          </a:prstGeom>
        </p:spPr>
      </p:pic>
      <p:sp>
        <p:nvSpPr>
          <p:cNvPr id="5" name="Espaço Reservado para Número de Slide 4"/>
          <p:cNvSpPr>
            <a:spLocks noGrp="1"/>
          </p:cNvSpPr>
          <p:nvPr>
            <p:ph type="sldNum" sz="quarter" idx="12"/>
          </p:nvPr>
        </p:nvSpPr>
        <p:spPr/>
        <p:txBody>
          <a:bodyPr/>
          <a:lstStyle/>
          <a:p>
            <a:fld id="{8256F83C-9D86-480B-90E0-0702DBEB9457}" type="slidenum">
              <a:rPr lang="pt-BR" smtClean="0"/>
              <a:t>51</a:t>
            </a:fld>
            <a:endParaRPr lang="pt-BR"/>
          </a:p>
        </p:txBody>
      </p:sp>
    </p:spTree>
    <p:extLst>
      <p:ext uri="{BB962C8B-B14F-4D97-AF65-F5344CB8AC3E}">
        <p14:creationId xmlns:p14="http://schemas.microsoft.com/office/powerpoint/2010/main" val="23093029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a 1"/>
          <p:cNvGraphicFramePr>
            <a:graphicFrameLocks noGrp="1"/>
          </p:cNvGraphicFramePr>
          <p:nvPr>
            <p:extLst>
              <p:ext uri="{D42A27DB-BD31-4B8C-83A1-F6EECF244321}">
                <p14:modId xmlns:p14="http://schemas.microsoft.com/office/powerpoint/2010/main" val="3450607415"/>
              </p:ext>
            </p:extLst>
          </p:nvPr>
        </p:nvGraphicFramePr>
        <p:xfrm>
          <a:off x="897592" y="3493607"/>
          <a:ext cx="11093499" cy="3273794"/>
        </p:xfrm>
        <a:graphic>
          <a:graphicData uri="http://schemas.openxmlformats.org/drawingml/2006/table">
            <a:tbl>
              <a:tblPr/>
              <a:tblGrid>
                <a:gridCol w="1765815">
                  <a:extLst>
                    <a:ext uri="{9D8B030D-6E8A-4147-A177-3AD203B41FA5}">
                      <a16:colId xmlns:a16="http://schemas.microsoft.com/office/drawing/2014/main" val="3419904724"/>
                    </a:ext>
                  </a:extLst>
                </a:gridCol>
                <a:gridCol w="5677268">
                  <a:extLst>
                    <a:ext uri="{9D8B030D-6E8A-4147-A177-3AD203B41FA5}">
                      <a16:colId xmlns:a16="http://schemas.microsoft.com/office/drawing/2014/main" val="3274676395"/>
                    </a:ext>
                  </a:extLst>
                </a:gridCol>
                <a:gridCol w="3650416">
                  <a:extLst>
                    <a:ext uri="{9D8B030D-6E8A-4147-A177-3AD203B41FA5}">
                      <a16:colId xmlns:a16="http://schemas.microsoft.com/office/drawing/2014/main" val="171444178"/>
                    </a:ext>
                  </a:extLst>
                </a:gridCol>
              </a:tblGrid>
              <a:tr h="295055">
                <a:tc>
                  <a:txBody>
                    <a:bodyPr/>
                    <a:lstStyle/>
                    <a:p>
                      <a:pPr algn="ct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Propriedade</a:t>
                      </a:r>
                    </a:p>
                  </a:txBody>
                  <a:tcPr marL="80931" marR="80931" marT="40466" marB="404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ea typeface="SimSun-ExtB" panose="02010609060101010101" pitchFamily="49" charset="-122"/>
                          <a:cs typeface="Arial" panose="020B0604020202020204" pitchFamily="34" charset="0"/>
                        </a:rPr>
                        <a:t>Descrição</a:t>
                      </a:r>
                    </a:p>
                  </a:txBody>
                  <a:tcPr marL="80931" marR="80931" marT="40466" marB="404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ea typeface="SimSun-ExtB" panose="02010609060101010101" pitchFamily="49" charset="-122"/>
                          <a:cs typeface="Arial" panose="020B0604020202020204" pitchFamily="34" charset="0"/>
                        </a:rPr>
                        <a:t>Valores</a:t>
                      </a:r>
                    </a:p>
                  </a:txBody>
                  <a:tcPr marL="80931" marR="80931" marT="40466" marB="404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391546558"/>
                  </a:ext>
                </a:extLst>
              </a:tr>
              <a:tr h="882690">
                <a:tc>
                  <a:txBody>
                    <a:bodyPr/>
                    <a:lstStyle/>
                    <a:p>
                      <a:pPr algn="ctr"/>
                      <a:r>
                        <a:rPr lang="pt-BR" sz="1600" b="1">
                          <a:solidFill>
                            <a:srgbClr val="002060"/>
                          </a:solidFill>
                          <a:effectLst/>
                          <a:latin typeface="Arial" panose="020B0604020202020204" pitchFamily="34" charset="0"/>
                          <a:ea typeface="SimSun-ExtB" panose="02010609060101010101" pitchFamily="49" charset="-122"/>
                          <a:cs typeface="Arial" panose="020B0604020202020204" pitchFamily="34" charset="0"/>
                        </a:rPr>
                        <a:t>padding</a:t>
                      </a:r>
                    </a:p>
                  </a:txBody>
                  <a:tcPr marL="80931" marR="80931" marT="40466" marB="404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Uma propriedade estenográfica para especificar todas as propriedades de distância em uma declaração</a:t>
                      </a:r>
                    </a:p>
                  </a:txBody>
                  <a:tcPr marL="80931" marR="80931" marT="40466" marB="404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i="1" dirty="0" err="1">
                          <a:solidFill>
                            <a:srgbClr val="002060"/>
                          </a:solidFill>
                          <a:effectLst/>
                          <a:latin typeface="Arial" panose="020B0604020202020204" pitchFamily="34" charset="0"/>
                          <a:ea typeface="SimSun-ExtB" panose="02010609060101010101" pitchFamily="49" charset="-122"/>
                          <a:cs typeface="Arial" panose="020B0604020202020204" pitchFamily="34" charset="0"/>
                        </a:rPr>
                        <a:t>padding</a:t>
                      </a:r>
                      <a:r>
                        <a:rPr lang="pt-BR" sz="1600" b="1" i="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-top / </a:t>
                      </a:r>
                      <a:r>
                        <a:rPr lang="pt-BR" sz="1600" b="1" i="1" dirty="0" err="1">
                          <a:solidFill>
                            <a:srgbClr val="002060"/>
                          </a:solidFill>
                          <a:effectLst/>
                          <a:latin typeface="Arial" panose="020B0604020202020204" pitchFamily="34" charset="0"/>
                          <a:ea typeface="SimSun-ExtB" panose="02010609060101010101" pitchFamily="49" charset="-122"/>
                          <a:cs typeface="Arial" panose="020B0604020202020204" pitchFamily="34" charset="0"/>
                        </a:rPr>
                        <a:t>padding-right</a:t>
                      </a:r>
                      <a:r>
                        <a:rPr lang="pt-BR" sz="1600" b="1" i="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 </a:t>
                      </a:r>
                      <a:r>
                        <a:rPr lang="pt-BR" sz="1600" b="1" i="1" dirty="0" err="1">
                          <a:solidFill>
                            <a:srgbClr val="002060"/>
                          </a:solidFill>
                          <a:effectLst/>
                          <a:latin typeface="Arial" panose="020B0604020202020204" pitchFamily="34" charset="0"/>
                          <a:ea typeface="SimSun-ExtB" panose="02010609060101010101" pitchFamily="49" charset="-122"/>
                          <a:cs typeface="Arial" panose="020B0604020202020204" pitchFamily="34" charset="0"/>
                        </a:rPr>
                        <a:t>padding-bottom</a:t>
                      </a:r>
                      <a:r>
                        <a:rPr lang="pt-BR" sz="1600" b="1" i="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 </a:t>
                      </a:r>
                      <a:r>
                        <a:rPr lang="pt-BR" sz="1600" b="1" i="1" dirty="0" err="1">
                          <a:solidFill>
                            <a:srgbClr val="002060"/>
                          </a:solidFill>
                          <a:effectLst/>
                          <a:latin typeface="Arial" panose="020B0604020202020204" pitchFamily="34" charset="0"/>
                          <a:ea typeface="SimSun-ExtB" panose="02010609060101010101" pitchFamily="49" charset="-122"/>
                          <a:cs typeface="Arial" panose="020B0604020202020204" pitchFamily="34" charset="0"/>
                        </a:rPr>
                        <a:t>padding-left</a:t>
                      </a:r>
                      <a:endPar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endParaRPr>
                    </a:p>
                  </a:txBody>
                  <a:tcPr marL="80931" marR="80931" marT="40466" marB="404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79972873"/>
                  </a:ext>
                </a:extLst>
              </a:tr>
              <a:tr h="516583">
                <a:tc>
                  <a:txBody>
                    <a:bodyPr/>
                    <a:lstStyle/>
                    <a:p>
                      <a:pPr algn="ctr"/>
                      <a:r>
                        <a:rPr lang="pt-BR" sz="1600" b="1">
                          <a:solidFill>
                            <a:srgbClr val="002060"/>
                          </a:solidFill>
                          <a:effectLst/>
                          <a:latin typeface="Arial" panose="020B0604020202020204" pitchFamily="34" charset="0"/>
                          <a:ea typeface="SimSun-ExtB" panose="02010609060101010101" pitchFamily="49" charset="-122"/>
                          <a:cs typeface="Arial" panose="020B0604020202020204" pitchFamily="34" charset="0"/>
                        </a:rPr>
                        <a:t>padding-bottom</a:t>
                      </a:r>
                    </a:p>
                  </a:txBody>
                  <a:tcPr marL="80931" marR="80931" marT="40466" marB="404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Especifica a</a:t>
                      </a:r>
                      <a:r>
                        <a:rPr lang="pt-BR" sz="1600" b="1" baseline="0"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distância</a:t>
                      </a: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inferior de um elemento</a:t>
                      </a:r>
                    </a:p>
                  </a:txBody>
                  <a:tcPr marL="80931" marR="80931" marT="40466" marB="404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i="1" dirty="0" err="1">
                          <a:solidFill>
                            <a:srgbClr val="002060"/>
                          </a:solidFill>
                          <a:effectLst/>
                          <a:latin typeface="Arial" panose="020B0604020202020204" pitchFamily="34" charset="0"/>
                          <a:ea typeface="SimSun-ExtB" panose="02010609060101010101" pitchFamily="49" charset="-122"/>
                          <a:cs typeface="Arial" panose="020B0604020202020204" pitchFamily="34" charset="0"/>
                        </a:rPr>
                        <a:t>length</a:t>
                      </a:r>
                      <a:r>
                        <a:rPr lang="pt-BR" sz="1600" b="1" i="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 %</a:t>
                      </a:r>
                      <a:endPar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endParaRPr>
                    </a:p>
                  </a:txBody>
                  <a:tcPr marL="80931" marR="80931" marT="40466" marB="404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2286337366"/>
                  </a:ext>
                </a:extLst>
              </a:tr>
              <a:tr h="516583">
                <a:tc>
                  <a:txBody>
                    <a:bodyPr/>
                    <a:lstStyle/>
                    <a:p>
                      <a:pPr algn="ctr"/>
                      <a:r>
                        <a:rPr lang="pt-BR" sz="1600" b="1">
                          <a:solidFill>
                            <a:srgbClr val="002060"/>
                          </a:solidFill>
                          <a:effectLst/>
                          <a:latin typeface="Arial" panose="020B0604020202020204" pitchFamily="34" charset="0"/>
                          <a:ea typeface="SimSun-ExtB" panose="02010609060101010101" pitchFamily="49" charset="-122"/>
                          <a:cs typeface="Arial" panose="020B0604020202020204" pitchFamily="34" charset="0"/>
                        </a:rPr>
                        <a:t>padding-left</a:t>
                      </a:r>
                    </a:p>
                  </a:txBody>
                  <a:tcPr marL="80931" marR="80931" marT="40466" marB="404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Especifica a distância esquerdo de um elemento</a:t>
                      </a:r>
                    </a:p>
                  </a:txBody>
                  <a:tcPr marL="80931" marR="80931" marT="40466" marB="404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i="1" dirty="0" err="1">
                          <a:solidFill>
                            <a:srgbClr val="002060"/>
                          </a:solidFill>
                          <a:effectLst/>
                          <a:latin typeface="Arial" panose="020B0604020202020204" pitchFamily="34" charset="0"/>
                          <a:ea typeface="SimSun-ExtB" panose="02010609060101010101" pitchFamily="49" charset="-122"/>
                          <a:cs typeface="Arial" panose="020B0604020202020204" pitchFamily="34" charset="0"/>
                        </a:rPr>
                        <a:t>length</a:t>
                      </a:r>
                      <a:r>
                        <a:rPr lang="pt-BR" sz="1600" b="1" i="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 %</a:t>
                      </a:r>
                      <a:endPar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endParaRPr>
                    </a:p>
                  </a:txBody>
                  <a:tcPr marL="80931" marR="80931" marT="40466" marB="404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898768292"/>
                  </a:ext>
                </a:extLst>
              </a:tr>
              <a:tr h="516583">
                <a:tc>
                  <a:txBody>
                    <a:bodyPr/>
                    <a:lstStyle/>
                    <a:p>
                      <a:pPr algn="ctr"/>
                      <a:r>
                        <a:rPr lang="pt-BR" sz="1600" b="1">
                          <a:solidFill>
                            <a:srgbClr val="002060"/>
                          </a:solidFill>
                          <a:effectLst/>
                          <a:latin typeface="Arial" panose="020B0604020202020204" pitchFamily="34" charset="0"/>
                          <a:ea typeface="SimSun-ExtB" panose="02010609060101010101" pitchFamily="49" charset="-122"/>
                          <a:cs typeface="Arial" panose="020B0604020202020204" pitchFamily="34" charset="0"/>
                        </a:rPr>
                        <a:t>padding-right</a:t>
                      </a:r>
                    </a:p>
                  </a:txBody>
                  <a:tcPr marL="80931" marR="80931" marT="40466" marB="404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Especifica a</a:t>
                      </a:r>
                      <a:r>
                        <a:rPr lang="pt-BR" sz="1600" b="1" baseline="0"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distância</a:t>
                      </a: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direito de um elemento</a:t>
                      </a:r>
                    </a:p>
                  </a:txBody>
                  <a:tcPr marL="80931" marR="80931" marT="40466" marB="404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i="1" dirty="0" err="1">
                          <a:solidFill>
                            <a:srgbClr val="002060"/>
                          </a:solidFill>
                          <a:effectLst/>
                          <a:latin typeface="Arial" panose="020B0604020202020204" pitchFamily="34" charset="0"/>
                          <a:ea typeface="SimSun-ExtB" panose="02010609060101010101" pitchFamily="49" charset="-122"/>
                          <a:cs typeface="Arial" panose="020B0604020202020204" pitchFamily="34" charset="0"/>
                        </a:rPr>
                        <a:t>length</a:t>
                      </a:r>
                      <a:r>
                        <a:rPr lang="pt-BR" sz="1600" b="1" i="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 %</a:t>
                      </a:r>
                      <a:endPar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endParaRPr>
                    </a:p>
                  </a:txBody>
                  <a:tcPr marL="80931" marR="80931" marT="40466" marB="404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511255201"/>
                  </a:ext>
                </a:extLst>
              </a:tr>
              <a:tr h="516583">
                <a:tc>
                  <a:txBody>
                    <a:bodyPr/>
                    <a:lstStyle/>
                    <a:p>
                      <a:pPr algn="ctr"/>
                      <a:r>
                        <a:rPr lang="pt-BR" sz="1600" b="1" dirty="0" err="1">
                          <a:solidFill>
                            <a:srgbClr val="002060"/>
                          </a:solidFill>
                          <a:effectLst/>
                          <a:latin typeface="Arial" panose="020B0604020202020204" pitchFamily="34" charset="0"/>
                          <a:ea typeface="SimSun-ExtB" panose="02010609060101010101" pitchFamily="49" charset="-122"/>
                          <a:cs typeface="Arial" panose="020B0604020202020204" pitchFamily="34" charset="0"/>
                        </a:rPr>
                        <a:t>padding</a:t>
                      </a: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-top</a:t>
                      </a:r>
                    </a:p>
                  </a:txBody>
                  <a:tcPr marL="80931" marR="80931" marT="40466" marB="404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Especifica o distância superior de um elemento</a:t>
                      </a:r>
                    </a:p>
                  </a:txBody>
                  <a:tcPr marL="80931" marR="80931" marT="40466" marB="404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i="1" dirty="0" err="1">
                          <a:solidFill>
                            <a:srgbClr val="002060"/>
                          </a:solidFill>
                          <a:effectLst/>
                          <a:latin typeface="Arial" panose="020B0604020202020204" pitchFamily="34" charset="0"/>
                          <a:ea typeface="SimSun-ExtB" panose="02010609060101010101" pitchFamily="49" charset="-122"/>
                          <a:cs typeface="Arial" panose="020B0604020202020204" pitchFamily="34" charset="0"/>
                        </a:rPr>
                        <a:t>length</a:t>
                      </a:r>
                      <a:r>
                        <a:rPr lang="pt-BR" sz="1600" b="1" i="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 %</a:t>
                      </a:r>
                      <a:endPar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endParaRPr>
                    </a:p>
                  </a:txBody>
                  <a:tcPr marL="80931" marR="80931" marT="40466" marB="404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77996428"/>
                  </a:ext>
                </a:extLst>
              </a:tr>
            </a:tbl>
          </a:graphicData>
        </a:graphic>
      </p:graphicFrame>
      <p:pic>
        <p:nvPicPr>
          <p:cNvPr id="3" name="Imagem 2"/>
          <p:cNvPicPr>
            <a:picLocks noChangeAspect="1"/>
          </p:cNvPicPr>
          <p:nvPr/>
        </p:nvPicPr>
        <p:blipFill>
          <a:blip r:embed="rId2"/>
          <a:stretch>
            <a:fillRect/>
          </a:stretch>
        </p:blipFill>
        <p:spPr>
          <a:xfrm>
            <a:off x="3827417" y="404948"/>
            <a:ext cx="4898572" cy="3019556"/>
          </a:xfrm>
          <a:prstGeom prst="rect">
            <a:avLst/>
          </a:prstGeom>
        </p:spPr>
      </p:pic>
      <p:sp>
        <p:nvSpPr>
          <p:cNvPr id="4" name="Retângulo 3"/>
          <p:cNvSpPr/>
          <p:nvPr/>
        </p:nvSpPr>
        <p:spPr>
          <a:xfrm>
            <a:off x="696685" y="35616"/>
            <a:ext cx="11495315" cy="369332"/>
          </a:xfrm>
          <a:prstGeom prst="rect">
            <a:avLst/>
          </a:prstGeom>
        </p:spPr>
        <p:txBody>
          <a:bodyPr wrap="square">
            <a:spAutoFit/>
          </a:bodyPr>
          <a:lstStyle/>
          <a:p>
            <a:r>
              <a:rPr lang="pt-BR" b="1" dirty="0">
                <a:solidFill>
                  <a:srgbClr val="002060"/>
                </a:solidFill>
                <a:latin typeface="Arial" panose="020B0604020202020204" pitchFamily="34" charset="0"/>
                <a:cs typeface="Arial" panose="020B0604020202020204" pitchFamily="34" charset="0"/>
              </a:rPr>
              <a:t>Distância entre elementos:</a:t>
            </a:r>
          </a:p>
        </p:txBody>
      </p:sp>
      <p:sp>
        <p:nvSpPr>
          <p:cNvPr id="5" name="Espaço Reservado para Número de Slide 4"/>
          <p:cNvSpPr>
            <a:spLocks noGrp="1"/>
          </p:cNvSpPr>
          <p:nvPr>
            <p:ph type="sldNum" sz="quarter" idx="12"/>
          </p:nvPr>
        </p:nvSpPr>
        <p:spPr/>
        <p:txBody>
          <a:bodyPr/>
          <a:lstStyle/>
          <a:p>
            <a:fld id="{8256F83C-9D86-480B-90E0-0702DBEB9457}" type="slidenum">
              <a:rPr lang="pt-BR" smtClean="0"/>
              <a:t>52</a:t>
            </a:fld>
            <a:endParaRPr lang="pt-BR"/>
          </a:p>
        </p:txBody>
      </p:sp>
    </p:spTree>
    <p:extLst>
      <p:ext uri="{BB962C8B-B14F-4D97-AF65-F5344CB8AC3E}">
        <p14:creationId xmlns:p14="http://schemas.microsoft.com/office/powerpoint/2010/main" val="21367641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a 1"/>
          <p:cNvGraphicFramePr>
            <a:graphicFrameLocks noGrp="1"/>
          </p:cNvGraphicFramePr>
          <p:nvPr/>
        </p:nvGraphicFramePr>
        <p:xfrm>
          <a:off x="3491315" y="603529"/>
          <a:ext cx="8448136" cy="1662915"/>
        </p:xfrm>
        <a:graphic>
          <a:graphicData uri="http://schemas.openxmlformats.org/drawingml/2006/table">
            <a:tbl>
              <a:tblPr/>
              <a:tblGrid>
                <a:gridCol w="1733828">
                  <a:extLst>
                    <a:ext uri="{9D8B030D-6E8A-4147-A177-3AD203B41FA5}">
                      <a16:colId xmlns:a16="http://schemas.microsoft.com/office/drawing/2014/main" val="919181600"/>
                    </a:ext>
                  </a:extLst>
                </a:gridCol>
                <a:gridCol w="4676502">
                  <a:extLst>
                    <a:ext uri="{9D8B030D-6E8A-4147-A177-3AD203B41FA5}">
                      <a16:colId xmlns:a16="http://schemas.microsoft.com/office/drawing/2014/main" val="2741517613"/>
                    </a:ext>
                  </a:extLst>
                </a:gridCol>
                <a:gridCol w="2037806">
                  <a:extLst>
                    <a:ext uri="{9D8B030D-6E8A-4147-A177-3AD203B41FA5}">
                      <a16:colId xmlns:a16="http://schemas.microsoft.com/office/drawing/2014/main" val="1194273621"/>
                    </a:ext>
                  </a:extLst>
                </a:gridCol>
              </a:tblGrid>
              <a:tr h="258584">
                <a:tc>
                  <a:txBody>
                    <a:bodyPr/>
                    <a:lstStyle/>
                    <a:p>
                      <a:pPr algn="ctr"/>
                      <a:r>
                        <a:rPr lang="pt-BR" sz="1600" b="1">
                          <a:solidFill>
                            <a:srgbClr val="002060"/>
                          </a:solidFill>
                          <a:effectLst/>
                          <a:latin typeface="Arial" panose="020B0604020202020204" pitchFamily="34" charset="0"/>
                          <a:cs typeface="Arial" panose="020B0604020202020204" pitchFamily="34" charset="0"/>
                        </a:rPr>
                        <a:t>Propriedade</a:t>
                      </a:r>
                    </a:p>
                  </a:txBody>
                  <a:tcPr marL="18968" marR="18968" marT="18968" marB="18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Descrição</a:t>
                      </a:r>
                    </a:p>
                  </a:txBody>
                  <a:tcPr marL="18968" marR="18968" marT="18968" marB="18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Valores</a:t>
                      </a:r>
                    </a:p>
                  </a:txBody>
                  <a:tcPr marL="18968" marR="18968" marT="18968" marB="18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3089625981"/>
                  </a:ext>
                </a:extLst>
              </a:tr>
              <a:tr h="319386">
                <a:tc>
                  <a:txBody>
                    <a:bodyPr/>
                    <a:lstStyle/>
                    <a:p>
                      <a:pPr algn="ctr"/>
                      <a:r>
                        <a:rPr lang="pt-BR" sz="1600" b="1">
                          <a:solidFill>
                            <a:srgbClr val="002060"/>
                          </a:solidFill>
                          <a:effectLst/>
                          <a:latin typeface="Arial" panose="020B0604020202020204" pitchFamily="34" charset="0"/>
                          <a:cs typeface="Arial" panose="020B0604020202020204" pitchFamily="34" charset="0"/>
                        </a:rPr>
                        <a:t>height</a:t>
                      </a:r>
                    </a:p>
                  </a:txBody>
                  <a:tcPr marL="18968" marR="18968" marT="18968" marB="18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Especifica a altura de um elemento</a:t>
                      </a:r>
                    </a:p>
                  </a:txBody>
                  <a:tcPr marL="18968" marR="18968" marT="18968" marB="18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cs typeface="Arial" panose="020B0604020202020204" pitchFamily="34" charset="0"/>
                        </a:rPr>
                        <a:t>Auto / </a:t>
                      </a:r>
                      <a:r>
                        <a:rPr lang="pt-BR" sz="1600" b="1" i="1" dirty="0" err="1">
                          <a:solidFill>
                            <a:srgbClr val="002060"/>
                          </a:solidFill>
                          <a:effectLst/>
                          <a:latin typeface="Arial" panose="020B0604020202020204" pitchFamily="34" charset="0"/>
                          <a:cs typeface="Arial" panose="020B0604020202020204" pitchFamily="34" charset="0"/>
                        </a:rPr>
                        <a:t>length</a:t>
                      </a:r>
                      <a:r>
                        <a:rPr lang="pt-BR" sz="1600" b="1" i="1" dirty="0">
                          <a:solidFill>
                            <a:srgbClr val="002060"/>
                          </a:solidFill>
                          <a:effectLst/>
                          <a:latin typeface="Arial" panose="020B0604020202020204" pitchFamily="34" charset="0"/>
                          <a:cs typeface="Arial" panose="020B0604020202020204" pitchFamily="34" charset="0"/>
                        </a:rPr>
                        <a:t> / %</a:t>
                      </a:r>
                      <a:endParaRPr lang="pt-BR" sz="1600" b="1" dirty="0">
                        <a:solidFill>
                          <a:srgbClr val="002060"/>
                        </a:solidFill>
                        <a:effectLst/>
                        <a:latin typeface="Arial" panose="020B0604020202020204" pitchFamily="34" charset="0"/>
                        <a:cs typeface="Arial" panose="020B0604020202020204" pitchFamily="34" charset="0"/>
                      </a:endParaRPr>
                    </a:p>
                  </a:txBody>
                  <a:tcPr marL="18968" marR="18968" marT="18968" marB="18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2977622745"/>
                  </a:ext>
                </a:extLst>
              </a:tr>
              <a:tr h="482354">
                <a:tc>
                  <a:txBody>
                    <a:bodyPr/>
                    <a:lstStyle/>
                    <a:p>
                      <a:pPr algn="ctr"/>
                      <a:r>
                        <a:rPr lang="pt-BR" sz="1600" b="1" dirty="0" err="1">
                          <a:solidFill>
                            <a:srgbClr val="002060"/>
                          </a:solidFill>
                          <a:effectLst/>
                          <a:latin typeface="Arial" panose="020B0604020202020204" pitchFamily="34" charset="0"/>
                          <a:cs typeface="Arial" panose="020B0604020202020204" pitchFamily="34" charset="0"/>
                        </a:rPr>
                        <a:t>line-height</a:t>
                      </a:r>
                      <a:endParaRPr lang="pt-BR" sz="1600" b="1" dirty="0">
                        <a:solidFill>
                          <a:srgbClr val="002060"/>
                        </a:solidFill>
                        <a:effectLst/>
                        <a:latin typeface="Arial" panose="020B0604020202020204" pitchFamily="34" charset="0"/>
                        <a:cs typeface="Arial" panose="020B0604020202020204" pitchFamily="34" charset="0"/>
                      </a:endParaRPr>
                    </a:p>
                  </a:txBody>
                  <a:tcPr marL="18968" marR="18968" marT="18968" marB="18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Especifica a distância entre linhas</a:t>
                      </a:r>
                    </a:p>
                  </a:txBody>
                  <a:tcPr marL="18968" marR="18968" marT="18968" marB="18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cs typeface="Arial" panose="020B0604020202020204" pitchFamily="34" charset="0"/>
                        </a:rPr>
                        <a:t>Normal / </a:t>
                      </a:r>
                      <a:r>
                        <a:rPr lang="pt-BR" sz="1600" b="1" i="1" dirty="0" err="1">
                          <a:solidFill>
                            <a:srgbClr val="002060"/>
                          </a:solidFill>
                          <a:effectLst/>
                          <a:latin typeface="Arial" panose="020B0604020202020204" pitchFamily="34" charset="0"/>
                          <a:cs typeface="Arial" panose="020B0604020202020204" pitchFamily="34" charset="0"/>
                        </a:rPr>
                        <a:t>number</a:t>
                      </a:r>
                      <a:r>
                        <a:rPr lang="pt-BR" sz="1600" b="1" i="1" dirty="0">
                          <a:solidFill>
                            <a:srgbClr val="002060"/>
                          </a:solidFill>
                          <a:effectLst/>
                          <a:latin typeface="Arial" panose="020B0604020202020204" pitchFamily="34" charset="0"/>
                          <a:cs typeface="Arial" panose="020B0604020202020204" pitchFamily="34" charset="0"/>
                        </a:rPr>
                        <a:t> / </a:t>
                      </a:r>
                      <a:r>
                        <a:rPr lang="pt-BR" sz="1600" b="1" i="1" dirty="0" err="1">
                          <a:solidFill>
                            <a:srgbClr val="002060"/>
                          </a:solidFill>
                          <a:effectLst/>
                          <a:latin typeface="Arial" panose="020B0604020202020204" pitchFamily="34" charset="0"/>
                          <a:cs typeface="Arial" panose="020B0604020202020204" pitchFamily="34" charset="0"/>
                        </a:rPr>
                        <a:t>length</a:t>
                      </a:r>
                      <a:r>
                        <a:rPr lang="pt-BR" sz="1600" b="1" i="1" dirty="0">
                          <a:solidFill>
                            <a:srgbClr val="002060"/>
                          </a:solidFill>
                          <a:effectLst/>
                          <a:latin typeface="Arial" panose="020B0604020202020204" pitchFamily="34" charset="0"/>
                          <a:cs typeface="Arial" panose="020B0604020202020204" pitchFamily="34" charset="0"/>
                        </a:rPr>
                        <a:t> / %</a:t>
                      </a:r>
                      <a:endParaRPr lang="pt-BR" sz="1600" b="1" dirty="0">
                        <a:solidFill>
                          <a:srgbClr val="002060"/>
                        </a:solidFill>
                        <a:effectLst/>
                        <a:latin typeface="Arial" panose="020B0604020202020204" pitchFamily="34" charset="0"/>
                        <a:cs typeface="Arial" panose="020B0604020202020204" pitchFamily="34" charset="0"/>
                      </a:endParaRPr>
                    </a:p>
                  </a:txBody>
                  <a:tcPr marL="18968" marR="18968" marT="18968" marB="18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683006402"/>
                  </a:ext>
                </a:extLst>
              </a:tr>
              <a:tr h="536137">
                <a:tc>
                  <a:txBody>
                    <a:bodyPr/>
                    <a:lstStyle/>
                    <a:p>
                      <a:pPr algn="ctr"/>
                      <a:r>
                        <a:rPr lang="pt-BR" sz="1600" b="1" dirty="0" err="1">
                          <a:solidFill>
                            <a:srgbClr val="002060"/>
                          </a:solidFill>
                          <a:effectLst/>
                          <a:latin typeface="Arial" panose="020B0604020202020204" pitchFamily="34" charset="0"/>
                          <a:cs typeface="Arial" panose="020B0604020202020204" pitchFamily="34" charset="0"/>
                        </a:rPr>
                        <a:t>width</a:t>
                      </a:r>
                      <a:endParaRPr lang="pt-BR" sz="1600" b="1" dirty="0">
                        <a:solidFill>
                          <a:srgbClr val="002060"/>
                        </a:solidFill>
                        <a:effectLst/>
                        <a:latin typeface="Arial" panose="020B0604020202020204" pitchFamily="34" charset="0"/>
                        <a:cs typeface="Arial" panose="020B0604020202020204" pitchFamily="34" charset="0"/>
                      </a:endParaRPr>
                    </a:p>
                  </a:txBody>
                  <a:tcPr marL="18968" marR="18968" marT="18968" marB="18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cs typeface="Arial" panose="020B0604020202020204" pitchFamily="34" charset="0"/>
                        </a:rPr>
                        <a:t>Especifica a largura de um elemento</a:t>
                      </a:r>
                    </a:p>
                  </a:txBody>
                  <a:tcPr marL="18968" marR="18968" marT="18968" marB="18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cs typeface="Arial" panose="020B0604020202020204" pitchFamily="34" charset="0"/>
                        </a:rPr>
                        <a:t>Auto / </a:t>
                      </a:r>
                      <a:r>
                        <a:rPr lang="pt-BR" sz="1600" b="1" i="1" dirty="0">
                          <a:solidFill>
                            <a:srgbClr val="002060"/>
                          </a:solidFill>
                          <a:effectLst/>
                          <a:latin typeface="Arial" panose="020B0604020202020204" pitchFamily="34" charset="0"/>
                          <a:cs typeface="Arial" panose="020B0604020202020204" pitchFamily="34" charset="0"/>
                        </a:rPr>
                        <a:t>% / </a:t>
                      </a:r>
                      <a:r>
                        <a:rPr lang="pt-BR" sz="1600" b="1" i="1" dirty="0" err="1">
                          <a:solidFill>
                            <a:srgbClr val="002060"/>
                          </a:solidFill>
                          <a:effectLst/>
                          <a:latin typeface="Arial" panose="020B0604020202020204" pitchFamily="34" charset="0"/>
                          <a:cs typeface="Arial" panose="020B0604020202020204" pitchFamily="34" charset="0"/>
                        </a:rPr>
                        <a:t>length</a:t>
                      </a:r>
                      <a:r>
                        <a:rPr lang="pt-BR" sz="1600" b="1" dirty="0">
                          <a:solidFill>
                            <a:srgbClr val="002060"/>
                          </a:solidFill>
                          <a:effectLst/>
                          <a:latin typeface="Arial" panose="020B0604020202020204" pitchFamily="34" charset="0"/>
                          <a:cs typeface="Arial" panose="020B0604020202020204" pitchFamily="34" charset="0"/>
                        </a:rPr>
                        <a:t>  </a:t>
                      </a:r>
                    </a:p>
                  </a:txBody>
                  <a:tcPr marL="18968" marR="18968" marT="18968" marB="18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4284674407"/>
                  </a:ext>
                </a:extLst>
              </a:tr>
            </a:tbl>
          </a:graphicData>
        </a:graphic>
      </p:graphicFrame>
      <p:sp>
        <p:nvSpPr>
          <p:cNvPr id="3" name="Retângulo 2"/>
          <p:cNvSpPr/>
          <p:nvPr/>
        </p:nvSpPr>
        <p:spPr>
          <a:xfrm>
            <a:off x="696685" y="105629"/>
            <a:ext cx="11495315" cy="369332"/>
          </a:xfrm>
          <a:prstGeom prst="rect">
            <a:avLst/>
          </a:prstGeom>
        </p:spPr>
        <p:txBody>
          <a:bodyPr wrap="square">
            <a:spAutoFit/>
          </a:bodyPr>
          <a:lstStyle/>
          <a:p>
            <a:r>
              <a:rPr lang="pt-BR" b="1" dirty="0">
                <a:solidFill>
                  <a:srgbClr val="002060"/>
                </a:solidFill>
                <a:latin typeface="Arial" panose="020B0604020202020204" pitchFamily="34" charset="0"/>
                <a:cs typeface="Arial" panose="020B0604020202020204" pitchFamily="34" charset="0"/>
              </a:rPr>
              <a:t>Tamanho de um elemento:</a:t>
            </a:r>
          </a:p>
        </p:txBody>
      </p:sp>
      <p:graphicFrame>
        <p:nvGraphicFramePr>
          <p:cNvPr id="4" name="Tabela 3"/>
          <p:cNvGraphicFramePr>
            <a:graphicFrameLocks noGrp="1"/>
          </p:cNvGraphicFramePr>
          <p:nvPr/>
        </p:nvGraphicFramePr>
        <p:xfrm>
          <a:off x="2063930" y="3179718"/>
          <a:ext cx="9875521" cy="3423001"/>
        </p:xfrm>
        <a:graphic>
          <a:graphicData uri="http://schemas.openxmlformats.org/drawingml/2006/table">
            <a:tbl>
              <a:tblPr/>
              <a:tblGrid>
                <a:gridCol w="1998615">
                  <a:extLst>
                    <a:ext uri="{9D8B030D-6E8A-4147-A177-3AD203B41FA5}">
                      <a16:colId xmlns:a16="http://schemas.microsoft.com/office/drawing/2014/main" val="1568940953"/>
                    </a:ext>
                  </a:extLst>
                </a:gridCol>
                <a:gridCol w="4790806">
                  <a:extLst>
                    <a:ext uri="{9D8B030D-6E8A-4147-A177-3AD203B41FA5}">
                      <a16:colId xmlns:a16="http://schemas.microsoft.com/office/drawing/2014/main" val="1871797874"/>
                    </a:ext>
                  </a:extLst>
                </a:gridCol>
                <a:gridCol w="3086100">
                  <a:extLst>
                    <a:ext uri="{9D8B030D-6E8A-4147-A177-3AD203B41FA5}">
                      <a16:colId xmlns:a16="http://schemas.microsoft.com/office/drawing/2014/main" val="1905000346"/>
                    </a:ext>
                  </a:extLst>
                </a:gridCol>
              </a:tblGrid>
              <a:tr h="115762">
                <a:tc>
                  <a:txBody>
                    <a:bodyPr/>
                    <a:lstStyle/>
                    <a:p>
                      <a:pPr algn="ct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Propriedades</a:t>
                      </a: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ea typeface="SimSun-ExtB" panose="02010609060101010101" pitchFamily="49" charset="-122"/>
                          <a:cs typeface="Arial" panose="020B0604020202020204" pitchFamily="34" charset="0"/>
                        </a:rPr>
                        <a:t>Descrição</a:t>
                      </a: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Valores</a:t>
                      </a: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2831891362"/>
                  </a:ext>
                </a:extLst>
              </a:tr>
              <a:tr h="307367">
                <a:tc>
                  <a:txBody>
                    <a:bodyPr/>
                    <a:lstStyle/>
                    <a:p>
                      <a:pPr algn="ctr"/>
                      <a:r>
                        <a:rPr lang="pt-BR" sz="1600" b="1">
                          <a:solidFill>
                            <a:srgbClr val="002060"/>
                          </a:solidFill>
                          <a:effectLst/>
                          <a:latin typeface="Arial" panose="020B0604020202020204" pitchFamily="34" charset="0"/>
                          <a:ea typeface="SimSun-ExtB" panose="02010609060101010101" pitchFamily="49" charset="-122"/>
                          <a:cs typeface="Arial" panose="020B0604020202020204" pitchFamily="34" charset="0"/>
                        </a:rPr>
                        <a:t>bottom</a:t>
                      </a: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Especifica a distância inferior de um elemento</a:t>
                      </a: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auto</a:t>
                      </a:r>
                      <a:r>
                        <a:rPr lang="en-US"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 </a:t>
                      </a:r>
                      <a:r>
                        <a:rPr lang="pt-BR" sz="1600" b="1" i="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a:t>
                      </a:r>
                      <a:r>
                        <a:rPr lang="en-US"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 </a:t>
                      </a:r>
                      <a:r>
                        <a:rPr lang="pt-BR" sz="1600" b="1" i="1" dirty="0" err="1">
                          <a:solidFill>
                            <a:srgbClr val="002060"/>
                          </a:solidFill>
                          <a:effectLst/>
                          <a:latin typeface="Arial" panose="020B0604020202020204" pitchFamily="34" charset="0"/>
                          <a:ea typeface="SimSun-ExtB" panose="02010609060101010101" pitchFamily="49" charset="-122"/>
                          <a:cs typeface="Arial" panose="020B0604020202020204" pitchFamily="34" charset="0"/>
                        </a:rPr>
                        <a:t>length</a:t>
                      </a:r>
                      <a:endPar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endParaRP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1322390750"/>
                  </a:ext>
                </a:extLst>
              </a:tr>
              <a:tr h="307367">
                <a:tc>
                  <a:txBody>
                    <a:bodyPr/>
                    <a:lstStyle/>
                    <a:p>
                      <a:pPr algn="ctr"/>
                      <a:r>
                        <a:rPr lang="pt-BR" sz="1600" b="1" dirty="0" err="1">
                          <a:solidFill>
                            <a:srgbClr val="002060"/>
                          </a:solidFill>
                          <a:effectLst/>
                          <a:latin typeface="Arial" panose="020B0604020202020204" pitchFamily="34" charset="0"/>
                          <a:ea typeface="SimSun-ExtB" panose="02010609060101010101" pitchFamily="49" charset="-122"/>
                          <a:cs typeface="Arial" panose="020B0604020202020204" pitchFamily="34" charset="0"/>
                        </a:rPr>
                        <a:t>left</a:t>
                      </a:r>
                      <a:endPar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endParaRP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Especifica a distância esquerda de um elemento</a:t>
                      </a: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auto</a:t>
                      </a:r>
                      <a:r>
                        <a:rPr lang="en-US"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 </a:t>
                      </a:r>
                      <a:r>
                        <a:rPr lang="pt-BR" sz="1600" b="1" i="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a:t>
                      </a:r>
                      <a:r>
                        <a:rPr lang="en-US"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 </a:t>
                      </a:r>
                      <a:r>
                        <a:rPr lang="pt-BR" sz="1600" b="1" i="1" dirty="0" err="1">
                          <a:solidFill>
                            <a:srgbClr val="002060"/>
                          </a:solidFill>
                          <a:effectLst/>
                          <a:latin typeface="Arial" panose="020B0604020202020204" pitchFamily="34" charset="0"/>
                          <a:ea typeface="SimSun-ExtB" panose="02010609060101010101" pitchFamily="49" charset="-122"/>
                          <a:cs typeface="Arial" panose="020B0604020202020204" pitchFamily="34" charset="0"/>
                        </a:rPr>
                        <a:t>length</a:t>
                      </a:r>
                      <a:endPar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endParaRP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430531329"/>
                  </a:ext>
                </a:extLst>
              </a:tr>
              <a:tr h="403170">
                <a:tc>
                  <a:txBody>
                    <a:bodyPr/>
                    <a:lstStyle/>
                    <a:p>
                      <a:pPr algn="ct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position</a:t>
                      </a: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Posiciona um elemento numa posição estática, relativa, absoluta ou fixa</a:t>
                      </a: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err="1">
                          <a:solidFill>
                            <a:srgbClr val="002060"/>
                          </a:solidFill>
                          <a:effectLst/>
                          <a:latin typeface="Arial" panose="020B0604020202020204" pitchFamily="34" charset="0"/>
                          <a:ea typeface="SimSun-ExtB" panose="02010609060101010101" pitchFamily="49" charset="-122"/>
                          <a:cs typeface="Arial" panose="020B0604020202020204" pitchFamily="34" charset="0"/>
                        </a:rPr>
                        <a:t>static</a:t>
                      </a:r>
                      <a:r>
                        <a:rPr lang="en-US"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 </a:t>
                      </a:r>
                      <a:r>
                        <a:rPr lang="pt-BR" sz="1600" b="1" dirty="0" err="1">
                          <a:solidFill>
                            <a:srgbClr val="002060"/>
                          </a:solidFill>
                          <a:effectLst/>
                          <a:latin typeface="Arial" panose="020B0604020202020204" pitchFamily="34" charset="0"/>
                          <a:ea typeface="SimSun-ExtB" panose="02010609060101010101" pitchFamily="49" charset="-122"/>
                          <a:cs typeface="Arial" panose="020B0604020202020204" pitchFamily="34" charset="0"/>
                        </a:rPr>
                        <a:t>relative</a:t>
                      </a:r>
                      <a:r>
                        <a:rPr lang="en-US"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 </a:t>
                      </a:r>
                      <a:r>
                        <a:rPr lang="pt-BR" sz="1600" b="1" dirty="0" err="1">
                          <a:solidFill>
                            <a:srgbClr val="002060"/>
                          </a:solidFill>
                          <a:effectLst/>
                          <a:latin typeface="Arial" panose="020B0604020202020204" pitchFamily="34" charset="0"/>
                          <a:ea typeface="SimSun-ExtB" panose="02010609060101010101" pitchFamily="49" charset="-122"/>
                          <a:cs typeface="Arial" panose="020B0604020202020204" pitchFamily="34" charset="0"/>
                        </a:rPr>
                        <a:t>absolute</a:t>
                      </a:r>
                      <a:r>
                        <a:rPr lang="en-US"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 </a:t>
                      </a:r>
                      <a:r>
                        <a:rPr lang="pt-BR" sz="1600" b="1" dirty="0" err="1">
                          <a:solidFill>
                            <a:srgbClr val="002060"/>
                          </a:solidFill>
                          <a:effectLst/>
                          <a:latin typeface="Arial" panose="020B0604020202020204" pitchFamily="34" charset="0"/>
                          <a:ea typeface="SimSun-ExtB" panose="02010609060101010101" pitchFamily="49" charset="-122"/>
                          <a:cs typeface="Arial" panose="020B0604020202020204" pitchFamily="34" charset="0"/>
                        </a:rPr>
                        <a:t>fixed</a:t>
                      </a:r>
                      <a:endPar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endParaRP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4056769374"/>
                  </a:ext>
                </a:extLst>
              </a:tr>
              <a:tr h="307367">
                <a:tc>
                  <a:txBody>
                    <a:bodyPr/>
                    <a:lstStyle/>
                    <a:p>
                      <a:pPr algn="ctr"/>
                      <a:r>
                        <a:rPr lang="pt-BR" sz="1600" b="1">
                          <a:solidFill>
                            <a:srgbClr val="002060"/>
                          </a:solidFill>
                          <a:effectLst/>
                          <a:latin typeface="Arial" panose="020B0604020202020204" pitchFamily="34" charset="0"/>
                          <a:ea typeface="SimSun-ExtB" panose="02010609060101010101" pitchFamily="49" charset="-122"/>
                          <a:cs typeface="Arial" panose="020B0604020202020204" pitchFamily="34" charset="0"/>
                        </a:rPr>
                        <a:t>right</a:t>
                      </a: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Especifica a distância direita de um elemento</a:t>
                      </a: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auto</a:t>
                      </a:r>
                      <a:r>
                        <a:rPr lang="en-US"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 </a:t>
                      </a:r>
                      <a:r>
                        <a:rPr lang="pt-BR" sz="1600" b="1" i="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a:t>
                      </a:r>
                      <a:r>
                        <a:rPr lang="en-US"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 </a:t>
                      </a:r>
                      <a:r>
                        <a:rPr lang="pt-BR" sz="1600" b="1" i="1" dirty="0" err="1">
                          <a:solidFill>
                            <a:srgbClr val="002060"/>
                          </a:solidFill>
                          <a:effectLst/>
                          <a:latin typeface="Arial" panose="020B0604020202020204" pitchFamily="34" charset="0"/>
                          <a:ea typeface="SimSun-ExtB" panose="02010609060101010101" pitchFamily="49" charset="-122"/>
                          <a:cs typeface="Arial" panose="020B0604020202020204" pitchFamily="34" charset="0"/>
                        </a:rPr>
                        <a:t>length</a:t>
                      </a:r>
                      <a:endPar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endParaRP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643782193"/>
                  </a:ext>
                </a:extLst>
              </a:tr>
              <a:tr h="594775">
                <a:tc>
                  <a:txBody>
                    <a:bodyPr/>
                    <a:lstStyle/>
                    <a:p>
                      <a:pPr algn="ctr"/>
                      <a:r>
                        <a:rPr lang="pt-BR" sz="1600" b="1">
                          <a:solidFill>
                            <a:srgbClr val="002060"/>
                          </a:solidFill>
                          <a:effectLst/>
                          <a:latin typeface="Arial" panose="020B0604020202020204" pitchFamily="34" charset="0"/>
                          <a:ea typeface="SimSun-ExtB" panose="02010609060101010101" pitchFamily="49" charset="-122"/>
                          <a:cs typeface="Arial" panose="020B0604020202020204" pitchFamily="34" charset="0"/>
                        </a:rPr>
                        <a:t>top</a:t>
                      </a: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Especifica quão longe a distância superior de um elemento está acima,</a:t>
                      </a:r>
                      <a:r>
                        <a:rPr lang="pt-BR" sz="1600" b="1" baseline="0"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a:t>
                      </a: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abaixo da extremidade superior do elemento pai (</a:t>
                      </a:r>
                      <a:r>
                        <a:rPr lang="pt-BR" sz="1600" b="1" dirty="0" err="1">
                          <a:solidFill>
                            <a:srgbClr val="002060"/>
                          </a:solidFill>
                          <a:effectLst/>
                          <a:latin typeface="Arial" panose="020B0604020202020204" pitchFamily="34" charset="0"/>
                          <a:ea typeface="SimSun-ExtB" panose="02010609060101010101" pitchFamily="49" charset="-122"/>
                          <a:cs typeface="Arial" panose="020B0604020202020204" pitchFamily="34" charset="0"/>
                        </a:rPr>
                        <a:t>parent</a:t>
                      </a:r>
                      <a:r>
                        <a:rPr lang="pt-BR"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a:t>
                      </a: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ea typeface="SimSun-ExtB" panose="02010609060101010101" pitchFamily="49" charset="-122"/>
                          <a:cs typeface="Arial" panose="020B0604020202020204" pitchFamily="34" charset="0"/>
                        </a:rPr>
                        <a:t>auto</a:t>
                      </a:r>
                      <a:br>
                        <a:rPr lang="pt-BR" sz="1600" b="1">
                          <a:solidFill>
                            <a:srgbClr val="002060"/>
                          </a:solidFill>
                          <a:effectLst/>
                          <a:latin typeface="Arial" panose="020B0604020202020204" pitchFamily="34" charset="0"/>
                          <a:ea typeface="SimSun-ExtB" panose="02010609060101010101" pitchFamily="49" charset="-122"/>
                          <a:cs typeface="Arial" panose="020B0604020202020204" pitchFamily="34" charset="0"/>
                        </a:rPr>
                      </a:br>
                      <a:r>
                        <a:rPr lang="pt-BR" sz="1600" b="1" i="1">
                          <a:solidFill>
                            <a:srgbClr val="002060"/>
                          </a:solidFill>
                          <a:effectLst/>
                          <a:latin typeface="Arial" panose="020B0604020202020204" pitchFamily="34" charset="0"/>
                          <a:ea typeface="SimSun-ExtB" panose="02010609060101010101" pitchFamily="49" charset="-122"/>
                          <a:cs typeface="Arial" panose="020B0604020202020204" pitchFamily="34" charset="0"/>
                        </a:rPr>
                        <a:t>%</a:t>
                      </a:r>
                      <a:br>
                        <a:rPr lang="pt-BR" sz="1600" b="1" i="1">
                          <a:solidFill>
                            <a:srgbClr val="002060"/>
                          </a:solidFill>
                          <a:effectLst/>
                          <a:latin typeface="Arial" panose="020B0604020202020204" pitchFamily="34" charset="0"/>
                          <a:ea typeface="SimSun-ExtB" panose="02010609060101010101" pitchFamily="49" charset="-122"/>
                          <a:cs typeface="Arial" panose="020B0604020202020204" pitchFamily="34" charset="0"/>
                        </a:rPr>
                      </a:br>
                      <a:r>
                        <a:rPr lang="pt-BR" sz="1600" b="1" i="1">
                          <a:solidFill>
                            <a:srgbClr val="002060"/>
                          </a:solidFill>
                          <a:effectLst/>
                          <a:latin typeface="Arial" panose="020B0604020202020204" pitchFamily="34" charset="0"/>
                          <a:ea typeface="SimSun-ExtB" panose="02010609060101010101" pitchFamily="49" charset="-122"/>
                          <a:cs typeface="Arial" panose="020B0604020202020204" pitchFamily="34" charset="0"/>
                        </a:rPr>
                        <a:t>length</a:t>
                      </a:r>
                      <a:endParaRPr lang="pt-BR" sz="1600" b="1">
                        <a:solidFill>
                          <a:srgbClr val="002060"/>
                        </a:solidFill>
                        <a:effectLst/>
                        <a:latin typeface="Arial" panose="020B0604020202020204" pitchFamily="34" charset="0"/>
                        <a:ea typeface="SimSun-ExtB" panose="02010609060101010101" pitchFamily="49" charset="-122"/>
                        <a:cs typeface="Arial" panose="020B0604020202020204" pitchFamily="34" charset="0"/>
                      </a:endParaRP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4182778305"/>
                  </a:ext>
                </a:extLst>
              </a:tr>
              <a:tr h="977986">
                <a:tc>
                  <a:txBody>
                    <a:bodyPr/>
                    <a:lstStyle/>
                    <a:p>
                      <a:pPr algn="ctr"/>
                      <a:r>
                        <a:rPr lang="pt-BR" sz="1600" b="1">
                          <a:solidFill>
                            <a:srgbClr val="002060"/>
                          </a:solidFill>
                          <a:effectLst/>
                          <a:latin typeface="Arial" panose="020B0604020202020204" pitchFamily="34" charset="0"/>
                          <a:ea typeface="SimSun-ExtB" panose="02010609060101010101" pitchFamily="49" charset="-122"/>
                          <a:cs typeface="Arial" panose="020B0604020202020204" pitchFamily="34" charset="0"/>
                        </a:rPr>
                        <a:t>vertical-align</a:t>
                      </a: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pt-BR" sz="1600" b="1">
                          <a:solidFill>
                            <a:srgbClr val="002060"/>
                          </a:solidFill>
                          <a:effectLst/>
                          <a:latin typeface="Arial" panose="020B0604020202020204" pitchFamily="34" charset="0"/>
                          <a:ea typeface="SimSun-ExtB" panose="02010609060101010101" pitchFamily="49" charset="-122"/>
                          <a:cs typeface="Arial" panose="020B0604020202020204" pitchFamily="34" charset="0"/>
                        </a:rPr>
                        <a:t>Especifica o alinhamento vertical de um elemento</a:t>
                      </a: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tc>
                  <a:txBody>
                    <a:bodyPr/>
                    <a:lstStyle/>
                    <a:p>
                      <a:pPr algn="ctr"/>
                      <a:r>
                        <a:rPr lang="en-US"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Baseline / sub / super / top / text-top / middle / bottom / text-bottom / </a:t>
                      </a:r>
                      <a:r>
                        <a:rPr lang="en-US" sz="1600" b="1" i="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length</a:t>
                      </a:r>
                      <a:r>
                        <a:rPr lang="en-US"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 / </a:t>
                      </a:r>
                      <a:r>
                        <a:rPr lang="en-US" sz="1600" b="1" i="1" dirty="0">
                          <a:solidFill>
                            <a:srgbClr val="002060"/>
                          </a:solidFill>
                          <a:effectLst/>
                          <a:latin typeface="Arial" panose="020B0604020202020204" pitchFamily="34" charset="0"/>
                          <a:ea typeface="SimSun-ExtB" panose="02010609060101010101" pitchFamily="49" charset="-122"/>
                          <a:cs typeface="Arial" panose="020B0604020202020204" pitchFamily="34" charset="0"/>
                        </a:rPr>
                        <a:t>%</a:t>
                      </a:r>
                      <a:endParaRPr lang="en-US" sz="1600" b="1" dirty="0">
                        <a:solidFill>
                          <a:srgbClr val="002060"/>
                        </a:solidFill>
                        <a:effectLst/>
                        <a:latin typeface="Arial" panose="020B0604020202020204" pitchFamily="34" charset="0"/>
                        <a:ea typeface="SimSun-ExtB" panose="02010609060101010101" pitchFamily="49" charset="-122"/>
                        <a:cs typeface="Arial" panose="020B0604020202020204" pitchFamily="34" charset="0"/>
                      </a:endParaRPr>
                    </a:p>
                  </a:txBody>
                  <a:tcPr marL="9979" marR="9979" marT="9979" marB="99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1F1"/>
                    </a:solidFill>
                  </a:tcPr>
                </a:tc>
                <a:extLst>
                  <a:ext uri="{0D108BD9-81ED-4DB2-BD59-A6C34878D82A}">
                    <a16:rowId xmlns:a16="http://schemas.microsoft.com/office/drawing/2014/main" val="2976190710"/>
                  </a:ext>
                </a:extLst>
              </a:tr>
            </a:tbl>
          </a:graphicData>
        </a:graphic>
      </p:graphicFrame>
      <p:sp>
        <p:nvSpPr>
          <p:cNvPr id="5" name="Retângulo 4"/>
          <p:cNvSpPr/>
          <p:nvPr/>
        </p:nvSpPr>
        <p:spPr>
          <a:xfrm>
            <a:off x="696685" y="2560836"/>
            <a:ext cx="11495315" cy="369332"/>
          </a:xfrm>
          <a:prstGeom prst="rect">
            <a:avLst/>
          </a:prstGeom>
        </p:spPr>
        <p:txBody>
          <a:bodyPr wrap="square">
            <a:spAutoFit/>
          </a:bodyPr>
          <a:lstStyle/>
          <a:p>
            <a:r>
              <a:rPr lang="pt-BR" b="1" dirty="0">
                <a:solidFill>
                  <a:srgbClr val="002060"/>
                </a:solidFill>
                <a:latin typeface="Arial" panose="020B0604020202020204" pitchFamily="34" charset="0"/>
                <a:cs typeface="Arial" panose="020B0604020202020204" pitchFamily="34" charset="0"/>
              </a:rPr>
              <a:t>Posição de um elemento:</a:t>
            </a:r>
          </a:p>
        </p:txBody>
      </p:sp>
      <p:sp>
        <p:nvSpPr>
          <p:cNvPr id="7" name="CaixaDeTexto 6"/>
          <p:cNvSpPr txBox="1"/>
          <p:nvPr/>
        </p:nvSpPr>
        <p:spPr>
          <a:xfrm>
            <a:off x="11547566" y="6544492"/>
            <a:ext cx="644434" cy="307777"/>
          </a:xfrm>
          <a:prstGeom prst="rect">
            <a:avLst/>
          </a:prstGeom>
          <a:noFill/>
        </p:spPr>
        <p:txBody>
          <a:bodyPr wrap="square" rtlCol="0">
            <a:spAutoFit/>
          </a:bodyPr>
          <a:lstStyle/>
          <a:p>
            <a:r>
              <a:rPr lang="pt-BR" sz="1400" b="1" dirty="0"/>
              <a:t>22/26</a:t>
            </a:r>
          </a:p>
        </p:txBody>
      </p:sp>
      <p:sp>
        <p:nvSpPr>
          <p:cNvPr id="6" name="Espaço Reservado para Número de Slide 5"/>
          <p:cNvSpPr>
            <a:spLocks noGrp="1"/>
          </p:cNvSpPr>
          <p:nvPr>
            <p:ph type="sldNum" sz="quarter" idx="12"/>
          </p:nvPr>
        </p:nvSpPr>
        <p:spPr/>
        <p:txBody>
          <a:bodyPr/>
          <a:lstStyle/>
          <a:p>
            <a:fld id="{8256F83C-9D86-480B-90E0-0702DBEB9457}" type="slidenum">
              <a:rPr lang="pt-BR" smtClean="0"/>
              <a:t>53</a:t>
            </a:fld>
            <a:endParaRPr lang="pt-BR"/>
          </a:p>
        </p:txBody>
      </p:sp>
    </p:spTree>
    <p:extLst>
      <p:ext uri="{BB962C8B-B14F-4D97-AF65-F5344CB8AC3E}">
        <p14:creationId xmlns:p14="http://schemas.microsoft.com/office/powerpoint/2010/main" val="1386119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ixaDeTexto 6"/>
          <p:cNvSpPr txBox="1"/>
          <p:nvPr/>
        </p:nvSpPr>
        <p:spPr>
          <a:xfrm>
            <a:off x="979714" y="619801"/>
            <a:ext cx="10777911" cy="1938992"/>
          </a:xfrm>
          <a:prstGeom prst="rect">
            <a:avLst/>
          </a:prstGeom>
          <a:noFill/>
        </p:spPr>
        <p:txBody>
          <a:bodyPr wrap="square" rtlCol="0">
            <a:spAutoFit/>
          </a:bodyPr>
          <a:lstStyle/>
          <a:p>
            <a:pPr algn="just"/>
            <a:endParaRPr lang="pt-BR" sz="2400" b="1" dirty="0">
              <a:solidFill>
                <a:srgbClr val="002060"/>
              </a:solidFill>
              <a:latin typeface="Arial" panose="020B0604020202020204" pitchFamily="34" charset="0"/>
              <a:cs typeface="Arial" panose="020B0604020202020204" pitchFamily="34" charset="0"/>
            </a:endParaRPr>
          </a:p>
          <a:p>
            <a:pPr algn="just"/>
            <a:endParaRPr lang="pt-BR" sz="2400" b="1" dirty="0">
              <a:solidFill>
                <a:srgbClr val="002060"/>
              </a:solidFill>
              <a:latin typeface="Arial" panose="020B0604020202020204" pitchFamily="34" charset="0"/>
              <a:cs typeface="Arial" panose="020B0604020202020204" pitchFamily="34" charset="0"/>
            </a:endParaRPr>
          </a:p>
          <a:p>
            <a:pPr algn="just"/>
            <a:r>
              <a:rPr lang="pt-BR" sz="2400" b="1" dirty="0">
                <a:solidFill>
                  <a:srgbClr val="002060"/>
                </a:solidFill>
                <a:latin typeface="Arial" panose="020B0604020202020204" pitchFamily="34" charset="0"/>
                <a:cs typeface="Arial" panose="020B0604020202020204" pitchFamily="34" charset="0"/>
              </a:rPr>
              <a:t>O CSS pode ser declarado em arquivo separado ou dentro do próprio arquivo HTML. Deve ser inserido entre &lt;</a:t>
            </a:r>
            <a:r>
              <a:rPr lang="pt-BR" sz="2400" b="1" dirty="0" err="1">
                <a:solidFill>
                  <a:srgbClr val="002060"/>
                </a:solidFill>
                <a:latin typeface="Arial" panose="020B0604020202020204" pitchFamily="34" charset="0"/>
                <a:cs typeface="Arial" panose="020B0604020202020204" pitchFamily="34" charset="0"/>
              </a:rPr>
              <a:t>head</a:t>
            </a:r>
            <a:r>
              <a:rPr lang="pt-BR" sz="2400" b="1" dirty="0">
                <a:solidFill>
                  <a:srgbClr val="002060"/>
                </a:solidFill>
                <a:latin typeface="Arial" panose="020B0604020202020204" pitchFamily="34" charset="0"/>
                <a:cs typeface="Arial" panose="020B0604020202020204" pitchFamily="34" charset="0"/>
              </a:rPr>
              <a:t>&gt; e &lt;/</a:t>
            </a:r>
            <a:r>
              <a:rPr lang="pt-BR" sz="2400" b="1" dirty="0" err="1">
                <a:solidFill>
                  <a:srgbClr val="002060"/>
                </a:solidFill>
                <a:latin typeface="Arial" panose="020B0604020202020204" pitchFamily="34" charset="0"/>
                <a:cs typeface="Arial" panose="020B0604020202020204" pitchFamily="34" charset="0"/>
              </a:rPr>
              <a:t>head</a:t>
            </a:r>
            <a:r>
              <a:rPr lang="pt-BR" sz="2400" b="1" dirty="0">
                <a:solidFill>
                  <a:srgbClr val="002060"/>
                </a:solidFill>
                <a:latin typeface="Arial" panose="020B0604020202020204" pitchFamily="34" charset="0"/>
                <a:cs typeface="Arial" panose="020B0604020202020204" pitchFamily="34" charset="0"/>
              </a:rPr>
              <a:t>&gt;. Além disso, deve se utilizar uma tag específica, chamada &lt;</a:t>
            </a:r>
            <a:r>
              <a:rPr lang="pt-BR" sz="2400" b="1" dirty="0" err="1">
                <a:solidFill>
                  <a:srgbClr val="002060"/>
                </a:solidFill>
                <a:latin typeface="Arial" panose="020B0604020202020204" pitchFamily="34" charset="0"/>
                <a:cs typeface="Arial" panose="020B0604020202020204" pitchFamily="34" charset="0"/>
              </a:rPr>
              <a:t>style</a:t>
            </a:r>
            <a:r>
              <a:rPr lang="pt-BR" sz="2400" b="1" dirty="0">
                <a:solidFill>
                  <a:srgbClr val="002060"/>
                </a:solidFill>
                <a:latin typeface="Arial" panose="020B0604020202020204" pitchFamily="34" charset="0"/>
                <a:cs typeface="Arial" panose="020B0604020202020204" pitchFamily="34" charset="0"/>
              </a:rPr>
              <a:t>&gt;....&lt;/</a:t>
            </a:r>
            <a:r>
              <a:rPr lang="pt-BR" sz="2400" b="1" dirty="0" err="1">
                <a:solidFill>
                  <a:srgbClr val="002060"/>
                </a:solidFill>
                <a:latin typeface="Arial" panose="020B0604020202020204" pitchFamily="34" charset="0"/>
                <a:cs typeface="Arial" panose="020B0604020202020204" pitchFamily="34" charset="0"/>
              </a:rPr>
              <a:t>style</a:t>
            </a:r>
            <a:r>
              <a:rPr lang="pt-BR" sz="2400" b="1" dirty="0">
                <a:solidFill>
                  <a:srgbClr val="002060"/>
                </a:solidFill>
                <a:latin typeface="Arial" panose="020B0604020202020204" pitchFamily="34" charset="0"/>
                <a:cs typeface="Arial" panose="020B0604020202020204" pitchFamily="34" charset="0"/>
              </a:rPr>
              <a:t>&gt;</a:t>
            </a:r>
          </a:p>
        </p:txBody>
      </p:sp>
      <p:sp>
        <p:nvSpPr>
          <p:cNvPr id="9" name="Retângulo Arredondado 8"/>
          <p:cNvSpPr/>
          <p:nvPr/>
        </p:nvSpPr>
        <p:spPr>
          <a:xfrm>
            <a:off x="731520" y="1063822"/>
            <a:ext cx="11312435" cy="1789612"/>
          </a:xfrm>
          <a:prstGeom prst="roundRect">
            <a:avLst/>
          </a:prstGeom>
          <a:noFill/>
          <a:ln w="57150">
            <a:solidFill>
              <a:srgbClr val="340ED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p:cNvSpPr/>
          <p:nvPr/>
        </p:nvSpPr>
        <p:spPr>
          <a:xfrm>
            <a:off x="979714" y="3054008"/>
            <a:ext cx="8400056" cy="830997"/>
          </a:xfrm>
          <a:prstGeom prst="rect">
            <a:avLst/>
          </a:prstGeom>
        </p:spPr>
        <p:txBody>
          <a:bodyPr wrap="none">
            <a:spAutoFit/>
          </a:bodyPr>
          <a:lstStyle/>
          <a:p>
            <a:r>
              <a:rPr lang="pt-BR" sz="2400" b="1" dirty="0">
                <a:solidFill>
                  <a:srgbClr val="002060"/>
                </a:solidFill>
                <a:latin typeface="Arial" panose="020B0604020202020204" pitchFamily="34" charset="0"/>
                <a:cs typeface="Arial" panose="020B0604020202020204" pitchFamily="34" charset="0"/>
              </a:rPr>
              <a:t>Se for arquivo separado, salve com a extensão .</a:t>
            </a:r>
            <a:r>
              <a:rPr lang="pt-BR" sz="2400" b="1" dirty="0" err="1">
                <a:solidFill>
                  <a:srgbClr val="002060"/>
                </a:solidFill>
                <a:latin typeface="Arial" panose="020B0604020202020204" pitchFamily="34" charset="0"/>
                <a:cs typeface="Arial" panose="020B0604020202020204" pitchFamily="34" charset="0"/>
              </a:rPr>
              <a:t>css</a:t>
            </a:r>
            <a:endParaRPr lang="pt-BR" sz="2400" b="1" dirty="0">
              <a:solidFill>
                <a:srgbClr val="002060"/>
              </a:solidFill>
              <a:latin typeface="Arial" panose="020B0604020202020204" pitchFamily="34" charset="0"/>
              <a:cs typeface="Arial" panose="020B0604020202020204" pitchFamily="34" charset="0"/>
            </a:endParaRPr>
          </a:p>
          <a:p>
            <a:r>
              <a:rPr lang="pt-BR" sz="2400" b="1" dirty="0">
                <a:solidFill>
                  <a:srgbClr val="002060"/>
                </a:solidFill>
                <a:latin typeface="Arial" panose="020B0604020202020204" pitchFamily="34" charset="0"/>
                <a:cs typeface="Arial" panose="020B0604020202020204" pitchFamily="34" charset="0"/>
              </a:rPr>
              <a:t>Para incluí-lo no arquivo </a:t>
            </a:r>
            <a:r>
              <a:rPr lang="pt-BR" sz="2400" b="1" dirty="0" err="1">
                <a:solidFill>
                  <a:srgbClr val="002060"/>
                </a:solidFill>
                <a:latin typeface="Arial" panose="020B0604020202020204" pitchFamily="34" charset="0"/>
                <a:cs typeface="Arial" panose="020B0604020202020204" pitchFamily="34" charset="0"/>
              </a:rPr>
              <a:t>html</a:t>
            </a:r>
            <a:r>
              <a:rPr lang="pt-BR" sz="2400" b="1" dirty="0">
                <a:solidFill>
                  <a:srgbClr val="002060"/>
                </a:solidFill>
                <a:latin typeface="Arial" panose="020B0604020202020204" pitchFamily="34" charset="0"/>
                <a:cs typeface="Arial" panose="020B0604020202020204" pitchFamily="34" charset="0"/>
              </a:rPr>
              <a:t>, use a tag link, veja como:</a:t>
            </a:r>
          </a:p>
        </p:txBody>
      </p:sp>
      <p:grpSp>
        <p:nvGrpSpPr>
          <p:cNvPr id="11" name="Agrupar 10"/>
          <p:cNvGrpSpPr/>
          <p:nvPr/>
        </p:nvGrpSpPr>
        <p:grpSpPr>
          <a:xfrm>
            <a:off x="2420983" y="4150889"/>
            <a:ext cx="7933508" cy="2072760"/>
            <a:chOff x="1641567" y="4538616"/>
            <a:chExt cx="7933508" cy="2072760"/>
          </a:xfrm>
        </p:grpSpPr>
        <p:sp>
          <p:nvSpPr>
            <p:cNvPr id="12" name="Retângulo 11"/>
            <p:cNvSpPr/>
            <p:nvPr/>
          </p:nvSpPr>
          <p:spPr>
            <a:xfrm>
              <a:off x="1968136" y="4605500"/>
              <a:ext cx="7306493" cy="1938992"/>
            </a:xfrm>
            <a:prstGeom prst="rect">
              <a:avLst/>
            </a:prstGeom>
          </p:spPr>
          <p:txBody>
            <a:bodyPr wrap="square">
              <a:spAutoFit/>
            </a:bodyPr>
            <a:lstStyle/>
            <a:p>
              <a:r>
                <a:rPr lang="pt-BR" sz="2400" b="1" dirty="0">
                  <a:solidFill>
                    <a:srgbClr val="002060"/>
                  </a:solidFill>
                  <a:latin typeface="Arial" panose="020B0604020202020204" pitchFamily="34" charset="0"/>
                  <a:cs typeface="Arial" panose="020B0604020202020204" pitchFamily="34" charset="0"/>
                </a:rPr>
                <a:t>&lt;</a:t>
              </a:r>
              <a:r>
                <a:rPr lang="pt-BR" sz="2400" b="1" dirty="0" err="1">
                  <a:solidFill>
                    <a:srgbClr val="002060"/>
                  </a:solidFill>
                  <a:latin typeface="Arial" panose="020B0604020202020204" pitchFamily="34" charset="0"/>
                  <a:cs typeface="Arial" panose="020B0604020202020204" pitchFamily="34" charset="0"/>
                </a:rPr>
                <a:t>head</a:t>
              </a:r>
              <a:r>
                <a:rPr lang="pt-BR" sz="2400" b="1" dirty="0">
                  <a:solidFill>
                    <a:srgbClr val="002060"/>
                  </a:solidFill>
                  <a:latin typeface="Arial" panose="020B0604020202020204" pitchFamily="34" charset="0"/>
                  <a:cs typeface="Arial" panose="020B0604020202020204" pitchFamily="34" charset="0"/>
                </a:rPr>
                <a:t>&gt;</a:t>
              </a:r>
            </a:p>
            <a:p>
              <a:r>
                <a:rPr lang="pt-BR" sz="2400" b="1" dirty="0">
                  <a:solidFill>
                    <a:srgbClr val="002060"/>
                  </a:solidFill>
                  <a:latin typeface="Arial" panose="020B0604020202020204" pitchFamily="34" charset="0"/>
                  <a:cs typeface="Arial" panose="020B0604020202020204" pitchFamily="34" charset="0"/>
                </a:rPr>
                <a:t>	&lt;link </a:t>
              </a:r>
              <a:r>
                <a:rPr lang="pt-BR" sz="2400" b="1" dirty="0" err="1">
                  <a:solidFill>
                    <a:srgbClr val="002060"/>
                  </a:solidFill>
                  <a:latin typeface="Arial" panose="020B0604020202020204" pitchFamily="34" charset="0"/>
                  <a:cs typeface="Arial" panose="020B0604020202020204" pitchFamily="34" charset="0"/>
                </a:rPr>
                <a:t>href</a:t>
              </a:r>
              <a:r>
                <a:rPr lang="pt-BR" sz="2400" b="1" dirty="0">
                  <a:solidFill>
                    <a:srgbClr val="002060"/>
                  </a:solidFill>
                  <a:latin typeface="Arial" panose="020B0604020202020204" pitchFamily="34" charset="0"/>
                  <a:cs typeface="Arial" panose="020B0604020202020204" pitchFamily="34" charset="0"/>
                </a:rPr>
                <a:t>=“estilos.css” </a:t>
              </a:r>
              <a:r>
                <a:rPr lang="pt-BR" sz="2400" b="1" dirty="0" err="1">
                  <a:solidFill>
                    <a:srgbClr val="002060"/>
                  </a:solidFill>
                  <a:latin typeface="Arial" panose="020B0604020202020204" pitchFamily="34" charset="0"/>
                  <a:cs typeface="Arial" panose="020B0604020202020204" pitchFamily="34" charset="0"/>
                </a:rPr>
                <a:t>rel</a:t>
              </a:r>
              <a:r>
                <a:rPr lang="pt-BR" sz="2400" b="1" dirty="0">
                  <a:solidFill>
                    <a:srgbClr val="002060"/>
                  </a:solidFill>
                  <a:latin typeface="Arial" panose="020B0604020202020204" pitchFamily="34" charset="0"/>
                  <a:cs typeface="Arial" panose="020B0604020202020204" pitchFamily="34" charset="0"/>
                </a:rPr>
                <a:t> = “</a:t>
              </a:r>
              <a:r>
                <a:rPr lang="pt-BR" sz="2400" b="1" dirty="0" err="1">
                  <a:solidFill>
                    <a:srgbClr val="002060"/>
                  </a:solidFill>
                  <a:latin typeface="Arial" panose="020B0604020202020204" pitchFamily="34" charset="0"/>
                  <a:cs typeface="Arial" panose="020B0604020202020204" pitchFamily="34" charset="0"/>
                </a:rPr>
                <a:t>stylesheet</a:t>
              </a:r>
              <a:r>
                <a:rPr lang="pt-BR" sz="2400" b="1" dirty="0">
                  <a:solidFill>
                    <a:srgbClr val="002060"/>
                  </a:solidFill>
                  <a:latin typeface="Arial" panose="020B0604020202020204" pitchFamily="34" charset="0"/>
                  <a:cs typeface="Arial" panose="020B0604020202020204" pitchFamily="34" charset="0"/>
                </a:rPr>
                <a:t>”&gt;</a:t>
              </a:r>
            </a:p>
            <a:p>
              <a:r>
                <a:rPr lang="pt-BR" sz="2400" b="1" dirty="0">
                  <a:solidFill>
                    <a:srgbClr val="002060"/>
                  </a:solidFill>
                  <a:latin typeface="Arial" panose="020B0604020202020204" pitchFamily="34" charset="0"/>
                  <a:cs typeface="Arial" panose="020B0604020202020204" pitchFamily="34" charset="0"/>
                </a:rPr>
                <a:t>	&lt;meta </a:t>
              </a:r>
              <a:r>
                <a:rPr lang="pt-BR" sz="2400" b="1" dirty="0" err="1">
                  <a:solidFill>
                    <a:srgbClr val="002060"/>
                  </a:solidFill>
                  <a:latin typeface="Arial" panose="020B0604020202020204" pitchFamily="34" charset="0"/>
                  <a:cs typeface="Arial" panose="020B0604020202020204" pitchFamily="34" charset="0"/>
                </a:rPr>
                <a:t>charset</a:t>
              </a:r>
              <a:r>
                <a:rPr lang="pt-BR" sz="2400" b="1" dirty="0">
                  <a:solidFill>
                    <a:srgbClr val="002060"/>
                  </a:solidFill>
                  <a:latin typeface="Arial" panose="020B0604020202020204" pitchFamily="34" charset="0"/>
                  <a:cs typeface="Arial" panose="020B0604020202020204" pitchFamily="34" charset="0"/>
                </a:rPr>
                <a:t>=“UTF-8”&gt;</a:t>
              </a:r>
            </a:p>
            <a:p>
              <a:r>
                <a:rPr lang="pt-BR" sz="2400" b="1" dirty="0">
                  <a:solidFill>
                    <a:srgbClr val="002060"/>
                  </a:solidFill>
                  <a:latin typeface="Arial" panose="020B0604020202020204" pitchFamily="34" charset="0"/>
                  <a:cs typeface="Arial" panose="020B0604020202020204" pitchFamily="34" charset="0"/>
                </a:rPr>
                <a:t>	&lt;</a:t>
              </a:r>
              <a:r>
                <a:rPr lang="pt-BR" sz="2400" b="1" dirty="0" err="1">
                  <a:solidFill>
                    <a:srgbClr val="002060"/>
                  </a:solidFill>
                  <a:latin typeface="Arial" panose="020B0604020202020204" pitchFamily="34" charset="0"/>
                  <a:cs typeface="Arial" panose="020B0604020202020204" pitchFamily="34" charset="0"/>
                </a:rPr>
                <a:t>title</a:t>
              </a:r>
              <a:r>
                <a:rPr lang="pt-BR" sz="2400" b="1" dirty="0">
                  <a:solidFill>
                    <a:srgbClr val="002060"/>
                  </a:solidFill>
                  <a:latin typeface="Arial" panose="020B0604020202020204" pitchFamily="34" charset="0"/>
                  <a:cs typeface="Arial" panose="020B0604020202020204" pitchFamily="34" charset="0"/>
                </a:rPr>
                <a:t>&gt;Página de Estilos&lt;/</a:t>
              </a:r>
              <a:r>
                <a:rPr lang="pt-BR" sz="2400" b="1" dirty="0" err="1">
                  <a:solidFill>
                    <a:srgbClr val="002060"/>
                  </a:solidFill>
                  <a:latin typeface="Arial" panose="020B0604020202020204" pitchFamily="34" charset="0"/>
                  <a:cs typeface="Arial" panose="020B0604020202020204" pitchFamily="34" charset="0"/>
                </a:rPr>
                <a:t>title</a:t>
              </a:r>
              <a:r>
                <a:rPr lang="pt-BR" sz="2400" b="1" dirty="0">
                  <a:solidFill>
                    <a:srgbClr val="002060"/>
                  </a:solidFill>
                  <a:latin typeface="Arial" panose="020B0604020202020204" pitchFamily="34" charset="0"/>
                  <a:cs typeface="Arial" panose="020B0604020202020204" pitchFamily="34" charset="0"/>
                </a:rPr>
                <a:t>&gt;</a:t>
              </a:r>
            </a:p>
            <a:p>
              <a:r>
                <a:rPr lang="pt-BR" sz="2400" b="1" dirty="0">
                  <a:solidFill>
                    <a:srgbClr val="002060"/>
                  </a:solidFill>
                  <a:latin typeface="Arial" panose="020B0604020202020204" pitchFamily="34" charset="0"/>
                  <a:cs typeface="Arial" panose="020B0604020202020204" pitchFamily="34" charset="0"/>
                </a:rPr>
                <a:t>&lt;/</a:t>
              </a:r>
              <a:r>
                <a:rPr lang="pt-BR" sz="2400" b="1" dirty="0" err="1">
                  <a:solidFill>
                    <a:srgbClr val="002060"/>
                  </a:solidFill>
                  <a:latin typeface="Arial" panose="020B0604020202020204" pitchFamily="34" charset="0"/>
                  <a:cs typeface="Arial" panose="020B0604020202020204" pitchFamily="34" charset="0"/>
                </a:rPr>
                <a:t>head</a:t>
              </a:r>
              <a:r>
                <a:rPr lang="pt-BR" sz="2400" b="1" dirty="0">
                  <a:solidFill>
                    <a:srgbClr val="002060"/>
                  </a:solidFill>
                  <a:latin typeface="Arial" panose="020B0604020202020204" pitchFamily="34" charset="0"/>
                  <a:cs typeface="Arial" panose="020B0604020202020204" pitchFamily="34" charset="0"/>
                </a:rPr>
                <a:t>&gt;</a:t>
              </a:r>
            </a:p>
          </p:txBody>
        </p:sp>
        <p:sp>
          <p:nvSpPr>
            <p:cNvPr id="13" name="Retângulo Arredondado 12"/>
            <p:cNvSpPr/>
            <p:nvPr/>
          </p:nvSpPr>
          <p:spPr>
            <a:xfrm>
              <a:off x="1641567" y="4538616"/>
              <a:ext cx="7933508" cy="2072760"/>
            </a:xfrm>
            <a:prstGeom prst="roundRect">
              <a:avLst/>
            </a:prstGeom>
            <a:noFill/>
            <a:ln w="57150">
              <a:solidFill>
                <a:srgbClr val="340ED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14" name="Espaço Reservado para Número de Slide 13"/>
          <p:cNvSpPr>
            <a:spLocks noGrp="1"/>
          </p:cNvSpPr>
          <p:nvPr>
            <p:ph type="sldNum" sz="quarter" idx="12"/>
          </p:nvPr>
        </p:nvSpPr>
        <p:spPr/>
        <p:txBody>
          <a:bodyPr/>
          <a:lstStyle/>
          <a:p>
            <a:fld id="{8256F83C-9D86-480B-90E0-0702DBEB9457}" type="slidenum">
              <a:rPr lang="pt-BR" smtClean="0"/>
              <a:t>54</a:t>
            </a:fld>
            <a:endParaRPr lang="pt-BR"/>
          </a:p>
        </p:txBody>
      </p:sp>
    </p:spTree>
    <p:extLst>
      <p:ext uri="{BB962C8B-B14F-4D97-AF65-F5344CB8AC3E}">
        <p14:creationId xmlns:p14="http://schemas.microsoft.com/office/powerpoint/2010/main" val="3195012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822961" y="553273"/>
            <a:ext cx="11051178" cy="830997"/>
          </a:xfrm>
          <a:prstGeom prst="rect">
            <a:avLst/>
          </a:prstGeom>
        </p:spPr>
        <p:txBody>
          <a:bodyPr wrap="square">
            <a:spAutoFit/>
          </a:bodyPr>
          <a:lstStyle/>
          <a:p>
            <a:pPr algn="just"/>
            <a:r>
              <a:rPr lang="pt-BR" sz="2400" b="1" dirty="0">
                <a:solidFill>
                  <a:srgbClr val="002060"/>
                </a:solidFill>
                <a:latin typeface="Arial" panose="020B0604020202020204" pitchFamily="34" charset="0"/>
                <a:cs typeface="Arial" panose="020B0604020202020204" pitchFamily="34" charset="0"/>
              </a:rPr>
              <a:t>Outra possibilidade de incluir um atributo de estilo diretamente na tag. Veja como:</a:t>
            </a:r>
          </a:p>
        </p:txBody>
      </p:sp>
      <p:grpSp>
        <p:nvGrpSpPr>
          <p:cNvPr id="3" name="Agrupar 2"/>
          <p:cNvGrpSpPr/>
          <p:nvPr/>
        </p:nvGrpSpPr>
        <p:grpSpPr>
          <a:xfrm>
            <a:off x="1256628" y="1651579"/>
            <a:ext cx="10183843" cy="4572763"/>
            <a:chOff x="1313937" y="4538615"/>
            <a:chExt cx="8959361" cy="6312925"/>
          </a:xfrm>
        </p:grpSpPr>
        <p:sp>
          <p:nvSpPr>
            <p:cNvPr id="4" name="Retângulo 3"/>
            <p:cNvSpPr/>
            <p:nvPr/>
          </p:nvSpPr>
          <p:spPr>
            <a:xfrm>
              <a:off x="1641567" y="4605500"/>
              <a:ext cx="8631731" cy="6246040"/>
            </a:xfrm>
            <a:prstGeom prst="rect">
              <a:avLst/>
            </a:prstGeom>
          </p:spPr>
          <p:txBody>
            <a:bodyPr wrap="square">
              <a:spAutoFit/>
            </a:bodyPr>
            <a:lstStyle/>
            <a:p>
              <a:r>
                <a:rPr lang="pt-BR" sz="2400" b="1" dirty="0">
                  <a:solidFill>
                    <a:srgbClr val="002060"/>
                  </a:solidFill>
                  <a:latin typeface="Arial" panose="020B0604020202020204" pitchFamily="34" charset="0"/>
                  <a:cs typeface="Arial" panose="020B0604020202020204" pitchFamily="34" charset="0"/>
                </a:rPr>
                <a:t>&lt;</a:t>
              </a:r>
              <a:r>
                <a:rPr lang="pt-BR" sz="2400" b="1" dirty="0" err="1">
                  <a:solidFill>
                    <a:srgbClr val="002060"/>
                  </a:solidFill>
                  <a:latin typeface="Arial" panose="020B0604020202020204" pitchFamily="34" charset="0"/>
                  <a:cs typeface="Arial" panose="020B0604020202020204" pitchFamily="34" charset="0"/>
                </a:rPr>
                <a:t>head</a:t>
              </a:r>
              <a:r>
                <a:rPr lang="pt-BR" sz="2400" b="1" dirty="0">
                  <a:solidFill>
                    <a:srgbClr val="002060"/>
                  </a:solidFill>
                  <a:latin typeface="Arial" panose="020B0604020202020204" pitchFamily="34" charset="0"/>
                  <a:cs typeface="Arial" panose="020B0604020202020204" pitchFamily="34" charset="0"/>
                </a:rPr>
                <a:t>&gt;</a:t>
              </a:r>
            </a:p>
            <a:p>
              <a:endParaRPr lang="pt-BR" sz="2400" b="1" dirty="0">
                <a:solidFill>
                  <a:srgbClr val="002060"/>
                </a:solidFill>
                <a:latin typeface="Arial" panose="020B0604020202020204" pitchFamily="34" charset="0"/>
                <a:cs typeface="Arial" panose="020B0604020202020204" pitchFamily="34" charset="0"/>
              </a:endParaRPr>
            </a:p>
            <a:p>
              <a:r>
                <a:rPr lang="pt-BR" sz="2400" b="1" dirty="0">
                  <a:solidFill>
                    <a:srgbClr val="002060"/>
                  </a:solidFill>
                  <a:latin typeface="Arial" panose="020B0604020202020204" pitchFamily="34" charset="0"/>
                  <a:cs typeface="Arial" panose="020B0604020202020204" pitchFamily="34" charset="0"/>
                </a:rPr>
                <a:t>	&lt;meta </a:t>
              </a:r>
              <a:r>
                <a:rPr lang="pt-BR" sz="2400" b="1" dirty="0" err="1">
                  <a:solidFill>
                    <a:srgbClr val="002060"/>
                  </a:solidFill>
                  <a:latin typeface="Arial" panose="020B0604020202020204" pitchFamily="34" charset="0"/>
                  <a:cs typeface="Arial" panose="020B0604020202020204" pitchFamily="34" charset="0"/>
                </a:rPr>
                <a:t>charset</a:t>
              </a:r>
              <a:r>
                <a:rPr lang="pt-BR" sz="2400" b="1" dirty="0">
                  <a:solidFill>
                    <a:srgbClr val="002060"/>
                  </a:solidFill>
                  <a:latin typeface="Arial" panose="020B0604020202020204" pitchFamily="34" charset="0"/>
                  <a:cs typeface="Arial" panose="020B0604020202020204" pitchFamily="34" charset="0"/>
                </a:rPr>
                <a:t>=“UTF-8”&gt;</a:t>
              </a:r>
            </a:p>
            <a:p>
              <a:r>
                <a:rPr lang="pt-BR" sz="2400" b="1" dirty="0">
                  <a:solidFill>
                    <a:srgbClr val="002060"/>
                  </a:solidFill>
                  <a:latin typeface="Arial" panose="020B0604020202020204" pitchFamily="34" charset="0"/>
                  <a:cs typeface="Arial" panose="020B0604020202020204" pitchFamily="34" charset="0"/>
                </a:rPr>
                <a:t>	&lt;</a:t>
              </a:r>
              <a:r>
                <a:rPr lang="pt-BR" sz="2400" b="1" dirty="0" err="1">
                  <a:solidFill>
                    <a:srgbClr val="002060"/>
                  </a:solidFill>
                  <a:latin typeface="Arial" panose="020B0604020202020204" pitchFamily="34" charset="0"/>
                  <a:cs typeface="Arial" panose="020B0604020202020204" pitchFamily="34" charset="0"/>
                </a:rPr>
                <a:t>title</a:t>
              </a:r>
              <a:r>
                <a:rPr lang="pt-BR" sz="2400" b="1" dirty="0">
                  <a:solidFill>
                    <a:srgbClr val="002060"/>
                  </a:solidFill>
                  <a:latin typeface="Arial" panose="020B0604020202020204" pitchFamily="34" charset="0"/>
                  <a:cs typeface="Arial" panose="020B0604020202020204" pitchFamily="34" charset="0"/>
                </a:rPr>
                <a:t>&gt;Página de Estilos&lt;/</a:t>
              </a:r>
              <a:r>
                <a:rPr lang="pt-BR" sz="2400" b="1" dirty="0" err="1">
                  <a:solidFill>
                    <a:srgbClr val="002060"/>
                  </a:solidFill>
                  <a:latin typeface="Arial" panose="020B0604020202020204" pitchFamily="34" charset="0"/>
                  <a:cs typeface="Arial" panose="020B0604020202020204" pitchFamily="34" charset="0"/>
                </a:rPr>
                <a:t>title</a:t>
              </a:r>
              <a:r>
                <a:rPr lang="pt-BR" sz="2400" b="1" dirty="0">
                  <a:solidFill>
                    <a:srgbClr val="002060"/>
                  </a:solidFill>
                  <a:latin typeface="Arial" panose="020B0604020202020204" pitchFamily="34" charset="0"/>
                  <a:cs typeface="Arial" panose="020B0604020202020204" pitchFamily="34" charset="0"/>
                </a:rPr>
                <a:t>&gt;</a:t>
              </a:r>
            </a:p>
            <a:p>
              <a:endParaRPr lang="pt-BR" sz="2400" b="1" dirty="0">
                <a:solidFill>
                  <a:srgbClr val="002060"/>
                </a:solidFill>
                <a:latin typeface="Arial" panose="020B0604020202020204" pitchFamily="34" charset="0"/>
                <a:cs typeface="Arial" panose="020B0604020202020204" pitchFamily="34" charset="0"/>
              </a:endParaRPr>
            </a:p>
            <a:p>
              <a:r>
                <a:rPr lang="pt-BR" sz="2400" b="1" dirty="0">
                  <a:solidFill>
                    <a:srgbClr val="002060"/>
                  </a:solidFill>
                  <a:latin typeface="Arial" panose="020B0604020202020204" pitchFamily="34" charset="0"/>
                  <a:cs typeface="Arial" panose="020B0604020202020204" pitchFamily="34" charset="0"/>
                </a:rPr>
                <a:t>&lt;/</a:t>
              </a:r>
              <a:r>
                <a:rPr lang="pt-BR" sz="2400" b="1" dirty="0" err="1">
                  <a:solidFill>
                    <a:srgbClr val="002060"/>
                  </a:solidFill>
                  <a:latin typeface="Arial" panose="020B0604020202020204" pitchFamily="34" charset="0"/>
                  <a:cs typeface="Arial" panose="020B0604020202020204" pitchFamily="34" charset="0"/>
                </a:rPr>
                <a:t>head</a:t>
              </a:r>
              <a:r>
                <a:rPr lang="pt-BR" sz="2400" b="1" dirty="0">
                  <a:solidFill>
                    <a:srgbClr val="002060"/>
                  </a:solidFill>
                  <a:latin typeface="Arial" panose="020B0604020202020204" pitchFamily="34" charset="0"/>
                  <a:cs typeface="Arial" panose="020B0604020202020204" pitchFamily="34" charset="0"/>
                </a:rPr>
                <a:t>&gt;</a:t>
              </a:r>
            </a:p>
            <a:p>
              <a:endParaRPr lang="pt-BR" sz="2400" b="1" dirty="0">
                <a:solidFill>
                  <a:srgbClr val="002060"/>
                </a:solidFill>
                <a:latin typeface="Arial" panose="020B0604020202020204" pitchFamily="34" charset="0"/>
                <a:cs typeface="Arial" panose="020B0604020202020204" pitchFamily="34" charset="0"/>
              </a:endParaRPr>
            </a:p>
            <a:p>
              <a:r>
                <a:rPr lang="pt-BR" sz="2400" b="1" dirty="0">
                  <a:solidFill>
                    <a:srgbClr val="002060"/>
                  </a:solidFill>
                  <a:latin typeface="Arial" panose="020B0604020202020204" pitchFamily="34" charset="0"/>
                  <a:cs typeface="Arial" panose="020B0604020202020204" pitchFamily="34" charset="0"/>
                </a:rPr>
                <a:t>&lt;</a:t>
              </a:r>
              <a:r>
                <a:rPr lang="pt-BR" sz="2400" b="1" dirty="0" err="1">
                  <a:solidFill>
                    <a:srgbClr val="002060"/>
                  </a:solidFill>
                  <a:latin typeface="Arial" panose="020B0604020202020204" pitchFamily="34" charset="0"/>
                  <a:cs typeface="Arial" panose="020B0604020202020204" pitchFamily="34" charset="0"/>
                </a:rPr>
                <a:t>body</a:t>
              </a:r>
              <a:r>
                <a:rPr lang="pt-BR" sz="2400" b="1" dirty="0">
                  <a:solidFill>
                    <a:srgbClr val="002060"/>
                  </a:solidFill>
                  <a:latin typeface="Arial" panose="020B0604020202020204" pitchFamily="34" charset="0"/>
                  <a:cs typeface="Arial" panose="020B0604020202020204" pitchFamily="34" charset="0"/>
                </a:rPr>
                <a:t>&gt;</a:t>
              </a:r>
            </a:p>
            <a:p>
              <a:endParaRPr lang="pt-BR" sz="2400" b="1" dirty="0">
                <a:solidFill>
                  <a:srgbClr val="002060"/>
                </a:solidFill>
                <a:latin typeface="Arial" panose="020B0604020202020204" pitchFamily="34" charset="0"/>
                <a:cs typeface="Arial" panose="020B0604020202020204" pitchFamily="34" charset="0"/>
              </a:endParaRPr>
            </a:p>
            <a:p>
              <a:r>
                <a:rPr lang="pt-BR" sz="2400" b="1" dirty="0">
                  <a:solidFill>
                    <a:srgbClr val="002060"/>
                  </a:solidFill>
                  <a:latin typeface="Arial" panose="020B0604020202020204" pitchFamily="34" charset="0"/>
                  <a:cs typeface="Arial" panose="020B0604020202020204" pitchFamily="34" charset="0"/>
                </a:rPr>
                <a:t>	&lt;h1 </a:t>
              </a:r>
              <a:r>
                <a:rPr lang="pt-BR" sz="2400" b="1" dirty="0" err="1">
                  <a:solidFill>
                    <a:srgbClr val="002060"/>
                  </a:solidFill>
                  <a:latin typeface="Arial" panose="020B0604020202020204" pitchFamily="34" charset="0"/>
                  <a:cs typeface="Arial" panose="020B0604020202020204" pitchFamily="34" charset="0"/>
                </a:rPr>
                <a:t>style</a:t>
              </a:r>
              <a:r>
                <a:rPr lang="pt-BR" sz="2400" b="1" dirty="0">
                  <a:solidFill>
                    <a:srgbClr val="002060"/>
                  </a:solidFill>
                  <a:latin typeface="Arial" panose="020B0604020202020204" pitchFamily="34" charset="0"/>
                  <a:cs typeface="Arial" panose="020B0604020202020204" pitchFamily="34" charset="0"/>
                </a:rPr>
                <a:t>= “color: </a:t>
              </a:r>
              <a:r>
                <a:rPr lang="pt-BR" sz="2400" b="1" dirty="0" err="1">
                  <a:solidFill>
                    <a:srgbClr val="002060"/>
                  </a:solidFill>
                  <a:latin typeface="Arial" panose="020B0604020202020204" pitchFamily="34" charset="0"/>
                  <a:cs typeface="Arial" panose="020B0604020202020204" pitchFamily="34" charset="0"/>
                </a:rPr>
                <a:t>red</a:t>
              </a:r>
              <a:r>
                <a:rPr lang="pt-BR" sz="2400" b="1" dirty="0">
                  <a:solidFill>
                    <a:srgbClr val="002060"/>
                  </a:solidFill>
                  <a:latin typeface="Arial" panose="020B0604020202020204" pitchFamily="34" charset="0"/>
                  <a:cs typeface="Arial" panose="020B0604020202020204" pitchFamily="34" charset="0"/>
                </a:rPr>
                <a:t>”&gt;Título com um estilo de cor &lt;/h1&gt;</a:t>
              </a:r>
            </a:p>
            <a:p>
              <a:endParaRPr lang="pt-BR" sz="2400" b="1" dirty="0">
                <a:solidFill>
                  <a:srgbClr val="002060"/>
                </a:solidFill>
                <a:latin typeface="Arial" panose="020B0604020202020204" pitchFamily="34" charset="0"/>
                <a:cs typeface="Arial" panose="020B0604020202020204" pitchFamily="34" charset="0"/>
              </a:endParaRPr>
            </a:p>
            <a:p>
              <a:r>
                <a:rPr lang="pt-BR" sz="2400" b="1" dirty="0">
                  <a:solidFill>
                    <a:srgbClr val="002060"/>
                  </a:solidFill>
                  <a:latin typeface="Arial" panose="020B0604020202020204" pitchFamily="34" charset="0"/>
                  <a:cs typeface="Arial" panose="020B0604020202020204" pitchFamily="34" charset="0"/>
                </a:rPr>
                <a:t>&lt;/</a:t>
              </a:r>
              <a:r>
                <a:rPr lang="pt-BR" sz="2400" b="1" dirty="0" err="1">
                  <a:solidFill>
                    <a:srgbClr val="002060"/>
                  </a:solidFill>
                  <a:latin typeface="Arial" panose="020B0604020202020204" pitchFamily="34" charset="0"/>
                  <a:cs typeface="Arial" panose="020B0604020202020204" pitchFamily="34" charset="0"/>
                </a:rPr>
                <a:t>body</a:t>
              </a:r>
              <a:r>
                <a:rPr lang="pt-BR" sz="2400" b="1" dirty="0">
                  <a:solidFill>
                    <a:srgbClr val="002060"/>
                  </a:solidFill>
                  <a:latin typeface="Arial" panose="020B0604020202020204" pitchFamily="34" charset="0"/>
                  <a:cs typeface="Arial" panose="020B0604020202020204" pitchFamily="34" charset="0"/>
                </a:rPr>
                <a:t>&gt;</a:t>
              </a:r>
            </a:p>
          </p:txBody>
        </p:sp>
        <p:sp>
          <p:nvSpPr>
            <p:cNvPr id="5" name="Retângulo Arredondado 4"/>
            <p:cNvSpPr/>
            <p:nvPr/>
          </p:nvSpPr>
          <p:spPr>
            <a:xfrm>
              <a:off x="1313937" y="4538615"/>
              <a:ext cx="8959360" cy="6312925"/>
            </a:xfrm>
            <a:prstGeom prst="roundRect">
              <a:avLst/>
            </a:prstGeom>
            <a:noFill/>
            <a:ln w="57150">
              <a:solidFill>
                <a:srgbClr val="340ED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6" name="Espaço Reservado para Número de Slide 5"/>
          <p:cNvSpPr>
            <a:spLocks noGrp="1"/>
          </p:cNvSpPr>
          <p:nvPr>
            <p:ph type="sldNum" sz="quarter" idx="12"/>
          </p:nvPr>
        </p:nvSpPr>
        <p:spPr/>
        <p:txBody>
          <a:bodyPr/>
          <a:lstStyle/>
          <a:p>
            <a:fld id="{8256F83C-9D86-480B-90E0-0702DBEB9457}" type="slidenum">
              <a:rPr lang="pt-BR" smtClean="0"/>
              <a:t>55</a:t>
            </a:fld>
            <a:endParaRPr lang="pt-BR"/>
          </a:p>
        </p:txBody>
      </p:sp>
    </p:spTree>
    <p:extLst>
      <p:ext uri="{BB962C8B-B14F-4D97-AF65-F5344CB8AC3E}">
        <p14:creationId xmlns:p14="http://schemas.microsoft.com/office/powerpoint/2010/main" val="10727395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ângulo 2"/>
          <p:cNvSpPr/>
          <p:nvPr/>
        </p:nvSpPr>
        <p:spPr>
          <a:xfrm>
            <a:off x="613954" y="779155"/>
            <a:ext cx="11051177" cy="707886"/>
          </a:xfrm>
          <a:prstGeom prst="rect">
            <a:avLst/>
          </a:prstGeom>
        </p:spPr>
        <p:txBody>
          <a:bodyPr wrap="square">
            <a:spAutoFit/>
          </a:bodyPr>
          <a:lstStyle/>
          <a:p>
            <a:pPr algn="just"/>
            <a:r>
              <a:rPr lang="pt-BR" sz="2000" b="1" dirty="0">
                <a:solidFill>
                  <a:srgbClr val="002060"/>
                </a:solidFill>
                <a:latin typeface="Arial" panose="020B0604020202020204" pitchFamily="34" charset="0"/>
                <a:cs typeface="Arial" panose="020B0604020202020204" pitchFamily="34" charset="0"/>
              </a:rPr>
              <a:t>Todas as formas de seletores vistos até aqui atendem boa parte das aplicações, porém existem outros seletores que tornam a página mais dinâmica.</a:t>
            </a:r>
          </a:p>
        </p:txBody>
      </p:sp>
      <p:grpSp>
        <p:nvGrpSpPr>
          <p:cNvPr id="27" name="Agrupar 26"/>
          <p:cNvGrpSpPr/>
          <p:nvPr/>
        </p:nvGrpSpPr>
        <p:grpSpPr>
          <a:xfrm>
            <a:off x="1481510" y="1794357"/>
            <a:ext cx="9316064" cy="3916235"/>
            <a:chOff x="1892989" y="1794357"/>
            <a:chExt cx="9316064" cy="3916235"/>
          </a:xfrm>
        </p:grpSpPr>
        <p:sp>
          <p:nvSpPr>
            <p:cNvPr id="4" name="Retângulo 3"/>
            <p:cNvSpPr/>
            <p:nvPr/>
          </p:nvSpPr>
          <p:spPr>
            <a:xfrm>
              <a:off x="4832133" y="1794357"/>
              <a:ext cx="2614818" cy="461665"/>
            </a:xfrm>
            <a:prstGeom prst="rect">
              <a:avLst/>
            </a:prstGeom>
          </p:spPr>
          <p:txBody>
            <a:bodyPr wrap="none">
              <a:spAutoFit/>
            </a:bodyPr>
            <a:lstStyle/>
            <a:p>
              <a:r>
                <a:rPr lang="pt-BR" sz="2400" b="1" dirty="0" err="1">
                  <a:solidFill>
                    <a:srgbClr val="002060"/>
                  </a:solidFill>
                  <a:latin typeface="Arial" panose="020B0604020202020204" pitchFamily="34" charset="0"/>
                  <a:cs typeface="Arial" panose="020B0604020202020204" pitchFamily="34" charset="0"/>
                </a:rPr>
                <a:t>Pseudo-classes</a:t>
              </a:r>
              <a:r>
                <a:rPr lang="pt-BR" sz="2400" b="1" dirty="0">
                  <a:solidFill>
                    <a:srgbClr val="002060"/>
                  </a:solidFill>
                  <a:latin typeface="Arial" panose="020B0604020202020204" pitchFamily="34" charset="0"/>
                  <a:cs typeface="Arial" panose="020B0604020202020204" pitchFamily="34" charset="0"/>
                </a:rPr>
                <a:t>:</a:t>
              </a:r>
              <a:endParaRPr lang="pt-BR" sz="2400" dirty="0"/>
            </a:p>
          </p:txBody>
        </p:sp>
        <p:sp>
          <p:nvSpPr>
            <p:cNvPr id="5" name="Retângulo 4"/>
            <p:cNvSpPr/>
            <p:nvPr/>
          </p:nvSpPr>
          <p:spPr>
            <a:xfrm>
              <a:off x="1892989" y="2860766"/>
              <a:ext cx="3554221" cy="14761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err="1">
                  <a:solidFill>
                    <a:srgbClr val="FFFF00"/>
                  </a:solidFill>
                </a:rPr>
                <a:t>Pseudo-classe</a:t>
              </a:r>
              <a:r>
                <a:rPr lang="pt-BR" sz="2000" b="1" dirty="0">
                  <a:solidFill>
                    <a:srgbClr val="FFFF00"/>
                  </a:solidFill>
                </a:rPr>
                <a:t> de links</a:t>
              </a:r>
            </a:p>
            <a:p>
              <a:pPr algn="ctr"/>
              <a:endParaRPr lang="pt-BR" sz="2000" b="1" dirty="0">
                <a:solidFill>
                  <a:srgbClr val="FFFF00"/>
                </a:solidFill>
              </a:endParaRPr>
            </a:p>
            <a:p>
              <a:pPr algn="ctr"/>
              <a:r>
                <a:rPr lang="pt-BR" sz="2000" b="1" dirty="0">
                  <a:solidFill>
                    <a:srgbClr val="FFFF00"/>
                  </a:solidFill>
                </a:rPr>
                <a:t>Usado para sinalizar quando um link foi visitado (</a:t>
              </a:r>
              <a:r>
                <a:rPr lang="pt-BR" sz="2000" b="1" dirty="0" err="1">
                  <a:solidFill>
                    <a:srgbClr val="FFFF00"/>
                  </a:solidFill>
                </a:rPr>
                <a:t>visited</a:t>
              </a:r>
              <a:r>
                <a:rPr lang="pt-BR" sz="2000" b="1" dirty="0">
                  <a:solidFill>
                    <a:srgbClr val="FFFF00"/>
                  </a:solidFill>
                </a:rPr>
                <a:t>) ou não (link).</a:t>
              </a:r>
            </a:p>
          </p:txBody>
        </p:sp>
        <p:sp>
          <p:nvSpPr>
            <p:cNvPr id="6" name="Retângulo 5"/>
            <p:cNvSpPr/>
            <p:nvPr/>
          </p:nvSpPr>
          <p:spPr>
            <a:xfrm>
              <a:off x="6708337" y="2860766"/>
              <a:ext cx="3554221" cy="14761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err="1">
                  <a:solidFill>
                    <a:srgbClr val="FFFF00"/>
                  </a:solidFill>
                </a:rPr>
                <a:t>Pseudo-classe</a:t>
              </a:r>
              <a:r>
                <a:rPr lang="pt-BR" sz="2000" b="1" dirty="0">
                  <a:solidFill>
                    <a:srgbClr val="FFFF00"/>
                  </a:solidFill>
                </a:rPr>
                <a:t> interativa</a:t>
              </a:r>
            </a:p>
            <a:p>
              <a:pPr algn="ctr"/>
              <a:endParaRPr lang="pt-BR" sz="2000" b="1" dirty="0">
                <a:solidFill>
                  <a:srgbClr val="FFFF00"/>
                </a:solidFill>
              </a:endParaRPr>
            </a:p>
            <a:p>
              <a:pPr algn="ctr"/>
              <a:r>
                <a:rPr lang="pt-BR" sz="2000" b="1" dirty="0">
                  <a:solidFill>
                    <a:srgbClr val="FFFF00"/>
                  </a:solidFill>
                </a:rPr>
                <a:t>É possível selecionar elementos de acordo coma interação com o usuário.</a:t>
              </a:r>
            </a:p>
          </p:txBody>
        </p:sp>
        <p:sp>
          <p:nvSpPr>
            <p:cNvPr id="10" name="Retângulo 9"/>
            <p:cNvSpPr/>
            <p:nvPr/>
          </p:nvSpPr>
          <p:spPr>
            <a:xfrm>
              <a:off x="5761841" y="5066105"/>
              <a:ext cx="1685110" cy="6444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rgbClr val="FFFF00"/>
                  </a:solidFill>
                </a:rPr>
                <a:t>:</a:t>
              </a:r>
              <a:r>
                <a:rPr lang="pt-BR" sz="2000" b="1" dirty="0" err="1">
                  <a:solidFill>
                    <a:srgbClr val="FFFF00"/>
                  </a:solidFill>
                </a:rPr>
                <a:t>active</a:t>
              </a:r>
              <a:endParaRPr lang="pt-BR" sz="2000" b="1" dirty="0">
                <a:solidFill>
                  <a:srgbClr val="FFFF00"/>
                </a:solidFill>
              </a:endParaRPr>
            </a:p>
          </p:txBody>
        </p:sp>
        <p:sp>
          <p:nvSpPr>
            <p:cNvPr id="11" name="Retângulo 10"/>
            <p:cNvSpPr/>
            <p:nvPr/>
          </p:nvSpPr>
          <p:spPr>
            <a:xfrm>
              <a:off x="7642892" y="5066104"/>
              <a:ext cx="1685110" cy="6444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rgbClr val="FFFF00"/>
                  </a:solidFill>
                </a:rPr>
                <a:t>:</a:t>
              </a:r>
              <a:r>
                <a:rPr lang="pt-BR" sz="2000" b="1" dirty="0" err="1">
                  <a:solidFill>
                    <a:srgbClr val="FFFF00"/>
                  </a:solidFill>
                </a:rPr>
                <a:t>hover</a:t>
              </a:r>
              <a:endParaRPr lang="pt-BR" sz="2000" b="1" dirty="0">
                <a:solidFill>
                  <a:srgbClr val="FFFF00"/>
                </a:solidFill>
              </a:endParaRPr>
            </a:p>
          </p:txBody>
        </p:sp>
        <p:sp>
          <p:nvSpPr>
            <p:cNvPr id="12" name="Retângulo 11"/>
            <p:cNvSpPr/>
            <p:nvPr/>
          </p:nvSpPr>
          <p:spPr>
            <a:xfrm>
              <a:off x="9523943" y="5066103"/>
              <a:ext cx="1685110" cy="6444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solidFill>
                    <a:srgbClr val="FFFF00"/>
                  </a:solidFill>
                </a:rPr>
                <a:t>:</a:t>
              </a:r>
              <a:r>
                <a:rPr lang="pt-BR" sz="2000" b="1" dirty="0" err="1">
                  <a:solidFill>
                    <a:srgbClr val="FFFF00"/>
                  </a:solidFill>
                </a:rPr>
                <a:t>focus</a:t>
              </a:r>
              <a:endParaRPr lang="pt-BR" sz="2000" b="1" dirty="0">
                <a:solidFill>
                  <a:srgbClr val="FFFF00"/>
                </a:solidFill>
              </a:endParaRPr>
            </a:p>
          </p:txBody>
        </p:sp>
        <p:cxnSp>
          <p:nvCxnSpPr>
            <p:cNvPr id="14" name="Conector de Seta Reta 13"/>
            <p:cNvCxnSpPr>
              <a:stCxn id="4" idx="2"/>
              <a:endCxn id="5" idx="0"/>
            </p:cNvCxnSpPr>
            <p:nvPr/>
          </p:nvCxnSpPr>
          <p:spPr>
            <a:xfrm flipH="1">
              <a:off x="3670100" y="2256022"/>
              <a:ext cx="2469442" cy="60474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14"/>
            <p:cNvCxnSpPr>
              <a:stCxn id="4" idx="2"/>
              <a:endCxn id="6" idx="0"/>
            </p:cNvCxnSpPr>
            <p:nvPr/>
          </p:nvCxnSpPr>
          <p:spPr>
            <a:xfrm>
              <a:off x="6139542" y="2256022"/>
              <a:ext cx="2345906" cy="60474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17"/>
            <p:cNvCxnSpPr>
              <a:stCxn id="6" idx="2"/>
              <a:endCxn id="12" idx="0"/>
            </p:cNvCxnSpPr>
            <p:nvPr/>
          </p:nvCxnSpPr>
          <p:spPr>
            <a:xfrm>
              <a:off x="8485448" y="4336867"/>
              <a:ext cx="1881050" cy="72923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de Seta Reta 20"/>
            <p:cNvCxnSpPr>
              <a:stCxn id="6" idx="2"/>
              <a:endCxn id="11" idx="0"/>
            </p:cNvCxnSpPr>
            <p:nvPr/>
          </p:nvCxnSpPr>
          <p:spPr>
            <a:xfrm flipH="1">
              <a:off x="8485447" y="4336867"/>
              <a:ext cx="1" cy="72923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23"/>
            <p:cNvCxnSpPr>
              <a:stCxn id="6" idx="2"/>
              <a:endCxn id="10" idx="0"/>
            </p:cNvCxnSpPr>
            <p:nvPr/>
          </p:nvCxnSpPr>
          <p:spPr>
            <a:xfrm flipH="1">
              <a:off x="6604396" y="4336867"/>
              <a:ext cx="1881052" cy="72923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Espaço Reservado para Número de Slide 6"/>
          <p:cNvSpPr>
            <a:spLocks noGrp="1"/>
          </p:cNvSpPr>
          <p:nvPr>
            <p:ph type="sldNum" sz="quarter" idx="12"/>
          </p:nvPr>
        </p:nvSpPr>
        <p:spPr/>
        <p:txBody>
          <a:bodyPr/>
          <a:lstStyle/>
          <a:p>
            <a:fld id="{8256F83C-9D86-480B-90E0-0702DBEB9457}" type="slidenum">
              <a:rPr lang="pt-BR" smtClean="0"/>
              <a:t>56</a:t>
            </a:fld>
            <a:endParaRPr lang="pt-BR"/>
          </a:p>
        </p:txBody>
      </p:sp>
    </p:spTree>
    <p:extLst>
      <p:ext uri="{BB962C8B-B14F-4D97-AF65-F5344CB8AC3E}">
        <p14:creationId xmlns:p14="http://schemas.microsoft.com/office/powerpoint/2010/main" val="36087502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703943" y="508091"/>
            <a:ext cx="3737433" cy="4401205"/>
          </a:xfrm>
          <a:prstGeom prst="rect">
            <a:avLst/>
          </a:prstGeom>
        </p:spPr>
        <p:txBody>
          <a:bodyPr wrap="square">
            <a:spAutoFit/>
          </a:bodyPr>
          <a:lstStyle/>
          <a:p>
            <a:r>
              <a:rPr lang="pt-BR" sz="2000" b="1" dirty="0" err="1">
                <a:solidFill>
                  <a:srgbClr val="002060"/>
                </a:solidFill>
                <a:latin typeface="Arial" panose="020B0604020202020204" pitchFamily="34" charset="0"/>
                <a:cs typeface="Arial" panose="020B0604020202020204" pitchFamily="34" charset="0"/>
              </a:rPr>
              <a:t>Pseudo-classe</a:t>
            </a:r>
            <a:r>
              <a:rPr lang="pt-BR" sz="2000" b="1" dirty="0">
                <a:solidFill>
                  <a:srgbClr val="002060"/>
                </a:solidFill>
                <a:latin typeface="Arial" panose="020B0604020202020204" pitchFamily="34" charset="0"/>
                <a:cs typeface="Arial" panose="020B0604020202020204" pitchFamily="34" charset="0"/>
              </a:rPr>
              <a:t> de links </a:t>
            </a:r>
            <a:r>
              <a:rPr lang="pt-BR" sz="2000" b="1" dirty="0">
                <a:solidFill>
                  <a:srgbClr val="002060"/>
                </a:solidFill>
                <a:latin typeface="Arial" panose="020B0604020202020204" pitchFamily="34" charset="0"/>
                <a:cs typeface="Arial" panose="020B0604020202020204" pitchFamily="34" charset="0"/>
                <a:sym typeface="Wingdings" panose="05000000000000000000" pitchFamily="2" charset="2"/>
              </a:rPr>
              <a:t></a:t>
            </a:r>
            <a:endParaRPr lang="pt-BR" sz="2000" b="1" dirty="0">
              <a:solidFill>
                <a:srgbClr val="002060"/>
              </a:solidFill>
              <a:latin typeface="Arial" panose="020B0604020202020204" pitchFamily="34" charset="0"/>
              <a:cs typeface="Arial" panose="020B0604020202020204" pitchFamily="34" charset="0"/>
            </a:endParaRPr>
          </a:p>
          <a:p>
            <a:endParaRPr lang="pt-BR" sz="2000" b="1" dirty="0">
              <a:solidFill>
                <a:srgbClr val="002060"/>
              </a:solidFill>
              <a:latin typeface="Arial" panose="020B0604020202020204" pitchFamily="34" charset="0"/>
              <a:cs typeface="Arial" panose="020B0604020202020204" pitchFamily="34" charset="0"/>
            </a:endParaRPr>
          </a:p>
          <a:p>
            <a:r>
              <a:rPr lang="pt-BR" sz="2000" b="1" u="sng" dirty="0">
                <a:solidFill>
                  <a:srgbClr val="002060"/>
                </a:solidFill>
                <a:latin typeface="Arial" panose="020B0604020202020204" pitchFamily="34" charset="0"/>
                <a:cs typeface="Arial" panose="020B0604020202020204" pitchFamily="34" charset="0"/>
              </a:rPr>
              <a:t>Exemplo: </a:t>
            </a:r>
          </a:p>
          <a:p>
            <a:endParaRPr lang="pt-BR" sz="2000" b="1" dirty="0">
              <a:solidFill>
                <a:srgbClr val="002060"/>
              </a:solidFill>
              <a:latin typeface="Arial" panose="020B0604020202020204" pitchFamily="34" charset="0"/>
              <a:cs typeface="Arial" panose="020B0604020202020204" pitchFamily="34" charset="0"/>
            </a:endParaRPr>
          </a:p>
          <a:p>
            <a:r>
              <a:rPr lang="pt-BR" sz="2000" b="1" dirty="0">
                <a:solidFill>
                  <a:srgbClr val="002060"/>
                </a:solidFill>
                <a:latin typeface="Arial" panose="020B0604020202020204" pitchFamily="34" charset="0"/>
                <a:cs typeface="Arial" panose="020B0604020202020204" pitchFamily="34" charset="0"/>
              </a:rPr>
              <a:t>&lt;</a:t>
            </a:r>
            <a:r>
              <a:rPr lang="pt-BR" sz="2000" b="1" dirty="0" err="1">
                <a:solidFill>
                  <a:srgbClr val="002060"/>
                </a:solidFill>
                <a:latin typeface="Arial" panose="020B0604020202020204" pitchFamily="34" charset="0"/>
                <a:cs typeface="Arial" panose="020B0604020202020204" pitchFamily="34" charset="0"/>
              </a:rPr>
              <a:t>style</a:t>
            </a:r>
            <a:r>
              <a:rPr lang="pt-BR" sz="2000" b="1" dirty="0">
                <a:solidFill>
                  <a:srgbClr val="002060"/>
                </a:solidFill>
                <a:latin typeface="Arial" panose="020B0604020202020204" pitchFamily="34" charset="0"/>
                <a:cs typeface="Arial" panose="020B0604020202020204" pitchFamily="34" charset="0"/>
              </a:rPr>
              <a:t>&gt;</a:t>
            </a:r>
          </a:p>
          <a:p>
            <a:r>
              <a:rPr lang="pt-BR" sz="2000" b="1" dirty="0">
                <a:solidFill>
                  <a:srgbClr val="002060"/>
                </a:solidFill>
                <a:latin typeface="Arial" panose="020B0604020202020204" pitchFamily="34" charset="0"/>
                <a:cs typeface="Arial" panose="020B0604020202020204" pitchFamily="34" charset="0"/>
              </a:rPr>
              <a:t>	a:link</a:t>
            </a:r>
          </a:p>
          <a:p>
            <a:r>
              <a:rPr lang="pt-BR" sz="2000" b="1" dirty="0">
                <a:solidFill>
                  <a:srgbClr val="002060"/>
                </a:solidFill>
                <a:latin typeface="Arial" panose="020B0604020202020204" pitchFamily="34" charset="0"/>
                <a:cs typeface="Arial" panose="020B0604020202020204" pitchFamily="34" charset="0"/>
              </a:rPr>
              <a:t>	{</a:t>
            </a:r>
          </a:p>
          <a:p>
            <a:r>
              <a:rPr lang="pt-BR" sz="2000" b="1" dirty="0">
                <a:solidFill>
                  <a:srgbClr val="002060"/>
                </a:solidFill>
                <a:latin typeface="Arial" panose="020B0604020202020204" pitchFamily="34" charset="0"/>
                <a:cs typeface="Arial" panose="020B0604020202020204" pitchFamily="34" charset="0"/>
              </a:rPr>
              <a:t>		color: blue;</a:t>
            </a:r>
          </a:p>
          <a:p>
            <a:r>
              <a:rPr lang="pt-BR" sz="2000" b="1" dirty="0">
                <a:solidFill>
                  <a:srgbClr val="002060"/>
                </a:solidFill>
                <a:latin typeface="Arial" panose="020B0604020202020204" pitchFamily="34" charset="0"/>
                <a:cs typeface="Arial" panose="020B0604020202020204" pitchFamily="34" charset="0"/>
              </a:rPr>
              <a:t>	}</a:t>
            </a:r>
          </a:p>
          <a:p>
            <a:r>
              <a:rPr lang="pt-BR" sz="2000" b="1" dirty="0">
                <a:solidFill>
                  <a:srgbClr val="002060"/>
                </a:solidFill>
                <a:latin typeface="Arial" panose="020B0604020202020204" pitchFamily="34" charset="0"/>
                <a:cs typeface="Arial" panose="020B0604020202020204" pitchFamily="34" charset="0"/>
              </a:rPr>
              <a:t>	a:visited</a:t>
            </a:r>
          </a:p>
          <a:p>
            <a:r>
              <a:rPr lang="pt-BR" sz="2000" b="1" dirty="0">
                <a:solidFill>
                  <a:srgbClr val="002060"/>
                </a:solidFill>
                <a:latin typeface="Arial" panose="020B0604020202020204" pitchFamily="34" charset="0"/>
                <a:cs typeface="Arial" panose="020B0604020202020204" pitchFamily="34" charset="0"/>
              </a:rPr>
              <a:t>	{</a:t>
            </a:r>
          </a:p>
          <a:p>
            <a:r>
              <a:rPr lang="pt-BR" sz="2000" b="1" dirty="0">
                <a:solidFill>
                  <a:srgbClr val="002060"/>
                </a:solidFill>
                <a:latin typeface="Arial" panose="020B0604020202020204" pitchFamily="34" charset="0"/>
                <a:cs typeface="Arial" panose="020B0604020202020204" pitchFamily="34" charset="0"/>
              </a:rPr>
              <a:t>		color: </a:t>
            </a:r>
            <a:r>
              <a:rPr lang="pt-BR" sz="2000" b="1" dirty="0" err="1">
                <a:solidFill>
                  <a:srgbClr val="002060"/>
                </a:solidFill>
                <a:latin typeface="Arial" panose="020B0604020202020204" pitchFamily="34" charset="0"/>
                <a:cs typeface="Arial" panose="020B0604020202020204" pitchFamily="34" charset="0"/>
              </a:rPr>
              <a:t>gray</a:t>
            </a:r>
            <a:r>
              <a:rPr lang="pt-BR" sz="2000" b="1" dirty="0">
                <a:solidFill>
                  <a:srgbClr val="002060"/>
                </a:solidFill>
                <a:latin typeface="Arial" panose="020B0604020202020204" pitchFamily="34" charset="0"/>
                <a:cs typeface="Arial" panose="020B0604020202020204" pitchFamily="34" charset="0"/>
              </a:rPr>
              <a:t>;</a:t>
            </a:r>
          </a:p>
          <a:p>
            <a:r>
              <a:rPr lang="pt-BR" sz="2000" b="1" dirty="0">
                <a:solidFill>
                  <a:srgbClr val="002060"/>
                </a:solidFill>
                <a:latin typeface="Arial" panose="020B0604020202020204" pitchFamily="34" charset="0"/>
                <a:cs typeface="Arial" panose="020B0604020202020204" pitchFamily="34" charset="0"/>
              </a:rPr>
              <a:t>	}</a:t>
            </a:r>
          </a:p>
          <a:p>
            <a:r>
              <a:rPr lang="pt-BR" sz="2000" b="1" dirty="0">
                <a:solidFill>
                  <a:srgbClr val="002060"/>
                </a:solidFill>
                <a:latin typeface="Arial" panose="020B0604020202020204" pitchFamily="34" charset="0"/>
                <a:cs typeface="Arial" panose="020B0604020202020204" pitchFamily="34" charset="0"/>
              </a:rPr>
              <a:t>&lt;/</a:t>
            </a:r>
            <a:r>
              <a:rPr lang="pt-BR" sz="2000" b="1" dirty="0" err="1">
                <a:solidFill>
                  <a:srgbClr val="002060"/>
                </a:solidFill>
                <a:latin typeface="Arial" panose="020B0604020202020204" pitchFamily="34" charset="0"/>
                <a:cs typeface="Arial" panose="020B0604020202020204" pitchFamily="34" charset="0"/>
              </a:rPr>
              <a:t>style</a:t>
            </a:r>
            <a:r>
              <a:rPr lang="pt-BR" sz="2000" b="1" dirty="0">
                <a:solidFill>
                  <a:srgbClr val="002060"/>
                </a:solidFill>
                <a:latin typeface="Arial" panose="020B0604020202020204" pitchFamily="34" charset="0"/>
                <a:cs typeface="Arial" panose="020B0604020202020204" pitchFamily="34" charset="0"/>
              </a:rPr>
              <a:t>&gt;</a:t>
            </a:r>
          </a:p>
        </p:txBody>
      </p:sp>
      <p:cxnSp>
        <p:nvCxnSpPr>
          <p:cNvPr id="19" name="Conector reto 18"/>
          <p:cNvCxnSpPr/>
          <p:nvPr/>
        </p:nvCxnSpPr>
        <p:spPr>
          <a:xfrm>
            <a:off x="3997234" y="1552386"/>
            <a:ext cx="0" cy="5093434"/>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20" name="Retângulo 19"/>
          <p:cNvSpPr/>
          <p:nvPr/>
        </p:nvSpPr>
        <p:spPr>
          <a:xfrm>
            <a:off x="4598138" y="1704732"/>
            <a:ext cx="7463246" cy="1015663"/>
          </a:xfrm>
          <a:prstGeom prst="rect">
            <a:avLst/>
          </a:prstGeom>
        </p:spPr>
        <p:txBody>
          <a:bodyPr wrap="square">
            <a:spAutoFit/>
          </a:bodyPr>
          <a:lstStyle/>
          <a:p>
            <a:r>
              <a:rPr lang="pt-BR" sz="2000" b="1" dirty="0">
                <a:solidFill>
                  <a:srgbClr val="002060"/>
                </a:solidFill>
                <a:latin typeface="Arial" panose="020B0604020202020204" pitchFamily="34" charset="0"/>
                <a:cs typeface="Arial" panose="020B0604020202020204" pitchFamily="34" charset="0"/>
              </a:rPr>
              <a:t>&lt;</a:t>
            </a:r>
            <a:r>
              <a:rPr lang="pt-BR" sz="2000" b="1" dirty="0" err="1">
                <a:solidFill>
                  <a:srgbClr val="002060"/>
                </a:solidFill>
                <a:latin typeface="Arial" panose="020B0604020202020204" pitchFamily="34" charset="0"/>
                <a:cs typeface="Arial" panose="020B0604020202020204" pitchFamily="34" charset="0"/>
              </a:rPr>
              <a:t>body</a:t>
            </a:r>
            <a:r>
              <a:rPr lang="pt-BR" sz="2000" b="1" dirty="0">
                <a:solidFill>
                  <a:srgbClr val="002060"/>
                </a:solidFill>
                <a:latin typeface="Arial" panose="020B0604020202020204" pitchFamily="34" charset="0"/>
                <a:cs typeface="Arial" panose="020B0604020202020204" pitchFamily="34" charset="0"/>
              </a:rPr>
              <a:t>&gt;</a:t>
            </a:r>
          </a:p>
          <a:p>
            <a:r>
              <a:rPr lang="pt-BR" sz="2000" b="1" dirty="0">
                <a:solidFill>
                  <a:srgbClr val="002060"/>
                </a:solidFill>
                <a:latin typeface="Arial" panose="020B0604020202020204" pitchFamily="34" charset="0"/>
                <a:cs typeface="Arial" panose="020B0604020202020204" pitchFamily="34" charset="0"/>
              </a:rPr>
              <a:t>	&lt;a </a:t>
            </a:r>
            <a:r>
              <a:rPr lang="pt-BR" sz="2000" b="1" dirty="0" err="1">
                <a:solidFill>
                  <a:srgbClr val="002060"/>
                </a:solidFill>
                <a:latin typeface="Arial" panose="020B0604020202020204" pitchFamily="34" charset="0"/>
                <a:cs typeface="Arial" panose="020B0604020202020204" pitchFamily="34" charset="0"/>
              </a:rPr>
              <a:t>href</a:t>
            </a:r>
            <a:r>
              <a:rPr lang="pt-BR" sz="2000" b="1" dirty="0">
                <a:solidFill>
                  <a:srgbClr val="002060"/>
                </a:solidFill>
                <a:latin typeface="Arial" panose="020B0604020202020204" pitchFamily="34" charset="0"/>
                <a:cs typeface="Arial" panose="020B0604020202020204" pitchFamily="34" charset="0"/>
              </a:rPr>
              <a:t>=“http://www.google.com”&gt;Google&lt;/a&gt;</a:t>
            </a:r>
          </a:p>
          <a:p>
            <a:r>
              <a:rPr lang="pt-BR" sz="2000" b="1" dirty="0">
                <a:solidFill>
                  <a:srgbClr val="002060"/>
                </a:solidFill>
                <a:latin typeface="Arial" panose="020B0604020202020204" pitchFamily="34" charset="0"/>
                <a:cs typeface="Arial" panose="020B0604020202020204" pitchFamily="34" charset="0"/>
              </a:rPr>
              <a:t>&lt;/</a:t>
            </a:r>
            <a:r>
              <a:rPr lang="pt-BR" sz="2000" b="1" dirty="0" err="1">
                <a:solidFill>
                  <a:srgbClr val="002060"/>
                </a:solidFill>
                <a:latin typeface="Arial" panose="020B0604020202020204" pitchFamily="34" charset="0"/>
                <a:cs typeface="Arial" panose="020B0604020202020204" pitchFamily="34" charset="0"/>
              </a:rPr>
              <a:t>body</a:t>
            </a:r>
            <a:r>
              <a:rPr lang="pt-BR" sz="2000" b="1" dirty="0">
                <a:solidFill>
                  <a:srgbClr val="002060"/>
                </a:solidFill>
                <a:latin typeface="Arial" panose="020B0604020202020204" pitchFamily="34" charset="0"/>
                <a:cs typeface="Arial" panose="020B0604020202020204" pitchFamily="34" charset="0"/>
              </a:rPr>
              <a:t>&gt;</a:t>
            </a:r>
          </a:p>
        </p:txBody>
      </p:sp>
      <p:sp>
        <p:nvSpPr>
          <p:cNvPr id="21" name="Retângulo 20"/>
          <p:cNvSpPr/>
          <p:nvPr/>
        </p:nvSpPr>
        <p:spPr>
          <a:xfrm>
            <a:off x="4598137" y="3437383"/>
            <a:ext cx="7628701" cy="2246769"/>
          </a:xfrm>
          <a:prstGeom prst="rect">
            <a:avLst/>
          </a:prstGeom>
        </p:spPr>
        <p:txBody>
          <a:bodyPr wrap="square">
            <a:spAutoFit/>
          </a:bodyPr>
          <a:lstStyle/>
          <a:p>
            <a:pPr algn="just"/>
            <a:r>
              <a:rPr lang="pt-BR" sz="2000" b="1" u="sng" dirty="0">
                <a:solidFill>
                  <a:srgbClr val="002060"/>
                </a:solidFill>
                <a:latin typeface="Arial" panose="020B0604020202020204" pitchFamily="34" charset="0"/>
                <a:cs typeface="Arial" panose="020B0604020202020204" pitchFamily="34" charset="0"/>
              </a:rPr>
              <a:t>Resultado:</a:t>
            </a:r>
          </a:p>
          <a:p>
            <a:pPr algn="just"/>
            <a:endParaRPr lang="pt-BR" sz="2000" b="1" dirty="0">
              <a:solidFill>
                <a:srgbClr val="00B050"/>
              </a:solidFill>
              <a:latin typeface="Arial" panose="020B0604020202020204" pitchFamily="34" charset="0"/>
              <a:cs typeface="Arial" panose="020B0604020202020204" pitchFamily="34" charset="0"/>
            </a:endParaRPr>
          </a:p>
          <a:p>
            <a:pPr algn="just"/>
            <a:r>
              <a:rPr lang="pt-BR" sz="2000" dirty="0">
                <a:solidFill>
                  <a:srgbClr val="002060"/>
                </a:solidFill>
                <a:latin typeface="Arial" panose="020B0604020202020204" pitchFamily="34" charset="0"/>
                <a:cs typeface="Arial" panose="020B0604020202020204" pitchFamily="34" charset="0"/>
              </a:rPr>
              <a:t>Primeira vez que a página é carrega e não clicado no link</a:t>
            </a:r>
          </a:p>
          <a:p>
            <a:pPr algn="just"/>
            <a:endParaRPr lang="pt-BR" sz="2000" dirty="0">
              <a:solidFill>
                <a:srgbClr val="340ED4"/>
              </a:solidFill>
              <a:latin typeface="Arial" panose="020B0604020202020204" pitchFamily="34" charset="0"/>
              <a:cs typeface="Arial" panose="020B0604020202020204" pitchFamily="34" charset="0"/>
            </a:endParaRPr>
          </a:p>
          <a:p>
            <a:pPr algn="just"/>
            <a:r>
              <a:rPr lang="pt-BR" sz="2000" u="sng" dirty="0">
                <a:solidFill>
                  <a:srgbClr val="340ED4"/>
                </a:solidFill>
                <a:latin typeface="Arial" panose="020B0604020202020204" pitchFamily="34" charset="0"/>
                <a:cs typeface="Arial" panose="020B0604020202020204" pitchFamily="34" charset="0"/>
              </a:rPr>
              <a:t>Google</a:t>
            </a:r>
            <a:r>
              <a:rPr lang="pt-BR" sz="2000" dirty="0">
                <a:solidFill>
                  <a:srgbClr val="340ED4"/>
                </a:solidFill>
                <a:latin typeface="Arial" panose="020B0604020202020204" pitchFamily="34" charset="0"/>
                <a:cs typeface="Arial" panose="020B0604020202020204" pitchFamily="34" charset="0"/>
              </a:rPr>
              <a:t> </a:t>
            </a:r>
            <a:r>
              <a:rPr lang="pt-BR" sz="2000" dirty="0">
                <a:solidFill>
                  <a:srgbClr val="16065A"/>
                </a:solidFill>
                <a:latin typeface="Arial" panose="020B0604020202020204" pitchFamily="34" charset="0"/>
                <a:cs typeface="Arial" panose="020B0604020202020204" pitchFamily="34" charset="0"/>
              </a:rPr>
              <a:t>&lt;antes de ser clicado no link&gt;</a:t>
            </a:r>
          </a:p>
          <a:p>
            <a:pPr algn="just"/>
            <a:endParaRPr lang="pt-BR" sz="2000" dirty="0">
              <a:solidFill>
                <a:srgbClr val="340ED4"/>
              </a:solidFill>
              <a:latin typeface="Arial" panose="020B0604020202020204" pitchFamily="34" charset="0"/>
              <a:cs typeface="Arial" panose="020B0604020202020204" pitchFamily="34" charset="0"/>
            </a:endParaRPr>
          </a:p>
          <a:p>
            <a:pPr algn="just"/>
            <a:r>
              <a:rPr lang="pt-BR" sz="2000" u="sng" dirty="0">
                <a:solidFill>
                  <a:schemeClr val="bg1">
                    <a:lumMod val="50000"/>
                  </a:schemeClr>
                </a:solidFill>
                <a:latin typeface="Arial" panose="020B0604020202020204" pitchFamily="34" charset="0"/>
                <a:cs typeface="Arial" panose="020B0604020202020204" pitchFamily="34" charset="0"/>
              </a:rPr>
              <a:t>Google</a:t>
            </a:r>
            <a:r>
              <a:rPr lang="pt-BR" sz="2000" dirty="0">
                <a:solidFill>
                  <a:schemeClr val="bg1">
                    <a:lumMod val="50000"/>
                  </a:schemeClr>
                </a:solidFill>
                <a:latin typeface="Arial" panose="020B0604020202020204" pitchFamily="34" charset="0"/>
                <a:cs typeface="Arial" panose="020B0604020202020204" pitchFamily="34" charset="0"/>
              </a:rPr>
              <a:t> </a:t>
            </a:r>
            <a:r>
              <a:rPr lang="pt-BR" sz="2000" dirty="0">
                <a:solidFill>
                  <a:srgbClr val="16065A"/>
                </a:solidFill>
                <a:latin typeface="Arial" panose="020B0604020202020204" pitchFamily="34" charset="0"/>
                <a:cs typeface="Arial" panose="020B0604020202020204" pitchFamily="34" charset="0"/>
              </a:rPr>
              <a:t>&lt;após clicar no link Google....ficando em tom cinza(</a:t>
            </a:r>
            <a:r>
              <a:rPr lang="pt-BR" sz="2000" dirty="0" err="1">
                <a:solidFill>
                  <a:srgbClr val="16065A"/>
                </a:solidFill>
                <a:latin typeface="Arial" panose="020B0604020202020204" pitchFamily="34" charset="0"/>
                <a:cs typeface="Arial" panose="020B0604020202020204" pitchFamily="34" charset="0"/>
              </a:rPr>
              <a:t>gray</a:t>
            </a:r>
            <a:r>
              <a:rPr lang="pt-BR" sz="2000" dirty="0">
                <a:solidFill>
                  <a:srgbClr val="16065A"/>
                </a:solidFill>
                <a:latin typeface="Arial" panose="020B0604020202020204" pitchFamily="34" charset="0"/>
                <a:cs typeface="Arial" panose="020B0604020202020204" pitchFamily="34" charset="0"/>
              </a:rPr>
              <a:t>)&gt;</a:t>
            </a:r>
            <a:endParaRPr lang="pt-BR" sz="2000" dirty="0">
              <a:solidFill>
                <a:schemeClr val="bg1">
                  <a:lumMod val="50000"/>
                </a:schemeClr>
              </a:solidFill>
              <a:latin typeface="Arial" panose="020B0604020202020204" pitchFamily="34" charset="0"/>
              <a:cs typeface="Arial" panose="020B0604020202020204" pitchFamily="34" charset="0"/>
            </a:endParaRPr>
          </a:p>
        </p:txBody>
      </p:sp>
      <p:sp>
        <p:nvSpPr>
          <p:cNvPr id="3" name="Espaço Reservado para Número de Slide 2"/>
          <p:cNvSpPr>
            <a:spLocks noGrp="1"/>
          </p:cNvSpPr>
          <p:nvPr>
            <p:ph type="sldNum" sz="quarter" idx="12"/>
          </p:nvPr>
        </p:nvSpPr>
        <p:spPr/>
        <p:txBody>
          <a:bodyPr/>
          <a:lstStyle/>
          <a:p>
            <a:fld id="{8256F83C-9D86-480B-90E0-0702DBEB9457}" type="slidenum">
              <a:rPr lang="pt-BR" smtClean="0"/>
              <a:t>57</a:t>
            </a:fld>
            <a:endParaRPr lang="pt-BR"/>
          </a:p>
        </p:txBody>
      </p:sp>
    </p:spTree>
    <p:extLst>
      <p:ext uri="{BB962C8B-B14F-4D97-AF65-F5344CB8AC3E}">
        <p14:creationId xmlns:p14="http://schemas.microsoft.com/office/powerpoint/2010/main" val="5045090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tângulo 8"/>
          <p:cNvSpPr/>
          <p:nvPr/>
        </p:nvSpPr>
        <p:spPr>
          <a:xfrm>
            <a:off x="822960" y="1135108"/>
            <a:ext cx="10724606" cy="4708981"/>
          </a:xfrm>
          <a:prstGeom prst="rect">
            <a:avLst/>
          </a:prstGeom>
        </p:spPr>
        <p:txBody>
          <a:bodyPr wrap="square">
            <a:spAutoFit/>
          </a:bodyPr>
          <a:lstStyle/>
          <a:p>
            <a:pPr algn="just"/>
            <a:r>
              <a:rPr lang="pt-BR" sz="2000" b="1" dirty="0" err="1">
                <a:solidFill>
                  <a:srgbClr val="002060"/>
                </a:solidFill>
                <a:latin typeface="Arial" panose="020B0604020202020204" pitchFamily="34" charset="0"/>
                <a:cs typeface="Arial" panose="020B0604020202020204" pitchFamily="34" charset="0"/>
              </a:rPr>
              <a:t>Pseudo-classe</a:t>
            </a:r>
            <a:r>
              <a:rPr lang="pt-BR" sz="2000" b="1" dirty="0">
                <a:solidFill>
                  <a:srgbClr val="002060"/>
                </a:solidFill>
                <a:latin typeface="Arial" panose="020B0604020202020204" pitchFamily="34" charset="0"/>
                <a:cs typeface="Arial" panose="020B0604020202020204" pitchFamily="34" charset="0"/>
              </a:rPr>
              <a:t> interativa </a:t>
            </a:r>
            <a:r>
              <a:rPr lang="pt-BR" sz="2000" b="1" dirty="0">
                <a:solidFill>
                  <a:srgbClr val="002060"/>
                </a:solidFill>
                <a:latin typeface="Arial" panose="020B0604020202020204" pitchFamily="34" charset="0"/>
                <a:cs typeface="Arial" panose="020B0604020202020204" pitchFamily="34" charset="0"/>
                <a:sym typeface="Wingdings" panose="05000000000000000000" pitchFamily="2" charset="2"/>
              </a:rPr>
              <a:t></a:t>
            </a:r>
            <a:endParaRPr lang="pt-BR" sz="2000" b="1" dirty="0">
              <a:solidFill>
                <a:srgbClr val="002060"/>
              </a:solidFill>
              <a:latin typeface="Arial" panose="020B0604020202020204" pitchFamily="34" charset="0"/>
              <a:cs typeface="Arial" panose="020B0604020202020204" pitchFamily="34" charset="0"/>
            </a:endParaRPr>
          </a:p>
          <a:p>
            <a:pPr algn="just"/>
            <a:endParaRPr lang="pt-BR" sz="2000" b="1" dirty="0">
              <a:solidFill>
                <a:srgbClr val="002060"/>
              </a:solidFill>
              <a:latin typeface="Arial" panose="020B0604020202020204" pitchFamily="34" charset="0"/>
              <a:cs typeface="Arial" panose="020B0604020202020204" pitchFamily="34" charset="0"/>
            </a:endParaRPr>
          </a:p>
          <a:p>
            <a:pPr algn="just"/>
            <a:r>
              <a:rPr lang="pt-BR" sz="2000" b="1" dirty="0">
                <a:solidFill>
                  <a:srgbClr val="002060"/>
                </a:solidFill>
                <a:latin typeface="Arial" panose="020B0604020202020204" pitchFamily="34" charset="0"/>
                <a:cs typeface="Arial" panose="020B0604020202020204" pitchFamily="34" charset="0"/>
              </a:rPr>
              <a:t>Segundo a W3C (World </a:t>
            </a:r>
            <a:r>
              <a:rPr lang="pt-BR" sz="2000" b="1" dirty="0" err="1">
                <a:solidFill>
                  <a:srgbClr val="002060"/>
                </a:solidFill>
                <a:latin typeface="Arial" panose="020B0604020202020204" pitchFamily="34" charset="0"/>
                <a:cs typeface="Arial" panose="020B0604020202020204" pitchFamily="34" charset="0"/>
              </a:rPr>
              <a:t>Wide</a:t>
            </a:r>
            <a:r>
              <a:rPr lang="pt-BR" sz="2000" b="1" dirty="0">
                <a:solidFill>
                  <a:srgbClr val="002060"/>
                </a:solidFill>
                <a:latin typeface="Arial" panose="020B0604020202020204" pitchFamily="34" charset="0"/>
                <a:cs typeface="Arial" panose="020B0604020202020204" pitchFamily="34" charset="0"/>
              </a:rPr>
              <a:t> Web Consortium) a definição de cada uma das três </a:t>
            </a:r>
            <a:r>
              <a:rPr lang="pt-BR" sz="2000" b="1" dirty="0" err="1">
                <a:solidFill>
                  <a:srgbClr val="002060"/>
                </a:solidFill>
                <a:latin typeface="Arial" panose="020B0604020202020204" pitchFamily="34" charset="0"/>
                <a:cs typeface="Arial" panose="020B0604020202020204" pitchFamily="34" charset="0"/>
              </a:rPr>
              <a:t>pseudo-classe</a:t>
            </a:r>
            <a:r>
              <a:rPr lang="pt-BR" sz="2000" b="1" dirty="0">
                <a:solidFill>
                  <a:srgbClr val="002060"/>
                </a:solidFill>
                <a:latin typeface="Arial" panose="020B0604020202020204" pitchFamily="34" charset="0"/>
                <a:cs typeface="Arial" panose="020B0604020202020204" pitchFamily="34" charset="0"/>
              </a:rPr>
              <a:t> interativa, são:</a:t>
            </a:r>
          </a:p>
          <a:p>
            <a:pPr algn="just"/>
            <a:endParaRPr lang="pt-BR" sz="2000" b="1" dirty="0">
              <a:solidFill>
                <a:srgbClr val="002060"/>
              </a:solidFill>
              <a:latin typeface="Arial" panose="020B0604020202020204" pitchFamily="34" charset="0"/>
              <a:cs typeface="Arial" panose="020B0604020202020204" pitchFamily="34" charset="0"/>
            </a:endParaRPr>
          </a:p>
          <a:p>
            <a:pPr algn="just"/>
            <a:r>
              <a:rPr lang="pt-BR" sz="2000" b="1" dirty="0">
                <a:solidFill>
                  <a:srgbClr val="002060"/>
                </a:solidFill>
                <a:latin typeface="Arial" panose="020B0604020202020204" pitchFamily="34" charset="0"/>
                <a:cs typeface="Arial" panose="020B0604020202020204" pitchFamily="34" charset="0"/>
              </a:rPr>
              <a:t>– a </a:t>
            </a:r>
            <a:r>
              <a:rPr lang="pt-BR" sz="2000" b="1" dirty="0" err="1">
                <a:solidFill>
                  <a:srgbClr val="FF0000"/>
                </a:solidFill>
                <a:latin typeface="Arial" panose="020B0604020202020204" pitchFamily="34" charset="0"/>
                <a:cs typeface="Arial" panose="020B0604020202020204" pitchFamily="34" charset="0"/>
              </a:rPr>
              <a:t>pseudo-classe</a:t>
            </a:r>
            <a:r>
              <a:rPr lang="pt-BR" sz="2000" b="1" dirty="0">
                <a:solidFill>
                  <a:srgbClr val="FF0000"/>
                </a:solidFill>
                <a:latin typeface="Arial" panose="020B0604020202020204" pitchFamily="34" charset="0"/>
                <a:cs typeface="Arial" panose="020B0604020202020204" pitchFamily="34" charset="0"/>
              </a:rPr>
              <a:t> :</a:t>
            </a:r>
            <a:r>
              <a:rPr lang="pt-BR" sz="2000" b="1" dirty="0" err="1">
                <a:solidFill>
                  <a:srgbClr val="FF0000"/>
                </a:solidFill>
                <a:latin typeface="Arial" panose="020B0604020202020204" pitchFamily="34" charset="0"/>
                <a:cs typeface="Arial" panose="020B0604020202020204" pitchFamily="34" charset="0"/>
              </a:rPr>
              <a:t>hover</a:t>
            </a:r>
            <a:r>
              <a:rPr lang="pt-BR" sz="2000" b="1" dirty="0">
                <a:solidFill>
                  <a:srgbClr val="FF0000"/>
                </a:solidFill>
                <a:latin typeface="Arial" panose="020B0604020202020204" pitchFamily="34" charset="0"/>
                <a:cs typeface="Arial" panose="020B0604020202020204" pitchFamily="34" charset="0"/>
              </a:rPr>
              <a:t> </a:t>
            </a:r>
            <a:r>
              <a:rPr lang="pt-BR" sz="2000" b="1" dirty="0">
                <a:solidFill>
                  <a:srgbClr val="002060"/>
                </a:solidFill>
                <a:latin typeface="Arial" panose="020B0604020202020204" pitchFamily="34" charset="0"/>
                <a:cs typeface="Arial" panose="020B0604020202020204" pitchFamily="34" charset="0"/>
              </a:rPr>
              <a:t>corresponde quando o usuário mostra um elemento, mas não a ativa. Por exemplo, essa </a:t>
            </a:r>
            <a:r>
              <a:rPr lang="pt-BR" sz="2000" b="1" dirty="0" err="1">
                <a:solidFill>
                  <a:srgbClr val="002060"/>
                </a:solidFill>
                <a:latin typeface="Arial" panose="020B0604020202020204" pitchFamily="34" charset="0"/>
                <a:cs typeface="Arial" panose="020B0604020202020204" pitchFamily="34" charset="0"/>
              </a:rPr>
              <a:t>pseudoclasse</a:t>
            </a:r>
            <a:r>
              <a:rPr lang="pt-BR" sz="2000" b="1" dirty="0">
                <a:solidFill>
                  <a:srgbClr val="002060"/>
                </a:solidFill>
                <a:latin typeface="Arial" panose="020B0604020202020204" pitchFamily="34" charset="0"/>
                <a:cs typeface="Arial" panose="020B0604020202020204" pitchFamily="34" charset="0"/>
              </a:rPr>
              <a:t> é aplicada pelo navegador se o cursor (mouse) estiver passando sobre a caixa que limita o elemento;</a:t>
            </a:r>
          </a:p>
          <a:p>
            <a:pPr algn="just"/>
            <a:endParaRPr lang="pt-BR" sz="2000" b="1" dirty="0">
              <a:solidFill>
                <a:srgbClr val="002060"/>
              </a:solidFill>
              <a:latin typeface="Arial" panose="020B0604020202020204" pitchFamily="34" charset="0"/>
              <a:cs typeface="Arial" panose="020B0604020202020204" pitchFamily="34" charset="0"/>
            </a:endParaRPr>
          </a:p>
          <a:p>
            <a:pPr algn="just"/>
            <a:r>
              <a:rPr lang="pt-BR" sz="2000" b="1" dirty="0">
                <a:solidFill>
                  <a:srgbClr val="002060"/>
                </a:solidFill>
                <a:latin typeface="Arial" panose="020B0604020202020204" pitchFamily="34" charset="0"/>
                <a:cs typeface="Arial" panose="020B0604020202020204" pitchFamily="34" charset="0"/>
              </a:rPr>
              <a:t>– a </a:t>
            </a:r>
            <a:r>
              <a:rPr lang="pt-BR" sz="2000" b="1" dirty="0" err="1">
                <a:solidFill>
                  <a:srgbClr val="FF0000"/>
                </a:solidFill>
                <a:latin typeface="Arial" panose="020B0604020202020204" pitchFamily="34" charset="0"/>
                <a:cs typeface="Arial" panose="020B0604020202020204" pitchFamily="34" charset="0"/>
              </a:rPr>
              <a:t>pseudoclasse</a:t>
            </a:r>
            <a:r>
              <a:rPr lang="pt-BR" sz="2000" b="1" dirty="0">
                <a:solidFill>
                  <a:srgbClr val="FF0000"/>
                </a:solidFill>
                <a:latin typeface="Arial" panose="020B0604020202020204" pitchFamily="34" charset="0"/>
                <a:cs typeface="Arial" panose="020B0604020202020204" pitchFamily="34" charset="0"/>
              </a:rPr>
              <a:t> :</a:t>
            </a:r>
            <a:r>
              <a:rPr lang="pt-BR" sz="2000" b="1" dirty="0" err="1">
                <a:solidFill>
                  <a:srgbClr val="FF0000"/>
                </a:solidFill>
                <a:latin typeface="Arial" panose="020B0604020202020204" pitchFamily="34" charset="0"/>
                <a:cs typeface="Arial" panose="020B0604020202020204" pitchFamily="34" charset="0"/>
              </a:rPr>
              <a:t>active</a:t>
            </a:r>
            <a:r>
              <a:rPr lang="pt-BR" sz="2000" b="1" dirty="0">
                <a:solidFill>
                  <a:srgbClr val="FF0000"/>
                </a:solidFill>
                <a:latin typeface="Arial" panose="020B0604020202020204" pitchFamily="34" charset="0"/>
                <a:cs typeface="Arial" panose="020B0604020202020204" pitchFamily="34" charset="0"/>
              </a:rPr>
              <a:t> </a:t>
            </a:r>
            <a:r>
              <a:rPr lang="pt-BR" sz="2000" b="1" dirty="0">
                <a:solidFill>
                  <a:srgbClr val="002060"/>
                </a:solidFill>
                <a:latin typeface="Arial" panose="020B0604020202020204" pitchFamily="34" charset="0"/>
                <a:cs typeface="Arial" panose="020B0604020202020204" pitchFamily="34" charset="0"/>
              </a:rPr>
              <a:t>corresponde quando um elemento está sendo ativado pelo usuário. Por exemplo, durante o tempo que o usuário estiver pressionando o botão do mouse e liberá-lo;</a:t>
            </a:r>
          </a:p>
          <a:p>
            <a:pPr algn="just"/>
            <a:endParaRPr lang="pt-BR" sz="2000" b="1" dirty="0">
              <a:solidFill>
                <a:srgbClr val="002060"/>
              </a:solidFill>
              <a:latin typeface="Arial" panose="020B0604020202020204" pitchFamily="34" charset="0"/>
              <a:cs typeface="Arial" panose="020B0604020202020204" pitchFamily="34" charset="0"/>
            </a:endParaRPr>
          </a:p>
          <a:p>
            <a:pPr algn="just"/>
            <a:r>
              <a:rPr lang="pt-BR" sz="2000" b="1" dirty="0">
                <a:solidFill>
                  <a:srgbClr val="002060"/>
                </a:solidFill>
                <a:latin typeface="Arial" panose="020B0604020202020204" pitchFamily="34" charset="0"/>
                <a:cs typeface="Arial" panose="020B0604020202020204" pitchFamily="34" charset="0"/>
              </a:rPr>
              <a:t>– a </a:t>
            </a:r>
            <a:r>
              <a:rPr lang="pt-BR" sz="2000" b="1" dirty="0" err="1">
                <a:solidFill>
                  <a:srgbClr val="FF0000"/>
                </a:solidFill>
                <a:latin typeface="Arial" panose="020B0604020202020204" pitchFamily="34" charset="0"/>
                <a:cs typeface="Arial" panose="020B0604020202020204" pitchFamily="34" charset="0"/>
              </a:rPr>
              <a:t>pseudoclasse</a:t>
            </a:r>
            <a:r>
              <a:rPr lang="pt-BR" sz="2000" b="1" dirty="0">
                <a:solidFill>
                  <a:srgbClr val="FF0000"/>
                </a:solidFill>
                <a:latin typeface="Arial" panose="020B0604020202020204" pitchFamily="34" charset="0"/>
                <a:cs typeface="Arial" panose="020B0604020202020204" pitchFamily="34" charset="0"/>
              </a:rPr>
              <a:t> :</a:t>
            </a:r>
            <a:r>
              <a:rPr lang="pt-BR" sz="2000" b="1" dirty="0" err="1">
                <a:solidFill>
                  <a:srgbClr val="FF0000"/>
                </a:solidFill>
                <a:latin typeface="Arial" panose="020B0604020202020204" pitchFamily="34" charset="0"/>
                <a:cs typeface="Arial" panose="020B0604020202020204" pitchFamily="34" charset="0"/>
              </a:rPr>
              <a:t>focus</a:t>
            </a:r>
            <a:r>
              <a:rPr lang="pt-BR" sz="2000" b="1" dirty="0">
                <a:solidFill>
                  <a:srgbClr val="FF0000"/>
                </a:solidFill>
                <a:latin typeface="Arial" panose="020B0604020202020204" pitchFamily="34" charset="0"/>
                <a:cs typeface="Arial" panose="020B0604020202020204" pitchFamily="34" charset="0"/>
              </a:rPr>
              <a:t> </a:t>
            </a:r>
            <a:r>
              <a:rPr lang="pt-BR" sz="2000" b="1" dirty="0">
                <a:solidFill>
                  <a:srgbClr val="002060"/>
                </a:solidFill>
                <a:latin typeface="Arial" panose="020B0604020202020204" pitchFamily="34" charset="0"/>
                <a:cs typeface="Arial" panose="020B0604020202020204" pitchFamily="34" charset="0"/>
              </a:rPr>
              <a:t>corresponde quando um elemento tem foco (isso inclui eventos de todos os formulários de entrada, por exemplo).</a:t>
            </a:r>
          </a:p>
        </p:txBody>
      </p:sp>
      <p:sp>
        <p:nvSpPr>
          <p:cNvPr id="2" name="Espaço Reservado para Número de Slide 1"/>
          <p:cNvSpPr>
            <a:spLocks noGrp="1"/>
          </p:cNvSpPr>
          <p:nvPr>
            <p:ph type="sldNum" sz="quarter" idx="12"/>
          </p:nvPr>
        </p:nvSpPr>
        <p:spPr/>
        <p:txBody>
          <a:bodyPr/>
          <a:lstStyle/>
          <a:p>
            <a:fld id="{8256F83C-9D86-480B-90E0-0702DBEB9457}" type="slidenum">
              <a:rPr lang="pt-BR" smtClean="0"/>
              <a:t>58</a:t>
            </a:fld>
            <a:endParaRPr lang="pt-BR"/>
          </a:p>
        </p:txBody>
      </p:sp>
    </p:spTree>
    <p:extLst>
      <p:ext uri="{BB962C8B-B14F-4D97-AF65-F5344CB8AC3E}">
        <p14:creationId xmlns:p14="http://schemas.microsoft.com/office/powerpoint/2010/main" val="27017593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tângulo 7"/>
          <p:cNvSpPr/>
          <p:nvPr/>
        </p:nvSpPr>
        <p:spPr>
          <a:xfrm>
            <a:off x="709789" y="853832"/>
            <a:ext cx="5194637" cy="4801314"/>
          </a:xfrm>
          <a:prstGeom prst="rect">
            <a:avLst/>
          </a:prstGeom>
        </p:spPr>
        <p:txBody>
          <a:bodyPr wrap="square">
            <a:spAutoFit/>
          </a:bodyPr>
          <a:lstStyle/>
          <a:p>
            <a:r>
              <a:rPr lang="pt-BR" b="1" dirty="0">
                <a:solidFill>
                  <a:srgbClr val="FF0000"/>
                </a:solidFill>
                <a:latin typeface="Arial" panose="020B0604020202020204" pitchFamily="34" charset="0"/>
                <a:cs typeface="Arial" panose="020B0604020202020204" pitchFamily="34" charset="0"/>
              </a:rPr>
              <a:t>USO DO </a:t>
            </a:r>
            <a:r>
              <a:rPr lang="pt-BR" b="1" dirty="0" err="1">
                <a:solidFill>
                  <a:srgbClr val="FF0000"/>
                </a:solidFill>
                <a:latin typeface="Arial" panose="020B0604020202020204" pitchFamily="34" charset="0"/>
                <a:cs typeface="Arial" panose="020B0604020202020204" pitchFamily="34" charset="0"/>
              </a:rPr>
              <a:t>pseudo-classe</a:t>
            </a:r>
            <a:r>
              <a:rPr lang="pt-BR" b="1" dirty="0">
                <a:solidFill>
                  <a:srgbClr val="FF0000"/>
                </a:solidFill>
                <a:latin typeface="Arial" panose="020B0604020202020204" pitchFamily="34" charset="0"/>
                <a:cs typeface="Arial" panose="020B0604020202020204" pitchFamily="34" charset="0"/>
              </a:rPr>
              <a:t> :</a:t>
            </a:r>
            <a:r>
              <a:rPr lang="pt-BR" b="1" dirty="0" err="1">
                <a:solidFill>
                  <a:srgbClr val="FF0000"/>
                </a:solidFill>
                <a:latin typeface="Arial" panose="020B0604020202020204" pitchFamily="34" charset="0"/>
                <a:cs typeface="Arial" panose="020B0604020202020204" pitchFamily="34" charset="0"/>
              </a:rPr>
              <a:t>hover</a:t>
            </a:r>
            <a:endParaRPr lang="pt-BR" b="1" dirty="0">
              <a:solidFill>
                <a:srgbClr val="FF0000"/>
              </a:solidFill>
              <a:latin typeface="Arial" panose="020B0604020202020204" pitchFamily="34" charset="0"/>
              <a:cs typeface="Arial" panose="020B0604020202020204" pitchFamily="34" charset="0"/>
            </a:endParaRPr>
          </a:p>
          <a:p>
            <a:endParaRPr lang="pt-BR" b="1" dirty="0">
              <a:solidFill>
                <a:srgbClr val="FF0000"/>
              </a:solidFill>
              <a:latin typeface="Arial" panose="020B0604020202020204" pitchFamily="34" charset="0"/>
              <a:cs typeface="Arial" panose="020B0604020202020204" pitchFamily="34" charset="0"/>
            </a:endParaRPr>
          </a:p>
          <a:p>
            <a:r>
              <a:rPr lang="pt-BR" b="1" dirty="0">
                <a:solidFill>
                  <a:srgbClr val="002060"/>
                </a:solidFill>
                <a:latin typeface="Arial" panose="020B0604020202020204" pitchFamily="34" charset="0"/>
                <a:cs typeface="Arial" panose="020B0604020202020204" pitchFamily="34" charset="0"/>
              </a:rPr>
              <a:t>&lt;</a:t>
            </a:r>
            <a:r>
              <a:rPr lang="pt-BR" b="1" dirty="0" err="1">
                <a:solidFill>
                  <a:srgbClr val="002060"/>
                </a:solidFill>
                <a:latin typeface="Arial" panose="020B0604020202020204" pitchFamily="34" charset="0"/>
                <a:cs typeface="Arial" panose="020B0604020202020204" pitchFamily="34" charset="0"/>
              </a:rPr>
              <a:t>html</a:t>
            </a:r>
            <a:r>
              <a:rPr lang="pt-BR" b="1" dirty="0">
                <a:solidFill>
                  <a:srgbClr val="002060"/>
                </a:solidFill>
                <a:latin typeface="Arial" panose="020B0604020202020204" pitchFamily="34" charset="0"/>
                <a:cs typeface="Arial" panose="020B0604020202020204" pitchFamily="34" charset="0"/>
              </a:rPr>
              <a:t>&gt;</a:t>
            </a:r>
          </a:p>
          <a:p>
            <a:pPr lvl="1"/>
            <a:r>
              <a:rPr lang="pt-BR" b="1" dirty="0">
                <a:solidFill>
                  <a:srgbClr val="002060"/>
                </a:solidFill>
                <a:latin typeface="Arial" panose="020B0604020202020204" pitchFamily="34" charset="0"/>
                <a:cs typeface="Arial" panose="020B0604020202020204" pitchFamily="34" charset="0"/>
              </a:rPr>
              <a:t>&lt;</a:t>
            </a:r>
            <a:r>
              <a:rPr lang="pt-BR" b="1" dirty="0" err="1">
                <a:solidFill>
                  <a:srgbClr val="002060"/>
                </a:solidFill>
                <a:latin typeface="Arial" panose="020B0604020202020204" pitchFamily="34" charset="0"/>
                <a:cs typeface="Arial" panose="020B0604020202020204" pitchFamily="34" charset="0"/>
              </a:rPr>
              <a:t>head</a:t>
            </a:r>
            <a:r>
              <a:rPr lang="pt-BR" b="1" dirty="0">
                <a:solidFill>
                  <a:srgbClr val="002060"/>
                </a:solidFill>
                <a:latin typeface="Arial" panose="020B0604020202020204" pitchFamily="34" charset="0"/>
                <a:cs typeface="Arial" panose="020B0604020202020204" pitchFamily="34" charset="0"/>
              </a:rPr>
              <a:t>&gt;</a:t>
            </a:r>
          </a:p>
          <a:p>
            <a:pPr lvl="1"/>
            <a:r>
              <a:rPr lang="pt-BR" b="1" dirty="0">
                <a:solidFill>
                  <a:srgbClr val="002060"/>
                </a:solidFill>
                <a:latin typeface="Arial" panose="020B0604020202020204" pitchFamily="34" charset="0"/>
                <a:cs typeface="Arial" panose="020B0604020202020204" pitchFamily="34" charset="0"/>
              </a:rPr>
              <a:t>	&lt;</a:t>
            </a:r>
            <a:r>
              <a:rPr lang="pt-BR" b="1" dirty="0" err="1">
                <a:solidFill>
                  <a:srgbClr val="002060"/>
                </a:solidFill>
                <a:latin typeface="Arial" panose="020B0604020202020204" pitchFamily="34" charset="0"/>
                <a:cs typeface="Arial" panose="020B0604020202020204" pitchFamily="34" charset="0"/>
              </a:rPr>
              <a:t>style</a:t>
            </a:r>
            <a:r>
              <a:rPr lang="pt-BR" b="1" dirty="0">
                <a:solidFill>
                  <a:srgbClr val="002060"/>
                </a:solidFill>
                <a:latin typeface="Arial" panose="020B0604020202020204" pitchFamily="34" charset="0"/>
                <a:cs typeface="Arial" panose="020B0604020202020204" pitchFamily="34" charset="0"/>
              </a:rPr>
              <a:t>&gt;</a:t>
            </a:r>
          </a:p>
          <a:p>
            <a:pPr lvl="3"/>
            <a:r>
              <a:rPr lang="pt-BR" b="1" dirty="0" err="1">
                <a:solidFill>
                  <a:srgbClr val="002060"/>
                </a:solidFill>
                <a:latin typeface="Arial" panose="020B0604020202020204" pitchFamily="34" charset="0"/>
                <a:cs typeface="Arial" panose="020B0604020202020204" pitchFamily="34" charset="0"/>
              </a:rPr>
              <a:t>img:hover</a:t>
            </a:r>
            <a:endParaRPr lang="pt-BR" b="1" dirty="0">
              <a:solidFill>
                <a:srgbClr val="002060"/>
              </a:solidFill>
              <a:latin typeface="Arial" panose="020B0604020202020204" pitchFamily="34" charset="0"/>
              <a:cs typeface="Arial" panose="020B0604020202020204" pitchFamily="34" charset="0"/>
            </a:endParaRPr>
          </a:p>
          <a:p>
            <a:pPr lvl="3"/>
            <a:r>
              <a:rPr lang="pt-BR" b="1" dirty="0">
                <a:solidFill>
                  <a:srgbClr val="002060"/>
                </a:solidFill>
                <a:latin typeface="Arial" panose="020B0604020202020204" pitchFamily="34" charset="0"/>
                <a:cs typeface="Arial" panose="020B0604020202020204" pitchFamily="34" charset="0"/>
              </a:rPr>
              <a:t>{</a:t>
            </a:r>
          </a:p>
          <a:p>
            <a:pPr lvl="4"/>
            <a:r>
              <a:rPr lang="pt-BR" b="1" dirty="0" err="1">
                <a:solidFill>
                  <a:srgbClr val="002060"/>
                </a:solidFill>
                <a:latin typeface="Arial" panose="020B0604020202020204" pitchFamily="34" charset="0"/>
                <a:cs typeface="Arial" panose="020B0604020202020204" pitchFamily="34" charset="0"/>
              </a:rPr>
              <a:t>border</a:t>
            </a:r>
            <a:r>
              <a:rPr lang="pt-BR" b="1" dirty="0">
                <a:solidFill>
                  <a:srgbClr val="002060"/>
                </a:solidFill>
                <a:latin typeface="Arial" panose="020B0604020202020204" pitchFamily="34" charset="0"/>
                <a:cs typeface="Arial" panose="020B0604020202020204" pitchFamily="34" charset="0"/>
              </a:rPr>
              <a:t> : </a:t>
            </a:r>
            <a:r>
              <a:rPr lang="pt-BR" b="1" dirty="0" err="1">
                <a:solidFill>
                  <a:srgbClr val="002060"/>
                </a:solidFill>
                <a:latin typeface="Arial" panose="020B0604020202020204" pitchFamily="34" charset="0"/>
                <a:cs typeface="Arial" panose="020B0604020202020204" pitchFamily="34" charset="0"/>
              </a:rPr>
              <a:t>dotted</a:t>
            </a:r>
            <a:r>
              <a:rPr lang="pt-BR" b="1" dirty="0">
                <a:solidFill>
                  <a:srgbClr val="002060"/>
                </a:solidFill>
                <a:latin typeface="Arial" panose="020B0604020202020204" pitchFamily="34" charset="0"/>
                <a:cs typeface="Arial" panose="020B0604020202020204" pitchFamily="34" charset="0"/>
              </a:rPr>
              <a:t>;</a:t>
            </a:r>
          </a:p>
          <a:p>
            <a:pPr lvl="3"/>
            <a:r>
              <a:rPr lang="pt-BR" b="1" dirty="0">
                <a:solidFill>
                  <a:srgbClr val="002060"/>
                </a:solidFill>
                <a:latin typeface="Arial" panose="020B0604020202020204" pitchFamily="34" charset="0"/>
                <a:cs typeface="Arial" panose="020B0604020202020204" pitchFamily="34" charset="0"/>
              </a:rPr>
              <a:t>}</a:t>
            </a:r>
          </a:p>
          <a:p>
            <a:pPr lvl="1"/>
            <a:r>
              <a:rPr lang="pt-BR" b="1" dirty="0">
                <a:solidFill>
                  <a:srgbClr val="002060"/>
                </a:solidFill>
                <a:latin typeface="Arial" panose="020B0604020202020204" pitchFamily="34" charset="0"/>
                <a:cs typeface="Arial" panose="020B0604020202020204" pitchFamily="34" charset="0"/>
              </a:rPr>
              <a:t>	&lt;/</a:t>
            </a:r>
            <a:r>
              <a:rPr lang="pt-BR" b="1" dirty="0" err="1">
                <a:solidFill>
                  <a:srgbClr val="002060"/>
                </a:solidFill>
                <a:latin typeface="Arial" panose="020B0604020202020204" pitchFamily="34" charset="0"/>
                <a:cs typeface="Arial" panose="020B0604020202020204" pitchFamily="34" charset="0"/>
              </a:rPr>
              <a:t>style</a:t>
            </a:r>
            <a:r>
              <a:rPr lang="pt-BR" b="1" dirty="0">
                <a:solidFill>
                  <a:srgbClr val="002060"/>
                </a:solidFill>
                <a:latin typeface="Arial" panose="020B0604020202020204" pitchFamily="34" charset="0"/>
                <a:cs typeface="Arial" panose="020B0604020202020204" pitchFamily="34" charset="0"/>
              </a:rPr>
              <a:t>&gt;</a:t>
            </a:r>
          </a:p>
          <a:p>
            <a:pPr lvl="1"/>
            <a:r>
              <a:rPr lang="pt-BR" b="1" dirty="0">
                <a:solidFill>
                  <a:srgbClr val="002060"/>
                </a:solidFill>
                <a:latin typeface="Arial" panose="020B0604020202020204" pitchFamily="34" charset="0"/>
                <a:cs typeface="Arial" panose="020B0604020202020204" pitchFamily="34" charset="0"/>
              </a:rPr>
              <a:t>	&lt;</a:t>
            </a:r>
            <a:r>
              <a:rPr lang="pt-BR" b="1" dirty="0" err="1">
                <a:solidFill>
                  <a:srgbClr val="002060"/>
                </a:solidFill>
                <a:latin typeface="Arial" panose="020B0604020202020204" pitchFamily="34" charset="0"/>
                <a:cs typeface="Arial" panose="020B0604020202020204" pitchFamily="34" charset="0"/>
              </a:rPr>
              <a:t>title</a:t>
            </a:r>
            <a:r>
              <a:rPr lang="pt-BR" b="1" dirty="0">
                <a:solidFill>
                  <a:srgbClr val="002060"/>
                </a:solidFill>
                <a:latin typeface="Arial" panose="020B0604020202020204" pitchFamily="34" charset="0"/>
                <a:cs typeface="Arial" panose="020B0604020202020204" pitchFamily="34" charset="0"/>
              </a:rPr>
              <a:t>&gt;Uso de </a:t>
            </a:r>
            <a:r>
              <a:rPr lang="pt-BR" b="1" dirty="0" err="1">
                <a:solidFill>
                  <a:srgbClr val="002060"/>
                </a:solidFill>
                <a:latin typeface="Arial" panose="020B0604020202020204" pitchFamily="34" charset="0"/>
                <a:cs typeface="Arial" panose="020B0604020202020204" pitchFamily="34" charset="0"/>
              </a:rPr>
              <a:t>pseudo-classe</a:t>
            </a:r>
            <a:r>
              <a:rPr lang="pt-BR" b="1" dirty="0">
                <a:solidFill>
                  <a:srgbClr val="002060"/>
                </a:solidFill>
                <a:latin typeface="Arial" panose="020B0604020202020204" pitchFamily="34" charset="0"/>
                <a:cs typeface="Arial" panose="020B0604020202020204" pitchFamily="34" charset="0"/>
              </a:rPr>
              <a:t>&lt;/</a:t>
            </a:r>
            <a:r>
              <a:rPr lang="pt-BR" b="1" dirty="0" err="1">
                <a:solidFill>
                  <a:srgbClr val="002060"/>
                </a:solidFill>
                <a:latin typeface="Arial" panose="020B0604020202020204" pitchFamily="34" charset="0"/>
                <a:cs typeface="Arial" panose="020B0604020202020204" pitchFamily="34" charset="0"/>
              </a:rPr>
              <a:t>title</a:t>
            </a:r>
            <a:r>
              <a:rPr lang="pt-BR" b="1" dirty="0">
                <a:solidFill>
                  <a:srgbClr val="002060"/>
                </a:solidFill>
                <a:latin typeface="Arial" panose="020B0604020202020204" pitchFamily="34" charset="0"/>
                <a:cs typeface="Arial" panose="020B0604020202020204" pitchFamily="34" charset="0"/>
              </a:rPr>
              <a:t>&gt;</a:t>
            </a:r>
          </a:p>
          <a:p>
            <a:pPr lvl="1"/>
            <a:r>
              <a:rPr lang="pt-BR" b="1" dirty="0">
                <a:solidFill>
                  <a:srgbClr val="002060"/>
                </a:solidFill>
                <a:latin typeface="Arial" panose="020B0604020202020204" pitchFamily="34" charset="0"/>
                <a:cs typeface="Arial" panose="020B0604020202020204" pitchFamily="34" charset="0"/>
              </a:rPr>
              <a:t>&lt;/</a:t>
            </a:r>
            <a:r>
              <a:rPr lang="pt-BR" b="1" dirty="0" err="1">
                <a:solidFill>
                  <a:srgbClr val="002060"/>
                </a:solidFill>
                <a:latin typeface="Arial" panose="020B0604020202020204" pitchFamily="34" charset="0"/>
                <a:cs typeface="Arial" panose="020B0604020202020204" pitchFamily="34" charset="0"/>
              </a:rPr>
              <a:t>head</a:t>
            </a:r>
            <a:r>
              <a:rPr lang="pt-BR" b="1" dirty="0">
                <a:solidFill>
                  <a:srgbClr val="002060"/>
                </a:solidFill>
                <a:latin typeface="Arial" panose="020B0604020202020204" pitchFamily="34" charset="0"/>
                <a:cs typeface="Arial" panose="020B0604020202020204" pitchFamily="34" charset="0"/>
              </a:rPr>
              <a:t>&gt;</a:t>
            </a:r>
          </a:p>
          <a:p>
            <a:pPr lvl="1"/>
            <a:endParaRPr lang="pt-BR" b="1" dirty="0">
              <a:solidFill>
                <a:srgbClr val="002060"/>
              </a:solidFill>
              <a:latin typeface="Arial" panose="020B0604020202020204" pitchFamily="34" charset="0"/>
              <a:cs typeface="Arial" panose="020B0604020202020204" pitchFamily="34" charset="0"/>
            </a:endParaRPr>
          </a:p>
          <a:p>
            <a:pPr lvl="1"/>
            <a:r>
              <a:rPr lang="pt-BR" b="1" dirty="0">
                <a:solidFill>
                  <a:srgbClr val="002060"/>
                </a:solidFill>
                <a:latin typeface="Arial" panose="020B0604020202020204" pitchFamily="34" charset="0"/>
                <a:cs typeface="Arial" panose="020B0604020202020204" pitchFamily="34" charset="0"/>
              </a:rPr>
              <a:t>&lt;</a:t>
            </a:r>
            <a:r>
              <a:rPr lang="pt-BR" b="1" dirty="0" err="1">
                <a:solidFill>
                  <a:srgbClr val="002060"/>
                </a:solidFill>
                <a:latin typeface="Arial" panose="020B0604020202020204" pitchFamily="34" charset="0"/>
                <a:cs typeface="Arial" panose="020B0604020202020204" pitchFamily="34" charset="0"/>
              </a:rPr>
              <a:t>body</a:t>
            </a:r>
            <a:r>
              <a:rPr lang="pt-BR" b="1" dirty="0">
                <a:solidFill>
                  <a:srgbClr val="002060"/>
                </a:solidFill>
                <a:latin typeface="Arial" panose="020B0604020202020204" pitchFamily="34" charset="0"/>
                <a:cs typeface="Arial" panose="020B0604020202020204" pitchFamily="34" charset="0"/>
              </a:rPr>
              <a:t>&gt;</a:t>
            </a:r>
          </a:p>
          <a:p>
            <a:pPr lvl="1"/>
            <a:r>
              <a:rPr lang="pt-BR" b="1" dirty="0">
                <a:solidFill>
                  <a:srgbClr val="002060"/>
                </a:solidFill>
                <a:latin typeface="Arial" panose="020B0604020202020204" pitchFamily="34" charset="0"/>
                <a:cs typeface="Arial" panose="020B0604020202020204" pitchFamily="34" charset="0"/>
              </a:rPr>
              <a:t>	&lt;</a:t>
            </a:r>
            <a:r>
              <a:rPr lang="pt-BR" b="1" dirty="0" err="1">
                <a:solidFill>
                  <a:srgbClr val="002060"/>
                </a:solidFill>
                <a:latin typeface="Arial" panose="020B0604020202020204" pitchFamily="34" charset="0"/>
                <a:cs typeface="Arial" panose="020B0604020202020204" pitchFamily="34" charset="0"/>
              </a:rPr>
              <a:t>img</a:t>
            </a:r>
            <a:r>
              <a:rPr lang="pt-BR" b="1" dirty="0">
                <a:solidFill>
                  <a:srgbClr val="002060"/>
                </a:solidFill>
                <a:latin typeface="Arial" panose="020B0604020202020204" pitchFamily="34" charset="0"/>
                <a:cs typeface="Arial" panose="020B0604020202020204" pitchFamily="34" charset="0"/>
              </a:rPr>
              <a:t> </a:t>
            </a:r>
            <a:r>
              <a:rPr lang="pt-BR" b="1" dirty="0" err="1">
                <a:solidFill>
                  <a:srgbClr val="002060"/>
                </a:solidFill>
                <a:latin typeface="Arial" panose="020B0604020202020204" pitchFamily="34" charset="0"/>
                <a:cs typeface="Arial" panose="020B0604020202020204" pitchFamily="34" charset="0"/>
              </a:rPr>
              <a:t>src</a:t>
            </a:r>
            <a:r>
              <a:rPr lang="pt-BR" b="1" dirty="0">
                <a:solidFill>
                  <a:srgbClr val="002060"/>
                </a:solidFill>
                <a:latin typeface="Arial" panose="020B0604020202020204" pitchFamily="34" charset="0"/>
                <a:cs typeface="Arial" panose="020B0604020202020204" pitchFamily="34" charset="0"/>
              </a:rPr>
              <a:t>=“logo_pucrs.png”&gt;</a:t>
            </a:r>
          </a:p>
          <a:p>
            <a:pPr lvl="1"/>
            <a:r>
              <a:rPr lang="pt-BR" b="1" dirty="0">
                <a:solidFill>
                  <a:srgbClr val="002060"/>
                </a:solidFill>
                <a:latin typeface="Arial" panose="020B0604020202020204" pitchFamily="34" charset="0"/>
                <a:cs typeface="Arial" panose="020B0604020202020204" pitchFamily="34" charset="0"/>
              </a:rPr>
              <a:t>&lt;/</a:t>
            </a:r>
            <a:r>
              <a:rPr lang="pt-BR" b="1" dirty="0" err="1">
                <a:solidFill>
                  <a:srgbClr val="002060"/>
                </a:solidFill>
                <a:latin typeface="Arial" panose="020B0604020202020204" pitchFamily="34" charset="0"/>
                <a:cs typeface="Arial" panose="020B0604020202020204" pitchFamily="34" charset="0"/>
              </a:rPr>
              <a:t>body</a:t>
            </a:r>
            <a:r>
              <a:rPr lang="pt-BR" b="1" dirty="0">
                <a:solidFill>
                  <a:srgbClr val="002060"/>
                </a:solidFill>
                <a:latin typeface="Arial" panose="020B0604020202020204" pitchFamily="34" charset="0"/>
                <a:cs typeface="Arial" panose="020B0604020202020204" pitchFamily="34" charset="0"/>
              </a:rPr>
              <a:t>&gt;</a:t>
            </a:r>
          </a:p>
          <a:p>
            <a:r>
              <a:rPr lang="pt-BR" b="1" dirty="0">
                <a:solidFill>
                  <a:srgbClr val="002060"/>
                </a:solidFill>
                <a:latin typeface="Arial" panose="020B0604020202020204" pitchFamily="34" charset="0"/>
                <a:cs typeface="Arial" panose="020B0604020202020204" pitchFamily="34" charset="0"/>
              </a:rPr>
              <a:t>&lt;/</a:t>
            </a:r>
            <a:r>
              <a:rPr lang="pt-BR" b="1" dirty="0" err="1">
                <a:solidFill>
                  <a:srgbClr val="002060"/>
                </a:solidFill>
                <a:latin typeface="Arial" panose="020B0604020202020204" pitchFamily="34" charset="0"/>
                <a:cs typeface="Arial" panose="020B0604020202020204" pitchFamily="34" charset="0"/>
              </a:rPr>
              <a:t>html</a:t>
            </a:r>
            <a:r>
              <a:rPr lang="pt-BR" b="1" dirty="0">
                <a:solidFill>
                  <a:srgbClr val="002060"/>
                </a:solidFill>
                <a:latin typeface="Arial" panose="020B0604020202020204" pitchFamily="34" charset="0"/>
                <a:cs typeface="Arial" panose="020B0604020202020204" pitchFamily="34" charset="0"/>
              </a:rPr>
              <a:t>&gt;</a:t>
            </a:r>
          </a:p>
        </p:txBody>
      </p:sp>
      <p:pic>
        <p:nvPicPr>
          <p:cNvPr id="9" name="Imagem 8"/>
          <p:cNvPicPr>
            <a:picLocks noChangeAspect="1"/>
          </p:cNvPicPr>
          <p:nvPr/>
        </p:nvPicPr>
        <p:blipFill>
          <a:blip r:embed="rId2"/>
          <a:stretch>
            <a:fillRect/>
          </a:stretch>
        </p:blipFill>
        <p:spPr>
          <a:xfrm>
            <a:off x="6157947" y="553387"/>
            <a:ext cx="2750922" cy="4468164"/>
          </a:xfrm>
          <a:prstGeom prst="rect">
            <a:avLst/>
          </a:prstGeom>
        </p:spPr>
      </p:pic>
      <p:pic>
        <p:nvPicPr>
          <p:cNvPr id="10" name="Imagem 9"/>
          <p:cNvPicPr>
            <a:picLocks noChangeAspect="1"/>
          </p:cNvPicPr>
          <p:nvPr/>
        </p:nvPicPr>
        <p:blipFill>
          <a:blip r:embed="rId3"/>
          <a:stretch>
            <a:fillRect/>
          </a:stretch>
        </p:blipFill>
        <p:spPr>
          <a:xfrm>
            <a:off x="9306095" y="2124217"/>
            <a:ext cx="2750922" cy="4420275"/>
          </a:xfrm>
          <a:prstGeom prst="rect">
            <a:avLst/>
          </a:prstGeom>
        </p:spPr>
      </p:pic>
      <p:sp>
        <p:nvSpPr>
          <p:cNvPr id="11" name="Seta para a Direita 10"/>
          <p:cNvSpPr/>
          <p:nvPr/>
        </p:nvSpPr>
        <p:spPr>
          <a:xfrm rot="19351959">
            <a:off x="9090557" y="5486400"/>
            <a:ext cx="431075" cy="535578"/>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Texto Explicativo Retangular com Cantos Arredondados 12"/>
          <p:cNvSpPr/>
          <p:nvPr/>
        </p:nvSpPr>
        <p:spPr>
          <a:xfrm>
            <a:off x="5577840" y="5170193"/>
            <a:ext cx="3007240" cy="1640380"/>
          </a:xfrm>
          <a:prstGeom prst="wedgeRoundRectCallout">
            <a:avLst>
              <a:gd name="adj1" fmla="val 70107"/>
              <a:gd name="adj2" fmla="val -1322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Quando o mouse se posiciona sobre a imagem...aparece o pontilhado contornando a imagem.</a:t>
            </a:r>
          </a:p>
        </p:txBody>
      </p:sp>
      <p:sp>
        <p:nvSpPr>
          <p:cNvPr id="2" name="Espaço Reservado para Número de Slide 1"/>
          <p:cNvSpPr>
            <a:spLocks noGrp="1"/>
          </p:cNvSpPr>
          <p:nvPr>
            <p:ph type="sldNum" sz="quarter" idx="12"/>
          </p:nvPr>
        </p:nvSpPr>
        <p:spPr/>
        <p:txBody>
          <a:bodyPr/>
          <a:lstStyle/>
          <a:p>
            <a:fld id="{8256F83C-9D86-480B-90E0-0702DBEB9457}" type="slidenum">
              <a:rPr lang="pt-BR" smtClean="0"/>
              <a:t>59</a:t>
            </a:fld>
            <a:endParaRPr lang="pt-BR"/>
          </a:p>
        </p:txBody>
      </p:sp>
    </p:spTree>
    <p:extLst>
      <p:ext uri="{BB962C8B-B14F-4D97-AF65-F5344CB8AC3E}">
        <p14:creationId xmlns:p14="http://schemas.microsoft.com/office/powerpoint/2010/main" val="29068162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Retângulo 15"/>
          <p:cNvSpPr/>
          <p:nvPr/>
        </p:nvSpPr>
        <p:spPr>
          <a:xfrm>
            <a:off x="718458" y="323821"/>
            <a:ext cx="6139543" cy="5078313"/>
          </a:xfrm>
          <a:prstGeom prst="rect">
            <a:avLst/>
          </a:prstGeom>
        </p:spPr>
        <p:txBody>
          <a:bodyPr wrap="square">
            <a:spAutoFit/>
          </a:bodyPr>
          <a:lstStyle/>
          <a:p>
            <a:r>
              <a:rPr lang="pt-BR" b="1" dirty="0">
                <a:solidFill>
                  <a:srgbClr val="FF0000"/>
                </a:solidFill>
                <a:latin typeface="Arial" panose="020B0604020202020204" pitchFamily="34" charset="0"/>
                <a:cs typeface="Arial" panose="020B0604020202020204" pitchFamily="34" charset="0"/>
              </a:rPr>
              <a:t>USO DO </a:t>
            </a:r>
            <a:r>
              <a:rPr lang="pt-BR" b="1" dirty="0" err="1">
                <a:solidFill>
                  <a:srgbClr val="FF0000"/>
                </a:solidFill>
                <a:latin typeface="Arial" panose="020B0604020202020204" pitchFamily="34" charset="0"/>
                <a:cs typeface="Arial" panose="020B0604020202020204" pitchFamily="34" charset="0"/>
              </a:rPr>
              <a:t>pseudo-classe</a:t>
            </a:r>
            <a:r>
              <a:rPr lang="pt-BR" b="1" dirty="0">
                <a:solidFill>
                  <a:srgbClr val="FF0000"/>
                </a:solidFill>
                <a:latin typeface="Arial" panose="020B0604020202020204" pitchFamily="34" charset="0"/>
                <a:cs typeface="Arial" panose="020B0604020202020204" pitchFamily="34" charset="0"/>
              </a:rPr>
              <a:t> :</a:t>
            </a:r>
            <a:r>
              <a:rPr lang="pt-BR" b="1" dirty="0" err="1">
                <a:solidFill>
                  <a:srgbClr val="FF0000"/>
                </a:solidFill>
                <a:latin typeface="Arial" panose="020B0604020202020204" pitchFamily="34" charset="0"/>
                <a:cs typeface="Arial" panose="020B0604020202020204" pitchFamily="34" charset="0"/>
              </a:rPr>
              <a:t>active</a:t>
            </a:r>
            <a:endParaRPr lang="pt-BR" b="1" dirty="0">
              <a:solidFill>
                <a:srgbClr val="FF0000"/>
              </a:solidFill>
              <a:latin typeface="Arial" panose="020B0604020202020204" pitchFamily="34" charset="0"/>
              <a:cs typeface="Arial" panose="020B0604020202020204" pitchFamily="34" charset="0"/>
            </a:endParaRPr>
          </a:p>
          <a:p>
            <a:endParaRPr lang="pt-BR" b="1" dirty="0">
              <a:solidFill>
                <a:srgbClr val="FF0000"/>
              </a:solidFill>
              <a:latin typeface="Arial" panose="020B0604020202020204" pitchFamily="34" charset="0"/>
              <a:cs typeface="Arial" panose="020B0604020202020204" pitchFamily="34" charset="0"/>
            </a:endParaRPr>
          </a:p>
          <a:p>
            <a:r>
              <a:rPr lang="pt-BR" b="1" dirty="0">
                <a:solidFill>
                  <a:srgbClr val="002060"/>
                </a:solidFill>
                <a:latin typeface="Arial" panose="020B0604020202020204" pitchFamily="34" charset="0"/>
                <a:cs typeface="Arial" panose="020B0604020202020204" pitchFamily="34" charset="0"/>
              </a:rPr>
              <a:t>&lt;</a:t>
            </a:r>
            <a:r>
              <a:rPr lang="pt-BR" b="1" dirty="0" err="1">
                <a:solidFill>
                  <a:srgbClr val="002060"/>
                </a:solidFill>
                <a:latin typeface="Arial" panose="020B0604020202020204" pitchFamily="34" charset="0"/>
                <a:cs typeface="Arial" panose="020B0604020202020204" pitchFamily="34" charset="0"/>
              </a:rPr>
              <a:t>html</a:t>
            </a:r>
            <a:r>
              <a:rPr lang="pt-BR" b="1" dirty="0">
                <a:solidFill>
                  <a:srgbClr val="002060"/>
                </a:solidFill>
                <a:latin typeface="Arial" panose="020B0604020202020204" pitchFamily="34" charset="0"/>
                <a:cs typeface="Arial" panose="020B0604020202020204" pitchFamily="34" charset="0"/>
              </a:rPr>
              <a:t>&gt;</a:t>
            </a:r>
          </a:p>
          <a:p>
            <a:pPr lvl="1"/>
            <a:r>
              <a:rPr lang="pt-BR" b="1" dirty="0">
                <a:solidFill>
                  <a:srgbClr val="002060"/>
                </a:solidFill>
                <a:latin typeface="Arial" panose="020B0604020202020204" pitchFamily="34" charset="0"/>
                <a:cs typeface="Arial" panose="020B0604020202020204" pitchFamily="34" charset="0"/>
              </a:rPr>
              <a:t>&lt;</a:t>
            </a:r>
            <a:r>
              <a:rPr lang="pt-BR" b="1" dirty="0" err="1">
                <a:solidFill>
                  <a:srgbClr val="002060"/>
                </a:solidFill>
                <a:latin typeface="Arial" panose="020B0604020202020204" pitchFamily="34" charset="0"/>
                <a:cs typeface="Arial" panose="020B0604020202020204" pitchFamily="34" charset="0"/>
              </a:rPr>
              <a:t>head</a:t>
            </a:r>
            <a:r>
              <a:rPr lang="pt-BR" b="1" dirty="0">
                <a:solidFill>
                  <a:srgbClr val="002060"/>
                </a:solidFill>
                <a:latin typeface="Arial" panose="020B0604020202020204" pitchFamily="34" charset="0"/>
                <a:cs typeface="Arial" panose="020B0604020202020204" pitchFamily="34" charset="0"/>
              </a:rPr>
              <a:t>&gt;</a:t>
            </a:r>
          </a:p>
          <a:p>
            <a:pPr lvl="1"/>
            <a:r>
              <a:rPr lang="pt-BR" b="1" dirty="0">
                <a:solidFill>
                  <a:srgbClr val="002060"/>
                </a:solidFill>
                <a:latin typeface="Arial" panose="020B0604020202020204" pitchFamily="34" charset="0"/>
                <a:cs typeface="Arial" panose="020B0604020202020204" pitchFamily="34" charset="0"/>
              </a:rPr>
              <a:t>	&lt;</a:t>
            </a:r>
            <a:r>
              <a:rPr lang="pt-BR" b="1" dirty="0" err="1">
                <a:solidFill>
                  <a:srgbClr val="002060"/>
                </a:solidFill>
                <a:latin typeface="Arial" panose="020B0604020202020204" pitchFamily="34" charset="0"/>
                <a:cs typeface="Arial" panose="020B0604020202020204" pitchFamily="34" charset="0"/>
              </a:rPr>
              <a:t>style</a:t>
            </a:r>
            <a:r>
              <a:rPr lang="pt-BR" b="1" dirty="0">
                <a:solidFill>
                  <a:srgbClr val="002060"/>
                </a:solidFill>
                <a:latin typeface="Arial" panose="020B0604020202020204" pitchFamily="34" charset="0"/>
                <a:cs typeface="Arial" panose="020B0604020202020204" pitchFamily="34" charset="0"/>
              </a:rPr>
              <a:t>&gt;</a:t>
            </a:r>
          </a:p>
          <a:p>
            <a:pPr lvl="3"/>
            <a:r>
              <a:rPr lang="pt-BR" b="1" dirty="0">
                <a:solidFill>
                  <a:srgbClr val="002060"/>
                </a:solidFill>
                <a:latin typeface="Arial" panose="020B0604020202020204" pitchFamily="34" charset="0"/>
                <a:cs typeface="Arial" panose="020B0604020202020204" pitchFamily="34" charset="0"/>
              </a:rPr>
              <a:t>p:active</a:t>
            </a:r>
          </a:p>
          <a:p>
            <a:pPr lvl="3"/>
            <a:r>
              <a:rPr lang="pt-BR" b="1" dirty="0">
                <a:solidFill>
                  <a:srgbClr val="002060"/>
                </a:solidFill>
                <a:latin typeface="Arial" panose="020B0604020202020204" pitchFamily="34" charset="0"/>
                <a:cs typeface="Arial" panose="020B0604020202020204" pitchFamily="34" charset="0"/>
              </a:rPr>
              <a:t>{</a:t>
            </a:r>
          </a:p>
          <a:p>
            <a:pPr lvl="4"/>
            <a:r>
              <a:rPr lang="pt-BR" b="1" dirty="0">
                <a:solidFill>
                  <a:srgbClr val="002060"/>
                </a:solidFill>
                <a:latin typeface="Arial" panose="020B0604020202020204" pitchFamily="34" charset="0"/>
                <a:cs typeface="Arial" panose="020B0604020202020204" pitchFamily="34" charset="0"/>
              </a:rPr>
              <a:t>background-color: </a:t>
            </a:r>
            <a:r>
              <a:rPr lang="pt-BR" b="1" dirty="0" err="1">
                <a:solidFill>
                  <a:srgbClr val="002060"/>
                </a:solidFill>
                <a:latin typeface="Arial" panose="020B0604020202020204" pitchFamily="34" charset="0"/>
                <a:cs typeface="Arial" panose="020B0604020202020204" pitchFamily="34" charset="0"/>
              </a:rPr>
              <a:t>yellow</a:t>
            </a:r>
            <a:r>
              <a:rPr lang="pt-BR" b="1" dirty="0">
                <a:solidFill>
                  <a:srgbClr val="002060"/>
                </a:solidFill>
                <a:latin typeface="Arial" panose="020B0604020202020204" pitchFamily="34" charset="0"/>
                <a:cs typeface="Arial" panose="020B0604020202020204" pitchFamily="34" charset="0"/>
              </a:rPr>
              <a:t>;</a:t>
            </a:r>
          </a:p>
          <a:p>
            <a:pPr lvl="4"/>
            <a:r>
              <a:rPr lang="pt-BR" b="1" dirty="0" err="1">
                <a:solidFill>
                  <a:srgbClr val="002060"/>
                </a:solidFill>
                <a:latin typeface="Arial" panose="020B0604020202020204" pitchFamily="34" charset="0"/>
                <a:cs typeface="Arial" panose="020B0604020202020204" pitchFamily="34" charset="0"/>
              </a:rPr>
              <a:t>width</a:t>
            </a:r>
            <a:r>
              <a:rPr lang="pt-BR" b="1" dirty="0">
                <a:solidFill>
                  <a:srgbClr val="002060"/>
                </a:solidFill>
                <a:latin typeface="Arial" panose="020B0604020202020204" pitchFamily="34" charset="0"/>
                <a:cs typeface="Arial" panose="020B0604020202020204" pitchFamily="34" charset="0"/>
              </a:rPr>
              <a:t>: 250px;</a:t>
            </a:r>
          </a:p>
          <a:p>
            <a:pPr lvl="3"/>
            <a:r>
              <a:rPr lang="pt-BR" b="1" dirty="0">
                <a:solidFill>
                  <a:srgbClr val="002060"/>
                </a:solidFill>
                <a:latin typeface="Arial" panose="020B0604020202020204" pitchFamily="34" charset="0"/>
                <a:cs typeface="Arial" panose="020B0604020202020204" pitchFamily="34" charset="0"/>
              </a:rPr>
              <a:t>}</a:t>
            </a:r>
          </a:p>
          <a:p>
            <a:pPr lvl="1"/>
            <a:r>
              <a:rPr lang="pt-BR" b="1" dirty="0">
                <a:solidFill>
                  <a:srgbClr val="002060"/>
                </a:solidFill>
                <a:latin typeface="Arial" panose="020B0604020202020204" pitchFamily="34" charset="0"/>
                <a:cs typeface="Arial" panose="020B0604020202020204" pitchFamily="34" charset="0"/>
              </a:rPr>
              <a:t>	&lt;/</a:t>
            </a:r>
            <a:r>
              <a:rPr lang="pt-BR" b="1" dirty="0" err="1">
                <a:solidFill>
                  <a:srgbClr val="002060"/>
                </a:solidFill>
                <a:latin typeface="Arial" panose="020B0604020202020204" pitchFamily="34" charset="0"/>
                <a:cs typeface="Arial" panose="020B0604020202020204" pitchFamily="34" charset="0"/>
              </a:rPr>
              <a:t>style</a:t>
            </a:r>
            <a:r>
              <a:rPr lang="pt-BR" b="1" dirty="0">
                <a:solidFill>
                  <a:srgbClr val="002060"/>
                </a:solidFill>
                <a:latin typeface="Arial" panose="020B0604020202020204" pitchFamily="34" charset="0"/>
                <a:cs typeface="Arial" panose="020B0604020202020204" pitchFamily="34" charset="0"/>
              </a:rPr>
              <a:t>&gt;</a:t>
            </a:r>
          </a:p>
          <a:p>
            <a:pPr lvl="1"/>
            <a:r>
              <a:rPr lang="pt-BR" b="1" dirty="0">
                <a:solidFill>
                  <a:srgbClr val="002060"/>
                </a:solidFill>
                <a:latin typeface="Arial" panose="020B0604020202020204" pitchFamily="34" charset="0"/>
                <a:cs typeface="Arial" panose="020B0604020202020204" pitchFamily="34" charset="0"/>
              </a:rPr>
              <a:t>	&lt;</a:t>
            </a:r>
            <a:r>
              <a:rPr lang="pt-BR" b="1" dirty="0" err="1">
                <a:solidFill>
                  <a:srgbClr val="002060"/>
                </a:solidFill>
                <a:latin typeface="Arial" panose="020B0604020202020204" pitchFamily="34" charset="0"/>
                <a:cs typeface="Arial" panose="020B0604020202020204" pitchFamily="34" charset="0"/>
              </a:rPr>
              <a:t>title</a:t>
            </a:r>
            <a:r>
              <a:rPr lang="pt-BR" b="1" dirty="0">
                <a:solidFill>
                  <a:srgbClr val="002060"/>
                </a:solidFill>
                <a:latin typeface="Arial" panose="020B0604020202020204" pitchFamily="34" charset="0"/>
                <a:cs typeface="Arial" panose="020B0604020202020204" pitchFamily="34" charset="0"/>
              </a:rPr>
              <a:t>&gt;Uso de </a:t>
            </a:r>
            <a:r>
              <a:rPr lang="pt-BR" b="1" dirty="0" err="1">
                <a:solidFill>
                  <a:srgbClr val="002060"/>
                </a:solidFill>
                <a:latin typeface="Arial" panose="020B0604020202020204" pitchFamily="34" charset="0"/>
                <a:cs typeface="Arial" panose="020B0604020202020204" pitchFamily="34" charset="0"/>
              </a:rPr>
              <a:t>pseudo-classe</a:t>
            </a:r>
            <a:r>
              <a:rPr lang="pt-BR" b="1" dirty="0">
                <a:solidFill>
                  <a:srgbClr val="002060"/>
                </a:solidFill>
                <a:latin typeface="Arial" panose="020B0604020202020204" pitchFamily="34" charset="0"/>
                <a:cs typeface="Arial" panose="020B0604020202020204" pitchFamily="34" charset="0"/>
              </a:rPr>
              <a:t>&lt;/</a:t>
            </a:r>
            <a:r>
              <a:rPr lang="pt-BR" b="1" dirty="0" err="1">
                <a:solidFill>
                  <a:srgbClr val="002060"/>
                </a:solidFill>
                <a:latin typeface="Arial" panose="020B0604020202020204" pitchFamily="34" charset="0"/>
                <a:cs typeface="Arial" panose="020B0604020202020204" pitchFamily="34" charset="0"/>
              </a:rPr>
              <a:t>title</a:t>
            </a:r>
            <a:r>
              <a:rPr lang="pt-BR" b="1" dirty="0">
                <a:solidFill>
                  <a:srgbClr val="002060"/>
                </a:solidFill>
                <a:latin typeface="Arial" panose="020B0604020202020204" pitchFamily="34" charset="0"/>
                <a:cs typeface="Arial" panose="020B0604020202020204" pitchFamily="34" charset="0"/>
              </a:rPr>
              <a:t>&gt;</a:t>
            </a:r>
          </a:p>
          <a:p>
            <a:pPr lvl="1"/>
            <a:r>
              <a:rPr lang="pt-BR" b="1" dirty="0">
                <a:solidFill>
                  <a:srgbClr val="002060"/>
                </a:solidFill>
                <a:latin typeface="Arial" panose="020B0604020202020204" pitchFamily="34" charset="0"/>
                <a:cs typeface="Arial" panose="020B0604020202020204" pitchFamily="34" charset="0"/>
              </a:rPr>
              <a:t>&lt;/</a:t>
            </a:r>
            <a:r>
              <a:rPr lang="pt-BR" b="1" dirty="0" err="1">
                <a:solidFill>
                  <a:srgbClr val="002060"/>
                </a:solidFill>
                <a:latin typeface="Arial" panose="020B0604020202020204" pitchFamily="34" charset="0"/>
                <a:cs typeface="Arial" panose="020B0604020202020204" pitchFamily="34" charset="0"/>
              </a:rPr>
              <a:t>head</a:t>
            </a:r>
            <a:r>
              <a:rPr lang="pt-BR" b="1" dirty="0">
                <a:solidFill>
                  <a:srgbClr val="002060"/>
                </a:solidFill>
                <a:latin typeface="Arial" panose="020B0604020202020204" pitchFamily="34" charset="0"/>
                <a:cs typeface="Arial" panose="020B0604020202020204" pitchFamily="34" charset="0"/>
              </a:rPr>
              <a:t>&gt;</a:t>
            </a:r>
          </a:p>
          <a:p>
            <a:pPr lvl="1"/>
            <a:endParaRPr lang="pt-BR" b="1" dirty="0">
              <a:solidFill>
                <a:srgbClr val="002060"/>
              </a:solidFill>
              <a:latin typeface="Arial" panose="020B0604020202020204" pitchFamily="34" charset="0"/>
              <a:cs typeface="Arial" panose="020B0604020202020204" pitchFamily="34" charset="0"/>
            </a:endParaRPr>
          </a:p>
          <a:p>
            <a:pPr lvl="1"/>
            <a:r>
              <a:rPr lang="pt-BR" b="1" dirty="0">
                <a:solidFill>
                  <a:srgbClr val="002060"/>
                </a:solidFill>
                <a:latin typeface="Arial" panose="020B0604020202020204" pitchFamily="34" charset="0"/>
                <a:cs typeface="Arial" panose="020B0604020202020204" pitchFamily="34" charset="0"/>
              </a:rPr>
              <a:t>&lt;</a:t>
            </a:r>
            <a:r>
              <a:rPr lang="pt-BR" b="1" dirty="0" err="1">
                <a:solidFill>
                  <a:srgbClr val="002060"/>
                </a:solidFill>
                <a:latin typeface="Arial" panose="020B0604020202020204" pitchFamily="34" charset="0"/>
                <a:cs typeface="Arial" panose="020B0604020202020204" pitchFamily="34" charset="0"/>
              </a:rPr>
              <a:t>body</a:t>
            </a:r>
            <a:r>
              <a:rPr lang="pt-BR" b="1" dirty="0">
                <a:solidFill>
                  <a:srgbClr val="002060"/>
                </a:solidFill>
                <a:latin typeface="Arial" panose="020B0604020202020204" pitchFamily="34" charset="0"/>
                <a:cs typeface="Arial" panose="020B0604020202020204" pitchFamily="34" charset="0"/>
              </a:rPr>
              <a:t>&gt;</a:t>
            </a:r>
          </a:p>
          <a:p>
            <a:pPr lvl="1"/>
            <a:r>
              <a:rPr lang="pt-BR" b="1" dirty="0">
                <a:solidFill>
                  <a:srgbClr val="002060"/>
                </a:solidFill>
                <a:latin typeface="Arial" panose="020B0604020202020204" pitchFamily="34" charset="0"/>
                <a:cs typeface="Arial" panose="020B0604020202020204" pitchFamily="34" charset="0"/>
              </a:rPr>
              <a:t>	&lt;h3&gt;&lt;p&gt;Teste da </a:t>
            </a:r>
            <a:r>
              <a:rPr lang="pt-BR" b="1" dirty="0" err="1">
                <a:solidFill>
                  <a:srgbClr val="002060"/>
                </a:solidFill>
                <a:latin typeface="Arial" panose="020B0604020202020204" pitchFamily="34" charset="0"/>
                <a:cs typeface="Arial" panose="020B0604020202020204" pitchFamily="34" charset="0"/>
              </a:rPr>
              <a:t>pseudo-classe</a:t>
            </a:r>
            <a:r>
              <a:rPr lang="pt-BR" b="1" dirty="0">
                <a:solidFill>
                  <a:srgbClr val="002060"/>
                </a:solidFill>
                <a:latin typeface="Arial" panose="020B0604020202020204" pitchFamily="34" charset="0"/>
                <a:cs typeface="Arial" panose="020B0604020202020204" pitchFamily="34" charset="0"/>
              </a:rPr>
              <a:t> </a:t>
            </a:r>
            <a:r>
              <a:rPr lang="pt-BR" b="1" dirty="0" err="1">
                <a:solidFill>
                  <a:srgbClr val="002060"/>
                </a:solidFill>
                <a:latin typeface="Arial" panose="020B0604020202020204" pitchFamily="34" charset="0"/>
                <a:cs typeface="Arial" panose="020B0604020202020204" pitchFamily="34" charset="0"/>
              </a:rPr>
              <a:t>active</a:t>
            </a:r>
            <a:r>
              <a:rPr lang="pt-BR" b="1" dirty="0">
                <a:solidFill>
                  <a:srgbClr val="002060"/>
                </a:solidFill>
                <a:latin typeface="Arial" panose="020B0604020202020204" pitchFamily="34" charset="0"/>
                <a:cs typeface="Arial" panose="020B0604020202020204" pitchFamily="34" charset="0"/>
              </a:rPr>
              <a:t>&gt;&lt;/h3&gt;</a:t>
            </a:r>
          </a:p>
          <a:p>
            <a:pPr lvl="1"/>
            <a:r>
              <a:rPr lang="pt-BR" b="1" dirty="0">
                <a:solidFill>
                  <a:srgbClr val="002060"/>
                </a:solidFill>
                <a:latin typeface="Arial" panose="020B0604020202020204" pitchFamily="34" charset="0"/>
                <a:cs typeface="Arial" panose="020B0604020202020204" pitchFamily="34" charset="0"/>
              </a:rPr>
              <a:t>&lt;/</a:t>
            </a:r>
            <a:r>
              <a:rPr lang="pt-BR" b="1" dirty="0" err="1">
                <a:solidFill>
                  <a:srgbClr val="002060"/>
                </a:solidFill>
                <a:latin typeface="Arial" panose="020B0604020202020204" pitchFamily="34" charset="0"/>
                <a:cs typeface="Arial" panose="020B0604020202020204" pitchFamily="34" charset="0"/>
              </a:rPr>
              <a:t>body</a:t>
            </a:r>
            <a:r>
              <a:rPr lang="pt-BR" b="1" dirty="0">
                <a:solidFill>
                  <a:srgbClr val="002060"/>
                </a:solidFill>
                <a:latin typeface="Arial" panose="020B0604020202020204" pitchFamily="34" charset="0"/>
                <a:cs typeface="Arial" panose="020B0604020202020204" pitchFamily="34" charset="0"/>
              </a:rPr>
              <a:t>&gt;</a:t>
            </a:r>
          </a:p>
          <a:p>
            <a:r>
              <a:rPr lang="pt-BR" b="1" dirty="0">
                <a:solidFill>
                  <a:srgbClr val="002060"/>
                </a:solidFill>
                <a:latin typeface="Arial" panose="020B0604020202020204" pitchFamily="34" charset="0"/>
                <a:cs typeface="Arial" panose="020B0604020202020204" pitchFamily="34" charset="0"/>
              </a:rPr>
              <a:t>&lt;/</a:t>
            </a:r>
            <a:r>
              <a:rPr lang="pt-BR" b="1" dirty="0" err="1">
                <a:solidFill>
                  <a:srgbClr val="002060"/>
                </a:solidFill>
                <a:latin typeface="Arial" panose="020B0604020202020204" pitchFamily="34" charset="0"/>
                <a:cs typeface="Arial" panose="020B0604020202020204" pitchFamily="34" charset="0"/>
              </a:rPr>
              <a:t>html</a:t>
            </a:r>
            <a:r>
              <a:rPr lang="pt-BR" b="1" dirty="0">
                <a:solidFill>
                  <a:srgbClr val="002060"/>
                </a:solidFill>
                <a:latin typeface="Arial" panose="020B0604020202020204" pitchFamily="34" charset="0"/>
                <a:cs typeface="Arial" panose="020B0604020202020204" pitchFamily="34" charset="0"/>
              </a:rPr>
              <a:t>&gt;</a:t>
            </a:r>
          </a:p>
        </p:txBody>
      </p:sp>
      <p:pic>
        <p:nvPicPr>
          <p:cNvPr id="17" name="Imagem 16"/>
          <p:cNvPicPr>
            <a:picLocks noChangeAspect="1"/>
          </p:cNvPicPr>
          <p:nvPr/>
        </p:nvPicPr>
        <p:blipFill>
          <a:blip r:embed="rId2"/>
          <a:stretch>
            <a:fillRect/>
          </a:stretch>
        </p:blipFill>
        <p:spPr>
          <a:xfrm>
            <a:off x="5934890" y="395404"/>
            <a:ext cx="3971109" cy="1239468"/>
          </a:xfrm>
          <a:prstGeom prst="rect">
            <a:avLst/>
          </a:prstGeom>
        </p:spPr>
      </p:pic>
      <p:sp>
        <p:nvSpPr>
          <p:cNvPr id="21" name="Retângulo 20"/>
          <p:cNvSpPr/>
          <p:nvPr/>
        </p:nvSpPr>
        <p:spPr>
          <a:xfrm>
            <a:off x="3633457" y="5236785"/>
            <a:ext cx="3756181" cy="1477328"/>
          </a:xfrm>
          <a:prstGeom prst="rect">
            <a:avLst/>
          </a:prstGeom>
          <a:ln>
            <a:solidFill>
              <a:srgbClr val="FF0000"/>
            </a:solidFill>
          </a:ln>
        </p:spPr>
        <p:txBody>
          <a:bodyPr wrap="square">
            <a:spAutoFit/>
          </a:bodyPr>
          <a:lstStyle/>
          <a:p>
            <a:r>
              <a:rPr lang="pt-BR" b="1" dirty="0">
                <a:solidFill>
                  <a:srgbClr val="002060"/>
                </a:solidFill>
                <a:latin typeface="Arial" panose="020B0604020202020204" pitchFamily="34" charset="0"/>
                <a:cs typeface="Arial" panose="020B0604020202020204" pitchFamily="34" charset="0"/>
              </a:rPr>
              <a:t>p:hover</a:t>
            </a:r>
          </a:p>
          <a:p>
            <a:r>
              <a:rPr lang="pt-BR" b="1" dirty="0">
                <a:solidFill>
                  <a:srgbClr val="002060"/>
                </a:solidFill>
                <a:latin typeface="Arial" panose="020B0604020202020204" pitchFamily="34" charset="0"/>
                <a:cs typeface="Arial" panose="020B0604020202020204" pitchFamily="34" charset="0"/>
              </a:rPr>
              <a:t>{</a:t>
            </a:r>
          </a:p>
          <a:p>
            <a:pPr lvl="1"/>
            <a:r>
              <a:rPr lang="pt-BR" b="1" dirty="0">
                <a:solidFill>
                  <a:srgbClr val="002060"/>
                </a:solidFill>
                <a:latin typeface="Arial" panose="020B0604020202020204" pitchFamily="34" charset="0"/>
                <a:cs typeface="Arial" panose="020B0604020202020204" pitchFamily="34" charset="0"/>
              </a:rPr>
              <a:t>background-color: </a:t>
            </a:r>
            <a:r>
              <a:rPr lang="pt-BR" b="1" dirty="0" err="1">
                <a:solidFill>
                  <a:srgbClr val="002060"/>
                </a:solidFill>
                <a:latin typeface="Arial" panose="020B0604020202020204" pitchFamily="34" charset="0"/>
                <a:cs typeface="Arial" panose="020B0604020202020204" pitchFamily="34" charset="0"/>
              </a:rPr>
              <a:t>yellow</a:t>
            </a:r>
            <a:r>
              <a:rPr lang="pt-BR" b="1" dirty="0">
                <a:solidFill>
                  <a:srgbClr val="002060"/>
                </a:solidFill>
                <a:latin typeface="Arial" panose="020B0604020202020204" pitchFamily="34" charset="0"/>
                <a:cs typeface="Arial" panose="020B0604020202020204" pitchFamily="34" charset="0"/>
              </a:rPr>
              <a:t>;</a:t>
            </a:r>
          </a:p>
          <a:p>
            <a:pPr lvl="1"/>
            <a:r>
              <a:rPr lang="pt-BR" b="1" dirty="0" err="1">
                <a:solidFill>
                  <a:srgbClr val="002060"/>
                </a:solidFill>
                <a:latin typeface="Arial" panose="020B0604020202020204" pitchFamily="34" charset="0"/>
                <a:cs typeface="Arial" panose="020B0604020202020204" pitchFamily="34" charset="0"/>
              </a:rPr>
              <a:t>width</a:t>
            </a:r>
            <a:r>
              <a:rPr lang="pt-BR" b="1" dirty="0">
                <a:solidFill>
                  <a:srgbClr val="002060"/>
                </a:solidFill>
                <a:latin typeface="Arial" panose="020B0604020202020204" pitchFamily="34" charset="0"/>
                <a:cs typeface="Arial" panose="020B0604020202020204" pitchFamily="34" charset="0"/>
              </a:rPr>
              <a:t>: 250px;</a:t>
            </a:r>
          </a:p>
          <a:p>
            <a:r>
              <a:rPr lang="pt-BR" b="1" dirty="0">
                <a:solidFill>
                  <a:srgbClr val="002060"/>
                </a:solidFill>
                <a:latin typeface="Arial" panose="020B0604020202020204" pitchFamily="34" charset="0"/>
                <a:cs typeface="Arial" panose="020B0604020202020204" pitchFamily="34" charset="0"/>
              </a:rPr>
              <a:t>}</a:t>
            </a:r>
          </a:p>
        </p:txBody>
      </p:sp>
      <p:pic>
        <p:nvPicPr>
          <p:cNvPr id="22" name="Imagem 21"/>
          <p:cNvPicPr>
            <a:picLocks noChangeAspect="1"/>
          </p:cNvPicPr>
          <p:nvPr/>
        </p:nvPicPr>
        <p:blipFill>
          <a:blip r:embed="rId2"/>
          <a:stretch>
            <a:fillRect/>
          </a:stretch>
        </p:blipFill>
        <p:spPr>
          <a:xfrm>
            <a:off x="7920445" y="3511659"/>
            <a:ext cx="3971109" cy="1239468"/>
          </a:xfrm>
          <a:prstGeom prst="rect">
            <a:avLst/>
          </a:prstGeom>
        </p:spPr>
      </p:pic>
      <p:grpSp>
        <p:nvGrpSpPr>
          <p:cNvPr id="23" name="Agrupar 22"/>
          <p:cNvGrpSpPr/>
          <p:nvPr/>
        </p:nvGrpSpPr>
        <p:grpSpPr>
          <a:xfrm>
            <a:off x="7931844" y="4857845"/>
            <a:ext cx="3971109" cy="1416084"/>
            <a:chOff x="6949711" y="2310096"/>
            <a:chExt cx="4776380" cy="1773072"/>
          </a:xfrm>
        </p:grpSpPr>
        <p:pic>
          <p:nvPicPr>
            <p:cNvPr id="24" name="Imagem 23"/>
            <p:cNvPicPr>
              <a:picLocks noChangeAspect="1"/>
            </p:cNvPicPr>
            <p:nvPr/>
          </p:nvPicPr>
          <p:blipFill>
            <a:blip r:embed="rId3"/>
            <a:stretch>
              <a:fillRect/>
            </a:stretch>
          </p:blipFill>
          <p:spPr>
            <a:xfrm>
              <a:off x="6949711" y="2310096"/>
              <a:ext cx="4776380" cy="1505283"/>
            </a:xfrm>
            <a:prstGeom prst="rect">
              <a:avLst/>
            </a:prstGeom>
          </p:spPr>
        </p:pic>
        <p:sp>
          <p:nvSpPr>
            <p:cNvPr id="25" name="Seta para a Direita 24"/>
            <p:cNvSpPr/>
            <p:nvPr/>
          </p:nvSpPr>
          <p:spPr>
            <a:xfrm rot="13204395">
              <a:off x="10340644" y="3547590"/>
              <a:ext cx="431075" cy="535578"/>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6" name="Chave Esquerda 25"/>
          <p:cNvSpPr/>
          <p:nvPr/>
        </p:nvSpPr>
        <p:spPr>
          <a:xfrm>
            <a:off x="7566574" y="3507957"/>
            <a:ext cx="353871" cy="2565163"/>
          </a:xfrm>
          <a:prstGeom prst="leftBrace">
            <a:avLst>
              <a:gd name="adj1" fmla="val 77290"/>
              <a:gd name="adj2" fmla="val 83638"/>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27" name="Texto Explicativo Retangular com Cantos Arredondados 26"/>
          <p:cNvSpPr/>
          <p:nvPr/>
        </p:nvSpPr>
        <p:spPr>
          <a:xfrm>
            <a:off x="91440" y="5538651"/>
            <a:ext cx="3365081" cy="1159729"/>
          </a:xfrm>
          <a:prstGeom prst="wedgeRoundRectCallout">
            <a:avLst>
              <a:gd name="adj1" fmla="val 56242"/>
              <a:gd name="adj2" fmla="val -5430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t>A diferença entre o </a:t>
            </a:r>
            <a:r>
              <a:rPr lang="pt-BR" dirty="0" err="1"/>
              <a:t>hover</a:t>
            </a:r>
            <a:r>
              <a:rPr lang="pt-BR" dirty="0"/>
              <a:t> e o </a:t>
            </a:r>
            <a:r>
              <a:rPr lang="pt-BR" dirty="0" err="1"/>
              <a:t>active</a:t>
            </a:r>
            <a:r>
              <a:rPr lang="pt-BR" dirty="0"/>
              <a:t>, no </a:t>
            </a:r>
            <a:r>
              <a:rPr lang="pt-BR" dirty="0" err="1"/>
              <a:t>hover</a:t>
            </a:r>
            <a:r>
              <a:rPr lang="pt-BR" dirty="0"/>
              <a:t> basta o mouse passar por cima. No </a:t>
            </a:r>
            <a:r>
              <a:rPr lang="pt-BR" dirty="0" err="1"/>
              <a:t>active</a:t>
            </a:r>
            <a:r>
              <a:rPr lang="pt-BR" dirty="0"/>
              <a:t>, precisa o clique.</a:t>
            </a:r>
          </a:p>
        </p:txBody>
      </p:sp>
      <p:sp>
        <p:nvSpPr>
          <p:cNvPr id="28" name="Retângulo 27"/>
          <p:cNvSpPr/>
          <p:nvPr/>
        </p:nvSpPr>
        <p:spPr>
          <a:xfrm>
            <a:off x="7324324" y="3033129"/>
            <a:ext cx="4775666" cy="369332"/>
          </a:xfrm>
          <a:prstGeom prst="rect">
            <a:avLst/>
          </a:prstGeom>
        </p:spPr>
        <p:txBody>
          <a:bodyPr wrap="none">
            <a:spAutoFit/>
          </a:bodyPr>
          <a:lstStyle/>
          <a:p>
            <a:r>
              <a:rPr lang="pt-BR" b="1" dirty="0">
                <a:solidFill>
                  <a:srgbClr val="FF0000"/>
                </a:solidFill>
                <a:latin typeface="Arial" panose="020B0604020202020204" pitchFamily="34" charset="0"/>
                <a:cs typeface="Arial" panose="020B0604020202020204" pitchFamily="34" charset="0"/>
              </a:rPr>
              <a:t>Quando clicar no texto, ficará em amarelo</a:t>
            </a:r>
            <a:endParaRPr lang="pt-BR" dirty="0"/>
          </a:p>
        </p:txBody>
      </p:sp>
      <p:sp>
        <p:nvSpPr>
          <p:cNvPr id="29" name="Retângulo 28"/>
          <p:cNvSpPr/>
          <p:nvPr/>
        </p:nvSpPr>
        <p:spPr>
          <a:xfrm>
            <a:off x="7666701" y="6073119"/>
            <a:ext cx="3334397" cy="646331"/>
          </a:xfrm>
          <a:prstGeom prst="rect">
            <a:avLst/>
          </a:prstGeom>
        </p:spPr>
        <p:txBody>
          <a:bodyPr wrap="square">
            <a:spAutoFit/>
          </a:bodyPr>
          <a:lstStyle/>
          <a:p>
            <a:pPr algn="ctr"/>
            <a:r>
              <a:rPr lang="pt-BR" b="1" dirty="0">
                <a:solidFill>
                  <a:srgbClr val="FF0000"/>
                </a:solidFill>
                <a:latin typeface="Arial" panose="020B0604020202020204" pitchFamily="34" charset="0"/>
                <a:cs typeface="Arial" panose="020B0604020202020204" pitchFamily="34" charset="0"/>
              </a:rPr>
              <a:t>Com </a:t>
            </a:r>
            <a:r>
              <a:rPr lang="pt-BR" b="1" dirty="0" err="1">
                <a:solidFill>
                  <a:srgbClr val="FF0000"/>
                </a:solidFill>
                <a:latin typeface="Arial" panose="020B0604020202020204" pitchFamily="34" charset="0"/>
                <a:cs typeface="Arial" panose="020B0604020202020204" pitchFamily="34" charset="0"/>
              </a:rPr>
              <a:t>hover</a:t>
            </a:r>
            <a:r>
              <a:rPr lang="pt-BR" b="1" dirty="0">
                <a:solidFill>
                  <a:srgbClr val="FF0000"/>
                </a:solidFill>
                <a:latin typeface="Arial" panose="020B0604020202020204" pitchFamily="34" charset="0"/>
                <a:cs typeface="Arial" panose="020B0604020202020204" pitchFamily="34" charset="0"/>
              </a:rPr>
              <a:t>, basta passar o mouse por cima.</a:t>
            </a:r>
            <a:endParaRPr lang="pt-BR" dirty="0"/>
          </a:p>
        </p:txBody>
      </p:sp>
      <p:sp>
        <p:nvSpPr>
          <p:cNvPr id="2" name="Espaço Reservado para Número de Slide 1"/>
          <p:cNvSpPr>
            <a:spLocks noGrp="1"/>
          </p:cNvSpPr>
          <p:nvPr>
            <p:ph type="sldNum" sz="quarter" idx="12"/>
          </p:nvPr>
        </p:nvSpPr>
        <p:spPr/>
        <p:txBody>
          <a:bodyPr/>
          <a:lstStyle/>
          <a:p>
            <a:fld id="{8256F83C-9D86-480B-90E0-0702DBEB9457}" type="slidenum">
              <a:rPr lang="pt-BR" smtClean="0"/>
              <a:t>60</a:t>
            </a:fld>
            <a:endParaRPr lang="pt-BR"/>
          </a:p>
        </p:txBody>
      </p:sp>
    </p:spTree>
    <p:extLst>
      <p:ext uri="{BB962C8B-B14F-4D97-AF65-F5344CB8AC3E}">
        <p14:creationId xmlns:p14="http://schemas.microsoft.com/office/powerpoint/2010/main" val="26430699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p:cNvSpPr txBox="1"/>
          <p:nvPr/>
        </p:nvSpPr>
        <p:spPr>
          <a:xfrm>
            <a:off x="585788" y="289157"/>
            <a:ext cx="10961778" cy="569387"/>
          </a:xfrm>
          <a:prstGeom prst="rect">
            <a:avLst/>
          </a:prstGeom>
          <a:noFill/>
        </p:spPr>
        <p:txBody>
          <a:bodyPr wrap="square" rtlCol="0">
            <a:spAutoFit/>
          </a:bodyPr>
          <a:lstStyle/>
          <a:p>
            <a:pPr algn="ctr"/>
            <a:r>
              <a:rPr lang="pt-BR" sz="3100" b="1" u="sng" dirty="0">
                <a:solidFill>
                  <a:srgbClr val="002060"/>
                </a:solidFill>
                <a:latin typeface="Arial" panose="020B0604020202020204" pitchFamily="34" charset="0"/>
                <a:cs typeface="Arial" panose="020B0604020202020204" pitchFamily="34" charset="0"/>
              </a:rPr>
              <a:t>Formatação de tabelas</a:t>
            </a:r>
          </a:p>
        </p:txBody>
      </p:sp>
      <p:sp>
        <p:nvSpPr>
          <p:cNvPr id="4" name="CaixaDeTexto 3"/>
          <p:cNvSpPr txBox="1"/>
          <p:nvPr/>
        </p:nvSpPr>
        <p:spPr>
          <a:xfrm>
            <a:off x="373108" y="858544"/>
            <a:ext cx="11387138" cy="830997"/>
          </a:xfrm>
          <a:prstGeom prst="rect">
            <a:avLst/>
          </a:prstGeom>
          <a:noFill/>
        </p:spPr>
        <p:txBody>
          <a:bodyPr wrap="square" rtlCol="0">
            <a:spAutoFit/>
          </a:bodyPr>
          <a:lstStyle/>
          <a:p>
            <a:pPr marL="342900" indent="-342900" algn="just">
              <a:buFont typeface="Wingdings" panose="05000000000000000000" pitchFamily="2" charset="2"/>
              <a:buChar char="Ø"/>
            </a:pPr>
            <a:r>
              <a:rPr lang="pt-BR" sz="2400" dirty="0">
                <a:solidFill>
                  <a:srgbClr val="002060"/>
                </a:solidFill>
                <a:latin typeface="Arial" panose="020B0604020202020204" pitchFamily="34" charset="0"/>
                <a:cs typeface="Arial" panose="020B0604020202020204" pitchFamily="34" charset="0"/>
              </a:rPr>
              <a:t> Espaçamento entre células de uma tabela.</a:t>
            </a:r>
          </a:p>
          <a:p>
            <a:pPr marL="800100" lvl="1" indent="-342900" algn="just">
              <a:buFont typeface="Wingdings" panose="05000000000000000000" pitchFamily="2" charset="2"/>
              <a:buChar char="Ø"/>
            </a:pPr>
            <a:r>
              <a:rPr lang="pt-BR" sz="2400" dirty="0">
                <a:solidFill>
                  <a:srgbClr val="002060"/>
                </a:solidFill>
                <a:latin typeface="Arial" panose="020B0604020202020204" pitchFamily="34" charset="0"/>
                <a:cs typeface="Arial" panose="020B0604020202020204" pitchFamily="34" charset="0"/>
              </a:rPr>
              <a:t>Exemplo:</a:t>
            </a:r>
          </a:p>
        </p:txBody>
      </p:sp>
      <p:sp>
        <p:nvSpPr>
          <p:cNvPr id="5" name="Retângulo 4"/>
          <p:cNvSpPr/>
          <p:nvPr/>
        </p:nvSpPr>
        <p:spPr>
          <a:xfrm>
            <a:off x="783770" y="1835511"/>
            <a:ext cx="5630091" cy="4124206"/>
          </a:xfrm>
          <a:prstGeom prst="rect">
            <a:avLst/>
          </a:prstGeom>
        </p:spPr>
        <p:txBody>
          <a:bodyPr wrap="square">
            <a:spAutoFit/>
          </a:bodyPr>
          <a:lstStyle/>
          <a:p>
            <a:pPr algn="just"/>
            <a:r>
              <a:rPr lang="pt-BR" sz="1600" b="1" dirty="0">
                <a:solidFill>
                  <a:srgbClr val="002060"/>
                </a:solidFill>
                <a:latin typeface="Consolas" panose="020B0609020204030204" pitchFamily="49" charset="0"/>
                <a:cs typeface="Arial" panose="020B0604020202020204" pitchFamily="34" charset="0"/>
              </a:rPr>
              <a:t>&lt;</a:t>
            </a:r>
            <a:r>
              <a:rPr lang="pt-BR" sz="1600" b="1" dirty="0" err="1">
                <a:solidFill>
                  <a:srgbClr val="002060"/>
                </a:solidFill>
                <a:latin typeface="Consolas" panose="020B0609020204030204" pitchFamily="49" charset="0"/>
                <a:cs typeface="Arial" panose="020B0604020202020204" pitchFamily="34" charset="0"/>
              </a:rPr>
              <a:t>head</a:t>
            </a:r>
            <a:r>
              <a:rPr lang="pt-BR" sz="1600" b="1" dirty="0">
                <a:solidFill>
                  <a:srgbClr val="002060"/>
                </a:solidFill>
                <a:latin typeface="Consolas" panose="020B0609020204030204" pitchFamily="49" charset="0"/>
                <a:cs typeface="Arial" panose="020B0604020202020204" pitchFamily="34" charset="0"/>
              </a:rPr>
              <a:t>&gt;</a:t>
            </a:r>
          </a:p>
          <a:p>
            <a:pPr algn="just"/>
            <a:r>
              <a:rPr lang="pt-BR" sz="1600" b="1" dirty="0">
                <a:solidFill>
                  <a:srgbClr val="002060"/>
                </a:solidFill>
                <a:latin typeface="Consolas" panose="020B0609020204030204" pitchFamily="49" charset="0"/>
                <a:cs typeface="Arial" panose="020B0604020202020204" pitchFamily="34" charset="0"/>
              </a:rPr>
              <a:t>   &lt;</a:t>
            </a:r>
            <a:r>
              <a:rPr lang="pt-BR" sz="1600" b="1" dirty="0" err="1">
                <a:solidFill>
                  <a:srgbClr val="002060"/>
                </a:solidFill>
                <a:latin typeface="Consolas" panose="020B0609020204030204" pitchFamily="49" charset="0"/>
                <a:cs typeface="Arial" panose="020B0604020202020204" pitchFamily="34" charset="0"/>
              </a:rPr>
              <a:t>style</a:t>
            </a:r>
            <a:r>
              <a:rPr lang="pt-BR" sz="1600" b="1" dirty="0">
                <a:solidFill>
                  <a:srgbClr val="002060"/>
                </a:solidFill>
                <a:latin typeface="Consolas" panose="020B0609020204030204" pitchFamily="49" charset="0"/>
                <a:cs typeface="Arial" panose="020B0604020202020204" pitchFamily="34" charset="0"/>
              </a:rPr>
              <a:t>&gt;</a:t>
            </a:r>
          </a:p>
          <a:p>
            <a:pPr algn="just"/>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table</a:t>
            </a:r>
            <a:endParaRPr lang="pt-BR" sz="1600" b="1" dirty="0">
              <a:solidFill>
                <a:srgbClr val="002060"/>
              </a:solidFill>
              <a:latin typeface="Consolas" panose="020B0609020204030204" pitchFamily="49" charset="0"/>
              <a:cs typeface="Arial" panose="020B0604020202020204" pitchFamily="34" charset="0"/>
            </a:endParaRPr>
          </a:p>
          <a:p>
            <a:pPr algn="just"/>
            <a:r>
              <a:rPr lang="pt-BR" sz="1600" b="1" dirty="0">
                <a:solidFill>
                  <a:srgbClr val="002060"/>
                </a:solidFill>
                <a:latin typeface="Consolas" panose="020B0609020204030204" pitchFamily="49" charset="0"/>
                <a:cs typeface="Arial" panose="020B0604020202020204" pitchFamily="34" charset="0"/>
              </a:rPr>
              <a:t>      {</a:t>
            </a:r>
          </a:p>
          <a:p>
            <a:pPr algn="just"/>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width</a:t>
            </a:r>
            <a:r>
              <a:rPr lang="pt-BR" sz="1600" b="1" dirty="0">
                <a:solidFill>
                  <a:srgbClr val="002060"/>
                </a:solidFill>
                <a:latin typeface="Consolas" panose="020B0609020204030204" pitchFamily="49" charset="0"/>
                <a:cs typeface="Arial" panose="020B0604020202020204" pitchFamily="34" charset="0"/>
              </a:rPr>
              <a:t>: 200px;</a:t>
            </a:r>
          </a:p>
          <a:p>
            <a:pPr algn="just"/>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text-align</a:t>
            </a:r>
            <a:r>
              <a:rPr lang="pt-BR" sz="1600" b="1" dirty="0">
                <a:solidFill>
                  <a:srgbClr val="002060"/>
                </a:solidFill>
                <a:latin typeface="Consolas" panose="020B0609020204030204" pitchFamily="49" charset="0"/>
                <a:cs typeface="Arial" panose="020B0604020202020204" pitchFamily="34" charset="0"/>
              </a:rPr>
              <a:t>: center;</a:t>
            </a:r>
          </a:p>
          <a:p>
            <a:pPr algn="just"/>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border</a:t>
            </a:r>
            <a:r>
              <a:rPr lang="pt-BR" sz="1600" b="1" dirty="0">
                <a:solidFill>
                  <a:srgbClr val="002060"/>
                </a:solidFill>
                <a:latin typeface="Consolas" panose="020B0609020204030204" pitchFamily="49" charset="0"/>
                <a:cs typeface="Arial" panose="020B0604020202020204" pitchFamily="34" charset="0"/>
              </a:rPr>
              <a:t>: 1px </a:t>
            </a:r>
            <a:r>
              <a:rPr lang="pt-BR" sz="1600" b="1" dirty="0" err="1">
                <a:solidFill>
                  <a:srgbClr val="002060"/>
                </a:solidFill>
                <a:latin typeface="Consolas" panose="020B0609020204030204" pitchFamily="49" charset="0"/>
                <a:cs typeface="Arial" panose="020B0604020202020204" pitchFamily="34" charset="0"/>
              </a:rPr>
              <a:t>solid</a:t>
            </a:r>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black</a:t>
            </a:r>
            <a:r>
              <a:rPr lang="pt-BR" sz="1600" b="1" dirty="0">
                <a:solidFill>
                  <a:srgbClr val="002060"/>
                </a:solidFill>
                <a:latin typeface="Consolas" panose="020B0609020204030204" pitchFamily="49" charset="0"/>
                <a:cs typeface="Arial" panose="020B0604020202020204" pitchFamily="34" charset="0"/>
              </a:rPr>
              <a:t>;</a:t>
            </a:r>
          </a:p>
          <a:p>
            <a:pPr algn="just"/>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border-spacing</a:t>
            </a:r>
            <a:r>
              <a:rPr lang="pt-BR" sz="1600" b="1" dirty="0">
                <a:solidFill>
                  <a:srgbClr val="002060"/>
                </a:solidFill>
                <a:latin typeface="Consolas" panose="020B0609020204030204" pitchFamily="49" charset="0"/>
                <a:cs typeface="Arial" panose="020B0604020202020204" pitchFamily="34" charset="0"/>
              </a:rPr>
              <a:t>: 15px;</a:t>
            </a:r>
          </a:p>
          <a:p>
            <a:pPr algn="just"/>
            <a:r>
              <a:rPr lang="pt-BR" sz="1600" b="1" dirty="0">
                <a:solidFill>
                  <a:srgbClr val="002060"/>
                </a:solidFill>
                <a:latin typeface="Consolas" panose="020B0609020204030204" pitchFamily="49" charset="0"/>
                <a:cs typeface="Arial" panose="020B0604020202020204" pitchFamily="34" charset="0"/>
              </a:rPr>
              <a:t>      }</a:t>
            </a:r>
          </a:p>
          <a:p>
            <a:pPr algn="just"/>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td</a:t>
            </a:r>
            <a:endParaRPr lang="pt-BR" sz="1600" b="1" dirty="0">
              <a:solidFill>
                <a:srgbClr val="002060"/>
              </a:solidFill>
              <a:latin typeface="Consolas" panose="020B0609020204030204" pitchFamily="49" charset="0"/>
              <a:cs typeface="Arial" panose="020B0604020202020204" pitchFamily="34" charset="0"/>
            </a:endParaRPr>
          </a:p>
          <a:p>
            <a:pPr algn="just"/>
            <a:r>
              <a:rPr lang="pt-BR" sz="1600" b="1" dirty="0">
                <a:solidFill>
                  <a:srgbClr val="002060"/>
                </a:solidFill>
                <a:latin typeface="Consolas" panose="020B0609020204030204" pitchFamily="49" charset="0"/>
                <a:cs typeface="Arial" panose="020B0604020202020204" pitchFamily="34" charset="0"/>
              </a:rPr>
              <a:t>      {</a:t>
            </a:r>
          </a:p>
          <a:p>
            <a:pPr algn="just"/>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border</a:t>
            </a:r>
            <a:r>
              <a:rPr lang="pt-BR" sz="1600" b="1" dirty="0">
                <a:solidFill>
                  <a:srgbClr val="002060"/>
                </a:solidFill>
                <a:latin typeface="Consolas" panose="020B0609020204030204" pitchFamily="49" charset="0"/>
                <a:cs typeface="Arial" panose="020B0604020202020204" pitchFamily="34" charset="0"/>
              </a:rPr>
              <a:t>: 2px </a:t>
            </a:r>
            <a:r>
              <a:rPr lang="pt-BR" sz="1600" b="1" dirty="0" err="1">
                <a:solidFill>
                  <a:srgbClr val="002060"/>
                </a:solidFill>
                <a:latin typeface="Consolas" panose="020B0609020204030204" pitchFamily="49" charset="0"/>
                <a:cs typeface="Arial" panose="020B0604020202020204" pitchFamily="34" charset="0"/>
              </a:rPr>
              <a:t>solid</a:t>
            </a:r>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black</a:t>
            </a:r>
            <a:r>
              <a:rPr lang="pt-BR" sz="1600" b="1" dirty="0">
                <a:solidFill>
                  <a:srgbClr val="002060"/>
                </a:solidFill>
                <a:latin typeface="Consolas" panose="020B0609020204030204" pitchFamily="49" charset="0"/>
                <a:cs typeface="Arial" panose="020B0604020202020204" pitchFamily="34" charset="0"/>
              </a:rPr>
              <a:t>;</a:t>
            </a:r>
          </a:p>
          <a:p>
            <a:pPr algn="just"/>
            <a:r>
              <a:rPr lang="pt-BR" sz="1600" b="1" dirty="0">
                <a:solidFill>
                  <a:srgbClr val="002060"/>
                </a:solidFill>
                <a:latin typeface="Consolas" panose="020B0609020204030204" pitchFamily="49" charset="0"/>
                <a:cs typeface="Arial" panose="020B0604020202020204" pitchFamily="34" charset="0"/>
              </a:rPr>
              <a:t>	   background-color: </a:t>
            </a:r>
            <a:r>
              <a:rPr lang="pt-BR" sz="1600" b="1" dirty="0" err="1">
                <a:solidFill>
                  <a:srgbClr val="002060"/>
                </a:solidFill>
                <a:latin typeface="Consolas" panose="020B0609020204030204" pitchFamily="49" charset="0"/>
                <a:cs typeface="Arial" panose="020B0604020202020204" pitchFamily="34" charset="0"/>
              </a:rPr>
              <a:t>rgb</a:t>
            </a:r>
            <a:r>
              <a:rPr lang="pt-BR" sz="1600" b="1" dirty="0">
                <a:solidFill>
                  <a:srgbClr val="002060"/>
                </a:solidFill>
                <a:latin typeface="Consolas" panose="020B0609020204030204" pitchFamily="49" charset="0"/>
                <a:cs typeface="Arial" panose="020B0604020202020204" pitchFamily="34" charset="0"/>
              </a:rPr>
              <a:t>(185,225,215);</a:t>
            </a:r>
          </a:p>
          <a:p>
            <a:pPr algn="just"/>
            <a:r>
              <a:rPr lang="pt-BR" sz="1600" b="1" dirty="0">
                <a:solidFill>
                  <a:srgbClr val="002060"/>
                </a:solidFill>
                <a:latin typeface="Consolas" panose="020B0609020204030204" pitchFamily="49" charset="0"/>
                <a:cs typeface="Arial" panose="020B0604020202020204" pitchFamily="34" charset="0"/>
              </a:rPr>
              <a:t>      }</a:t>
            </a:r>
          </a:p>
          <a:p>
            <a:pPr algn="just"/>
            <a:r>
              <a:rPr lang="pt-BR" sz="1600" b="1" dirty="0">
                <a:solidFill>
                  <a:srgbClr val="002060"/>
                </a:solidFill>
                <a:latin typeface="Consolas" panose="020B0609020204030204" pitchFamily="49" charset="0"/>
                <a:cs typeface="Arial" panose="020B0604020202020204" pitchFamily="34" charset="0"/>
              </a:rPr>
              <a:t>   &lt;/</a:t>
            </a:r>
            <a:r>
              <a:rPr lang="pt-BR" sz="1600" b="1" dirty="0" err="1">
                <a:solidFill>
                  <a:srgbClr val="002060"/>
                </a:solidFill>
                <a:latin typeface="Consolas" panose="020B0609020204030204" pitchFamily="49" charset="0"/>
                <a:cs typeface="Arial" panose="020B0604020202020204" pitchFamily="34" charset="0"/>
              </a:rPr>
              <a:t>style</a:t>
            </a:r>
            <a:r>
              <a:rPr lang="pt-BR" sz="1600" b="1" dirty="0">
                <a:solidFill>
                  <a:srgbClr val="002060"/>
                </a:solidFill>
                <a:latin typeface="Consolas" panose="020B0609020204030204" pitchFamily="49" charset="0"/>
                <a:cs typeface="Arial" panose="020B0604020202020204" pitchFamily="34" charset="0"/>
              </a:rPr>
              <a:t>&gt;</a:t>
            </a:r>
          </a:p>
          <a:p>
            <a:pPr algn="just"/>
            <a:r>
              <a:rPr lang="pt-BR" sz="1600" b="1" dirty="0">
                <a:solidFill>
                  <a:srgbClr val="002060"/>
                </a:solidFill>
                <a:latin typeface="Consolas" panose="020B0609020204030204" pitchFamily="49" charset="0"/>
                <a:cs typeface="Arial" panose="020B0604020202020204" pitchFamily="34" charset="0"/>
              </a:rPr>
              <a:t>&lt;/</a:t>
            </a:r>
            <a:r>
              <a:rPr lang="pt-BR" sz="1600" b="1" dirty="0" err="1">
                <a:solidFill>
                  <a:srgbClr val="002060"/>
                </a:solidFill>
                <a:latin typeface="Consolas" panose="020B0609020204030204" pitchFamily="49" charset="0"/>
                <a:cs typeface="Arial" panose="020B0604020202020204" pitchFamily="34" charset="0"/>
              </a:rPr>
              <a:t>head</a:t>
            </a:r>
            <a:r>
              <a:rPr lang="pt-BR" sz="1600" b="1" dirty="0">
                <a:solidFill>
                  <a:srgbClr val="002060"/>
                </a:solidFill>
                <a:latin typeface="Consolas" panose="020B0609020204030204" pitchFamily="49" charset="0"/>
                <a:cs typeface="Arial" panose="020B0604020202020204" pitchFamily="34" charset="0"/>
              </a:rPr>
              <a:t>&gt;</a:t>
            </a:r>
          </a:p>
        </p:txBody>
      </p:sp>
      <p:sp>
        <p:nvSpPr>
          <p:cNvPr id="6" name="Retângulo 5"/>
          <p:cNvSpPr/>
          <p:nvPr/>
        </p:nvSpPr>
        <p:spPr>
          <a:xfrm>
            <a:off x="6335514" y="1293816"/>
            <a:ext cx="5856486" cy="3785652"/>
          </a:xfrm>
          <a:prstGeom prst="rect">
            <a:avLst/>
          </a:prstGeom>
        </p:spPr>
        <p:txBody>
          <a:bodyPr wrap="square">
            <a:spAutoFit/>
          </a:bodyPr>
          <a:lstStyle/>
          <a:p>
            <a:pPr algn="just"/>
            <a:r>
              <a:rPr lang="pt-BR" sz="2000" b="1" dirty="0">
                <a:solidFill>
                  <a:srgbClr val="002060"/>
                </a:solidFill>
                <a:latin typeface="Consolas" panose="020B0609020204030204" pitchFamily="49" charset="0"/>
                <a:cs typeface="Arial" panose="020B0604020202020204" pitchFamily="34" charset="0"/>
              </a:rPr>
              <a:t>&lt;</a:t>
            </a:r>
            <a:r>
              <a:rPr lang="pt-BR" sz="2000" b="1" dirty="0" err="1">
                <a:solidFill>
                  <a:srgbClr val="002060"/>
                </a:solidFill>
                <a:latin typeface="Consolas" panose="020B0609020204030204" pitchFamily="49" charset="0"/>
                <a:cs typeface="Arial" panose="020B0604020202020204" pitchFamily="34" charset="0"/>
              </a:rPr>
              <a:t>body</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table</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tr</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&gt;1&lt;/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&gt;2&lt;/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&gt;3&lt;/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tr</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tr</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&gt;4&lt;/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&gt;5&lt;/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&gt;6&lt;/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tr</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tr</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&gt;7&lt;/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&gt;8&lt;/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&gt;9&lt;/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tr</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&lt;/</a:t>
            </a:r>
            <a:r>
              <a:rPr lang="pt-BR" sz="2000" b="1" dirty="0" err="1">
                <a:solidFill>
                  <a:srgbClr val="002060"/>
                </a:solidFill>
                <a:latin typeface="Consolas" panose="020B0609020204030204" pitchFamily="49" charset="0"/>
                <a:cs typeface="Arial" panose="020B0604020202020204" pitchFamily="34" charset="0"/>
              </a:rPr>
              <a:t>body</a:t>
            </a:r>
            <a:r>
              <a:rPr lang="pt-BR" sz="2000" b="1" dirty="0">
                <a:solidFill>
                  <a:srgbClr val="002060"/>
                </a:solidFill>
                <a:latin typeface="Consolas" panose="020B0609020204030204" pitchFamily="49" charset="0"/>
                <a:cs typeface="Arial" panose="020B0604020202020204" pitchFamily="34" charset="0"/>
              </a:rPr>
              <a:t>&gt;</a:t>
            </a:r>
          </a:p>
        </p:txBody>
      </p:sp>
      <p:pic>
        <p:nvPicPr>
          <p:cNvPr id="2" name="Imagem 1"/>
          <p:cNvPicPr>
            <a:picLocks noChangeAspect="1"/>
          </p:cNvPicPr>
          <p:nvPr/>
        </p:nvPicPr>
        <p:blipFill>
          <a:blip r:embed="rId2"/>
          <a:stretch>
            <a:fillRect/>
          </a:stretch>
        </p:blipFill>
        <p:spPr>
          <a:xfrm>
            <a:off x="8366216" y="4651994"/>
            <a:ext cx="3009900" cy="2200275"/>
          </a:xfrm>
          <a:prstGeom prst="rect">
            <a:avLst/>
          </a:prstGeom>
        </p:spPr>
      </p:pic>
      <p:cxnSp>
        <p:nvCxnSpPr>
          <p:cNvPr id="9" name="Conector reto 8"/>
          <p:cNvCxnSpPr/>
          <p:nvPr/>
        </p:nvCxnSpPr>
        <p:spPr>
          <a:xfrm>
            <a:off x="6327360" y="1293816"/>
            <a:ext cx="8154" cy="5250676"/>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0" name="Retângulo 9"/>
          <p:cNvSpPr/>
          <p:nvPr/>
        </p:nvSpPr>
        <p:spPr>
          <a:xfrm>
            <a:off x="6336409" y="6396147"/>
            <a:ext cx="1957587" cy="369332"/>
          </a:xfrm>
          <a:prstGeom prst="rect">
            <a:avLst/>
          </a:prstGeom>
        </p:spPr>
        <p:txBody>
          <a:bodyPr wrap="none">
            <a:spAutoFit/>
          </a:bodyPr>
          <a:lstStyle/>
          <a:p>
            <a:r>
              <a:rPr lang="pt-BR" b="1" dirty="0" err="1">
                <a:solidFill>
                  <a:srgbClr val="002060"/>
                </a:solidFill>
                <a:latin typeface="Consolas" panose="020B0609020204030204" pitchFamily="49" charset="0"/>
                <a:cs typeface="Arial" panose="020B0604020202020204" pitchFamily="34" charset="0"/>
              </a:rPr>
              <a:t>border-spacing</a:t>
            </a:r>
            <a:endParaRPr lang="pt-BR" dirty="0"/>
          </a:p>
        </p:txBody>
      </p:sp>
      <p:cxnSp>
        <p:nvCxnSpPr>
          <p:cNvPr id="15" name="Conector de Seta Reta 14"/>
          <p:cNvCxnSpPr/>
          <p:nvPr/>
        </p:nvCxnSpPr>
        <p:spPr>
          <a:xfrm>
            <a:off x="8255726" y="6593876"/>
            <a:ext cx="280306"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Espaço Reservado para Número de Slide 6"/>
          <p:cNvSpPr>
            <a:spLocks noGrp="1"/>
          </p:cNvSpPr>
          <p:nvPr>
            <p:ph type="sldNum" sz="quarter" idx="12"/>
          </p:nvPr>
        </p:nvSpPr>
        <p:spPr/>
        <p:txBody>
          <a:bodyPr/>
          <a:lstStyle/>
          <a:p>
            <a:fld id="{8256F83C-9D86-480B-90E0-0702DBEB9457}" type="slidenum">
              <a:rPr lang="pt-BR" smtClean="0"/>
              <a:t>61</a:t>
            </a:fld>
            <a:endParaRPr lang="pt-BR"/>
          </a:p>
        </p:txBody>
      </p:sp>
    </p:spTree>
    <p:extLst>
      <p:ext uri="{BB962C8B-B14F-4D97-AF65-F5344CB8AC3E}">
        <p14:creationId xmlns:p14="http://schemas.microsoft.com/office/powerpoint/2010/main" val="31095417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Imagem 18"/>
          <p:cNvPicPr>
            <a:picLocks noChangeAspect="1"/>
          </p:cNvPicPr>
          <p:nvPr/>
        </p:nvPicPr>
        <p:blipFill>
          <a:blip r:embed="rId2"/>
          <a:stretch>
            <a:fillRect/>
          </a:stretch>
        </p:blipFill>
        <p:spPr>
          <a:xfrm>
            <a:off x="4284893" y="3943940"/>
            <a:ext cx="3195775" cy="2055374"/>
          </a:xfrm>
          <a:prstGeom prst="rect">
            <a:avLst/>
          </a:prstGeom>
        </p:spPr>
      </p:pic>
      <p:sp>
        <p:nvSpPr>
          <p:cNvPr id="2" name="Retângulo 1"/>
          <p:cNvSpPr/>
          <p:nvPr/>
        </p:nvSpPr>
        <p:spPr>
          <a:xfrm>
            <a:off x="692339" y="702815"/>
            <a:ext cx="6096000" cy="1846659"/>
          </a:xfrm>
          <a:prstGeom prst="rect">
            <a:avLst/>
          </a:prstGeom>
        </p:spPr>
        <p:txBody>
          <a:bodyPr>
            <a:spAutoFit/>
          </a:bodyPr>
          <a:lstStyle/>
          <a:p>
            <a:pPr algn="just"/>
            <a:r>
              <a:rPr lang="pt-BR" sz="1600" b="1" dirty="0" err="1">
                <a:solidFill>
                  <a:srgbClr val="002060"/>
                </a:solidFill>
                <a:latin typeface="Consolas" panose="020B0609020204030204" pitchFamily="49" charset="0"/>
                <a:cs typeface="Arial" panose="020B0604020202020204" pitchFamily="34" charset="0"/>
              </a:rPr>
              <a:t>table</a:t>
            </a:r>
            <a:endParaRPr lang="pt-BR" sz="1600" b="1" dirty="0">
              <a:solidFill>
                <a:srgbClr val="002060"/>
              </a:solidFill>
              <a:latin typeface="Consolas" panose="020B0609020204030204" pitchFamily="49" charset="0"/>
              <a:cs typeface="Arial" panose="020B0604020202020204" pitchFamily="34" charset="0"/>
            </a:endParaRPr>
          </a:p>
          <a:p>
            <a:pPr algn="just"/>
            <a:r>
              <a:rPr lang="pt-BR" sz="1600" b="1" dirty="0">
                <a:solidFill>
                  <a:srgbClr val="002060"/>
                </a:solidFill>
                <a:latin typeface="Consolas" panose="020B0609020204030204" pitchFamily="49" charset="0"/>
                <a:cs typeface="Arial" panose="020B0604020202020204" pitchFamily="34" charset="0"/>
              </a:rPr>
              <a:t>  {</a:t>
            </a:r>
          </a:p>
          <a:p>
            <a:pPr algn="just"/>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width</a:t>
            </a:r>
            <a:r>
              <a:rPr lang="pt-BR" sz="1600" b="1" dirty="0">
                <a:solidFill>
                  <a:srgbClr val="002060"/>
                </a:solidFill>
                <a:latin typeface="Consolas" panose="020B0609020204030204" pitchFamily="49" charset="0"/>
                <a:cs typeface="Arial" panose="020B0604020202020204" pitchFamily="34" charset="0"/>
              </a:rPr>
              <a:t>: 200px;</a:t>
            </a:r>
          </a:p>
          <a:p>
            <a:pPr algn="just"/>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text-align</a:t>
            </a:r>
            <a:r>
              <a:rPr lang="pt-BR" sz="1600" b="1" dirty="0">
                <a:solidFill>
                  <a:srgbClr val="002060"/>
                </a:solidFill>
                <a:latin typeface="Consolas" panose="020B0609020204030204" pitchFamily="49" charset="0"/>
                <a:cs typeface="Arial" panose="020B0604020202020204" pitchFamily="34" charset="0"/>
              </a:rPr>
              <a:t>: center;</a:t>
            </a:r>
          </a:p>
          <a:p>
            <a:pPr algn="just"/>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border</a:t>
            </a:r>
            <a:r>
              <a:rPr lang="pt-BR" sz="1600" b="1" dirty="0">
                <a:solidFill>
                  <a:srgbClr val="002060"/>
                </a:solidFill>
                <a:latin typeface="Consolas" panose="020B0609020204030204" pitchFamily="49" charset="0"/>
                <a:cs typeface="Arial" panose="020B0604020202020204" pitchFamily="34" charset="0"/>
              </a:rPr>
              <a:t>: 1px </a:t>
            </a:r>
            <a:r>
              <a:rPr lang="pt-BR" sz="1600" b="1" dirty="0" err="1">
                <a:solidFill>
                  <a:srgbClr val="002060"/>
                </a:solidFill>
                <a:latin typeface="Consolas" panose="020B0609020204030204" pitchFamily="49" charset="0"/>
                <a:cs typeface="Arial" panose="020B0604020202020204" pitchFamily="34" charset="0"/>
              </a:rPr>
              <a:t>solid</a:t>
            </a:r>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black</a:t>
            </a:r>
            <a:r>
              <a:rPr lang="pt-BR" sz="1600" b="1" dirty="0">
                <a:solidFill>
                  <a:srgbClr val="002060"/>
                </a:solidFill>
                <a:latin typeface="Consolas" panose="020B0609020204030204" pitchFamily="49" charset="0"/>
                <a:cs typeface="Arial" panose="020B0604020202020204" pitchFamily="34" charset="0"/>
              </a:rPr>
              <a:t>;</a:t>
            </a:r>
          </a:p>
          <a:p>
            <a:pPr algn="just"/>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border-spacing</a:t>
            </a:r>
            <a:r>
              <a:rPr lang="pt-BR" sz="1600" b="1" dirty="0">
                <a:solidFill>
                  <a:srgbClr val="002060"/>
                </a:solidFill>
                <a:latin typeface="Consolas" panose="020B0609020204030204" pitchFamily="49" charset="0"/>
                <a:cs typeface="Arial" panose="020B0604020202020204" pitchFamily="34" charset="0"/>
              </a:rPr>
              <a:t>: </a:t>
            </a:r>
            <a:r>
              <a:rPr lang="pt-BR" sz="1600" b="1" dirty="0">
                <a:solidFill>
                  <a:srgbClr val="FF0000"/>
                </a:solidFill>
                <a:latin typeface="Consolas" panose="020B0609020204030204" pitchFamily="49" charset="0"/>
                <a:cs typeface="Arial" panose="020B0604020202020204" pitchFamily="34" charset="0"/>
              </a:rPr>
              <a:t>5px</a:t>
            </a:r>
            <a:r>
              <a:rPr lang="pt-BR" sz="1600" b="1" dirty="0">
                <a:solidFill>
                  <a:srgbClr val="002060"/>
                </a:solidFill>
                <a:latin typeface="Consolas" panose="020B0609020204030204" pitchFamily="49" charset="0"/>
                <a:cs typeface="Arial" panose="020B0604020202020204" pitchFamily="34" charset="0"/>
              </a:rPr>
              <a:t>;</a:t>
            </a:r>
          </a:p>
          <a:p>
            <a:pPr algn="just"/>
            <a:r>
              <a:rPr lang="pt-BR" sz="1600" b="1" dirty="0">
                <a:solidFill>
                  <a:srgbClr val="002060"/>
                </a:solidFill>
                <a:latin typeface="Consolas" panose="020B0609020204030204" pitchFamily="49" charset="0"/>
                <a:cs typeface="Arial" panose="020B0604020202020204" pitchFamily="34" charset="0"/>
              </a:rPr>
              <a:t>  }</a:t>
            </a:r>
            <a:endParaRPr lang="pt-BR" sz="1600" dirty="0"/>
          </a:p>
        </p:txBody>
      </p:sp>
      <p:sp>
        <p:nvSpPr>
          <p:cNvPr id="4" name="Retângulo 3"/>
          <p:cNvSpPr/>
          <p:nvPr/>
        </p:nvSpPr>
        <p:spPr>
          <a:xfrm>
            <a:off x="6659885" y="770991"/>
            <a:ext cx="5397138" cy="1354217"/>
          </a:xfrm>
          <a:prstGeom prst="rect">
            <a:avLst/>
          </a:prstGeom>
        </p:spPr>
        <p:txBody>
          <a:bodyPr wrap="square">
            <a:spAutoFit/>
          </a:bodyPr>
          <a:lstStyle/>
          <a:p>
            <a:pPr algn="just"/>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td</a:t>
            </a:r>
            <a:endParaRPr lang="pt-BR" sz="1600" b="1" dirty="0">
              <a:solidFill>
                <a:srgbClr val="002060"/>
              </a:solidFill>
              <a:latin typeface="Consolas" panose="020B0609020204030204" pitchFamily="49" charset="0"/>
              <a:cs typeface="Arial" panose="020B0604020202020204" pitchFamily="34" charset="0"/>
            </a:endParaRPr>
          </a:p>
          <a:p>
            <a:pPr algn="just"/>
            <a:r>
              <a:rPr lang="pt-BR" sz="1600" b="1" dirty="0">
                <a:solidFill>
                  <a:srgbClr val="002060"/>
                </a:solidFill>
                <a:latin typeface="Consolas" panose="020B0609020204030204" pitchFamily="49" charset="0"/>
                <a:cs typeface="Arial" panose="020B0604020202020204" pitchFamily="34" charset="0"/>
              </a:rPr>
              <a:t>	{</a:t>
            </a:r>
          </a:p>
          <a:p>
            <a:pPr algn="just"/>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FF0000"/>
                </a:solidFill>
                <a:latin typeface="Consolas" panose="020B0609020204030204" pitchFamily="49" charset="0"/>
                <a:cs typeface="Arial" panose="020B0604020202020204" pitchFamily="34" charset="0"/>
              </a:rPr>
              <a:t>border</a:t>
            </a:r>
            <a:r>
              <a:rPr lang="pt-BR" sz="1600" b="1" dirty="0">
                <a:solidFill>
                  <a:srgbClr val="FF0000"/>
                </a:solidFill>
                <a:latin typeface="Consolas" panose="020B0609020204030204" pitchFamily="49" charset="0"/>
                <a:cs typeface="Arial" panose="020B0604020202020204" pitchFamily="34" charset="0"/>
              </a:rPr>
              <a:t>: 1px </a:t>
            </a:r>
            <a:r>
              <a:rPr lang="pt-BR" sz="1600" b="1" dirty="0" err="1">
                <a:solidFill>
                  <a:srgbClr val="002060"/>
                </a:solidFill>
                <a:latin typeface="Consolas" panose="020B0609020204030204" pitchFamily="49" charset="0"/>
                <a:cs typeface="Arial" panose="020B0604020202020204" pitchFamily="34" charset="0"/>
              </a:rPr>
              <a:t>solid</a:t>
            </a:r>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black</a:t>
            </a:r>
            <a:r>
              <a:rPr lang="pt-BR" sz="1600" b="1" dirty="0">
                <a:solidFill>
                  <a:srgbClr val="002060"/>
                </a:solidFill>
                <a:latin typeface="Consolas" panose="020B0609020204030204" pitchFamily="49" charset="0"/>
                <a:cs typeface="Arial" panose="020B0604020202020204" pitchFamily="34" charset="0"/>
              </a:rPr>
              <a:t>;</a:t>
            </a:r>
          </a:p>
          <a:p>
            <a:pPr algn="just"/>
            <a:r>
              <a:rPr lang="pt-BR" sz="1600" b="1" dirty="0">
                <a:solidFill>
                  <a:srgbClr val="002060"/>
                </a:solidFill>
                <a:latin typeface="Consolas" panose="020B0609020204030204" pitchFamily="49" charset="0"/>
                <a:cs typeface="Arial" panose="020B0604020202020204" pitchFamily="34" charset="0"/>
              </a:rPr>
              <a:t>	   background-color: </a:t>
            </a:r>
            <a:r>
              <a:rPr lang="pt-BR" sz="1600" b="1" dirty="0" err="1">
                <a:solidFill>
                  <a:srgbClr val="002060"/>
                </a:solidFill>
                <a:latin typeface="Consolas" panose="020B0609020204030204" pitchFamily="49" charset="0"/>
                <a:cs typeface="Arial" panose="020B0604020202020204" pitchFamily="34" charset="0"/>
              </a:rPr>
              <a:t>rgb</a:t>
            </a:r>
            <a:r>
              <a:rPr lang="pt-BR" sz="1600" b="1" dirty="0">
                <a:solidFill>
                  <a:srgbClr val="002060"/>
                </a:solidFill>
                <a:latin typeface="Consolas" panose="020B0609020204030204" pitchFamily="49" charset="0"/>
                <a:cs typeface="Arial" panose="020B0604020202020204" pitchFamily="34" charset="0"/>
              </a:rPr>
              <a:t>(185,225,215);</a:t>
            </a:r>
          </a:p>
          <a:p>
            <a:pPr algn="just"/>
            <a:r>
              <a:rPr lang="pt-BR" sz="1600" b="1" dirty="0">
                <a:solidFill>
                  <a:srgbClr val="002060"/>
                </a:solidFill>
                <a:latin typeface="Consolas" panose="020B0609020204030204" pitchFamily="49" charset="0"/>
                <a:cs typeface="Arial" panose="020B0604020202020204" pitchFamily="34" charset="0"/>
              </a:rPr>
              <a:t>	}</a:t>
            </a:r>
          </a:p>
        </p:txBody>
      </p:sp>
      <p:pic>
        <p:nvPicPr>
          <p:cNvPr id="7" name="Imagem 6"/>
          <p:cNvPicPr>
            <a:picLocks noChangeAspect="1"/>
          </p:cNvPicPr>
          <p:nvPr/>
        </p:nvPicPr>
        <p:blipFill>
          <a:blip r:embed="rId3"/>
          <a:stretch>
            <a:fillRect/>
          </a:stretch>
        </p:blipFill>
        <p:spPr>
          <a:xfrm>
            <a:off x="4282445" y="702814"/>
            <a:ext cx="3198223" cy="2200377"/>
          </a:xfrm>
          <a:prstGeom prst="rect">
            <a:avLst/>
          </a:prstGeom>
        </p:spPr>
      </p:pic>
      <p:cxnSp>
        <p:nvCxnSpPr>
          <p:cNvPr id="9" name="Conector de Seta Reta 8"/>
          <p:cNvCxnSpPr/>
          <p:nvPr/>
        </p:nvCxnSpPr>
        <p:spPr>
          <a:xfrm flipH="1">
            <a:off x="6844942" y="1499088"/>
            <a:ext cx="1084217" cy="4445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de Seta Reta 10"/>
          <p:cNvCxnSpPr/>
          <p:nvPr/>
        </p:nvCxnSpPr>
        <p:spPr>
          <a:xfrm>
            <a:off x="3664138" y="2125208"/>
            <a:ext cx="764175" cy="31754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tângulo 15"/>
          <p:cNvSpPr/>
          <p:nvPr/>
        </p:nvSpPr>
        <p:spPr>
          <a:xfrm>
            <a:off x="692339" y="4010027"/>
            <a:ext cx="4023360" cy="1846659"/>
          </a:xfrm>
          <a:prstGeom prst="rect">
            <a:avLst/>
          </a:prstGeom>
        </p:spPr>
        <p:txBody>
          <a:bodyPr wrap="square">
            <a:spAutoFit/>
          </a:bodyPr>
          <a:lstStyle/>
          <a:p>
            <a:pPr algn="just"/>
            <a:r>
              <a:rPr lang="pt-BR" sz="1600" b="1" dirty="0" err="1">
                <a:solidFill>
                  <a:srgbClr val="002060"/>
                </a:solidFill>
                <a:latin typeface="Consolas" panose="020B0609020204030204" pitchFamily="49" charset="0"/>
                <a:cs typeface="Arial" panose="020B0604020202020204" pitchFamily="34" charset="0"/>
              </a:rPr>
              <a:t>table</a:t>
            </a:r>
            <a:endParaRPr lang="pt-BR" sz="1600" b="1" dirty="0">
              <a:solidFill>
                <a:srgbClr val="002060"/>
              </a:solidFill>
              <a:latin typeface="Consolas" panose="020B0609020204030204" pitchFamily="49" charset="0"/>
              <a:cs typeface="Arial" panose="020B0604020202020204" pitchFamily="34" charset="0"/>
            </a:endParaRPr>
          </a:p>
          <a:p>
            <a:pPr algn="just"/>
            <a:r>
              <a:rPr lang="pt-BR" sz="1600" b="1" dirty="0">
                <a:solidFill>
                  <a:srgbClr val="002060"/>
                </a:solidFill>
                <a:latin typeface="Consolas" panose="020B0609020204030204" pitchFamily="49" charset="0"/>
                <a:cs typeface="Arial" panose="020B0604020202020204" pitchFamily="34" charset="0"/>
              </a:rPr>
              <a:t>  {</a:t>
            </a:r>
          </a:p>
          <a:p>
            <a:pPr algn="just"/>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width</a:t>
            </a:r>
            <a:r>
              <a:rPr lang="pt-BR" sz="1600" b="1" dirty="0">
                <a:solidFill>
                  <a:srgbClr val="002060"/>
                </a:solidFill>
                <a:latin typeface="Consolas" panose="020B0609020204030204" pitchFamily="49" charset="0"/>
                <a:cs typeface="Arial" panose="020B0604020202020204" pitchFamily="34" charset="0"/>
              </a:rPr>
              <a:t>: 200px;</a:t>
            </a:r>
          </a:p>
          <a:p>
            <a:pPr algn="just"/>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text-align</a:t>
            </a:r>
            <a:r>
              <a:rPr lang="pt-BR" sz="1600" b="1" dirty="0">
                <a:solidFill>
                  <a:srgbClr val="002060"/>
                </a:solidFill>
                <a:latin typeface="Consolas" panose="020B0609020204030204" pitchFamily="49" charset="0"/>
                <a:cs typeface="Arial" panose="020B0604020202020204" pitchFamily="34" charset="0"/>
              </a:rPr>
              <a:t>: center;</a:t>
            </a:r>
          </a:p>
          <a:p>
            <a:pPr algn="just"/>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border</a:t>
            </a:r>
            <a:r>
              <a:rPr lang="pt-BR" sz="1600" b="1" dirty="0">
                <a:solidFill>
                  <a:srgbClr val="002060"/>
                </a:solidFill>
                <a:latin typeface="Consolas" panose="020B0609020204030204" pitchFamily="49" charset="0"/>
                <a:cs typeface="Arial" panose="020B0604020202020204" pitchFamily="34" charset="0"/>
              </a:rPr>
              <a:t>: 1px </a:t>
            </a:r>
            <a:r>
              <a:rPr lang="pt-BR" sz="1600" b="1" dirty="0" err="1">
                <a:solidFill>
                  <a:srgbClr val="002060"/>
                </a:solidFill>
                <a:latin typeface="Consolas" panose="020B0609020204030204" pitchFamily="49" charset="0"/>
                <a:cs typeface="Arial" panose="020B0604020202020204" pitchFamily="34" charset="0"/>
              </a:rPr>
              <a:t>solid</a:t>
            </a:r>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black</a:t>
            </a:r>
            <a:r>
              <a:rPr lang="pt-BR" sz="1600" b="1" dirty="0">
                <a:solidFill>
                  <a:srgbClr val="002060"/>
                </a:solidFill>
                <a:latin typeface="Consolas" panose="020B0609020204030204" pitchFamily="49" charset="0"/>
                <a:cs typeface="Arial" panose="020B0604020202020204" pitchFamily="34" charset="0"/>
              </a:rPr>
              <a:t>;</a:t>
            </a:r>
          </a:p>
          <a:p>
            <a:pPr algn="just"/>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border-spacing</a:t>
            </a:r>
            <a:r>
              <a:rPr lang="pt-BR" sz="1600" b="1" dirty="0">
                <a:solidFill>
                  <a:srgbClr val="002060"/>
                </a:solidFill>
                <a:latin typeface="Consolas" panose="020B0609020204030204" pitchFamily="49" charset="0"/>
                <a:cs typeface="Arial" panose="020B0604020202020204" pitchFamily="34" charset="0"/>
              </a:rPr>
              <a:t>: </a:t>
            </a:r>
            <a:r>
              <a:rPr lang="pt-BR" sz="1600" b="1" dirty="0">
                <a:solidFill>
                  <a:srgbClr val="FF0000"/>
                </a:solidFill>
                <a:latin typeface="Consolas" panose="020B0609020204030204" pitchFamily="49" charset="0"/>
                <a:cs typeface="Arial" panose="020B0604020202020204" pitchFamily="34" charset="0"/>
              </a:rPr>
              <a:t>0px</a:t>
            </a:r>
            <a:r>
              <a:rPr lang="pt-BR" sz="1600" b="1" dirty="0">
                <a:solidFill>
                  <a:srgbClr val="002060"/>
                </a:solidFill>
                <a:latin typeface="Consolas" panose="020B0609020204030204" pitchFamily="49" charset="0"/>
                <a:cs typeface="Arial" panose="020B0604020202020204" pitchFamily="34" charset="0"/>
              </a:rPr>
              <a:t>;</a:t>
            </a:r>
          </a:p>
          <a:p>
            <a:pPr algn="just"/>
            <a:r>
              <a:rPr lang="pt-BR" sz="1600" b="1" dirty="0">
                <a:solidFill>
                  <a:srgbClr val="002060"/>
                </a:solidFill>
                <a:latin typeface="Consolas" panose="020B0609020204030204" pitchFamily="49" charset="0"/>
                <a:cs typeface="Arial" panose="020B0604020202020204" pitchFamily="34" charset="0"/>
              </a:rPr>
              <a:t>  }</a:t>
            </a:r>
            <a:endParaRPr lang="pt-BR" sz="1600" dirty="0"/>
          </a:p>
        </p:txBody>
      </p:sp>
      <p:sp>
        <p:nvSpPr>
          <p:cNvPr id="17" name="Retângulo 16"/>
          <p:cNvSpPr/>
          <p:nvPr/>
        </p:nvSpPr>
        <p:spPr>
          <a:xfrm>
            <a:off x="7633068" y="4010027"/>
            <a:ext cx="4423954" cy="1354217"/>
          </a:xfrm>
          <a:prstGeom prst="rect">
            <a:avLst/>
          </a:prstGeom>
        </p:spPr>
        <p:txBody>
          <a:bodyPr wrap="square">
            <a:spAutoFit/>
          </a:bodyPr>
          <a:lstStyle/>
          <a:p>
            <a:pPr algn="just"/>
            <a:r>
              <a:rPr lang="pt-BR" sz="1600" b="1" dirty="0" err="1">
                <a:solidFill>
                  <a:srgbClr val="002060"/>
                </a:solidFill>
                <a:latin typeface="Consolas" panose="020B0609020204030204" pitchFamily="49" charset="0"/>
                <a:cs typeface="Arial" panose="020B0604020202020204" pitchFamily="34" charset="0"/>
              </a:rPr>
              <a:t>td</a:t>
            </a:r>
            <a:endParaRPr lang="pt-BR" sz="1600" b="1" dirty="0">
              <a:solidFill>
                <a:srgbClr val="002060"/>
              </a:solidFill>
              <a:latin typeface="Consolas" panose="020B0609020204030204" pitchFamily="49" charset="0"/>
              <a:cs typeface="Arial" panose="020B0604020202020204" pitchFamily="34" charset="0"/>
            </a:endParaRPr>
          </a:p>
          <a:p>
            <a:pPr algn="just"/>
            <a:r>
              <a:rPr lang="pt-BR" sz="1600" b="1" dirty="0">
                <a:solidFill>
                  <a:srgbClr val="002060"/>
                </a:solidFill>
                <a:latin typeface="Consolas" panose="020B0609020204030204" pitchFamily="49" charset="0"/>
                <a:cs typeface="Arial" panose="020B0604020202020204" pitchFamily="34" charset="0"/>
              </a:rPr>
              <a:t>{</a:t>
            </a:r>
          </a:p>
          <a:p>
            <a:pPr algn="just"/>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border</a:t>
            </a:r>
            <a:r>
              <a:rPr lang="pt-BR" sz="1600" b="1" dirty="0">
                <a:solidFill>
                  <a:srgbClr val="002060"/>
                </a:solidFill>
                <a:latin typeface="Consolas" panose="020B0609020204030204" pitchFamily="49" charset="0"/>
                <a:cs typeface="Arial" panose="020B0604020202020204" pitchFamily="34" charset="0"/>
              </a:rPr>
              <a:t>: 1px </a:t>
            </a:r>
            <a:r>
              <a:rPr lang="pt-BR" sz="1600" b="1" dirty="0" err="1">
                <a:solidFill>
                  <a:srgbClr val="002060"/>
                </a:solidFill>
                <a:latin typeface="Consolas" panose="020B0609020204030204" pitchFamily="49" charset="0"/>
                <a:cs typeface="Arial" panose="020B0604020202020204" pitchFamily="34" charset="0"/>
              </a:rPr>
              <a:t>solid</a:t>
            </a:r>
            <a:r>
              <a:rPr lang="pt-BR" sz="1600" b="1" dirty="0">
                <a:solidFill>
                  <a:srgbClr val="002060"/>
                </a:solidFill>
                <a:latin typeface="Consolas" panose="020B0609020204030204" pitchFamily="49" charset="0"/>
                <a:cs typeface="Arial" panose="020B0604020202020204" pitchFamily="34" charset="0"/>
              </a:rPr>
              <a:t> </a:t>
            </a:r>
            <a:r>
              <a:rPr lang="pt-BR" sz="1600" b="1" dirty="0" err="1">
                <a:solidFill>
                  <a:srgbClr val="002060"/>
                </a:solidFill>
                <a:latin typeface="Consolas" panose="020B0609020204030204" pitchFamily="49" charset="0"/>
                <a:cs typeface="Arial" panose="020B0604020202020204" pitchFamily="34" charset="0"/>
              </a:rPr>
              <a:t>black</a:t>
            </a:r>
            <a:r>
              <a:rPr lang="pt-BR" sz="1600" b="1" dirty="0">
                <a:solidFill>
                  <a:srgbClr val="002060"/>
                </a:solidFill>
                <a:latin typeface="Consolas" panose="020B0609020204030204" pitchFamily="49" charset="0"/>
                <a:cs typeface="Arial" panose="020B0604020202020204" pitchFamily="34" charset="0"/>
              </a:rPr>
              <a:t>;</a:t>
            </a:r>
          </a:p>
          <a:p>
            <a:pPr algn="just"/>
            <a:r>
              <a:rPr lang="pt-BR" sz="1600" b="1" dirty="0">
                <a:solidFill>
                  <a:srgbClr val="002060"/>
                </a:solidFill>
                <a:latin typeface="Consolas" panose="020B0609020204030204" pitchFamily="49" charset="0"/>
                <a:cs typeface="Arial" panose="020B0604020202020204" pitchFamily="34" charset="0"/>
              </a:rPr>
              <a:t>   background-color: </a:t>
            </a:r>
            <a:r>
              <a:rPr lang="pt-BR" sz="1600" b="1" dirty="0" err="1">
                <a:solidFill>
                  <a:srgbClr val="002060"/>
                </a:solidFill>
                <a:latin typeface="Consolas" panose="020B0609020204030204" pitchFamily="49" charset="0"/>
                <a:cs typeface="Arial" panose="020B0604020202020204" pitchFamily="34" charset="0"/>
              </a:rPr>
              <a:t>rgb</a:t>
            </a:r>
            <a:r>
              <a:rPr lang="pt-BR" sz="1600" b="1" dirty="0">
                <a:solidFill>
                  <a:srgbClr val="002060"/>
                </a:solidFill>
                <a:latin typeface="Consolas" panose="020B0609020204030204" pitchFamily="49" charset="0"/>
                <a:cs typeface="Arial" panose="020B0604020202020204" pitchFamily="34" charset="0"/>
              </a:rPr>
              <a:t>(185,225,215);</a:t>
            </a:r>
          </a:p>
          <a:p>
            <a:pPr algn="just"/>
            <a:r>
              <a:rPr lang="pt-BR" sz="1600" b="1" dirty="0">
                <a:solidFill>
                  <a:srgbClr val="002060"/>
                </a:solidFill>
                <a:latin typeface="Consolas" panose="020B0609020204030204" pitchFamily="49" charset="0"/>
                <a:cs typeface="Arial" panose="020B0604020202020204" pitchFamily="34" charset="0"/>
              </a:rPr>
              <a:t>}</a:t>
            </a:r>
          </a:p>
        </p:txBody>
      </p:sp>
      <p:cxnSp>
        <p:nvCxnSpPr>
          <p:cNvPr id="18" name="Conector de Seta Reta 17"/>
          <p:cNvCxnSpPr/>
          <p:nvPr/>
        </p:nvCxnSpPr>
        <p:spPr>
          <a:xfrm>
            <a:off x="3664138" y="5364244"/>
            <a:ext cx="764175" cy="22665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ector reto 27"/>
          <p:cNvCxnSpPr/>
          <p:nvPr/>
        </p:nvCxnSpPr>
        <p:spPr>
          <a:xfrm>
            <a:off x="992785" y="3370217"/>
            <a:ext cx="10972792" cy="39189"/>
          </a:xfrm>
          <a:prstGeom prst="line">
            <a:avLst/>
          </a:prstGeom>
          <a:ln w="28575">
            <a:solidFill>
              <a:srgbClr val="16065A"/>
            </a:solidFill>
          </a:ln>
        </p:spPr>
        <p:style>
          <a:lnRef idx="1">
            <a:schemeClr val="accent1"/>
          </a:lnRef>
          <a:fillRef idx="0">
            <a:schemeClr val="accent1"/>
          </a:fillRef>
          <a:effectRef idx="0">
            <a:schemeClr val="accent1"/>
          </a:effectRef>
          <a:fontRef idx="minor">
            <a:schemeClr val="tx1"/>
          </a:fontRef>
        </p:style>
      </p:cxnSp>
      <p:sp>
        <p:nvSpPr>
          <p:cNvPr id="8" name="Espaço Reservado para Número de Slide 7"/>
          <p:cNvSpPr>
            <a:spLocks noGrp="1"/>
          </p:cNvSpPr>
          <p:nvPr>
            <p:ph type="sldNum" sz="quarter" idx="12"/>
          </p:nvPr>
        </p:nvSpPr>
        <p:spPr/>
        <p:txBody>
          <a:bodyPr/>
          <a:lstStyle/>
          <a:p>
            <a:fld id="{8256F83C-9D86-480B-90E0-0702DBEB9457}" type="slidenum">
              <a:rPr lang="pt-BR" smtClean="0"/>
              <a:t>62</a:t>
            </a:fld>
            <a:endParaRPr lang="pt-BR"/>
          </a:p>
        </p:txBody>
      </p:sp>
    </p:spTree>
    <p:extLst>
      <p:ext uri="{BB962C8B-B14F-4D97-AF65-F5344CB8AC3E}">
        <p14:creationId xmlns:p14="http://schemas.microsoft.com/office/powerpoint/2010/main" val="22824412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p:cNvSpPr txBox="1"/>
          <p:nvPr/>
        </p:nvSpPr>
        <p:spPr>
          <a:xfrm>
            <a:off x="574767" y="249968"/>
            <a:ext cx="10972800" cy="569387"/>
          </a:xfrm>
          <a:prstGeom prst="rect">
            <a:avLst/>
          </a:prstGeom>
          <a:noFill/>
        </p:spPr>
        <p:txBody>
          <a:bodyPr wrap="square" rtlCol="0">
            <a:spAutoFit/>
          </a:bodyPr>
          <a:lstStyle/>
          <a:p>
            <a:pPr algn="ctr"/>
            <a:r>
              <a:rPr lang="pt-BR" sz="3100" b="1" u="sng" dirty="0">
                <a:solidFill>
                  <a:srgbClr val="002060"/>
                </a:solidFill>
                <a:latin typeface="Arial" panose="020B0604020202020204" pitchFamily="34" charset="0"/>
                <a:cs typeface="Arial" panose="020B0604020202020204" pitchFamily="34" charset="0"/>
              </a:rPr>
              <a:t>Células vazias em tabelas – mostra vazia</a:t>
            </a:r>
          </a:p>
        </p:txBody>
      </p:sp>
      <p:sp>
        <p:nvSpPr>
          <p:cNvPr id="4" name="Retângulo 3"/>
          <p:cNvSpPr/>
          <p:nvPr/>
        </p:nvSpPr>
        <p:spPr>
          <a:xfrm>
            <a:off x="711925" y="742904"/>
            <a:ext cx="6198354" cy="6109365"/>
          </a:xfrm>
          <a:prstGeom prst="rect">
            <a:avLst/>
          </a:prstGeom>
        </p:spPr>
        <p:txBody>
          <a:bodyPr wrap="square">
            <a:spAutoFit/>
          </a:bodyPr>
          <a:lstStyle/>
          <a:p>
            <a:pPr algn="just"/>
            <a:r>
              <a:rPr lang="pt-BR" sz="1700" b="1" dirty="0">
                <a:solidFill>
                  <a:srgbClr val="002060"/>
                </a:solidFill>
                <a:latin typeface="Consolas" panose="020B0609020204030204" pitchFamily="49" charset="0"/>
                <a:cs typeface="Arial" panose="020B0604020202020204" pitchFamily="34" charset="0"/>
              </a:rPr>
              <a:t>&lt;</a:t>
            </a:r>
            <a:r>
              <a:rPr lang="pt-BR" sz="1700" b="1" dirty="0" err="1">
                <a:solidFill>
                  <a:srgbClr val="002060"/>
                </a:solidFill>
                <a:latin typeface="Consolas" panose="020B0609020204030204" pitchFamily="49" charset="0"/>
                <a:cs typeface="Arial" panose="020B0604020202020204" pitchFamily="34" charset="0"/>
              </a:rPr>
              <a:t>head</a:t>
            </a:r>
            <a:r>
              <a:rPr lang="pt-BR" sz="1700" b="1" dirty="0">
                <a:solidFill>
                  <a:srgbClr val="002060"/>
                </a:solidFill>
                <a:latin typeface="Consolas" panose="020B0609020204030204" pitchFamily="49" charset="0"/>
                <a:cs typeface="Arial" panose="020B0604020202020204" pitchFamily="34" charset="0"/>
              </a:rPr>
              <a:t>&gt;</a:t>
            </a:r>
          </a:p>
          <a:p>
            <a:pPr algn="just"/>
            <a:r>
              <a:rPr lang="pt-BR" sz="1700" b="1" dirty="0">
                <a:solidFill>
                  <a:srgbClr val="002060"/>
                </a:solidFill>
                <a:latin typeface="Consolas" panose="020B0609020204030204" pitchFamily="49" charset="0"/>
                <a:cs typeface="Arial" panose="020B0604020202020204" pitchFamily="34" charset="0"/>
              </a:rPr>
              <a:t>   &lt;</a:t>
            </a:r>
            <a:r>
              <a:rPr lang="pt-BR" sz="1700" b="1" dirty="0" err="1">
                <a:solidFill>
                  <a:srgbClr val="002060"/>
                </a:solidFill>
                <a:latin typeface="Consolas" panose="020B0609020204030204" pitchFamily="49" charset="0"/>
                <a:cs typeface="Arial" panose="020B0604020202020204" pitchFamily="34" charset="0"/>
              </a:rPr>
              <a:t>style</a:t>
            </a:r>
            <a:r>
              <a:rPr lang="pt-BR" sz="1700" b="1" dirty="0">
                <a:solidFill>
                  <a:srgbClr val="002060"/>
                </a:solidFill>
                <a:latin typeface="Consolas" panose="020B0609020204030204" pitchFamily="49" charset="0"/>
                <a:cs typeface="Arial" panose="020B0604020202020204" pitchFamily="34" charset="0"/>
              </a:rPr>
              <a:t>&gt;</a:t>
            </a:r>
          </a:p>
          <a:p>
            <a:pPr algn="just"/>
            <a:r>
              <a:rPr lang="pt-BR" sz="1700" b="1" dirty="0">
                <a:solidFill>
                  <a:srgbClr val="002060"/>
                </a:solidFill>
                <a:latin typeface="Consolas" panose="020B0609020204030204" pitchFamily="49" charset="0"/>
                <a:cs typeface="Arial" panose="020B0604020202020204" pitchFamily="34" charset="0"/>
              </a:rPr>
              <a:t>      </a:t>
            </a:r>
            <a:r>
              <a:rPr lang="pt-BR" sz="1700" b="1" dirty="0" err="1">
                <a:solidFill>
                  <a:srgbClr val="002060"/>
                </a:solidFill>
                <a:latin typeface="Consolas" panose="020B0609020204030204" pitchFamily="49" charset="0"/>
                <a:cs typeface="Arial" panose="020B0604020202020204" pitchFamily="34" charset="0"/>
              </a:rPr>
              <a:t>table</a:t>
            </a:r>
            <a:endParaRPr lang="pt-BR" sz="1700" b="1" dirty="0">
              <a:solidFill>
                <a:srgbClr val="002060"/>
              </a:solidFill>
              <a:latin typeface="Consolas" panose="020B0609020204030204" pitchFamily="49" charset="0"/>
              <a:cs typeface="Arial" panose="020B0604020202020204" pitchFamily="34" charset="0"/>
            </a:endParaRPr>
          </a:p>
          <a:p>
            <a:pPr algn="just"/>
            <a:r>
              <a:rPr lang="pt-BR" sz="1700" b="1" dirty="0">
                <a:solidFill>
                  <a:srgbClr val="002060"/>
                </a:solidFill>
                <a:latin typeface="Consolas" panose="020B0609020204030204" pitchFamily="49" charset="0"/>
                <a:cs typeface="Arial" panose="020B0604020202020204" pitchFamily="34" charset="0"/>
              </a:rPr>
              <a:t>      {</a:t>
            </a:r>
          </a:p>
          <a:p>
            <a:pPr algn="just"/>
            <a:r>
              <a:rPr lang="pt-BR" sz="1700" b="1" dirty="0">
                <a:solidFill>
                  <a:srgbClr val="002060"/>
                </a:solidFill>
                <a:latin typeface="Consolas" panose="020B0609020204030204" pitchFamily="49" charset="0"/>
                <a:cs typeface="Arial" panose="020B0604020202020204" pitchFamily="34" charset="0"/>
              </a:rPr>
              <a:t>	   </a:t>
            </a:r>
            <a:r>
              <a:rPr lang="pt-BR" sz="1700" b="1" dirty="0" err="1">
                <a:solidFill>
                  <a:srgbClr val="002060"/>
                </a:solidFill>
                <a:latin typeface="Consolas" panose="020B0609020204030204" pitchFamily="49" charset="0"/>
                <a:cs typeface="Arial" panose="020B0604020202020204" pitchFamily="34" charset="0"/>
              </a:rPr>
              <a:t>width</a:t>
            </a:r>
            <a:r>
              <a:rPr lang="pt-BR" sz="1700" b="1" dirty="0">
                <a:solidFill>
                  <a:srgbClr val="002060"/>
                </a:solidFill>
                <a:latin typeface="Consolas" panose="020B0609020204030204" pitchFamily="49" charset="0"/>
                <a:cs typeface="Arial" panose="020B0604020202020204" pitchFamily="34" charset="0"/>
              </a:rPr>
              <a:t>: 200px;</a:t>
            </a:r>
          </a:p>
          <a:p>
            <a:pPr algn="just"/>
            <a:r>
              <a:rPr lang="pt-BR" sz="1700" b="1" dirty="0">
                <a:solidFill>
                  <a:srgbClr val="002060"/>
                </a:solidFill>
                <a:latin typeface="Consolas" panose="020B0609020204030204" pitchFamily="49" charset="0"/>
                <a:cs typeface="Arial" panose="020B0604020202020204" pitchFamily="34" charset="0"/>
              </a:rPr>
              <a:t>	   </a:t>
            </a:r>
            <a:r>
              <a:rPr lang="pt-BR" sz="1700" b="1" dirty="0" err="1">
                <a:solidFill>
                  <a:srgbClr val="002060"/>
                </a:solidFill>
                <a:latin typeface="Consolas" panose="020B0609020204030204" pitchFamily="49" charset="0"/>
                <a:cs typeface="Arial" panose="020B0604020202020204" pitchFamily="34" charset="0"/>
              </a:rPr>
              <a:t>text-align</a:t>
            </a:r>
            <a:r>
              <a:rPr lang="pt-BR" sz="1700" b="1" dirty="0">
                <a:solidFill>
                  <a:srgbClr val="002060"/>
                </a:solidFill>
                <a:latin typeface="Consolas" panose="020B0609020204030204" pitchFamily="49" charset="0"/>
                <a:cs typeface="Arial" panose="020B0604020202020204" pitchFamily="34" charset="0"/>
              </a:rPr>
              <a:t>: center;</a:t>
            </a:r>
          </a:p>
          <a:p>
            <a:pPr algn="just"/>
            <a:r>
              <a:rPr lang="pt-BR" sz="1700" b="1" dirty="0">
                <a:solidFill>
                  <a:srgbClr val="002060"/>
                </a:solidFill>
                <a:latin typeface="Consolas" panose="020B0609020204030204" pitchFamily="49" charset="0"/>
                <a:cs typeface="Arial" panose="020B0604020202020204" pitchFamily="34" charset="0"/>
              </a:rPr>
              <a:t>	   </a:t>
            </a:r>
            <a:r>
              <a:rPr lang="pt-BR" sz="1700" b="1" dirty="0" err="1">
                <a:solidFill>
                  <a:srgbClr val="002060"/>
                </a:solidFill>
                <a:latin typeface="Consolas" panose="020B0609020204030204" pitchFamily="49" charset="0"/>
                <a:cs typeface="Arial" panose="020B0604020202020204" pitchFamily="34" charset="0"/>
              </a:rPr>
              <a:t>border-spacing</a:t>
            </a:r>
            <a:r>
              <a:rPr lang="pt-BR" sz="1700" b="1" dirty="0">
                <a:solidFill>
                  <a:srgbClr val="002060"/>
                </a:solidFill>
                <a:latin typeface="Consolas" panose="020B0609020204030204" pitchFamily="49" charset="0"/>
                <a:cs typeface="Arial" panose="020B0604020202020204" pitchFamily="34" charset="0"/>
              </a:rPr>
              <a:t>: 15px;</a:t>
            </a:r>
          </a:p>
          <a:p>
            <a:pPr algn="just"/>
            <a:r>
              <a:rPr lang="pt-BR" sz="1700" b="1" dirty="0">
                <a:solidFill>
                  <a:srgbClr val="002060"/>
                </a:solidFill>
                <a:latin typeface="Consolas" panose="020B0609020204030204" pitchFamily="49" charset="0"/>
                <a:cs typeface="Arial" panose="020B0604020202020204" pitchFamily="34" charset="0"/>
              </a:rPr>
              <a:t>      }</a:t>
            </a:r>
          </a:p>
          <a:p>
            <a:pPr algn="just"/>
            <a:r>
              <a:rPr lang="pt-BR" sz="1700" b="1" dirty="0">
                <a:solidFill>
                  <a:srgbClr val="002060"/>
                </a:solidFill>
                <a:latin typeface="Consolas" panose="020B0609020204030204" pitchFamily="49" charset="0"/>
                <a:cs typeface="Arial" panose="020B0604020202020204" pitchFamily="34" charset="0"/>
              </a:rPr>
              <a:t>      </a:t>
            </a:r>
            <a:r>
              <a:rPr lang="pt-BR" sz="1700" b="1" dirty="0" err="1">
                <a:solidFill>
                  <a:srgbClr val="002060"/>
                </a:solidFill>
                <a:latin typeface="Consolas" panose="020B0609020204030204" pitchFamily="49" charset="0"/>
                <a:cs typeface="Arial" panose="020B0604020202020204" pitchFamily="34" charset="0"/>
              </a:rPr>
              <a:t>td</a:t>
            </a:r>
            <a:endParaRPr lang="pt-BR" sz="1700" b="1" dirty="0">
              <a:solidFill>
                <a:srgbClr val="002060"/>
              </a:solidFill>
              <a:latin typeface="Consolas" panose="020B0609020204030204" pitchFamily="49" charset="0"/>
              <a:cs typeface="Arial" panose="020B0604020202020204" pitchFamily="34" charset="0"/>
            </a:endParaRPr>
          </a:p>
          <a:p>
            <a:pPr algn="just"/>
            <a:r>
              <a:rPr lang="pt-BR" sz="1700" b="1" dirty="0">
                <a:solidFill>
                  <a:srgbClr val="002060"/>
                </a:solidFill>
                <a:latin typeface="Consolas" panose="020B0609020204030204" pitchFamily="49" charset="0"/>
                <a:cs typeface="Arial" panose="020B0604020202020204" pitchFamily="34" charset="0"/>
              </a:rPr>
              <a:t>      {</a:t>
            </a:r>
          </a:p>
          <a:p>
            <a:pPr algn="just"/>
            <a:r>
              <a:rPr lang="pt-BR" sz="1700" b="1" dirty="0">
                <a:solidFill>
                  <a:srgbClr val="002060"/>
                </a:solidFill>
                <a:latin typeface="Consolas" panose="020B0609020204030204" pitchFamily="49" charset="0"/>
                <a:cs typeface="Arial" panose="020B0604020202020204" pitchFamily="34" charset="0"/>
              </a:rPr>
              <a:t>	   </a:t>
            </a:r>
            <a:r>
              <a:rPr lang="pt-BR" sz="1700" b="1" dirty="0" err="1">
                <a:solidFill>
                  <a:srgbClr val="002060"/>
                </a:solidFill>
                <a:latin typeface="Consolas" panose="020B0609020204030204" pitchFamily="49" charset="0"/>
                <a:cs typeface="Arial" panose="020B0604020202020204" pitchFamily="34" charset="0"/>
              </a:rPr>
              <a:t>border</a:t>
            </a:r>
            <a:r>
              <a:rPr lang="pt-BR" sz="1700" b="1" dirty="0">
                <a:solidFill>
                  <a:srgbClr val="002060"/>
                </a:solidFill>
                <a:latin typeface="Consolas" panose="020B0609020204030204" pitchFamily="49" charset="0"/>
                <a:cs typeface="Arial" panose="020B0604020202020204" pitchFamily="34" charset="0"/>
              </a:rPr>
              <a:t>: 2px </a:t>
            </a:r>
            <a:r>
              <a:rPr lang="pt-BR" sz="1700" b="1" dirty="0" err="1">
                <a:solidFill>
                  <a:srgbClr val="002060"/>
                </a:solidFill>
                <a:latin typeface="Consolas" panose="020B0609020204030204" pitchFamily="49" charset="0"/>
                <a:cs typeface="Arial" panose="020B0604020202020204" pitchFamily="34" charset="0"/>
              </a:rPr>
              <a:t>solid</a:t>
            </a:r>
            <a:r>
              <a:rPr lang="pt-BR" sz="1700" b="1" dirty="0">
                <a:solidFill>
                  <a:srgbClr val="002060"/>
                </a:solidFill>
                <a:latin typeface="Consolas" panose="020B0609020204030204" pitchFamily="49" charset="0"/>
                <a:cs typeface="Arial" panose="020B0604020202020204" pitchFamily="34" charset="0"/>
              </a:rPr>
              <a:t> </a:t>
            </a:r>
            <a:r>
              <a:rPr lang="pt-BR" sz="1700" b="1" dirty="0" err="1">
                <a:solidFill>
                  <a:srgbClr val="002060"/>
                </a:solidFill>
                <a:latin typeface="Consolas" panose="020B0609020204030204" pitchFamily="49" charset="0"/>
                <a:cs typeface="Arial" panose="020B0604020202020204" pitchFamily="34" charset="0"/>
              </a:rPr>
              <a:t>black</a:t>
            </a:r>
            <a:r>
              <a:rPr lang="pt-BR" sz="1700" b="1" dirty="0">
                <a:solidFill>
                  <a:srgbClr val="002060"/>
                </a:solidFill>
                <a:latin typeface="Consolas" panose="020B0609020204030204" pitchFamily="49" charset="0"/>
                <a:cs typeface="Arial" panose="020B0604020202020204" pitchFamily="34" charset="0"/>
              </a:rPr>
              <a:t>;</a:t>
            </a:r>
          </a:p>
          <a:p>
            <a:pPr algn="just"/>
            <a:r>
              <a:rPr lang="pt-BR" sz="1700" b="1" dirty="0">
                <a:solidFill>
                  <a:srgbClr val="002060"/>
                </a:solidFill>
                <a:latin typeface="Consolas" panose="020B0609020204030204" pitchFamily="49" charset="0"/>
                <a:cs typeface="Arial" panose="020B0604020202020204" pitchFamily="34" charset="0"/>
              </a:rPr>
              <a:t>	   background-color: </a:t>
            </a:r>
            <a:r>
              <a:rPr lang="pt-BR" sz="1700" b="1" dirty="0" err="1">
                <a:solidFill>
                  <a:srgbClr val="002060"/>
                </a:solidFill>
                <a:latin typeface="Consolas" panose="020B0609020204030204" pitchFamily="49" charset="0"/>
                <a:cs typeface="Arial" panose="020B0604020202020204" pitchFamily="34" charset="0"/>
              </a:rPr>
              <a:t>rgb</a:t>
            </a:r>
            <a:r>
              <a:rPr lang="pt-BR" sz="1700" b="1" dirty="0">
                <a:solidFill>
                  <a:srgbClr val="002060"/>
                </a:solidFill>
                <a:latin typeface="Consolas" panose="020B0609020204030204" pitchFamily="49" charset="0"/>
                <a:cs typeface="Arial" panose="020B0604020202020204" pitchFamily="34" charset="0"/>
              </a:rPr>
              <a:t>(185,225,215);</a:t>
            </a:r>
          </a:p>
          <a:p>
            <a:pPr algn="just"/>
            <a:r>
              <a:rPr lang="pt-BR" sz="1700" b="1" dirty="0">
                <a:solidFill>
                  <a:srgbClr val="002060"/>
                </a:solidFill>
                <a:latin typeface="Consolas" panose="020B0609020204030204" pitchFamily="49" charset="0"/>
                <a:cs typeface="Arial" panose="020B0604020202020204" pitchFamily="34" charset="0"/>
              </a:rPr>
              <a:t>      }</a:t>
            </a:r>
          </a:p>
          <a:p>
            <a:pPr algn="just"/>
            <a:r>
              <a:rPr lang="pt-BR" sz="1700" b="1" dirty="0">
                <a:solidFill>
                  <a:srgbClr val="002060"/>
                </a:solidFill>
                <a:latin typeface="Consolas" panose="020B0609020204030204" pitchFamily="49" charset="0"/>
                <a:cs typeface="Arial" panose="020B0604020202020204" pitchFamily="34" charset="0"/>
              </a:rPr>
              <a:t>      </a:t>
            </a:r>
            <a:r>
              <a:rPr lang="pt-BR" sz="1700" b="1" dirty="0">
                <a:solidFill>
                  <a:srgbClr val="FF0000"/>
                </a:solidFill>
                <a:latin typeface="Consolas" panose="020B0609020204030204" pitchFamily="49" charset="0"/>
                <a:cs typeface="Arial" panose="020B0604020202020204" pitchFamily="34" charset="0"/>
              </a:rPr>
              <a:t>.mostra</a:t>
            </a:r>
          </a:p>
          <a:p>
            <a:pPr algn="just"/>
            <a:r>
              <a:rPr lang="pt-BR" sz="1700" b="1" dirty="0">
                <a:solidFill>
                  <a:srgbClr val="FF0000"/>
                </a:solidFill>
                <a:latin typeface="Consolas" panose="020B0609020204030204" pitchFamily="49" charset="0"/>
                <a:cs typeface="Arial" panose="020B0604020202020204" pitchFamily="34" charset="0"/>
              </a:rPr>
              <a:t>      {</a:t>
            </a:r>
          </a:p>
          <a:p>
            <a:pPr algn="just"/>
            <a:r>
              <a:rPr lang="pt-BR" sz="1700" b="1" dirty="0">
                <a:solidFill>
                  <a:srgbClr val="FF0000"/>
                </a:solidFill>
                <a:latin typeface="Consolas" panose="020B0609020204030204" pitchFamily="49" charset="0"/>
                <a:cs typeface="Arial" panose="020B0604020202020204" pitchFamily="34" charset="0"/>
              </a:rPr>
              <a:t>	   </a:t>
            </a:r>
            <a:r>
              <a:rPr lang="pt-BR" sz="1700" b="1" dirty="0" err="1">
                <a:solidFill>
                  <a:srgbClr val="FF0000"/>
                </a:solidFill>
                <a:latin typeface="Consolas" panose="020B0609020204030204" pitchFamily="49" charset="0"/>
                <a:cs typeface="Arial" panose="020B0604020202020204" pitchFamily="34" charset="0"/>
              </a:rPr>
              <a:t>empty-cells</a:t>
            </a:r>
            <a:r>
              <a:rPr lang="pt-BR" sz="1700" b="1" dirty="0">
                <a:solidFill>
                  <a:srgbClr val="FF0000"/>
                </a:solidFill>
                <a:latin typeface="Consolas" panose="020B0609020204030204" pitchFamily="49" charset="0"/>
                <a:cs typeface="Arial" panose="020B0604020202020204" pitchFamily="34" charset="0"/>
              </a:rPr>
              <a:t>: show;</a:t>
            </a:r>
          </a:p>
          <a:p>
            <a:pPr algn="just"/>
            <a:r>
              <a:rPr lang="pt-BR" sz="1700" b="1" dirty="0">
                <a:solidFill>
                  <a:srgbClr val="FF0000"/>
                </a:solidFill>
                <a:latin typeface="Consolas" panose="020B0609020204030204" pitchFamily="49" charset="0"/>
                <a:cs typeface="Arial" panose="020B0604020202020204" pitchFamily="34" charset="0"/>
              </a:rPr>
              <a:t>      }</a:t>
            </a:r>
          </a:p>
          <a:p>
            <a:pPr algn="just"/>
            <a:r>
              <a:rPr lang="pt-BR" sz="1700" b="1" dirty="0">
                <a:solidFill>
                  <a:srgbClr val="002060"/>
                </a:solidFill>
                <a:latin typeface="Consolas" panose="020B0609020204030204" pitchFamily="49" charset="0"/>
                <a:cs typeface="Arial" panose="020B0604020202020204" pitchFamily="34" charset="0"/>
              </a:rPr>
              <a:t>      .esconde</a:t>
            </a:r>
          </a:p>
          <a:p>
            <a:pPr algn="just"/>
            <a:r>
              <a:rPr lang="pt-BR" sz="1700" b="1" dirty="0">
                <a:solidFill>
                  <a:srgbClr val="002060"/>
                </a:solidFill>
                <a:latin typeface="Consolas" panose="020B0609020204030204" pitchFamily="49" charset="0"/>
                <a:cs typeface="Arial" panose="020B0604020202020204" pitchFamily="34" charset="0"/>
              </a:rPr>
              <a:t>     {</a:t>
            </a:r>
          </a:p>
          <a:p>
            <a:pPr algn="just"/>
            <a:r>
              <a:rPr lang="pt-BR" sz="1700" b="1" dirty="0">
                <a:solidFill>
                  <a:srgbClr val="002060"/>
                </a:solidFill>
                <a:latin typeface="Consolas" panose="020B0609020204030204" pitchFamily="49" charset="0"/>
                <a:cs typeface="Arial" panose="020B0604020202020204" pitchFamily="34" charset="0"/>
              </a:rPr>
              <a:t>          </a:t>
            </a:r>
            <a:r>
              <a:rPr lang="pt-BR" sz="1700" b="1" dirty="0" err="1">
                <a:solidFill>
                  <a:srgbClr val="002060"/>
                </a:solidFill>
                <a:latin typeface="Consolas" panose="020B0609020204030204" pitchFamily="49" charset="0"/>
                <a:cs typeface="Arial" panose="020B0604020202020204" pitchFamily="34" charset="0"/>
              </a:rPr>
              <a:t>empty-cells</a:t>
            </a:r>
            <a:r>
              <a:rPr lang="pt-BR" sz="1700" b="1" dirty="0">
                <a:solidFill>
                  <a:srgbClr val="002060"/>
                </a:solidFill>
                <a:latin typeface="Consolas" panose="020B0609020204030204" pitchFamily="49" charset="0"/>
                <a:cs typeface="Arial" panose="020B0604020202020204" pitchFamily="34" charset="0"/>
              </a:rPr>
              <a:t>: </a:t>
            </a:r>
            <a:r>
              <a:rPr lang="pt-BR" sz="1700" b="1" dirty="0" err="1">
                <a:solidFill>
                  <a:srgbClr val="002060"/>
                </a:solidFill>
                <a:latin typeface="Consolas" panose="020B0609020204030204" pitchFamily="49" charset="0"/>
                <a:cs typeface="Arial" panose="020B0604020202020204" pitchFamily="34" charset="0"/>
              </a:rPr>
              <a:t>hide</a:t>
            </a:r>
            <a:r>
              <a:rPr lang="pt-BR" sz="1700" b="1" dirty="0">
                <a:solidFill>
                  <a:srgbClr val="002060"/>
                </a:solidFill>
                <a:latin typeface="Consolas" panose="020B0609020204030204" pitchFamily="49" charset="0"/>
                <a:cs typeface="Arial" panose="020B0604020202020204" pitchFamily="34" charset="0"/>
              </a:rPr>
              <a:t>;</a:t>
            </a:r>
          </a:p>
          <a:p>
            <a:pPr algn="just"/>
            <a:r>
              <a:rPr lang="pt-BR" sz="1700" b="1" dirty="0">
                <a:solidFill>
                  <a:srgbClr val="002060"/>
                </a:solidFill>
                <a:latin typeface="Consolas" panose="020B0609020204030204" pitchFamily="49" charset="0"/>
                <a:cs typeface="Arial" panose="020B0604020202020204" pitchFamily="34" charset="0"/>
              </a:rPr>
              <a:t>     }</a:t>
            </a:r>
          </a:p>
          <a:p>
            <a:pPr algn="just"/>
            <a:r>
              <a:rPr lang="pt-BR" sz="1700" b="1" dirty="0">
                <a:solidFill>
                  <a:srgbClr val="002060"/>
                </a:solidFill>
                <a:latin typeface="Consolas" panose="020B0609020204030204" pitchFamily="49" charset="0"/>
                <a:cs typeface="Arial" panose="020B0604020202020204" pitchFamily="34" charset="0"/>
              </a:rPr>
              <a:t>   &lt;/</a:t>
            </a:r>
            <a:r>
              <a:rPr lang="pt-BR" sz="1700" b="1" dirty="0" err="1">
                <a:solidFill>
                  <a:srgbClr val="002060"/>
                </a:solidFill>
                <a:latin typeface="Consolas" panose="020B0609020204030204" pitchFamily="49" charset="0"/>
                <a:cs typeface="Arial" panose="020B0604020202020204" pitchFamily="34" charset="0"/>
              </a:rPr>
              <a:t>style</a:t>
            </a:r>
            <a:r>
              <a:rPr lang="pt-BR" sz="1700" b="1" dirty="0">
                <a:solidFill>
                  <a:srgbClr val="002060"/>
                </a:solidFill>
                <a:latin typeface="Consolas" panose="020B0609020204030204" pitchFamily="49" charset="0"/>
                <a:cs typeface="Arial" panose="020B0604020202020204" pitchFamily="34" charset="0"/>
              </a:rPr>
              <a:t>&gt;</a:t>
            </a:r>
          </a:p>
          <a:p>
            <a:pPr algn="just"/>
            <a:r>
              <a:rPr lang="pt-BR" sz="1700" b="1" dirty="0">
                <a:solidFill>
                  <a:srgbClr val="002060"/>
                </a:solidFill>
                <a:latin typeface="Consolas" panose="020B0609020204030204" pitchFamily="49" charset="0"/>
                <a:cs typeface="Arial" panose="020B0604020202020204" pitchFamily="34" charset="0"/>
              </a:rPr>
              <a:t>&lt;/</a:t>
            </a:r>
            <a:r>
              <a:rPr lang="pt-BR" sz="1700" b="1" dirty="0" err="1">
                <a:solidFill>
                  <a:srgbClr val="002060"/>
                </a:solidFill>
                <a:latin typeface="Consolas" panose="020B0609020204030204" pitchFamily="49" charset="0"/>
                <a:cs typeface="Arial" panose="020B0604020202020204" pitchFamily="34" charset="0"/>
              </a:rPr>
              <a:t>head</a:t>
            </a:r>
            <a:r>
              <a:rPr lang="pt-BR" sz="1700" b="1" dirty="0">
                <a:solidFill>
                  <a:srgbClr val="002060"/>
                </a:solidFill>
                <a:latin typeface="Consolas" panose="020B0609020204030204" pitchFamily="49" charset="0"/>
                <a:cs typeface="Arial" panose="020B0604020202020204" pitchFamily="34" charset="0"/>
              </a:rPr>
              <a:t>&gt;</a:t>
            </a:r>
          </a:p>
        </p:txBody>
      </p:sp>
      <p:sp>
        <p:nvSpPr>
          <p:cNvPr id="5" name="Retângulo 4"/>
          <p:cNvSpPr/>
          <p:nvPr/>
        </p:nvSpPr>
        <p:spPr>
          <a:xfrm>
            <a:off x="6335514" y="819355"/>
            <a:ext cx="5856486" cy="3785652"/>
          </a:xfrm>
          <a:prstGeom prst="rect">
            <a:avLst/>
          </a:prstGeom>
        </p:spPr>
        <p:txBody>
          <a:bodyPr wrap="square">
            <a:spAutoFit/>
          </a:bodyPr>
          <a:lstStyle/>
          <a:p>
            <a:pPr algn="just"/>
            <a:r>
              <a:rPr lang="pt-BR" sz="2000" b="1" dirty="0">
                <a:solidFill>
                  <a:srgbClr val="002060"/>
                </a:solidFill>
                <a:latin typeface="Consolas" panose="020B0609020204030204" pitchFamily="49" charset="0"/>
                <a:cs typeface="Arial" panose="020B0604020202020204" pitchFamily="34" charset="0"/>
              </a:rPr>
              <a:t>&lt;</a:t>
            </a:r>
            <a:r>
              <a:rPr lang="pt-BR" sz="2000" b="1" dirty="0" err="1">
                <a:solidFill>
                  <a:srgbClr val="002060"/>
                </a:solidFill>
                <a:latin typeface="Consolas" panose="020B0609020204030204" pitchFamily="49" charset="0"/>
                <a:cs typeface="Arial" panose="020B0604020202020204" pitchFamily="34" charset="0"/>
              </a:rPr>
              <a:t>body</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table</a:t>
            </a:r>
            <a:r>
              <a:rPr lang="pt-BR" sz="2000" b="1" dirty="0">
                <a:solidFill>
                  <a:srgbClr val="002060"/>
                </a:solidFill>
                <a:latin typeface="Consolas" panose="020B0609020204030204" pitchFamily="49" charset="0"/>
                <a:cs typeface="Arial" panose="020B0604020202020204" pitchFamily="34" charset="0"/>
              </a:rPr>
              <a:t> </a:t>
            </a:r>
            <a:r>
              <a:rPr lang="pt-BR" sz="2000" b="1" dirty="0" err="1">
                <a:solidFill>
                  <a:srgbClr val="FF0000"/>
                </a:solidFill>
                <a:latin typeface="Consolas" panose="020B0609020204030204" pitchFamily="49" charset="0"/>
                <a:cs typeface="Arial" panose="020B0604020202020204" pitchFamily="34" charset="0"/>
              </a:rPr>
              <a:t>class</a:t>
            </a:r>
            <a:r>
              <a:rPr lang="pt-BR" sz="2000" b="1" dirty="0">
                <a:solidFill>
                  <a:srgbClr val="FF0000"/>
                </a:solidFill>
                <a:latin typeface="Consolas" panose="020B0609020204030204" pitchFamily="49" charset="0"/>
                <a:cs typeface="Arial" panose="020B0604020202020204" pitchFamily="34" charset="0"/>
              </a:rPr>
              <a:t>=“mostra”</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tr</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a:t>
            </a:r>
            <a:r>
              <a:rPr lang="pt-BR" sz="2000" b="1" dirty="0">
                <a:solidFill>
                  <a:srgbClr val="FF0000"/>
                </a:solidFill>
                <a:latin typeface="Consolas" panose="020B0609020204030204" pitchFamily="49" charset="0"/>
                <a:cs typeface="Arial" panose="020B0604020202020204" pitchFamily="34" charset="0"/>
              </a:rPr>
              <a:t>&lt;</a:t>
            </a:r>
            <a:r>
              <a:rPr lang="pt-BR" sz="2000" b="1" dirty="0" err="1">
                <a:solidFill>
                  <a:srgbClr val="FF0000"/>
                </a:solidFill>
                <a:latin typeface="Consolas" panose="020B0609020204030204" pitchFamily="49" charset="0"/>
                <a:cs typeface="Arial" panose="020B0604020202020204" pitchFamily="34" charset="0"/>
              </a:rPr>
              <a:t>td</a:t>
            </a:r>
            <a:r>
              <a:rPr lang="pt-BR" sz="2000" b="1" dirty="0">
                <a:solidFill>
                  <a:srgbClr val="FF0000"/>
                </a:solidFill>
                <a:latin typeface="Consolas" panose="020B0609020204030204" pitchFamily="49" charset="0"/>
                <a:cs typeface="Arial" panose="020B0604020202020204" pitchFamily="34" charset="0"/>
              </a:rPr>
              <a:t>&gt;&lt;/</a:t>
            </a:r>
            <a:r>
              <a:rPr lang="pt-BR" sz="2000" b="1" dirty="0" err="1">
                <a:solidFill>
                  <a:srgbClr val="FF0000"/>
                </a:solidFill>
                <a:latin typeface="Consolas" panose="020B0609020204030204" pitchFamily="49" charset="0"/>
                <a:cs typeface="Arial" panose="020B0604020202020204" pitchFamily="34" charset="0"/>
              </a:rPr>
              <a:t>td</a:t>
            </a:r>
            <a:r>
              <a:rPr lang="pt-BR" sz="2000" b="1" dirty="0">
                <a:solidFill>
                  <a:srgbClr val="FF0000"/>
                </a:solidFill>
                <a:latin typeface="Consolas" panose="020B0609020204030204" pitchFamily="49" charset="0"/>
                <a:cs typeface="Arial" panose="020B0604020202020204" pitchFamily="34" charset="0"/>
              </a:rPr>
              <a:t>&gt;</a:t>
            </a:r>
            <a:r>
              <a:rPr lang="pt-BR" sz="2000" b="1" dirty="0">
                <a:solidFill>
                  <a:srgbClr val="002060"/>
                </a:solidFill>
                <a:latin typeface="Consolas" panose="020B0609020204030204" pitchFamily="49" charset="0"/>
                <a:cs typeface="Arial" panose="020B0604020202020204" pitchFamily="34" charset="0"/>
              </a:rPr>
              <a:t>&lt;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&gt;2&lt;/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&gt;3&lt;/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tr</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tr</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&gt;4&lt;/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&gt;5&lt;/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&gt;6&lt;/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tr</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tr</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&gt;7&lt;/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&gt;8&lt;/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&gt;9&lt;/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tr</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&lt;/</a:t>
            </a:r>
            <a:r>
              <a:rPr lang="pt-BR" sz="2000" b="1" dirty="0" err="1">
                <a:solidFill>
                  <a:srgbClr val="002060"/>
                </a:solidFill>
                <a:latin typeface="Consolas" panose="020B0609020204030204" pitchFamily="49" charset="0"/>
                <a:cs typeface="Arial" panose="020B0604020202020204" pitchFamily="34" charset="0"/>
              </a:rPr>
              <a:t>body</a:t>
            </a:r>
            <a:r>
              <a:rPr lang="pt-BR" sz="2000" b="1" dirty="0">
                <a:solidFill>
                  <a:srgbClr val="002060"/>
                </a:solidFill>
                <a:latin typeface="Consolas" panose="020B0609020204030204" pitchFamily="49" charset="0"/>
                <a:cs typeface="Arial" panose="020B0604020202020204" pitchFamily="34" charset="0"/>
              </a:rPr>
              <a:t>&gt;</a:t>
            </a:r>
          </a:p>
        </p:txBody>
      </p:sp>
      <p:pic>
        <p:nvPicPr>
          <p:cNvPr id="6" name="Imagem 5"/>
          <p:cNvPicPr>
            <a:picLocks noChangeAspect="1"/>
          </p:cNvPicPr>
          <p:nvPr/>
        </p:nvPicPr>
        <p:blipFill>
          <a:blip r:embed="rId2"/>
          <a:stretch>
            <a:fillRect/>
          </a:stretch>
        </p:blipFill>
        <p:spPr>
          <a:xfrm>
            <a:off x="8095413" y="4296997"/>
            <a:ext cx="3409964" cy="2401383"/>
          </a:xfrm>
          <a:prstGeom prst="rect">
            <a:avLst/>
          </a:prstGeom>
        </p:spPr>
      </p:pic>
      <p:cxnSp>
        <p:nvCxnSpPr>
          <p:cNvPr id="9" name="Conector reto 8"/>
          <p:cNvCxnSpPr/>
          <p:nvPr/>
        </p:nvCxnSpPr>
        <p:spPr>
          <a:xfrm>
            <a:off x="6335489" y="819355"/>
            <a:ext cx="8154" cy="572513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Espaço Reservado para Número de Slide 1"/>
          <p:cNvSpPr>
            <a:spLocks noGrp="1"/>
          </p:cNvSpPr>
          <p:nvPr>
            <p:ph type="sldNum" sz="quarter" idx="12"/>
          </p:nvPr>
        </p:nvSpPr>
        <p:spPr/>
        <p:txBody>
          <a:bodyPr/>
          <a:lstStyle/>
          <a:p>
            <a:fld id="{8256F83C-9D86-480B-90E0-0702DBEB9457}" type="slidenum">
              <a:rPr lang="pt-BR" smtClean="0"/>
              <a:t>63</a:t>
            </a:fld>
            <a:endParaRPr lang="pt-BR"/>
          </a:p>
        </p:txBody>
      </p:sp>
    </p:spTree>
    <p:extLst>
      <p:ext uri="{BB962C8B-B14F-4D97-AF65-F5344CB8AC3E}">
        <p14:creationId xmlns:p14="http://schemas.microsoft.com/office/powerpoint/2010/main" val="2591834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p:cNvSpPr txBox="1"/>
          <p:nvPr/>
        </p:nvSpPr>
        <p:spPr>
          <a:xfrm>
            <a:off x="640081" y="249968"/>
            <a:ext cx="10907486" cy="569387"/>
          </a:xfrm>
          <a:prstGeom prst="rect">
            <a:avLst/>
          </a:prstGeom>
          <a:noFill/>
        </p:spPr>
        <p:txBody>
          <a:bodyPr wrap="square" rtlCol="0">
            <a:spAutoFit/>
          </a:bodyPr>
          <a:lstStyle/>
          <a:p>
            <a:pPr algn="ctr"/>
            <a:r>
              <a:rPr lang="pt-BR" sz="3100" b="1" u="sng" dirty="0">
                <a:solidFill>
                  <a:srgbClr val="002060"/>
                </a:solidFill>
                <a:latin typeface="Arial" panose="020B0604020202020204" pitchFamily="34" charset="0"/>
                <a:cs typeface="Arial" panose="020B0604020202020204" pitchFamily="34" charset="0"/>
              </a:rPr>
              <a:t>Células vazias em tabelas - oculta</a:t>
            </a:r>
          </a:p>
        </p:txBody>
      </p:sp>
      <p:sp>
        <p:nvSpPr>
          <p:cNvPr id="4" name="Retângulo 3"/>
          <p:cNvSpPr/>
          <p:nvPr/>
        </p:nvSpPr>
        <p:spPr>
          <a:xfrm>
            <a:off x="672743" y="819355"/>
            <a:ext cx="6198354" cy="6109365"/>
          </a:xfrm>
          <a:prstGeom prst="rect">
            <a:avLst/>
          </a:prstGeom>
        </p:spPr>
        <p:txBody>
          <a:bodyPr wrap="square">
            <a:spAutoFit/>
          </a:bodyPr>
          <a:lstStyle/>
          <a:p>
            <a:pPr algn="just"/>
            <a:r>
              <a:rPr lang="pt-BR" sz="1700" b="1" dirty="0">
                <a:solidFill>
                  <a:srgbClr val="002060"/>
                </a:solidFill>
                <a:latin typeface="Consolas" panose="020B0609020204030204" pitchFamily="49" charset="0"/>
                <a:cs typeface="Arial" panose="020B0604020202020204" pitchFamily="34" charset="0"/>
              </a:rPr>
              <a:t>&lt;</a:t>
            </a:r>
            <a:r>
              <a:rPr lang="pt-BR" sz="1700" b="1" dirty="0" err="1">
                <a:solidFill>
                  <a:srgbClr val="002060"/>
                </a:solidFill>
                <a:latin typeface="Consolas" panose="020B0609020204030204" pitchFamily="49" charset="0"/>
                <a:cs typeface="Arial" panose="020B0604020202020204" pitchFamily="34" charset="0"/>
              </a:rPr>
              <a:t>head</a:t>
            </a:r>
            <a:r>
              <a:rPr lang="pt-BR" sz="1700" b="1" dirty="0">
                <a:solidFill>
                  <a:srgbClr val="002060"/>
                </a:solidFill>
                <a:latin typeface="Consolas" panose="020B0609020204030204" pitchFamily="49" charset="0"/>
                <a:cs typeface="Arial" panose="020B0604020202020204" pitchFamily="34" charset="0"/>
              </a:rPr>
              <a:t>&gt;</a:t>
            </a:r>
          </a:p>
          <a:p>
            <a:pPr algn="just"/>
            <a:r>
              <a:rPr lang="pt-BR" sz="1700" b="1" dirty="0">
                <a:solidFill>
                  <a:srgbClr val="002060"/>
                </a:solidFill>
                <a:latin typeface="Consolas" panose="020B0609020204030204" pitchFamily="49" charset="0"/>
                <a:cs typeface="Arial" panose="020B0604020202020204" pitchFamily="34" charset="0"/>
              </a:rPr>
              <a:t>   &lt;</a:t>
            </a:r>
            <a:r>
              <a:rPr lang="pt-BR" sz="1700" b="1" dirty="0" err="1">
                <a:solidFill>
                  <a:srgbClr val="002060"/>
                </a:solidFill>
                <a:latin typeface="Consolas" panose="020B0609020204030204" pitchFamily="49" charset="0"/>
                <a:cs typeface="Arial" panose="020B0604020202020204" pitchFamily="34" charset="0"/>
              </a:rPr>
              <a:t>style</a:t>
            </a:r>
            <a:r>
              <a:rPr lang="pt-BR" sz="1700" b="1" dirty="0">
                <a:solidFill>
                  <a:srgbClr val="002060"/>
                </a:solidFill>
                <a:latin typeface="Consolas" panose="020B0609020204030204" pitchFamily="49" charset="0"/>
                <a:cs typeface="Arial" panose="020B0604020202020204" pitchFamily="34" charset="0"/>
              </a:rPr>
              <a:t>&gt;</a:t>
            </a:r>
          </a:p>
          <a:p>
            <a:pPr algn="just"/>
            <a:r>
              <a:rPr lang="pt-BR" sz="1700" b="1" dirty="0">
                <a:solidFill>
                  <a:srgbClr val="002060"/>
                </a:solidFill>
                <a:latin typeface="Consolas" panose="020B0609020204030204" pitchFamily="49" charset="0"/>
                <a:cs typeface="Arial" panose="020B0604020202020204" pitchFamily="34" charset="0"/>
              </a:rPr>
              <a:t>      </a:t>
            </a:r>
            <a:r>
              <a:rPr lang="pt-BR" sz="1700" b="1" dirty="0" err="1">
                <a:solidFill>
                  <a:srgbClr val="002060"/>
                </a:solidFill>
                <a:latin typeface="Consolas" panose="020B0609020204030204" pitchFamily="49" charset="0"/>
                <a:cs typeface="Arial" panose="020B0604020202020204" pitchFamily="34" charset="0"/>
              </a:rPr>
              <a:t>table</a:t>
            </a:r>
            <a:endParaRPr lang="pt-BR" sz="1700" b="1" dirty="0">
              <a:solidFill>
                <a:srgbClr val="002060"/>
              </a:solidFill>
              <a:latin typeface="Consolas" panose="020B0609020204030204" pitchFamily="49" charset="0"/>
              <a:cs typeface="Arial" panose="020B0604020202020204" pitchFamily="34" charset="0"/>
            </a:endParaRPr>
          </a:p>
          <a:p>
            <a:pPr algn="just"/>
            <a:r>
              <a:rPr lang="pt-BR" sz="1700" b="1" dirty="0">
                <a:solidFill>
                  <a:srgbClr val="002060"/>
                </a:solidFill>
                <a:latin typeface="Consolas" panose="020B0609020204030204" pitchFamily="49" charset="0"/>
                <a:cs typeface="Arial" panose="020B0604020202020204" pitchFamily="34" charset="0"/>
              </a:rPr>
              <a:t>      {</a:t>
            </a:r>
          </a:p>
          <a:p>
            <a:pPr algn="just"/>
            <a:r>
              <a:rPr lang="pt-BR" sz="1700" b="1" dirty="0">
                <a:solidFill>
                  <a:srgbClr val="002060"/>
                </a:solidFill>
                <a:latin typeface="Consolas" panose="020B0609020204030204" pitchFamily="49" charset="0"/>
                <a:cs typeface="Arial" panose="020B0604020202020204" pitchFamily="34" charset="0"/>
              </a:rPr>
              <a:t>	   </a:t>
            </a:r>
            <a:r>
              <a:rPr lang="pt-BR" sz="1700" b="1" dirty="0" err="1">
                <a:solidFill>
                  <a:srgbClr val="002060"/>
                </a:solidFill>
                <a:latin typeface="Consolas" panose="020B0609020204030204" pitchFamily="49" charset="0"/>
                <a:cs typeface="Arial" panose="020B0604020202020204" pitchFamily="34" charset="0"/>
              </a:rPr>
              <a:t>width</a:t>
            </a:r>
            <a:r>
              <a:rPr lang="pt-BR" sz="1700" b="1" dirty="0">
                <a:solidFill>
                  <a:srgbClr val="002060"/>
                </a:solidFill>
                <a:latin typeface="Consolas" panose="020B0609020204030204" pitchFamily="49" charset="0"/>
                <a:cs typeface="Arial" panose="020B0604020202020204" pitchFamily="34" charset="0"/>
              </a:rPr>
              <a:t>: 200px;</a:t>
            </a:r>
          </a:p>
          <a:p>
            <a:pPr algn="just"/>
            <a:r>
              <a:rPr lang="pt-BR" sz="1700" b="1" dirty="0">
                <a:solidFill>
                  <a:srgbClr val="002060"/>
                </a:solidFill>
                <a:latin typeface="Consolas" panose="020B0609020204030204" pitchFamily="49" charset="0"/>
                <a:cs typeface="Arial" panose="020B0604020202020204" pitchFamily="34" charset="0"/>
              </a:rPr>
              <a:t>	   </a:t>
            </a:r>
            <a:r>
              <a:rPr lang="pt-BR" sz="1700" b="1" dirty="0" err="1">
                <a:solidFill>
                  <a:srgbClr val="002060"/>
                </a:solidFill>
                <a:latin typeface="Consolas" panose="020B0609020204030204" pitchFamily="49" charset="0"/>
                <a:cs typeface="Arial" panose="020B0604020202020204" pitchFamily="34" charset="0"/>
              </a:rPr>
              <a:t>text-align</a:t>
            </a:r>
            <a:r>
              <a:rPr lang="pt-BR" sz="1700" b="1" dirty="0">
                <a:solidFill>
                  <a:srgbClr val="002060"/>
                </a:solidFill>
                <a:latin typeface="Consolas" panose="020B0609020204030204" pitchFamily="49" charset="0"/>
                <a:cs typeface="Arial" panose="020B0604020202020204" pitchFamily="34" charset="0"/>
              </a:rPr>
              <a:t>: center;</a:t>
            </a:r>
          </a:p>
          <a:p>
            <a:pPr algn="just"/>
            <a:r>
              <a:rPr lang="pt-BR" sz="1700" b="1" dirty="0">
                <a:solidFill>
                  <a:srgbClr val="002060"/>
                </a:solidFill>
                <a:latin typeface="Consolas" panose="020B0609020204030204" pitchFamily="49" charset="0"/>
                <a:cs typeface="Arial" panose="020B0604020202020204" pitchFamily="34" charset="0"/>
              </a:rPr>
              <a:t>	   </a:t>
            </a:r>
            <a:r>
              <a:rPr lang="pt-BR" sz="1700" b="1" dirty="0" err="1">
                <a:solidFill>
                  <a:srgbClr val="002060"/>
                </a:solidFill>
                <a:latin typeface="Consolas" panose="020B0609020204030204" pitchFamily="49" charset="0"/>
                <a:cs typeface="Arial" panose="020B0604020202020204" pitchFamily="34" charset="0"/>
              </a:rPr>
              <a:t>border-spacing</a:t>
            </a:r>
            <a:r>
              <a:rPr lang="pt-BR" sz="1700" b="1" dirty="0">
                <a:solidFill>
                  <a:srgbClr val="002060"/>
                </a:solidFill>
                <a:latin typeface="Consolas" panose="020B0609020204030204" pitchFamily="49" charset="0"/>
                <a:cs typeface="Arial" panose="020B0604020202020204" pitchFamily="34" charset="0"/>
              </a:rPr>
              <a:t>: 15px;</a:t>
            </a:r>
          </a:p>
          <a:p>
            <a:pPr algn="just"/>
            <a:r>
              <a:rPr lang="pt-BR" sz="1700" b="1" dirty="0">
                <a:solidFill>
                  <a:srgbClr val="002060"/>
                </a:solidFill>
                <a:latin typeface="Consolas" panose="020B0609020204030204" pitchFamily="49" charset="0"/>
                <a:cs typeface="Arial" panose="020B0604020202020204" pitchFamily="34" charset="0"/>
              </a:rPr>
              <a:t>      }</a:t>
            </a:r>
          </a:p>
          <a:p>
            <a:pPr algn="just"/>
            <a:r>
              <a:rPr lang="pt-BR" sz="1700" b="1" dirty="0">
                <a:solidFill>
                  <a:srgbClr val="002060"/>
                </a:solidFill>
                <a:latin typeface="Consolas" panose="020B0609020204030204" pitchFamily="49" charset="0"/>
                <a:cs typeface="Arial" panose="020B0604020202020204" pitchFamily="34" charset="0"/>
              </a:rPr>
              <a:t>      </a:t>
            </a:r>
            <a:r>
              <a:rPr lang="pt-BR" sz="1700" b="1" dirty="0" err="1">
                <a:solidFill>
                  <a:srgbClr val="002060"/>
                </a:solidFill>
                <a:latin typeface="Consolas" panose="020B0609020204030204" pitchFamily="49" charset="0"/>
                <a:cs typeface="Arial" panose="020B0604020202020204" pitchFamily="34" charset="0"/>
              </a:rPr>
              <a:t>td</a:t>
            </a:r>
            <a:endParaRPr lang="pt-BR" sz="1700" b="1" dirty="0">
              <a:solidFill>
                <a:srgbClr val="002060"/>
              </a:solidFill>
              <a:latin typeface="Consolas" panose="020B0609020204030204" pitchFamily="49" charset="0"/>
              <a:cs typeface="Arial" panose="020B0604020202020204" pitchFamily="34" charset="0"/>
            </a:endParaRPr>
          </a:p>
          <a:p>
            <a:pPr algn="just"/>
            <a:r>
              <a:rPr lang="pt-BR" sz="1700" b="1" dirty="0">
                <a:solidFill>
                  <a:srgbClr val="002060"/>
                </a:solidFill>
                <a:latin typeface="Consolas" panose="020B0609020204030204" pitchFamily="49" charset="0"/>
                <a:cs typeface="Arial" panose="020B0604020202020204" pitchFamily="34" charset="0"/>
              </a:rPr>
              <a:t>      {</a:t>
            </a:r>
          </a:p>
          <a:p>
            <a:pPr algn="just"/>
            <a:r>
              <a:rPr lang="pt-BR" sz="1700" b="1" dirty="0">
                <a:solidFill>
                  <a:srgbClr val="002060"/>
                </a:solidFill>
                <a:latin typeface="Consolas" panose="020B0609020204030204" pitchFamily="49" charset="0"/>
                <a:cs typeface="Arial" panose="020B0604020202020204" pitchFamily="34" charset="0"/>
              </a:rPr>
              <a:t>	   </a:t>
            </a:r>
            <a:r>
              <a:rPr lang="pt-BR" sz="1700" b="1" dirty="0" err="1">
                <a:solidFill>
                  <a:srgbClr val="002060"/>
                </a:solidFill>
                <a:latin typeface="Consolas" panose="020B0609020204030204" pitchFamily="49" charset="0"/>
                <a:cs typeface="Arial" panose="020B0604020202020204" pitchFamily="34" charset="0"/>
              </a:rPr>
              <a:t>border</a:t>
            </a:r>
            <a:r>
              <a:rPr lang="pt-BR" sz="1700" b="1" dirty="0">
                <a:solidFill>
                  <a:srgbClr val="002060"/>
                </a:solidFill>
                <a:latin typeface="Consolas" panose="020B0609020204030204" pitchFamily="49" charset="0"/>
                <a:cs typeface="Arial" panose="020B0604020202020204" pitchFamily="34" charset="0"/>
              </a:rPr>
              <a:t>: 2px </a:t>
            </a:r>
            <a:r>
              <a:rPr lang="pt-BR" sz="1700" b="1" dirty="0" err="1">
                <a:solidFill>
                  <a:srgbClr val="002060"/>
                </a:solidFill>
                <a:latin typeface="Consolas" panose="020B0609020204030204" pitchFamily="49" charset="0"/>
                <a:cs typeface="Arial" panose="020B0604020202020204" pitchFamily="34" charset="0"/>
              </a:rPr>
              <a:t>solid</a:t>
            </a:r>
            <a:r>
              <a:rPr lang="pt-BR" sz="1700" b="1" dirty="0">
                <a:solidFill>
                  <a:srgbClr val="002060"/>
                </a:solidFill>
                <a:latin typeface="Consolas" panose="020B0609020204030204" pitchFamily="49" charset="0"/>
                <a:cs typeface="Arial" panose="020B0604020202020204" pitchFamily="34" charset="0"/>
              </a:rPr>
              <a:t> </a:t>
            </a:r>
            <a:r>
              <a:rPr lang="pt-BR" sz="1700" b="1" dirty="0" err="1">
                <a:solidFill>
                  <a:srgbClr val="002060"/>
                </a:solidFill>
                <a:latin typeface="Consolas" panose="020B0609020204030204" pitchFamily="49" charset="0"/>
                <a:cs typeface="Arial" panose="020B0604020202020204" pitchFamily="34" charset="0"/>
              </a:rPr>
              <a:t>black</a:t>
            </a:r>
            <a:r>
              <a:rPr lang="pt-BR" sz="1700" b="1" dirty="0">
                <a:solidFill>
                  <a:srgbClr val="002060"/>
                </a:solidFill>
                <a:latin typeface="Consolas" panose="020B0609020204030204" pitchFamily="49" charset="0"/>
                <a:cs typeface="Arial" panose="020B0604020202020204" pitchFamily="34" charset="0"/>
              </a:rPr>
              <a:t>;</a:t>
            </a:r>
          </a:p>
          <a:p>
            <a:pPr algn="just"/>
            <a:r>
              <a:rPr lang="pt-BR" sz="1700" b="1" dirty="0">
                <a:solidFill>
                  <a:srgbClr val="002060"/>
                </a:solidFill>
                <a:latin typeface="Consolas" panose="020B0609020204030204" pitchFamily="49" charset="0"/>
                <a:cs typeface="Arial" panose="020B0604020202020204" pitchFamily="34" charset="0"/>
              </a:rPr>
              <a:t>	   background-color: </a:t>
            </a:r>
            <a:r>
              <a:rPr lang="pt-BR" sz="1700" b="1" dirty="0" err="1">
                <a:solidFill>
                  <a:srgbClr val="002060"/>
                </a:solidFill>
                <a:latin typeface="Consolas" panose="020B0609020204030204" pitchFamily="49" charset="0"/>
                <a:cs typeface="Arial" panose="020B0604020202020204" pitchFamily="34" charset="0"/>
              </a:rPr>
              <a:t>rgb</a:t>
            </a:r>
            <a:r>
              <a:rPr lang="pt-BR" sz="1700" b="1" dirty="0">
                <a:solidFill>
                  <a:srgbClr val="002060"/>
                </a:solidFill>
                <a:latin typeface="Consolas" panose="020B0609020204030204" pitchFamily="49" charset="0"/>
                <a:cs typeface="Arial" panose="020B0604020202020204" pitchFamily="34" charset="0"/>
              </a:rPr>
              <a:t>(185,225,215);</a:t>
            </a:r>
          </a:p>
          <a:p>
            <a:pPr algn="just"/>
            <a:r>
              <a:rPr lang="pt-BR" sz="1700" b="1" dirty="0">
                <a:solidFill>
                  <a:srgbClr val="002060"/>
                </a:solidFill>
                <a:latin typeface="Consolas" panose="020B0609020204030204" pitchFamily="49" charset="0"/>
                <a:cs typeface="Arial" panose="020B0604020202020204" pitchFamily="34" charset="0"/>
              </a:rPr>
              <a:t>      }</a:t>
            </a:r>
          </a:p>
          <a:p>
            <a:pPr algn="just"/>
            <a:r>
              <a:rPr lang="pt-BR" sz="1700" b="1" dirty="0">
                <a:solidFill>
                  <a:srgbClr val="002060"/>
                </a:solidFill>
                <a:latin typeface="Consolas" panose="020B0609020204030204" pitchFamily="49" charset="0"/>
                <a:cs typeface="Arial" panose="020B0604020202020204" pitchFamily="34" charset="0"/>
              </a:rPr>
              <a:t>      .mostra</a:t>
            </a:r>
          </a:p>
          <a:p>
            <a:pPr algn="just"/>
            <a:r>
              <a:rPr lang="pt-BR" sz="1700" b="1" dirty="0">
                <a:solidFill>
                  <a:srgbClr val="002060"/>
                </a:solidFill>
                <a:latin typeface="Consolas" panose="020B0609020204030204" pitchFamily="49" charset="0"/>
                <a:cs typeface="Arial" panose="020B0604020202020204" pitchFamily="34" charset="0"/>
              </a:rPr>
              <a:t>      {</a:t>
            </a:r>
          </a:p>
          <a:p>
            <a:pPr algn="just"/>
            <a:r>
              <a:rPr lang="pt-BR" sz="1700" b="1" dirty="0">
                <a:solidFill>
                  <a:srgbClr val="002060"/>
                </a:solidFill>
                <a:latin typeface="Consolas" panose="020B0609020204030204" pitchFamily="49" charset="0"/>
                <a:cs typeface="Arial" panose="020B0604020202020204" pitchFamily="34" charset="0"/>
              </a:rPr>
              <a:t>	   </a:t>
            </a:r>
            <a:r>
              <a:rPr lang="pt-BR" sz="1700" b="1" dirty="0" err="1">
                <a:solidFill>
                  <a:srgbClr val="002060"/>
                </a:solidFill>
                <a:latin typeface="Consolas" panose="020B0609020204030204" pitchFamily="49" charset="0"/>
                <a:cs typeface="Arial" panose="020B0604020202020204" pitchFamily="34" charset="0"/>
              </a:rPr>
              <a:t>empty-cells</a:t>
            </a:r>
            <a:r>
              <a:rPr lang="pt-BR" sz="1700" b="1" dirty="0">
                <a:solidFill>
                  <a:srgbClr val="002060"/>
                </a:solidFill>
                <a:latin typeface="Consolas" panose="020B0609020204030204" pitchFamily="49" charset="0"/>
                <a:cs typeface="Arial" panose="020B0604020202020204" pitchFamily="34" charset="0"/>
              </a:rPr>
              <a:t>: show;</a:t>
            </a:r>
          </a:p>
          <a:p>
            <a:pPr algn="just"/>
            <a:r>
              <a:rPr lang="pt-BR" sz="1700" b="1" dirty="0">
                <a:solidFill>
                  <a:srgbClr val="002060"/>
                </a:solidFill>
                <a:latin typeface="Consolas" panose="020B0609020204030204" pitchFamily="49" charset="0"/>
                <a:cs typeface="Arial" panose="020B0604020202020204" pitchFamily="34" charset="0"/>
              </a:rPr>
              <a:t>      }</a:t>
            </a:r>
          </a:p>
          <a:p>
            <a:pPr algn="just"/>
            <a:r>
              <a:rPr lang="pt-BR" sz="1700" b="1" dirty="0">
                <a:solidFill>
                  <a:srgbClr val="FF0000"/>
                </a:solidFill>
                <a:latin typeface="Consolas" panose="020B0609020204030204" pitchFamily="49" charset="0"/>
                <a:cs typeface="Arial" panose="020B0604020202020204" pitchFamily="34" charset="0"/>
              </a:rPr>
              <a:t>      .oculta</a:t>
            </a:r>
          </a:p>
          <a:p>
            <a:pPr algn="just"/>
            <a:r>
              <a:rPr lang="pt-BR" sz="1700" b="1" dirty="0">
                <a:solidFill>
                  <a:srgbClr val="FF0000"/>
                </a:solidFill>
                <a:latin typeface="Consolas" panose="020B0609020204030204" pitchFamily="49" charset="0"/>
                <a:cs typeface="Arial" panose="020B0604020202020204" pitchFamily="34" charset="0"/>
              </a:rPr>
              <a:t>     {</a:t>
            </a:r>
          </a:p>
          <a:p>
            <a:pPr algn="just"/>
            <a:r>
              <a:rPr lang="pt-BR" sz="1700" b="1" dirty="0">
                <a:solidFill>
                  <a:srgbClr val="FF0000"/>
                </a:solidFill>
                <a:latin typeface="Consolas" panose="020B0609020204030204" pitchFamily="49" charset="0"/>
                <a:cs typeface="Arial" panose="020B0604020202020204" pitchFamily="34" charset="0"/>
              </a:rPr>
              <a:t>          </a:t>
            </a:r>
            <a:r>
              <a:rPr lang="pt-BR" sz="1700" b="1" dirty="0" err="1">
                <a:solidFill>
                  <a:srgbClr val="FF0000"/>
                </a:solidFill>
                <a:latin typeface="Consolas" panose="020B0609020204030204" pitchFamily="49" charset="0"/>
                <a:cs typeface="Arial" panose="020B0604020202020204" pitchFamily="34" charset="0"/>
              </a:rPr>
              <a:t>empty-cells</a:t>
            </a:r>
            <a:r>
              <a:rPr lang="pt-BR" sz="1700" b="1" dirty="0">
                <a:solidFill>
                  <a:srgbClr val="FF0000"/>
                </a:solidFill>
                <a:latin typeface="Consolas" panose="020B0609020204030204" pitchFamily="49" charset="0"/>
                <a:cs typeface="Arial" panose="020B0604020202020204" pitchFamily="34" charset="0"/>
              </a:rPr>
              <a:t>: </a:t>
            </a:r>
            <a:r>
              <a:rPr lang="pt-BR" sz="1700" b="1" dirty="0" err="1">
                <a:solidFill>
                  <a:srgbClr val="FF0000"/>
                </a:solidFill>
                <a:latin typeface="Consolas" panose="020B0609020204030204" pitchFamily="49" charset="0"/>
                <a:cs typeface="Arial" panose="020B0604020202020204" pitchFamily="34" charset="0"/>
              </a:rPr>
              <a:t>hide</a:t>
            </a:r>
            <a:r>
              <a:rPr lang="pt-BR" sz="1700" b="1" dirty="0">
                <a:solidFill>
                  <a:srgbClr val="FF0000"/>
                </a:solidFill>
                <a:latin typeface="Consolas" panose="020B0609020204030204" pitchFamily="49" charset="0"/>
                <a:cs typeface="Arial" panose="020B0604020202020204" pitchFamily="34" charset="0"/>
              </a:rPr>
              <a:t>;</a:t>
            </a:r>
          </a:p>
          <a:p>
            <a:pPr algn="just"/>
            <a:r>
              <a:rPr lang="pt-BR" sz="1700" b="1" dirty="0">
                <a:solidFill>
                  <a:srgbClr val="FF0000"/>
                </a:solidFill>
                <a:latin typeface="Consolas" panose="020B0609020204030204" pitchFamily="49" charset="0"/>
                <a:cs typeface="Arial" panose="020B0604020202020204" pitchFamily="34" charset="0"/>
              </a:rPr>
              <a:t>     }</a:t>
            </a:r>
          </a:p>
          <a:p>
            <a:pPr algn="just"/>
            <a:r>
              <a:rPr lang="pt-BR" sz="1700" b="1" dirty="0">
                <a:solidFill>
                  <a:srgbClr val="002060"/>
                </a:solidFill>
                <a:latin typeface="Consolas" panose="020B0609020204030204" pitchFamily="49" charset="0"/>
                <a:cs typeface="Arial" panose="020B0604020202020204" pitchFamily="34" charset="0"/>
              </a:rPr>
              <a:t>   &lt;/</a:t>
            </a:r>
            <a:r>
              <a:rPr lang="pt-BR" sz="1700" b="1" dirty="0" err="1">
                <a:solidFill>
                  <a:srgbClr val="002060"/>
                </a:solidFill>
                <a:latin typeface="Consolas" panose="020B0609020204030204" pitchFamily="49" charset="0"/>
                <a:cs typeface="Arial" panose="020B0604020202020204" pitchFamily="34" charset="0"/>
              </a:rPr>
              <a:t>style</a:t>
            </a:r>
            <a:r>
              <a:rPr lang="pt-BR" sz="1700" b="1" dirty="0">
                <a:solidFill>
                  <a:srgbClr val="002060"/>
                </a:solidFill>
                <a:latin typeface="Consolas" panose="020B0609020204030204" pitchFamily="49" charset="0"/>
                <a:cs typeface="Arial" panose="020B0604020202020204" pitchFamily="34" charset="0"/>
              </a:rPr>
              <a:t>&gt;</a:t>
            </a:r>
          </a:p>
          <a:p>
            <a:pPr algn="just"/>
            <a:r>
              <a:rPr lang="pt-BR" sz="1700" b="1" dirty="0">
                <a:solidFill>
                  <a:srgbClr val="002060"/>
                </a:solidFill>
                <a:latin typeface="Consolas" panose="020B0609020204030204" pitchFamily="49" charset="0"/>
                <a:cs typeface="Arial" panose="020B0604020202020204" pitchFamily="34" charset="0"/>
              </a:rPr>
              <a:t>&lt;/</a:t>
            </a:r>
            <a:r>
              <a:rPr lang="pt-BR" sz="1700" b="1" dirty="0" err="1">
                <a:solidFill>
                  <a:srgbClr val="002060"/>
                </a:solidFill>
                <a:latin typeface="Consolas" panose="020B0609020204030204" pitchFamily="49" charset="0"/>
                <a:cs typeface="Arial" panose="020B0604020202020204" pitchFamily="34" charset="0"/>
              </a:rPr>
              <a:t>head</a:t>
            </a:r>
            <a:r>
              <a:rPr lang="pt-BR" sz="1700" b="1" dirty="0">
                <a:solidFill>
                  <a:srgbClr val="002060"/>
                </a:solidFill>
                <a:latin typeface="Consolas" panose="020B0609020204030204" pitchFamily="49" charset="0"/>
                <a:cs typeface="Arial" panose="020B0604020202020204" pitchFamily="34" charset="0"/>
              </a:rPr>
              <a:t>&gt;</a:t>
            </a:r>
          </a:p>
        </p:txBody>
      </p:sp>
      <p:sp>
        <p:nvSpPr>
          <p:cNvPr id="5" name="Retângulo 4"/>
          <p:cNvSpPr/>
          <p:nvPr/>
        </p:nvSpPr>
        <p:spPr>
          <a:xfrm>
            <a:off x="6335514" y="819355"/>
            <a:ext cx="5856486" cy="3785652"/>
          </a:xfrm>
          <a:prstGeom prst="rect">
            <a:avLst/>
          </a:prstGeom>
        </p:spPr>
        <p:txBody>
          <a:bodyPr wrap="square">
            <a:spAutoFit/>
          </a:bodyPr>
          <a:lstStyle/>
          <a:p>
            <a:pPr algn="just"/>
            <a:r>
              <a:rPr lang="pt-BR" sz="2000" b="1" dirty="0">
                <a:solidFill>
                  <a:srgbClr val="002060"/>
                </a:solidFill>
                <a:latin typeface="Consolas" panose="020B0609020204030204" pitchFamily="49" charset="0"/>
                <a:cs typeface="Arial" panose="020B0604020202020204" pitchFamily="34" charset="0"/>
              </a:rPr>
              <a:t>&lt;</a:t>
            </a:r>
            <a:r>
              <a:rPr lang="pt-BR" sz="2000" b="1" dirty="0" err="1">
                <a:solidFill>
                  <a:srgbClr val="002060"/>
                </a:solidFill>
                <a:latin typeface="Consolas" panose="020B0609020204030204" pitchFamily="49" charset="0"/>
                <a:cs typeface="Arial" panose="020B0604020202020204" pitchFamily="34" charset="0"/>
              </a:rPr>
              <a:t>body</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table</a:t>
            </a:r>
            <a:r>
              <a:rPr lang="pt-BR" sz="2000" b="1" dirty="0">
                <a:solidFill>
                  <a:srgbClr val="002060"/>
                </a:solidFill>
                <a:latin typeface="Consolas" panose="020B0609020204030204" pitchFamily="49" charset="0"/>
                <a:cs typeface="Arial" panose="020B0604020202020204" pitchFamily="34" charset="0"/>
              </a:rPr>
              <a:t> </a:t>
            </a:r>
            <a:r>
              <a:rPr lang="pt-BR" sz="2000" b="1" dirty="0" err="1">
                <a:solidFill>
                  <a:srgbClr val="FF0000"/>
                </a:solidFill>
                <a:latin typeface="Consolas" panose="020B0609020204030204" pitchFamily="49" charset="0"/>
                <a:cs typeface="Arial" panose="020B0604020202020204" pitchFamily="34" charset="0"/>
              </a:rPr>
              <a:t>class</a:t>
            </a:r>
            <a:r>
              <a:rPr lang="pt-BR" sz="2000" b="1" dirty="0">
                <a:solidFill>
                  <a:srgbClr val="FF0000"/>
                </a:solidFill>
                <a:latin typeface="Consolas" panose="020B0609020204030204" pitchFamily="49" charset="0"/>
                <a:cs typeface="Arial" panose="020B0604020202020204" pitchFamily="34" charset="0"/>
              </a:rPr>
              <a:t>=“oculta”</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tr</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a:t>
            </a:r>
            <a:r>
              <a:rPr lang="pt-BR" sz="2000" b="1" dirty="0">
                <a:solidFill>
                  <a:srgbClr val="FF0000"/>
                </a:solidFill>
                <a:latin typeface="Consolas" panose="020B0609020204030204" pitchFamily="49" charset="0"/>
                <a:cs typeface="Arial" panose="020B0604020202020204" pitchFamily="34" charset="0"/>
              </a:rPr>
              <a:t>&lt;</a:t>
            </a:r>
            <a:r>
              <a:rPr lang="pt-BR" sz="2000" b="1" dirty="0" err="1">
                <a:solidFill>
                  <a:srgbClr val="FF0000"/>
                </a:solidFill>
                <a:latin typeface="Consolas" panose="020B0609020204030204" pitchFamily="49" charset="0"/>
                <a:cs typeface="Arial" panose="020B0604020202020204" pitchFamily="34" charset="0"/>
              </a:rPr>
              <a:t>td</a:t>
            </a:r>
            <a:r>
              <a:rPr lang="pt-BR" sz="2000" b="1" dirty="0">
                <a:solidFill>
                  <a:srgbClr val="FF0000"/>
                </a:solidFill>
                <a:latin typeface="Consolas" panose="020B0609020204030204" pitchFamily="49" charset="0"/>
                <a:cs typeface="Arial" panose="020B0604020202020204" pitchFamily="34" charset="0"/>
              </a:rPr>
              <a:t>&gt;&lt;/</a:t>
            </a:r>
            <a:r>
              <a:rPr lang="pt-BR" sz="2000" b="1" dirty="0" err="1">
                <a:solidFill>
                  <a:srgbClr val="FF0000"/>
                </a:solidFill>
                <a:latin typeface="Consolas" panose="020B0609020204030204" pitchFamily="49" charset="0"/>
                <a:cs typeface="Arial" panose="020B0604020202020204" pitchFamily="34" charset="0"/>
              </a:rPr>
              <a:t>td</a:t>
            </a:r>
            <a:r>
              <a:rPr lang="pt-BR" sz="2000" b="1" dirty="0">
                <a:solidFill>
                  <a:srgbClr val="FF0000"/>
                </a:solidFill>
                <a:latin typeface="Consolas" panose="020B0609020204030204" pitchFamily="49" charset="0"/>
                <a:cs typeface="Arial" panose="020B0604020202020204" pitchFamily="34" charset="0"/>
              </a:rPr>
              <a:t>&gt;</a:t>
            </a:r>
            <a:r>
              <a:rPr lang="pt-BR" sz="2000" b="1" dirty="0">
                <a:solidFill>
                  <a:srgbClr val="002060"/>
                </a:solidFill>
                <a:latin typeface="Consolas" panose="020B0609020204030204" pitchFamily="49" charset="0"/>
                <a:cs typeface="Arial" panose="020B0604020202020204" pitchFamily="34" charset="0"/>
              </a:rPr>
              <a:t>&lt;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&gt;2&lt;/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&gt;3&lt;/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tr</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tr</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&gt;4&lt;/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&gt;5&lt;/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&gt;6&lt;/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tr</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tr</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&gt;7&lt;/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&gt;8&lt;/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&gt;9&lt;/</a:t>
            </a:r>
            <a:r>
              <a:rPr lang="pt-BR" sz="2000" b="1" dirty="0" err="1">
                <a:solidFill>
                  <a:srgbClr val="002060"/>
                </a:solidFill>
                <a:latin typeface="Consolas" panose="020B0609020204030204" pitchFamily="49" charset="0"/>
                <a:cs typeface="Arial" panose="020B0604020202020204" pitchFamily="34" charset="0"/>
              </a:rPr>
              <a:t>td</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	&lt;/</a:t>
            </a:r>
            <a:r>
              <a:rPr lang="pt-BR" sz="2000" b="1" dirty="0" err="1">
                <a:solidFill>
                  <a:srgbClr val="002060"/>
                </a:solidFill>
                <a:latin typeface="Consolas" panose="020B0609020204030204" pitchFamily="49" charset="0"/>
                <a:cs typeface="Arial" panose="020B0604020202020204" pitchFamily="34" charset="0"/>
              </a:rPr>
              <a:t>tr</a:t>
            </a:r>
            <a:r>
              <a:rPr lang="pt-BR" sz="2000" b="1" dirty="0">
                <a:solidFill>
                  <a:srgbClr val="002060"/>
                </a:solidFill>
                <a:latin typeface="Consolas" panose="020B0609020204030204" pitchFamily="49" charset="0"/>
                <a:cs typeface="Arial" panose="020B0604020202020204" pitchFamily="34" charset="0"/>
              </a:rPr>
              <a:t>&gt;</a:t>
            </a:r>
          </a:p>
          <a:p>
            <a:pPr algn="just"/>
            <a:r>
              <a:rPr lang="pt-BR" sz="2000" b="1" dirty="0">
                <a:solidFill>
                  <a:srgbClr val="002060"/>
                </a:solidFill>
                <a:latin typeface="Consolas" panose="020B0609020204030204" pitchFamily="49" charset="0"/>
                <a:cs typeface="Arial" panose="020B0604020202020204" pitchFamily="34" charset="0"/>
              </a:rPr>
              <a:t>&lt;/</a:t>
            </a:r>
            <a:r>
              <a:rPr lang="pt-BR" sz="2000" b="1" dirty="0" err="1">
                <a:solidFill>
                  <a:srgbClr val="002060"/>
                </a:solidFill>
                <a:latin typeface="Consolas" panose="020B0609020204030204" pitchFamily="49" charset="0"/>
                <a:cs typeface="Arial" panose="020B0604020202020204" pitchFamily="34" charset="0"/>
              </a:rPr>
              <a:t>body</a:t>
            </a:r>
            <a:r>
              <a:rPr lang="pt-BR" sz="2000" b="1" dirty="0">
                <a:solidFill>
                  <a:srgbClr val="002060"/>
                </a:solidFill>
                <a:latin typeface="Consolas" panose="020B0609020204030204" pitchFamily="49" charset="0"/>
                <a:cs typeface="Arial" panose="020B0604020202020204" pitchFamily="34" charset="0"/>
              </a:rPr>
              <a:t>&gt;</a:t>
            </a:r>
          </a:p>
        </p:txBody>
      </p:sp>
      <p:pic>
        <p:nvPicPr>
          <p:cNvPr id="6" name="Imagem 5"/>
          <p:cNvPicPr>
            <a:picLocks noChangeAspect="1"/>
          </p:cNvPicPr>
          <p:nvPr/>
        </p:nvPicPr>
        <p:blipFill>
          <a:blip r:embed="rId2"/>
          <a:stretch>
            <a:fillRect/>
          </a:stretch>
        </p:blipFill>
        <p:spPr>
          <a:xfrm>
            <a:off x="7824652" y="4407375"/>
            <a:ext cx="3409964" cy="2334750"/>
          </a:xfrm>
          <a:prstGeom prst="rect">
            <a:avLst/>
          </a:prstGeom>
        </p:spPr>
      </p:pic>
      <p:cxnSp>
        <p:nvCxnSpPr>
          <p:cNvPr id="7" name="Conector reto 6"/>
          <p:cNvCxnSpPr/>
          <p:nvPr/>
        </p:nvCxnSpPr>
        <p:spPr>
          <a:xfrm>
            <a:off x="6374679" y="819355"/>
            <a:ext cx="8154" cy="5725137"/>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Espaço Reservado para Número de Slide 1"/>
          <p:cNvSpPr>
            <a:spLocks noGrp="1"/>
          </p:cNvSpPr>
          <p:nvPr>
            <p:ph type="sldNum" sz="quarter" idx="12"/>
          </p:nvPr>
        </p:nvSpPr>
        <p:spPr/>
        <p:txBody>
          <a:bodyPr/>
          <a:lstStyle/>
          <a:p>
            <a:fld id="{8256F83C-9D86-480B-90E0-0702DBEB9457}" type="slidenum">
              <a:rPr lang="pt-BR" smtClean="0"/>
              <a:t>64</a:t>
            </a:fld>
            <a:endParaRPr lang="pt-BR"/>
          </a:p>
        </p:txBody>
      </p:sp>
    </p:spTree>
    <p:extLst>
      <p:ext uri="{BB962C8B-B14F-4D97-AF65-F5344CB8AC3E}">
        <p14:creationId xmlns:p14="http://schemas.microsoft.com/office/powerpoint/2010/main" val="20279864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p:cNvSpPr txBox="1"/>
          <p:nvPr/>
        </p:nvSpPr>
        <p:spPr>
          <a:xfrm>
            <a:off x="11547566" y="6544492"/>
            <a:ext cx="644434" cy="307777"/>
          </a:xfrm>
          <a:prstGeom prst="rect">
            <a:avLst/>
          </a:prstGeom>
          <a:noFill/>
        </p:spPr>
        <p:txBody>
          <a:bodyPr wrap="square" rtlCol="0">
            <a:spAutoFit/>
          </a:bodyPr>
          <a:lstStyle/>
          <a:p>
            <a:r>
              <a:rPr lang="pt-BR" sz="1400" b="1" dirty="0"/>
              <a:t>07/28</a:t>
            </a:r>
          </a:p>
        </p:txBody>
      </p:sp>
      <p:sp>
        <p:nvSpPr>
          <p:cNvPr id="4" name="CaixaDeTexto 3"/>
          <p:cNvSpPr txBox="1"/>
          <p:nvPr/>
        </p:nvSpPr>
        <p:spPr>
          <a:xfrm>
            <a:off x="640081" y="249968"/>
            <a:ext cx="10907486" cy="569387"/>
          </a:xfrm>
          <a:prstGeom prst="rect">
            <a:avLst/>
          </a:prstGeom>
          <a:noFill/>
        </p:spPr>
        <p:txBody>
          <a:bodyPr wrap="square" rtlCol="0">
            <a:spAutoFit/>
          </a:bodyPr>
          <a:lstStyle/>
          <a:p>
            <a:pPr algn="ctr"/>
            <a:r>
              <a:rPr lang="pt-BR" sz="3100" b="1" u="sng" dirty="0">
                <a:solidFill>
                  <a:srgbClr val="002060"/>
                </a:solidFill>
                <a:latin typeface="Arial" panose="020B0604020202020204" pitchFamily="34" charset="0"/>
                <a:cs typeface="Arial" panose="020B0604020202020204" pitchFamily="34" charset="0"/>
              </a:rPr>
              <a:t>Conceito de bloco - container</a:t>
            </a:r>
          </a:p>
        </p:txBody>
      </p:sp>
      <p:sp>
        <p:nvSpPr>
          <p:cNvPr id="5" name="Retângulo 4"/>
          <p:cNvSpPr/>
          <p:nvPr/>
        </p:nvSpPr>
        <p:spPr>
          <a:xfrm>
            <a:off x="640081" y="1188107"/>
            <a:ext cx="10907485" cy="1938992"/>
          </a:xfrm>
          <a:prstGeom prst="rect">
            <a:avLst/>
          </a:prstGeom>
        </p:spPr>
        <p:txBody>
          <a:bodyPr wrap="square">
            <a:spAutoFit/>
          </a:bodyPr>
          <a:lstStyle/>
          <a:p>
            <a:pPr algn="just"/>
            <a:r>
              <a:rPr lang="pt-BR" sz="2400" dirty="0">
                <a:solidFill>
                  <a:srgbClr val="002060"/>
                </a:solidFill>
                <a:latin typeface="Arial" panose="020B0604020202020204" pitchFamily="34" charset="0"/>
                <a:cs typeface="Arial" panose="020B0604020202020204" pitchFamily="34" charset="0"/>
              </a:rPr>
              <a:t>O elemento box é definido pela W3C como uma área retangular composta por:</a:t>
            </a:r>
          </a:p>
          <a:p>
            <a:pPr marL="342900" indent="-342900" algn="just">
              <a:buFontTx/>
              <a:buChar char="-"/>
            </a:pPr>
            <a:r>
              <a:rPr lang="pt-BR" sz="2400" dirty="0">
                <a:solidFill>
                  <a:srgbClr val="002060"/>
                </a:solidFill>
                <a:latin typeface="Arial" panose="020B0604020202020204" pitchFamily="34" charset="0"/>
                <a:cs typeface="Arial" panose="020B0604020202020204" pitchFamily="34" charset="0"/>
              </a:rPr>
              <a:t>Borda (</a:t>
            </a:r>
            <a:r>
              <a:rPr lang="pt-BR" sz="2400" dirty="0" err="1">
                <a:solidFill>
                  <a:srgbClr val="002060"/>
                </a:solidFill>
                <a:latin typeface="Arial" panose="020B0604020202020204" pitchFamily="34" charset="0"/>
                <a:cs typeface="Arial" panose="020B0604020202020204" pitchFamily="34" charset="0"/>
              </a:rPr>
              <a:t>border</a:t>
            </a:r>
            <a:r>
              <a:rPr lang="pt-BR" sz="2400" dirty="0">
                <a:solidFill>
                  <a:srgbClr val="002060"/>
                </a:solidFill>
                <a:latin typeface="Arial" panose="020B0604020202020204" pitchFamily="34" charset="0"/>
                <a:cs typeface="Arial" panose="020B0604020202020204" pitchFamily="34" charset="0"/>
              </a:rPr>
              <a:t>)</a:t>
            </a:r>
          </a:p>
          <a:p>
            <a:pPr marL="342900" indent="-342900" algn="just">
              <a:buFontTx/>
              <a:buChar char="-"/>
            </a:pPr>
            <a:r>
              <a:rPr lang="pt-BR" sz="2400" dirty="0">
                <a:solidFill>
                  <a:srgbClr val="002060"/>
                </a:solidFill>
                <a:latin typeface="Arial" panose="020B0604020202020204" pitchFamily="34" charset="0"/>
                <a:cs typeface="Arial" panose="020B0604020202020204" pitchFamily="34" charset="0"/>
              </a:rPr>
              <a:t>Margem externa (</a:t>
            </a:r>
            <a:r>
              <a:rPr lang="pt-BR" sz="2400" dirty="0" err="1">
                <a:solidFill>
                  <a:srgbClr val="002060"/>
                </a:solidFill>
                <a:latin typeface="Arial" panose="020B0604020202020204" pitchFamily="34" charset="0"/>
                <a:cs typeface="Arial" panose="020B0604020202020204" pitchFamily="34" charset="0"/>
              </a:rPr>
              <a:t>outer</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margin</a:t>
            </a:r>
            <a:r>
              <a:rPr lang="pt-BR" sz="2400" dirty="0">
                <a:solidFill>
                  <a:srgbClr val="002060"/>
                </a:solidFill>
                <a:latin typeface="Arial" panose="020B0604020202020204" pitchFamily="34" charset="0"/>
                <a:cs typeface="Arial" panose="020B0604020202020204" pitchFamily="34" charset="0"/>
              </a:rPr>
              <a:t> - </a:t>
            </a:r>
            <a:r>
              <a:rPr lang="pt-BR" sz="2400" dirty="0" err="1">
                <a:solidFill>
                  <a:srgbClr val="002060"/>
                </a:solidFill>
                <a:latin typeface="Arial" panose="020B0604020202020204" pitchFamily="34" charset="0"/>
                <a:cs typeface="Arial" panose="020B0604020202020204" pitchFamily="34" charset="0"/>
              </a:rPr>
              <a:t>margin</a:t>
            </a:r>
            <a:r>
              <a:rPr lang="pt-BR" sz="2400" dirty="0">
                <a:solidFill>
                  <a:srgbClr val="002060"/>
                </a:solidFill>
                <a:latin typeface="Arial" panose="020B0604020202020204" pitchFamily="34" charset="0"/>
                <a:cs typeface="Arial" panose="020B0604020202020204" pitchFamily="34" charset="0"/>
              </a:rPr>
              <a:t>)</a:t>
            </a:r>
          </a:p>
          <a:p>
            <a:pPr marL="342900" indent="-342900" algn="just">
              <a:buFontTx/>
              <a:buChar char="-"/>
            </a:pPr>
            <a:r>
              <a:rPr lang="pt-BR" sz="2400" dirty="0">
                <a:solidFill>
                  <a:srgbClr val="002060"/>
                </a:solidFill>
                <a:latin typeface="Arial" panose="020B0604020202020204" pitchFamily="34" charset="0"/>
                <a:cs typeface="Arial" panose="020B0604020202020204" pitchFamily="34" charset="0"/>
              </a:rPr>
              <a:t>Conteúdo (</a:t>
            </a:r>
            <a:r>
              <a:rPr lang="pt-BR" sz="2400" dirty="0" err="1">
                <a:solidFill>
                  <a:srgbClr val="002060"/>
                </a:solidFill>
                <a:latin typeface="Arial" panose="020B0604020202020204" pitchFamily="34" charset="0"/>
                <a:cs typeface="Arial" panose="020B0604020202020204" pitchFamily="34" charset="0"/>
              </a:rPr>
              <a:t>content</a:t>
            </a:r>
            <a:r>
              <a:rPr lang="pt-BR" sz="2400" dirty="0">
                <a:solidFill>
                  <a:srgbClr val="002060"/>
                </a:solidFill>
                <a:latin typeface="Arial" panose="020B0604020202020204" pitchFamily="34" charset="0"/>
                <a:cs typeface="Arial" panose="020B0604020202020204" pitchFamily="34" charset="0"/>
              </a:rPr>
              <a:t>)</a:t>
            </a:r>
          </a:p>
          <a:p>
            <a:pPr marL="342900" indent="-342900" algn="just">
              <a:buFontTx/>
              <a:buChar char="-"/>
            </a:pPr>
            <a:r>
              <a:rPr lang="pt-BR" sz="2400" dirty="0">
                <a:solidFill>
                  <a:srgbClr val="002060"/>
                </a:solidFill>
                <a:latin typeface="Arial" panose="020B0604020202020204" pitchFamily="34" charset="0"/>
                <a:cs typeface="Arial" panose="020B0604020202020204" pitchFamily="34" charset="0"/>
              </a:rPr>
              <a:t>Margem interna (</a:t>
            </a:r>
            <a:r>
              <a:rPr lang="pt-BR" sz="2400" dirty="0" err="1">
                <a:solidFill>
                  <a:srgbClr val="002060"/>
                </a:solidFill>
                <a:latin typeface="Arial" panose="020B0604020202020204" pitchFamily="34" charset="0"/>
                <a:cs typeface="Arial" panose="020B0604020202020204" pitchFamily="34" charset="0"/>
              </a:rPr>
              <a:t>inner</a:t>
            </a:r>
            <a:r>
              <a:rPr lang="pt-BR" sz="2400" dirty="0">
                <a:solidFill>
                  <a:srgbClr val="002060"/>
                </a:solidFill>
                <a:latin typeface="Arial" panose="020B0604020202020204" pitchFamily="34" charset="0"/>
                <a:cs typeface="Arial" panose="020B0604020202020204" pitchFamily="34" charset="0"/>
              </a:rPr>
              <a:t> </a:t>
            </a:r>
            <a:r>
              <a:rPr lang="pt-BR" sz="2400" dirty="0" err="1">
                <a:solidFill>
                  <a:srgbClr val="002060"/>
                </a:solidFill>
                <a:latin typeface="Arial" panose="020B0604020202020204" pitchFamily="34" charset="0"/>
                <a:cs typeface="Arial" panose="020B0604020202020204" pitchFamily="34" charset="0"/>
              </a:rPr>
              <a:t>margin</a:t>
            </a:r>
            <a:r>
              <a:rPr lang="pt-BR" sz="2400" dirty="0">
                <a:solidFill>
                  <a:srgbClr val="002060"/>
                </a:solidFill>
                <a:latin typeface="Arial" panose="020B0604020202020204" pitchFamily="34" charset="0"/>
                <a:cs typeface="Arial" panose="020B0604020202020204" pitchFamily="34" charset="0"/>
              </a:rPr>
              <a:t> - </a:t>
            </a:r>
            <a:r>
              <a:rPr lang="pt-BR" sz="2400" dirty="0" err="1">
                <a:solidFill>
                  <a:srgbClr val="002060"/>
                </a:solidFill>
                <a:latin typeface="Arial" panose="020B0604020202020204" pitchFamily="34" charset="0"/>
                <a:cs typeface="Arial" panose="020B0604020202020204" pitchFamily="34" charset="0"/>
              </a:rPr>
              <a:t>padding</a:t>
            </a:r>
            <a:r>
              <a:rPr lang="pt-BR" sz="2400" dirty="0">
                <a:solidFill>
                  <a:srgbClr val="002060"/>
                </a:solidFill>
                <a:latin typeface="Arial" panose="020B0604020202020204" pitchFamily="34" charset="0"/>
                <a:cs typeface="Arial" panose="020B0604020202020204" pitchFamily="34" charset="0"/>
              </a:rPr>
              <a:t>)</a:t>
            </a:r>
          </a:p>
        </p:txBody>
      </p:sp>
      <p:pic>
        <p:nvPicPr>
          <p:cNvPr id="2" name="Imagem 1"/>
          <p:cNvPicPr>
            <a:picLocks noChangeAspect="1"/>
          </p:cNvPicPr>
          <p:nvPr/>
        </p:nvPicPr>
        <p:blipFill>
          <a:blip r:embed="rId2"/>
          <a:stretch>
            <a:fillRect/>
          </a:stretch>
        </p:blipFill>
        <p:spPr>
          <a:xfrm>
            <a:off x="3047207" y="3336105"/>
            <a:ext cx="6093231" cy="2999381"/>
          </a:xfrm>
          <a:prstGeom prst="rect">
            <a:avLst/>
          </a:prstGeom>
        </p:spPr>
      </p:pic>
      <p:sp>
        <p:nvSpPr>
          <p:cNvPr id="7" name="Espaço Reservado para Conteúdo 2"/>
          <p:cNvSpPr txBox="1">
            <a:spLocks/>
          </p:cNvSpPr>
          <p:nvPr/>
        </p:nvSpPr>
        <p:spPr>
          <a:xfrm>
            <a:off x="1824513" y="6335486"/>
            <a:ext cx="8538617" cy="4919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B457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B457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B457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B457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600" b="1" i="1" dirty="0"/>
              <a:t>Fonte:</a:t>
            </a:r>
            <a:r>
              <a:rPr lang="pt-BR" sz="1600" i="1" dirty="0"/>
              <a:t> Adaptado do livro texto - </a:t>
            </a:r>
            <a:r>
              <a:rPr lang="en-US" sz="1600" i="1" dirty="0"/>
              <a:t>Website Design and Development with HTML5 and CSS3</a:t>
            </a:r>
            <a:endParaRPr lang="pt-BR" sz="1600" i="1" dirty="0"/>
          </a:p>
        </p:txBody>
      </p:sp>
      <p:sp>
        <p:nvSpPr>
          <p:cNvPr id="3" name="Espaço Reservado para Número de Slide 2"/>
          <p:cNvSpPr>
            <a:spLocks noGrp="1"/>
          </p:cNvSpPr>
          <p:nvPr>
            <p:ph type="sldNum" sz="quarter" idx="12"/>
          </p:nvPr>
        </p:nvSpPr>
        <p:spPr/>
        <p:txBody>
          <a:bodyPr/>
          <a:lstStyle/>
          <a:p>
            <a:fld id="{8256F83C-9D86-480B-90E0-0702DBEB9457}" type="slidenum">
              <a:rPr lang="pt-BR" smtClean="0"/>
              <a:t>65</a:t>
            </a:fld>
            <a:endParaRPr lang="pt-BR"/>
          </a:p>
        </p:txBody>
      </p:sp>
    </p:spTree>
    <p:extLst>
      <p:ext uri="{BB962C8B-B14F-4D97-AF65-F5344CB8AC3E}">
        <p14:creationId xmlns:p14="http://schemas.microsoft.com/office/powerpoint/2010/main" val="21199884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709749" y="1335752"/>
            <a:ext cx="5795555" cy="4247317"/>
          </a:xfrm>
          <a:prstGeom prst="rect">
            <a:avLst/>
          </a:prstGeom>
        </p:spPr>
        <p:txBody>
          <a:bodyPr wrap="square">
            <a:spAutoFit/>
          </a:bodyPr>
          <a:lstStyle/>
          <a:p>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style</a:t>
            </a:r>
            <a:r>
              <a:rPr lang="pt-BR" b="1" dirty="0">
                <a:solidFill>
                  <a:srgbClr val="002060"/>
                </a:solidFill>
                <a:latin typeface="Consolas" panose="020B0609020204030204" pitchFamily="49" charset="0"/>
              </a:rPr>
              <a:t>&gt;            </a:t>
            </a:r>
          </a:p>
          <a:p>
            <a:r>
              <a:rPr lang="pt-BR" b="1" dirty="0">
                <a:solidFill>
                  <a:srgbClr val="002060"/>
                </a:solidFill>
                <a:latin typeface="Consolas" panose="020B0609020204030204" pitchFamily="49" charset="0"/>
              </a:rPr>
              <a:t>    p </a:t>
            </a:r>
          </a:p>
          <a:p>
            <a:r>
              <a:rPr lang="pt-BR" b="1" dirty="0">
                <a:solidFill>
                  <a:srgbClr val="002060"/>
                </a:solidFill>
                <a:latin typeface="Consolas" panose="020B0609020204030204" pitchFamily="49" charset="0"/>
              </a:rPr>
              <a:t>    { </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width</a:t>
            </a:r>
            <a:r>
              <a:rPr lang="pt-BR" b="1" dirty="0">
                <a:solidFill>
                  <a:srgbClr val="002060"/>
                </a:solidFill>
                <a:latin typeface="Consolas" panose="020B0609020204030204" pitchFamily="49" charset="0"/>
              </a:rPr>
              <a:t>: 185px; </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border</a:t>
            </a:r>
            <a:r>
              <a:rPr lang="pt-BR" b="1" dirty="0">
                <a:solidFill>
                  <a:srgbClr val="002060"/>
                </a:solidFill>
                <a:latin typeface="Consolas" panose="020B0609020204030204" pitchFamily="49" charset="0"/>
              </a:rPr>
              <a:t>: 15px </a:t>
            </a:r>
            <a:r>
              <a:rPr lang="pt-BR" b="1" dirty="0" err="1">
                <a:solidFill>
                  <a:srgbClr val="002060"/>
                </a:solidFill>
                <a:latin typeface="Consolas" panose="020B0609020204030204" pitchFamily="49" charset="0"/>
              </a:rPr>
              <a:t>solid</a:t>
            </a:r>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rgb</a:t>
            </a:r>
            <a:r>
              <a:rPr lang="pt-BR" b="1" dirty="0">
                <a:solidFill>
                  <a:srgbClr val="002060"/>
                </a:solidFill>
                <a:latin typeface="Consolas" panose="020B0609020204030204" pitchFamily="49" charset="0"/>
              </a:rPr>
              <a:t>(110,150,210); </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padding</a:t>
            </a:r>
            <a:r>
              <a:rPr lang="pt-BR" b="1" dirty="0">
                <a:solidFill>
                  <a:srgbClr val="002060"/>
                </a:solidFill>
                <a:latin typeface="Consolas" panose="020B0609020204030204" pitchFamily="49" charset="0"/>
              </a:rPr>
              <a:t>: 25px; </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margin</a:t>
            </a:r>
            <a:r>
              <a:rPr lang="pt-BR" b="1" dirty="0">
                <a:solidFill>
                  <a:srgbClr val="002060"/>
                </a:solidFill>
                <a:latin typeface="Consolas" panose="020B0609020204030204" pitchFamily="49" charset="0"/>
              </a:rPr>
              <a:t>: 35px; </a:t>
            </a:r>
          </a:p>
          <a:p>
            <a:r>
              <a:rPr lang="pt-BR" b="1" dirty="0">
                <a:solidFill>
                  <a:srgbClr val="002060"/>
                </a:solidFill>
                <a:latin typeface="Consolas" panose="020B0609020204030204" pitchFamily="49" charset="0"/>
              </a:rPr>
              <a:t>       background-color: </a:t>
            </a:r>
            <a:r>
              <a:rPr lang="pt-BR" b="1" dirty="0" err="1">
                <a:solidFill>
                  <a:srgbClr val="002060"/>
                </a:solidFill>
                <a:latin typeface="Consolas" panose="020B0609020204030204" pitchFamily="49" charset="0"/>
              </a:rPr>
              <a:t>rgb</a:t>
            </a:r>
            <a:r>
              <a:rPr lang="pt-BR" b="1" dirty="0">
                <a:solidFill>
                  <a:srgbClr val="002060"/>
                </a:solidFill>
                <a:latin typeface="Consolas" panose="020B0609020204030204" pitchFamily="49" charset="0"/>
              </a:rPr>
              <a:t>(205,225,235); </a:t>
            </a:r>
          </a:p>
          <a:p>
            <a:r>
              <a:rPr lang="pt-BR" b="1" dirty="0">
                <a:solidFill>
                  <a:srgbClr val="002060"/>
                </a:solidFill>
                <a:latin typeface="Consolas" panose="020B0609020204030204" pitchFamily="49" charset="0"/>
              </a:rPr>
              <a:t>    }</a:t>
            </a:r>
          </a:p>
          <a:p>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style</a:t>
            </a:r>
            <a:r>
              <a:rPr lang="pt-BR" b="1" dirty="0">
                <a:solidFill>
                  <a:srgbClr val="002060"/>
                </a:solidFill>
                <a:latin typeface="Consolas" panose="020B0609020204030204" pitchFamily="49" charset="0"/>
              </a:rPr>
              <a:t>&gt;</a:t>
            </a:r>
          </a:p>
          <a:p>
            <a:endParaRPr lang="pt-BR" b="1" dirty="0">
              <a:solidFill>
                <a:srgbClr val="002060"/>
              </a:solidFill>
              <a:effectLst/>
              <a:latin typeface="Consolas" panose="020B0609020204030204" pitchFamily="49" charset="0"/>
            </a:endParaRPr>
          </a:p>
          <a:p>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body</a:t>
            </a:r>
            <a:r>
              <a:rPr lang="pt-BR" b="1" dirty="0">
                <a:solidFill>
                  <a:srgbClr val="002060"/>
                </a:solidFill>
                <a:latin typeface="Consolas" panose="020B0609020204030204" pitchFamily="49" charset="0"/>
              </a:rPr>
              <a:t>&gt;</a:t>
            </a:r>
          </a:p>
          <a:p>
            <a:r>
              <a:rPr lang="pt-BR" b="1" dirty="0">
                <a:solidFill>
                  <a:srgbClr val="002060"/>
                </a:solidFill>
                <a:effectLst/>
                <a:latin typeface="Consolas" panose="020B0609020204030204" pitchFamily="49" charset="0"/>
              </a:rPr>
              <a:t>    &lt;p&gt;Teste de um box, bloco ou container usando CSS.&lt;/p&gt;</a:t>
            </a:r>
          </a:p>
          <a:p>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body</a:t>
            </a:r>
            <a:r>
              <a:rPr lang="pt-BR" b="1" dirty="0">
                <a:solidFill>
                  <a:srgbClr val="002060"/>
                </a:solidFill>
                <a:latin typeface="Consolas" panose="020B0609020204030204" pitchFamily="49" charset="0"/>
              </a:rPr>
              <a:t>&gt;</a:t>
            </a:r>
            <a:endParaRPr lang="pt-BR" b="1" dirty="0">
              <a:solidFill>
                <a:srgbClr val="002060"/>
              </a:solidFill>
              <a:effectLst/>
              <a:latin typeface="Consolas" panose="020B0609020204030204" pitchFamily="49" charset="0"/>
            </a:endParaRPr>
          </a:p>
        </p:txBody>
      </p:sp>
      <p:pic>
        <p:nvPicPr>
          <p:cNvPr id="8" name="Imagem 7"/>
          <p:cNvPicPr>
            <a:picLocks noChangeAspect="1"/>
          </p:cNvPicPr>
          <p:nvPr/>
        </p:nvPicPr>
        <p:blipFill>
          <a:blip r:embed="rId2"/>
          <a:stretch>
            <a:fillRect/>
          </a:stretch>
        </p:blipFill>
        <p:spPr>
          <a:xfrm>
            <a:off x="7096848" y="411637"/>
            <a:ext cx="3952455" cy="1945588"/>
          </a:xfrm>
          <a:prstGeom prst="rect">
            <a:avLst/>
          </a:prstGeom>
        </p:spPr>
      </p:pic>
      <p:pic>
        <p:nvPicPr>
          <p:cNvPr id="13" name="Imagem 12"/>
          <p:cNvPicPr>
            <a:picLocks noChangeAspect="1"/>
          </p:cNvPicPr>
          <p:nvPr/>
        </p:nvPicPr>
        <p:blipFill>
          <a:blip r:embed="rId3"/>
          <a:stretch>
            <a:fillRect/>
          </a:stretch>
        </p:blipFill>
        <p:spPr>
          <a:xfrm>
            <a:off x="6570617" y="2513589"/>
            <a:ext cx="4976949" cy="3707467"/>
          </a:xfrm>
          <a:prstGeom prst="rect">
            <a:avLst/>
          </a:prstGeom>
        </p:spPr>
      </p:pic>
      <p:cxnSp>
        <p:nvCxnSpPr>
          <p:cNvPr id="5" name="Conector reto 4"/>
          <p:cNvCxnSpPr/>
          <p:nvPr/>
        </p:nvCxnSpPr>
        <p:spPr>
          <a:xfrm>
            <a:off x="7197634" y="5718668"/>
            <a:ext cx="0" cy="87525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5" name="Conector reto 14"/>
          <p:cNvCxnSpPr/>
          <p:nvPr/>
        </p:nvCxnSpPr>
        <p:spPr>
          <a:xfrm>
            <a:off x="10980273" y="5740441"/>
            <a:ext cx="0" cy="87525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2" name="CaixaDeTexto 11"/>
          <p:cNvSpPr txBox="1"/>
          <p:nvPr/>
        </p:nvSpPr>
        <p:spPr>
          <a:xfrm>
            <a:off x="7548488" y="3970651"/>
            <a:ext cx="1487330" cy="369332"/>
          </a:xfrm>
          <a:prstGeom prst="rect">
            <a:avLst/>
          </a:prstGeom>
          <a:noFill/>
        </p:spPr>
        <p:txBody>
          <a:bodyPr wrap="none" rtlCol="0">
            <a:spAutoFit/>
          </a:bodyPr>
          <a:lstStyle/>
          <a:p>
            <a:r>
              <a:rPr lang="pt-BR" b="1" dirty="0"/>
              <a:t>15px (</a:t>
            </a:r>
            <a:r>
              <a:rPr lang="pt-BR" b="1" dirty="0" err="1"/>
              <a:t>border</a:t>
            </a:r>
            <a:r>
              <a:rPr lang="pt-BR" b="1" dirty="0"/>
              <a:t>)</a:t>
            </a:r>
          </a:p>
        </p:txBody>
      </p:sp>
      <p:sp>
        <p:nvSpPr>
          <p:cNvPr id="16" name="CaixaDeTexto 15"/>
          <p:cNvSpPr txBox="1"/>
          <p:nvPr/>
        </p:nvSpPr>
        <p:spPr>
          <a:xfrm>
            <a:off x="8084066" y="4276062"/>
            <a:ext cx="1613583" cy="369332"/>
          </a:xfrm>
          <a:prstGeom prst="rect">
            <a:avLst/>
          </a:prstGeom>
          <a:noFill/>
        </p:spPr>
        <p:txBody>
          <a:bodyPr wrap="none" rtlCol="0">
            <a:spAutoFit/>
          </a:bodyPr>
          <a:lstStyle/>
          <a:p>
            <a:r>
              <a:rPr lang="pt-BR" b="1" dirty="0"/>
              <a:t>25px (</a:t>
            </a:r>
            <a:r>
              <a:rPr lang="pt-BR" b="1" dirty="0" err="1"/>
              <a:t>padding</a:t>
            </a:r>
            <a:r>
              <a:rPr lang="pt-BR" b="1" dirty="0"/>
              <a:t>)</a:t>
            </a:r>
          </a:p>
        </p:txBody>
      </p:sp>
      <p:sp>
        <p:nvSpPr>
          <p:cNvPr id="17" name="CaixaDeTexto 16"/>
          <p:cNvSpPr txBox="1"/>
          <p:nvPr/>
        </p:nvSpPr>
        <p:spPr>
          <a:xfrm>
            <a:off x="7016598" y="3562130"/>
            <a:ext cx="1509901" cy="369332"/>
          </a:xfrm>
          <a:prstGeom prst="rect">
            <a:avLst/>
          </a:prstGeom>
          <a:noFill/>
        </p:spPr>
        <p:txBody>
          <a:bodyPr wrap="none" rtlCol="0">
            <a:spAutoFit/>
          </a:bodyPr>
          <a:lstStyle/>
          <a:p>
            <a:r>
              <a:rPr lang="pt-BR" b="1" dirty="0"/>
              <a:t>35px (</a:t>
            </a:r>
            <a:r>
              <a:rPr lang="pt-BR" b="1" dirty="0" err="1"/>
              <a:t>margin</a:t>
            </a:r>
            <a:r>
              <a:rPr lang="pt-BR" b="1" dirty="0"/>
              <a:t>)</a:t>
            </a:r>
          </a:p>
        </p:txBody>
      </p:sp>
      <p:sp>
        <p:nvSpPr>
          <p:cNvPr id="18" name="CaixaDeTexto 17"/>
          <p:cNvSpPr txBox="1"/>
          <p:nvPr/>
        </p:nvSpPr>
        <p:spPr>
          <a:xfrm>
            <a:off x="7016598" y="6454889"/>
            <a:ext cx="4112956" cy="369332"/>
          </a:xfrm>
          <a:prstGeom prst="rect">
            <a:avLst/>
          </a:prstGeom>
          <a:noFill/>
        </p:spPr>
        <p:txBody>
          <a:bodyPr wrap="square" rtlCol="0">
            <a:spAutoFit/>
          </a:bodyPr>
          <a:lstStyle/>
          <a:p>
            <a:pPr algn="ctr"/>
            <a:r>
              <a:rPr lang="pt-BR" b="1" dirty="0"/>
              <a:t>----------------  185px (</a:t>
            </a:r>
            <a:r>
              <a:rPr lang="pt-BR" b="1" dirty="0" err="1"/>
              <a:t>width</a:t>
            </a:r>
            <a:r>
              <a:rPr lang="pt-BR" b="1" dirty="0"/>
              <a:t>)  ----------------</a:t>
            </a:r>
          </a:p>
        </p:txBody>
      </p:sp>
      <p:sp>
        <p:nvSpPr>
          <p:cNvPr id="19" name="Retângulo 18"/>
          <p:cNvSpPr/>
          <p:nvPr/>
        </p:nvSpPr>
        <p:spPr>
          <a:xfrm>
            <a:off x="709749" y="406894"/>
            <a:ext cx="1390124" cy="369332"/>
          </a:xfrm>
          <a:prstGeom prst="rect">
            <a:avLst/>
          </a:prstGeom>
        </p:spPr>
        <p:txBody>
          <a:bodyPr wrap="none">
            <a:spAutoFit/>
          </a:bodyPr>
          <a:lstStyle/>
          <a:p>
            <a:r>
              <a:rPr lang="pt-BR" b="1" u="sng" dirty="0">
                <a:solidFill>
                  <a:srgbClr val="002060"/>
                </a:solidFill>
                <a:latin typeface="Arial" panose="020B0604020202020204" pitchFamily="34" charset="0"/>
                <a:cs typeface="Arial" panose="020B0604020202020204" pitchFamily="34" charset="0"/>
              </a:rPr>
              <a:t>EXEMPLO:</a:t>
            </a:r>
            <a:endParaRPr lang="pt-BR" b="1" u="sng" dirty="0">
              <a:solidFill>
                <a:srgbClr val="002060"/>
              </a:solidFill>
            </a:endParaRPr>
          </a:p>
        </p:txBody>
      </p:sp>
      <p:sp>
        <p:nvSpPr>
          <p:cNvPr id="3" name="Espaço Reservado para Número de Slide 2"/>
          <p:cNvSpPr>
            <a:spLocks noGrp="1"/>
          </p:cNvSpPr>
          <p:nvPr>
            <p:ph type="sldNum" sz="quarter" idx="12"/>
          </p:nvPr>
        </p:nvSpPr>
        <p:spPr/>
        <p:txBody>
          <a:bodyPr/>
          <a:lstStyle/>
          <a:p>
            <a:fld id="{8256F83C-9D86-480B-90E0-0702DBEB9457}" type="slidenum">
              <a:rPr lang="pt-BR" smtClean="0"/>
              <a:t>66</a:t>
            </a:fld>
            <a:endParaRPr lang="pt-BR"/>
          </a:p>
        </p:txBody>
      </p:sp>
    </p:spTree>
    <p:extLst>
      <p:ext uri="{BB962C8B-B14F-4D97-AF65-F5344CB8AC3E}">
        <p14:creationId xmlns:p14="http://schemas.microsoft.com/office/powerpoint/2010/main" val="29709776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606338" y="868910"/>
            <a:ext cx="5264331" cy="5632311"/>
          </a:xfrm>
          <a:prstGeom prst="rect">
            <a:avLst/>
          </a:prstGeom>
          <a:ln>
            <a:solidFill>
              <a:srgbClr val="FF0000"/>
            </a:solidFill>
          </a:ln>
        </p:spPr>
        <p:txBody>
          <a:bodyPr wrap="square">
            <a:spAutoFit/>
          </a:bodyPr>
          <a:lstStyle/>
          <a:p>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head</a:t>
            </a:r>
            <a:r>
              <a:rPr lang="pt-BR" b="1" dirty="0">
                <a:solidFill>
                  <a:srgbClr val="002060"/>
                </a:solidFill>
                <a:latin typeface="Consolas" panose="020B0609020204030204" pitchFamily="49" charset="0"/>
              </a:rPr>
              <a:t>&gt;</a:t>
            </a:r>
          </a:p>
          <a:p>
            <a:pPr lvl="1"/>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style</a:t>
            </a:r>
            <a:r>
              <a:rPr lang="pt-BR" b="1" dirty="0">
                <a:solidFill>
                  <a:srgbClr val="002060"/>
                </a:solidFill>
                <a:latin typeface="Consolas" panose="020B0609020204030204" pitchFamily="49" charset="0"/>
              </a:rPr>
              <a:t>&gt;</a:t>
            </a:r>
          </a:p>
          <a:p>
            <a:pPr lvl="2"/>
            <a:r>
              <a:rPr lang="pt-BR" b="1" dirty="0" err="1">
                <a:solidFill>
                  <a:srgbClr val="002060"/>
                </a:solidFill>
                <a:latin typeface="Consolas" panose="020B0609020204030204" pitchFamily="49" charset="0"/>
              </a:rPr>
              <a:t>body</a:t>
            </a:r>
            <a:r>
              <a:rPr lang="pt-BR" b="1" dirty="0">
                <a:solidFill>
                  <a:srgbClr val="002060"/>
                </a:solidFill>
                <a:latin typeface="Consolas" panose="020B0609020204030204" pitchFamily="49" charset="0"/>
              </a:rPr>
              <a:t> </a:t>
            </a:r>
          </a:p>
          <a:p>
            <a:pPr lvl="2"/>
            <a:r>
              <a:rPr lang="pt-BR" b="1" dirty="0">
                <a:solidFill>
                  <a:srgbClr val="002060"/>
                </a:solidFill>
                <a:latin typeface="Consolas" panose="020B0609020204030204" pitchFamily="49" charset="0"/>
              </a:rPr>
              <a:t>{</a:t>
            </a:r>
          </a:p>
          <a:p>
            <a:pPr lvl="1"/>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margin</a:t>
            </a:r>
            <a:r>
              <a:rPr lang="pt-BR" b="1" dirty="0">
                <a:solidFill>
                  <a:srgbClr val="002060"/>
                </a:solidFill>
                <a:latin typeface="Consolas" panose="020B0609020204030204" pitchFamily="49" charset="0"/>
              </a:rPr>
              <a:t>: 5px; </a:t>
            </a:r>
          </a:p>
          <a:p>
            <a:pPr lvl="2"/>
            <a:r>
              <a:rPr lang="pt-BR" b="1" dirty="0">
                <a:solidFill>
                  <a:srgbClr val="002060"/>
                </a:solidFill>
                <a:latin typeface="Consolas" panose="020B0609020204030204" pitchFamily="49" charset="0"/>
              </a:rPr>
              <a:t>} </a:t>
            </a:r>
          </a:p>
          <a:p>
            <a:pPr lvl="2"/>
            <a:r>
              <a:rPr lang="pt-BR" b="1" i="1" dirty="0">
                <a:solidFill>
                  <a:srgbClr val="002060"/>
                </a:solidFill>
                <a:latin typeface="Consolas" panose="020B0609020204030204" pitchFamily="49" charset="0"/>
              </a:rPr>
              <a:t>.box</a:t>
            </a:r>
            <a:r>
              <a:rPr lang="pt-BR" b="1" dirty="0">
                <a:solidFill>
                  <a:srgbClr val="002060"/>
                </a:solidFill>
                <a:latin typeface="Consolas" panose="020B0609020204030204" pitchFamily="49" charset="0"/>
              </a:rPr>
              <a:t> </a:t>
            </a:r>
          </a:p>
          <a:p>
            <a:pPr lvl="2"/>
            <a:r>
              <a:rPr lang="pt-BR" b="1" dirty="0">
                <a:solidFill>
                  <a:srgbClr val="002060"/>
                </a:solidFill>
                <a:latin typeface="Consolas" panose="020B0609020204030204" pitchFamily="49" charset="0"/>
              </a:rPr>
              <a:t>{</a:t>
            </a:r>
          </a:p>
          <a:p>
            <a:pPr lvl="3"/>
            <a:r>
              <a:rPr lang="pt-BR" b="1" dirty="0" err="1">
                <a:solidFill>
                  <a:srgbClr val="002060"/>
                </a:solidFill>
                <a:latin typeface="Consolas" panose="020B0609020204030204" pitchFamily="49" charset="0"/>
              </a:rPr>
              <a:t>border</a:t>
            </a:r>
            <a:r>
              <a:rPr lang="pt-BR" b="1" dirty="0">
                <a:solidFill>
                  <a:srgbClr val="002060"/>
                </a:solidFill>
                <a:latin typeface="Consolas" panose="020B0609020204030204" pitchFamily="49" charset="0"/>
              </a:rPr>
              <a:t>: 2px </a:t>
            </a:r>
            <a:r>
              <a:rPr lang="pt-BR" b="1" dirty="0" err="1">
                <a:solidFill>
                  <a:srgbClr val="002060"/>
                </a:solidFill>
                <a:latin typeface="Consolas" panose="020B0609020204030204" pitchFamily="49" charset="0"/>
              </a:rPr>
              <a:t>solid</a:t>
            </a:r>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black</a:t>
            </a:r>
            <a:r>
              <a:rPr lang="pt-BR" b="1" dirty="0">
                <a:solidFill>
                  <a:srgbClr val="002060"/>
                </a:solidFill>
                <a:latin typeface="Consolas" panose="020B0609020204030204" pitchFamily="49" charset="0"/>
              </a:rPr>
              <a:t>; </a:t>
            </a:r>
          </a:p>
          <a:p>
            <a:pPr lvl="3"/>
            <a:r>
              <a:rPr lang="pt-BR" b="1" dirty="0" err="1">
                <a:solidFill>
                  <a:srgbClr val="002060"/>
                </a:solidFill>
                <a:latin typeface="Consolas" panose="020B0609020204030204" pitchFamily="49" charset="0"/>
              </a:rPr>
              <a:t>margin</a:t>
            </a:r>
            <a:r>
              <a:rPr lang="pt-BR" b="1" dirty="0">
                <a:solidFill>
                  <a:srgbClr val="002060"/>
                </a:solidFill>
                <a:latin typeface="Consolas" panose="020B0609020204030204" pitchFamily="49" charset="0"/>
              </a:rPr>
              <a:t>: 50px </a:t>
            </a:r>
            <a:r>
              <a:rPr lang="pt-BR" b="1" dirty="0" err="1">
                <a:solidFill>
                  <a:srgbClr val="002060"/>
                </a:solidFill>
                <a:latin typeface="Consolas" panose="020B0609020204030204" pitchFamily="49" charset="0"/>
              </a:rPr>
              <a:t>50px</a:t>
            </a:r>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50px</a:t>
            </a:r>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50px</a:t>
            </a:r>
            <a:r>
              <a:rPr lang="pt-BR" b="1" dirty="0">
                <a:solidFill>
                  <a:srgbClr val="002060"/>
                </a:solidFill>
                <a:latin typeface="Consolas" panose="020B0609020204030204" pitchFamily="49" charset="0"/>
              </a:rPr>
              <a:t>; </a:t>
            </a:r>
          </a:p>
          <a:p>
            <a:pPr lvl="3"/>
            <a:r>
              <a:rPr lang="pt-BR" b="1" dirty="0" err="1">
                <a:solidFill>
                  <a:srgbClr val="002060"/>
                </a:solidFill>
                <a:latin typeface="Consolas" panose="020B0609020204030204" pitchFamily="49" charset="0"/>
              </a:rPr>
              <a:t>text-align</a:t>
            </a:r>
            <a:r>
              <a:rPr lang="pt-BR" b="1" dirty="0">
                <a:solidFill>
                  <a:srgbClr val="002060"/>
                </a:solidFill>
                <a:latin typeface="Consolas" panose="020B0609020204030204" pitchFamily="49" charset="0"/>
              </a:rPr>
              <a:t>: center; </a:t>
            </a:r>
          </a:p>
          <a:p>
            <a:pPr lvl="2"/>
            <a:r>
              <a:rPr lang="pt-BR" b="1" dirty="0">
                <a:solidFill>
                  <a:srgbClr val="002060"/>
                </a:solidFill>
                <a:latin typeface="Consolas" panose="020B0609020204030204" pitchFamily="49" charset="0"/>
              </a:rPr>
              <a:t>} </a:t>
            </a:r>
          </a:p>
          <a:p>
            <a:pPr lvl="1"/>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style</a:t>
            </a:r>
            <a:r>
              <a:rPr lang="pt-BR" b="1" dirty="0">
                <a:solidFill>
                  <a:srgbClr val="002060"/>
                </a:solidFill>
                <a:latin typeface="Consolas" panose="020B0609020204030204" pitchFamily="49" charset="0"/>
              </a:rPr>
              <a:t>&gt; </a:t>
            </a:r>
          </a:p>
          <a:p>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head</a:t>
            </a:r>
            <a:r>
              <a:rPr lang="pt-BR" b="1" dirty="0">
                <a:solidFill>
                  <a:srgbClr val="002060"/>
                </a:solidFill>
                <a:latin typeface="Consolas" panose="020B0609020204030204" pitchFamily="49" charset="0"/>
              </a:rPr>
              <a:t>&gt;</a:t>
            </a:r>
          </a:p>
          <a:p>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body</a:t>
            </a:r>
            <a:r>
              <a:rPr lang="pt-BR" b="1" dirty="0">
                <a:solidFill>
                  <a:srgbClr val="002060"/>
                </a:solidFill>
                <a:latin typeface="Consolas" panose="020B0609020204030204" pitchFamily="49" charset="0"/>
              </a:rPr>
              <a:t>&gt; </a:t>
            </a:r>
          </a:p>
          <a:p>
            <a:pPr lvl="1"/>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div</a:t>
            </a:r>
            <a:r>
              <a:rPr lang="pt-BR" b="1" dirty="0">
                <a:solidFill>
                  <a:srgbClr val="002060"/>
                </a:solidFill>
                <a:latin typeface="Consolas" panose="020B0609020204030204" pitchFamily="49" charset="0"/>
              </a:rPr>
              <a:t> </a:t>
            </a:r>
            <a:r>
              <a:rPr lang="pt-BR" b="1" i="1" dirty="0" err="1">
                <a:solidFill>
                  <a:srgbClr val="002060"/>
                </a:solidFill>
                <a:latin typeface="Consolas" panose="020B0609020204030204" pitchFamily="49" charset="0"/>
              </a:rPr>
              <a:t>class</a:t>
            </a:r>
            <a:r>
              <a:rPr lang="pt-BR" b="1" dirty="0">
                <a:solidFill>
                  <a:srgbClr val="002060"/>
                </a:solidFill>
                <a:latin typeface="Consolas" panose="020B0609020204030204" pitchFamily="49" charset="0"/>
              </a:rPr>
              <a:t>="box"&gt; </a:t>
            </a:r>
          </a:p>
          <a:p>
            <a:r>
              <a:rPr lang="pt-BR" b="1" dirty="0">
                <a:solidFill>
                  <a:srgbClr val="002060"/>
                </a:solidFill>
                <a:latin typeface="Consolas" panose="020B0609020204030204" pitchFamily="49" charset="0"/>
              </a:rPr>
              <a:t>	Informação dentro da caixa!</a:t>
            </a:r>
          </a:p>
          <a:p>
            <a:pPr lvl="1"/>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div</a:t>
            </a:r>
            <a:r>
              <a:rPr lang="pt-BR" b="1" dirty="0">
                <a:solidFill>
                  <a:srgbClr val="002060"/>
                </a:solidFill>
                <a:latin typeface="Consolas" panose="020B0609020204030204" pitchFamily="49" charset="0"/>
              </a:rPr>
              <a:t>&gt; </a:t>
            </a:r>
          </a:p>
          <a:p>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body</a:t>
            </a:r>
            <a:r>
              <a:rPr lang="pt-BR" b="1" dirty="0">
                <a:solidFill>
                  <a:srgbClr val="002060"/>
                </a:solidFill>
                <a:latin typeface="Consolas" panose="020B0609020204030204" pitchFamily="49" charset="0"/>
              </a:rPr>
              <a:t>&gt;</a:t>
            </a:r>
            <a:endParaRPr lang="pt-BR" b="1" dirty="0">
              <a:solidFill>
                <a:srgbClr val="002060"/>
              </a:solidFill>
              <a:effectLst/>
              <a:latin typeface="Consolas" panose="020B0609020204030204" pitchFamily="49" charset="0"/>
            </a:endParaRPr>
          </a:p>
        </p:txBody>
      </p:sp>
      <p:grpSp>
        <p:nvGrpSpPr>
          <p:cNvPr id="34" name="Agrupar 33"/>
          <p:cNvGrpSpPr/>
          <p:nvPr/>
        </p:nvGrpSpPr>
        <p:grpSpPr>
          <a:xfrm>
            <a:off x="6536084" y="1214902"/>
            <a:ext cx="4637808" cy="718719"/>
            <a:chOff x="6526013" y="939651"/>
            <a:chExt cx="4637808" cy="718719"/>
          </a:xfrm>
        </p:grpSpPr>
        <p:sp>
          <p:nvSpPr>
            <p:cNvPr id="23" name="Retângulo 22"/>
            <p:cNvSpPr/>
            <p:nvPr/>
          </p:nvSpPr>
          <p:spPr>
            <a:xfrm>
              <a:off x="6526013" y="939651"/>
              <a:ext cx="4637808" cy="369332"/>
            </a:xfrm>
            <a:prstGeom prst="rect">
              <a:avLst/>
            </a:prstGeom>
          </p:spPr>
          <p:txBody>
            <a:bodyPr wrap="none">
              <a:spAutoFit/>
            </a:bodyPr>
            <a:lstStyle/>
            <a:p>
              <a:r>
                <a:rPr lang="pt-BR" b="1" dirty="0" err="1">
                  <a:solidFill>
                    <a:srgbClr val="002060"/>
                  </a:solidFill>
                  <a:latin typeface="Consolas" panose="020B0609020204030204" pitchFamily="49" charset="0"/>
                </a:rPr>
                <a:t>margin</a:t>
              </a:r>
              <a:r>
                <a:rPr lang="pt-BR" b="1" dirty="0">
                  <a:solidFill>
                    <a:srgbClr val="002060"/>
                  </a:solidFill>
                  <a:latin typeface="Consolas" panose="020B0609020204030204" pitchFamily="49" charset="0"/>
                </a:rPr>
                <a:t>: 50px	50px	50px	50px; </a:t>
              </a:r>
            </a:p>
          </p:txBody>
        </p:sp>
        <p:sp>
          <p:nvSpPr>
            <p:cNvPr id="24" name="CaixaDeTexto 23"/>
            <p:cNvSpPr txBox="1"/>
            <p:nvPr/>
          </p:nvSpPr>
          <p:spPr>
            <a:xfrm>
              <a:off x="7629003" y="1289038"/>
              <a:ext cx="571182" cy="369332"/>
            </a:xfrm>
            <a:prstGeom prst="rect">
              <a:avLst/>
            </a:prstGeom>
            <a:noFill/>
          </p:spPr>
          <p:txBody>
            <a:bodyPr wrap="none" rtlCol="0">
              <a:spAutoFit/>
            </a:bodyPr>
            <a:lstStyle/>
            <a:p>
              <a:r>
                <a:rPr lang="pt-BR" b="1" dirty="0">
                  <a:solidFill>
                    <a:srgbClr val="FF0000"/>
                  </a:solidFill>
                </a:rPr>
                <a:t>TOP</a:t>
              </a:r>
            </a:p>
          </p:txBody>
        </p:sp>
        <p:sp>
          <p:nvSpPr>
            <p:cNvPr id="25" name="CaixaDeTexto 24"/>
            <p:cNvSpPr txBox="1"/>
            <p:nvPr/>
          </p:nvSpPr>
          <p:spPr>
            <a:xfrm>
              <a:off x="8322797" y="1284021"/>
              <a:ext cx="782587" cy="369332"/>
            </a:xfrm>
            <a:prstGeom prst="rect">
              <a:avLst/>
            </a:prstGeom>
            <a:noFill/>
          </p:spPr>
          <p:txBody>
            <a:bodyPr wrap="none" rtlCol="0">
              <a:spAutoFit/>
            </a:bodyPr>
            <a:lstStyle/>
            <a:p>
              <a:r>
                <a:rPr lang="pt-BR" b="1" dirty="0">
                  <a:solidFill>
                    <a:srgbClr val="FF0000"/>
                  </a:solidFill>
                </a:rPr>
                <a:t>RIGHT</a:t>
              </a:r>
            </a:p>
          </p:txBody>
        </p:sp>
        <p:sp>
          <p:nvSpPr>
            <p:cNvPr id="26" name="CaixaDeTexto 25"/>
            <p:cNvSpPr txBox="1"/>
            <p:nvPr/>
          </p:nvSpPr>
          <p:spPr>
            <a:xfrm>
              <a:off x="10247857" y="1267995"/>
              <a:ext cx="614271" cy="369332"/>
            </a:xfrm>
            <a:prstGeom prst="rect">
              <a:avLst/>
            </a:prstGeom>
            <a:noFill/>
          </p:spPr>
          <p:txBody>
            <a:bodyPr wrap="none" rtlCol="0">
              <a:spAutoFit/>
            </a:bodyPr>
            <a:lstStyle/>
            <a:p>
              <a:r>
                <a:rPr lang="pt-BR" b="1" dirty="0">
                  <a:solidFill>
                    <a:srgbClr val="FF0000"/>
                  </a:solidFill>
                </a:rPr>
                <a:t>LEFT</a:t>
              </a:r>
            </a:p>
          </p:txBody>
        </p:sp>
        <p:sp>
          <p:nvSpPr>
            <p:cNvPr id="27" name="CaixaDeTexto 26"/>
            <p:cNvSpPr txBox="1"/>
            <p:nvPr/>
          </p:nvSpPr>
          <p:spPr>
            <a:xfrm>
              <a:off x="9153304" y="1267995"/>
              <a:ext cx="1046633" cy="369332"/>
            </a:xfrm>
            <a:prstGeom prst="rect">
              <a:avLst/>
            </a:prstGeom>
            <a:noFill/>
          </p:spPr>
          <p:txBody>
            <a:bodyPr wrap="none" rtlCol="0">
              <a:spAutoFit/>
            </a:bodyPr>
            <a:lstStyle/>
            <a:p>
              <a:r>
                <a:rPr lang="pt-BR" b="1" dirty="0">
                  <a:solidFill>
                    <a:srgbClr val="FF0000"/>
                  </a:solidFill>
                </a:rPr>
                <a:t>BOTTOM</a:t>
              </a:r>
            </a:p>
          </p:txBody>
        </p:sp>
      </p:grpSp>
      <p:grpSp>
        <p:nvGrpSpPr>
          <p:cNvPr id="35" name="Agrupar 34"/>
          <p:cNvGrpSpPr/>
          <p:nvPr/>
        </p:nvGrpSpPr>
        <p:grpSpPr>
          <a:xfrm>
            <a:off x="5557158" y="2351314"/>
            <a:ext cx="6634842" cy="2302329"/>
            <a:chOff x="5557158" y="2351314"/>
            <a:chExt cx="6634842" cy="2302329"/>
          </a:xfrm>
        </p:grpSpPr>
        <p:grpSp>
          <p:nvGrpSpPr>
            <p:cNvPr id="22" name="Agrupar 21"/>
            <p:cNvGrpSpPr/>
            <p:nvPr/>
          </p:nvGrpSpPr>
          <p:grpSpPr>
            <a:xfrm>
              <a:off x="5557158" y="2351314"/>
              <a:ext cx="6601640" cy="2302329"/>
              <a:chOff x="5557158" y="2351314"/>
              <a:chExt cx="6601640" cy="2302329"/>
            </a:xfrm>
          </p:grpSpPr>
          <p:pic>
            <p:nvPicPr>
              <p:cNvPr id="3" name="Imagem 2"/>
              <p:cNvPicPr>
                <a:picLocks noChangeAspect="1"/>
              </p:cNvPicPr>
              <p:nvPr/>
            </p:nvPicPr>
            <p:blipFill>
              <a:blip r:embed="rId2"/>
              <a:stretch>
                <a:fillRect/>
              </a:stretch>
            </p:blipFill>
            <p:spPr>
              <a:xfrm>
                <a:off x="5583284" y="2351314"/>
                <a:ext cx="6523266" cy="2302329"/>
              </a:xfrm>
              <a:prstGeom prst="rect">
                <a:avLst/>
              </a:prstGeom>
            </p:spPr>
          </p:pic>
          <p:cxnSp>
            <p:nvCxnSpPr>
              <p:cNvPr id="5" name="Conector de Seta Reta 4"/>
              <p:cNvCxnSpPr/>
              <p:nvPr/>
            </p:nvCxnSpPr>
            <p:spPr>
              <a:xfrm flipV="1">
                <a:off x="8844917" y="3108961"/>
                <a:ext cx="0" cy="576104"/>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Conector de Seta Reta 6"/>
              <p:cNvCxnSpPr/>
              <p:nvPr/>
            </p:nvCxnSpPr>
            <p:spPr>
              <a:xfrm flipH="1">
                <a:off x="5570225" y="3762101"/>
                <a:ext cx="673822" cy="1339"/>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Conector de Seta Reta 16"/>
              <p:cNvCxnSpPr/>
              <p:nvPr/>
            </p:nvCxnSpPr>
            <p:spPr>
              <a:xfrm flipH="1">
                <a:off x="11469189" y="3760762"/>
                <a:ext cx="637361" cy="1339"/>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CaixaDeTexto 18"/>
              <p:cNvSpPr txBox="1"/>
              <p:nvPr/>
            </p:nvSpPr>
            <p:spPr>
              <a:xfrm>
                <a:off x="9000308" y="3212347"/>
                <a:ext cx="643766" cy="369332"/>
              </a:xfrm>
              <a:prstGeom prst="rect">
                <a:avLst/>
              </a:prstGeom>
              <a:noFill/>
            </p:spPr>
            <p:txBody>
              <a:bodyPr wrap="none" rtlCol="0">
                <a:spAutoFit/>
              </a:bodyPr>
              <a:lstStyle/>
              <a:p>
                <a:r>
                  <a:rPr lang="pt-BR" b="1" dirty="0">
                    <a:solidFill>
                      <a:srgbClr val="FF0000"/>
                    </a:solidFill>
                  </a:rPr>
                  <a:t>50px</a:t>
                </a:r>
              </a:p>
            </p:txBody>
          </p:sp>
          <p:sp>
            <p:nvSpPr>
              <p:cNvPr id="20" name="CaixaDeTexto 19"/>
              <p:cNvSpPr txBox="1"/>
              <p:nvPr/>
            </p:nvSpPr>
            <p:spPr>
              <a:xfrm>
                <a:off x="11515032" y="3798610"/>
                <a:ext cx="643766" cy="369332"/>
              </a:xfrm>
              <a:prstGeom prst="rect">
                <a:avLst/>
              </a:prstGeom>
              <a:noFill/>
            </p:spPr>
            <p:txBody>
              <a:bodyPr wrap="none" rtlCol="0">
                <a:spAutoFit/>
              </a:bodyPr>
              <a:lstStyle/>
              <a:p>
                <a:r>
                  <a:rPr lang="pt-BR" b="1" dirty="0">
                    <a:solidFill>
                      <a:srgbClr val="FF0000"/>
                    </a:solidFill>
                  </a:rPr>
                  <a:t>50px</a:t>
                </a:r>
              </a:p>
            </p:txBody>
          </p:sp>
          <p:sp>
            <p:nvSpPr>
              <p:cNvPr id="21" name="CaixaDeTexto 20"/>
              <p:cNvSpPr txBox="1"/>
              <p:nvPr/>
            </p:nvSpPr>
            <p:spPr>
              <a:xfrm>
                <a:off x="5557158" y="3798610"/>
                <a:ext cx="643766" cy="369332"/>
              </a:xfrm>
              <a:prstGeom prst="rect">
                <a:avLst/>
              </a:prstGeom>
              <a:noFill/>
            </p:spPr>
            <p:txBody>
              <a:bodyPr wrap="none" rtlCol="0">
                <a:spAutoFit/>
              </a:bodyPr>
              <a:lstStyle/>
              <a:p>
                <a:r>
                  <a:rPr lang="pt-BR" b="1" dirty="0">
                    <a:solidFill>
                      <a:srgbClr val="FF0000"/>
                    </a:solidFill>
                  </a:rPr>
                  <a:t>50px</a:t>
                </a:r>
              </a:p>
            </p:txBody>
          </p:sp>
        </p:grpSp>
        <p:sp>
          <p:nvSpPr>
            <p:cNvPr id="28" name="CaixaDeTexto 27"/>
            <p:cNvSpPr txBox="1"/>
            <p:nvPr/>
          </p:nvSpPr>
          <p:spPr>
            <a:xfrm>
              <a:off x="8137006" y="3212347"/>
              <a:ext cx="571182" cy="369332"/>
            </a:xfrm>
            <a:prstGeom prst="rect">
              <a:avLst/>
            </a:prstGeom>
            <a:noFill/>
          </p:spPr>
          <p:txBody>
            <a:bodyPr wrap="none" rtlCol="0">
              <a:spAutoFit/>
            </a:bodyPr>
            <a:lstStyle/>
            <a:p>
              <a:r>
                <a:rPr lang="pt-BR" b="1" dirty="0">
                  <a:solidFill>
                    <a:srgbClr val="FF0000"/>
                  </a:solidFill>
                </a:rPr>
                <a:t>TOP</a:t>
              </a:r>
            </a:p>
          </p:txBody>
        </p:sp>
        <p:sp>
          <p:nvSpPr>
            <p:cNvPr id="29" name="CaixaDeTexto 28"/>
            <p:cNvSpPr txBox="1"/>
            <p:nvPr/>
          </p:nvSpPr>
          <p:spPr>
            <a:xfrm>
              <a:off x="11409413" y="4106756"/>
              <a:ext cx="782587" cy="369332"/>
            </a:xfrm>
            <a:prstGeom prst="rect">
              <a:avLst/>
            </a:prstGeom>
            <a:noFill/>
          </p:spPr>
          <p:txBody>
            <a:bodyPr wrap="none" rtlCol="0">
              <a:spAutoFit/>
            </a:bodyPr>
            <a:lstStyle/>
            <a:p>
              <a:r>
                <a:rPr lang="pt-BR" b="1" dirty="0">
                  <a:solidFill>
                    <a:srgbClr val="FF0000"/>
                  </a:solidFill>
                </a:rPr>
                <a:t>RIGHT</a:t>
              </a:r>
            </a:p>
          </p:txBody>
        </p:sp>
        <p:sp>
          <p:nvSpPr>
            <p:cNvPr id="30" name="CaixaDeTexto 29"/>
            <p:cNvSpPr txBox="1"/>
            <p:nvPr/>
          </p:nvSpPr>
          <p:spPr>
            <a:xfrm>
              <a:off x="5610351" y="4108687"/>
              <a:ext cx="614271" cy="369332"/>
            </a:xfrm>
            <a:prstGeom prst="rect">
              <a:avLst/>
            </a:prstGeom>
            <a:noFill/>
          </p:spPr>
          <p:txBody>
            <a:bodyPr wrap="none" rtlCol="0">
              <a:spAutoFit/>
            </a:bodyPr>
            <a:lstStyle/>
            <a:p>
              <a:r>
                <a:rPr lang="pt-BR" b="1" dirty="0">
                  <a:solidFill>
                    <a:srgbClr val="FF0000"/>
                  </a:solidFill>
                </a:rPr>
                <a:t>LEFT</a:t>
              </a:r>
            </a:p>
          </p:txBody>
        </p:sp>
        <p:sp>
          <p:nvSpPr>
            <p:cNvPr id="31" name="CaixaDeTexto 30"/>
            <p:cNvSpPr txBox="1"/>
            <p:nvPr/>
          </p:nvSpPr>
          <p:spPr>
            <a:xfrm>
              <a:off x="7770384" y="3983276"/>
              <a:ext cx="1046633" cy="369332"/>
            </a:xfrm>
            <a:prstGeom prst="rect">
              <a:avLst/>
            </a:prstGeom>
            <a:noFill/>
          </p:spPr>
          <p:txBody>
            <a:bodyPr wrap="none" rtlCol="0">
              <a:spAutoFit/>
            </a:bodyPr>
            <a:lstStyle/>
            <a:p>
              <a:r>
                <a:rPr lang="pt-BR" b="1" dirty="0">
                  <a:solidFill>
                    <a:srgbClr val="FF0000"/>
                  </a:solidFill>
                </a:rPr>
                <a:t>BOTTOM</a:t>
              </a:r>
            </a:p>
          </p:txBody>
        </p:sp>
        <p:cxnSp>
          <p:nvCxnSpPr>
            <p:cNvPr id="32" name="Conector de Seta Reta 31"/>
            <p:cNvCxnSpPr/>
            <p:nvPr/>
          </p:nvCxnSpPr>
          <p:spPr>
            <a:xfrm flipV="1">
              <a:off x="8854988" y="3879890"/>
              <a:ext cx="0" cy="576104"/>
            </a:xfrm>
            <a:prstGeom prst="straightConnector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CaixaDeTexto 32"/>
            <p:cNvSpPr txBox="1"/>
            <p:nvPr/>
          </p:nvSpPr>
          <p:spPr>
            <a:xfrm>
              <a:off x="9000308" y="3983276"/>
              <a:ext cx="643766" cy="369332"/>
            </a:xfrm>
            <a:prstGeom prst="rect">
              <a:avLst/>
            </a:prstGeom>
            <a:noFill/>
          </p:spPr>
          <p:txBody>
            <a:bodyPr wrap="none" rtlCol="0">
              <a:spAutoFit/>
            </a:bodyPr>
            <a:lstStyle/>
            <a:p>
              <a:r>
                <a:rPr lang="pt-BR" b="1" dirty="0">
                  <a:solidFill>
                    <a:srgbClr val="FF0000"/>
                  </a:solidFill>
                </a:rPr>
                <a:t>50px</a:t>
              </a:r>
            </a:p>
          </p:txBody>
        </p:sp>
      </p:grpSp>
      <p:sp>
        <p:nvSpPr>
          <p:cNvPr id="36" name="CaixaDeTexto 35"/>
          <p:cNvSpPr txBox="1"/>
          <p:nvPr/>
        </p:nvSpPr>
        <p:spPr>
          <a:xfrm>
            <a:off x="640081" y="249968"/>
            <a:ext cx="10907486" cy="569387"/>
          </a:xfrm>
          <a:prstGeom prst="rect">
            <a:avLst/>
          </a:prstGeom>
          <a:noFill/>
        </p:spPr>
        <p:txBody>
          <a:bodyPr wrap="square" rtlCol="0">
            <a:spAutoFit/>
          </a:bodyPr>
          <a:lstStyle/>
          <a:p>
            <a:pPr algn="ctr"/>
            <a:r>
              <a:rPr lang="pt-BR" sz="3100" b="1" u="sng" dirty="0">
                <a:solidFill>
                  <a:srgbClr val="002060"/>
                </a:solidFill>
                <a:latin typeface="Arial" panose="020B0604020202020204" pitchFamily="34" charset="0"/>
                <a:cs typeface="Arial" panose="020B0604020202020204" pitchFamily="34" charset="0"/>
              </a:rPr>
              <a:t>Posicionamento de uma caixa - distanciamento</a:t>
            </a:r>
          </a:p>
        </p:txBody>
      </p:sp>
      <p:sp>
        <p:nvSpPr>
          <p:cNvPr id="4" name="Espaço Reservado para Número de Slide 3"/>
          <p:cNvSpPr>
            <a:spLocks noGrp="1"/>
          </p:cNvSpPr>
          <p:nvPr>
            <p:ph type="sldNum" sz="quarter" idx="12"/>
          </p:nvPr>
        </p:nvSpPr>
        <p:spPr/>
        <p:txBody>
          <a:bodyPr/>
          <a:lstStyle/>
          <a:p>
            <a:fld id="{8256F83C-9D86-480B-90E0-0702DBEB9457}" type="slidenum">
              <a:rPr lang="pt-BR" smtClean="0"/>
              <a:t>67</a:t>
            </a:fld>
            <a:endParaRPr lang="pt-BR"/>
          </a:p>
        </p:txBody>
      </p:sp>
    </p:spTree>
    <p:extLst>
      <p:ext uri="{BB962C8B-B14F-4D97-AF65-F5344CB8AC3E}">
        <p14:creationId xmlns:p14="http://schemas.microsoft.com/office/powerpoint/2010/main" val="8421919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p:cNvSpPr txBox="1"/>
          <p:nvPr/>
        </p:nvSpPr>
        <p:spPr>
          <a:xfrm>
            <a:off x="640081" y="249968"/>
            <a:ext cx="10907486" cy="569387"/>
          </a:xfrm>
          <a:prstGeom prst="rect">
            <a:avLst/>
          </a:prstGeom>
          <a:noFill/>
        </p:spPr>
        <p:txBody>
          <a:bodyPr wrap="square" rtlCol="0">
            <a:spAutoFit/>
          </a:bodyPr>
          <a:lstStyle/>
          <a:p>
            <a:pPr algn="ctr"/>
            <a:r>
              <a:rPr lang="pt-BR" sz="3100" b="1" u="sng" dirty="0">
                <a:solidFill>
                  <a:srgbClr val="002060"/>
                </a:solidFill>
                <a:latin typeface="Arial" panose="020B0604020202020204" pitchFamily="34" charset="0"/>
                <a:cs typeface="Arial" panose="020B0604020202020204" pitchFamily="34" charset="0"/>
              </a:rPr>
              <a:t>Blocos ou elementos em linha</a:t>
            </a:r>
          </a:p>
        </p:txBody>
      </p:sp>
      <p:grpSp>
        <p:nvGrpSpPr>
          <p:cNvPr id="33" name="Agrupar 32"/>
          <p:cNvGrpSpPr/>
          <p:nvPr/>
        </p:nvGrpSpPr>
        <p:grpSpPr>
          <a:xfrm>
            <a:off x="640085" y="912761"/>
            <a:ext cx="11547566" cy="5466061"/>
            <a:chOff x="0" y="912761"/>
            <a:chExt cx="11547566" cy="5466061"/>
          </a:xfrm>
        </p:grpSpPr>
        <p:sp>
          <p:nvSpPr>
            <p:cNvPr id="4" name="Retângulo 3"/>
            <p:cNvSpPr/>
            <p:nvPr/>
          </p:nvSpPr>
          <p:spPr>
            <a:xfrm>
              <a:off x="640081" y="912761"/>
              <a:ext cx="10907485" cy="461665"/>
            </a:xfrm>
            <a:prstGeom prst="rect">
              <a:avLst/>
            </a:prstGeom>
          </p:spPr>
          <p:txBody>
            <a:bodyPr wrap="square">
              <a:spAutoFit/>
            </a:bodyPr>
            <a:lstStyle/>
            <a:p>
              <a:pPr algn="just"/>
              <a:r>
                <a:rPr lang="pt-BR" sz="2400" dirty="0">
                  <a:solidFill>
                    <a:srgbClr val="002060"/>
                  </a:solidFill>
                  <a:latin typeface="Arial" panose="020B0604020202020204" pitchFamily="34" charset="0"/>
                  <a:cs typeface="Arial" panose="020B0604020202020204" pitchFamily="34" charset="0"/>
                </a:rPr>
                <a:t>Criar uma lista de itens desordenados em linha:</a:t>
              </a:r>
            </a:p>
          </p:txBody>
        </p:sp>
        <p:sp>
          <p:nvSpPr>
            <p:cNvPr id="2" name="Retângulo 1"/>
            <p:cNvSpPr/>
            <p:nvPr/>
          </p:nvSpPr>
          <p:spPr>
            <a:xfrm>
              <a:off x="0" y="1467832"/>
              <a:ext cx="5747656" cy="4801314"/>
            </a:xfrm>
            <a:prstGeom prst="rect">
              <a:avLst/>
            </a:prstGeom>
          </p:spPr>
          <p:txBody>
            <a:bodyPr wrap="square">
              <a:spAutoFit/>
            </a:bodyPr>
            <a:lstStyle/>
            <a:p>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style</a:t>
              </a:r>
              <a:r>
                <a:rPr lang="pt-BR" b="1" dirty="0">
                  <a:solidFill>
                    <a:srgbClr val="002060"/>
                  </a:solidFill>
                  <a:latin typeface="Consolas" panose="020B0609020204030204" pitchFamily="49" charset="0"/>
                </a:rPr>
                <a:t>&gt;</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ul</a:t>
              </a:r>
              <a:r>
                <a:rPr lang="pt-BR" b="1" dirty="0">
                  <a:solidFill>
                    <a:srgbClr val="002060"/>
                  </a:solidFill>
                  <a:latin typeface="Consolas" panose="020B0609020204030204" pitchFamily="49" charset="0"/>
                </a:rPr>
                <a:t> </a:t>
              </a:r>
            </a:p>
            <a:p>
              <a:r>
                <a:rPr lang="pt-BR" b="1" dirty="0">
                  <a:solidFill>
                    <a:srgbClr val="002060"/>
                  </a:solidFill>
                  <a:latin typeface="Consolas" panose="020B0609020204030204" pitchFamily="49" charset="0"/>
                </a:rPr>
                <a:t>    { </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padding</a:t>
              </a:r>
              <a:r>
                <a:rPr lang="pt-BR" b="1" dirty="0">
                  <a:solidFill>
                    <a:srgbClr val="002060"/>
                  </a:solidFill>
                  <a:latin typeface="Consolas" panose="020B0609020204030204" pitchFamily="49" charset="0"/>
                </a:rPr>
                <a:t>: 10px; </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list-style</a:t>
              </a:r>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none</a:t>
              </a:r>
              <a:r>
                <a:rPr lang="pt-BR" b="1" dirty="0">
                  <a:solidFill>
                    <a:srgbClr val="002060"/>
                  </a:solidFill>
                  <a:latin typeface="Consolas" panose="020B0609020204030204" pitchFamily="49" charset="0"/>
                </a:rPr>
                <a:t>;</a:t>
              </a:r>
            </a:p>
            <a:p>
              <a:r>
                <a:rPr lang="pt-BR" b="1" dirty="0">
                  <a:solidFill>
                    <a:srgbClr val="002060"/>
                  </a:solidFill>
                  <a:latin typeface="Consolas" panose="020B0609020204030204" pitchFamily="49" charset="0"/>
                </a:rPr>
                <a:t>    } </a:t>
              </a:r>
            </a:p>
            <a:p>
              <a:r>
                <a:rPr lang="pt-BR" b="1" dirty="0">
                  <a:solidFill>
                    <a:srgbClr val="002060"/>
                  </a:solidFill>
                  <a:latin typeface="Consolas" panose="020B0609020204030204" pitchFamily="49" charset="0"/>
                </a:rPr>
                <a:t>    li </a:t>
              </a:r>
            </a:p>
            <a:p>
              <a:r>
                <a:rPr lang="pt-BR" b="1" dirty="0">
                  <a:solidFill>
                    <a:srgbClr val="002060"/>
                  </a:solidFill>
                  <a:latin typeface="Consolas" panose="020B0609020204030204" pitchFamily="49" charset="0"/>
                </a:rPr>
                <a:t>    {</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border</a:t>
              </a:r>
              <a:r>
                <a:rPr lang="pt-BR" b="1" dirty="0">
                  <a:solidFill>
                    <a:srgbClr val="002060"/>
                  </a:solidFill>
                  <a:latin typeface="Consolas" panose="020B0609020204030204" pitchFamily="49" charset="0"/>
                </a:rPr>
                <a:t>: 2px </a:t>
              </a:r>
              <a:r>
                <a:rPr lang="pt-BR" b="1" dirty="0" err="1">
                  <a:solidFill>
                    <a:srgbClr val="002060"/>
                  </a:solidFill>
                  <a:latin typeface="Consolas" panose="020B0609020204030204" pitchFamily="49" charset="0"/>
                </a:rPr>
                <a:t>solid</a:t>
              </a:r>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bbb</a:t>
              </a:r>
              <a:r>
                <a:rPr lang="pt-BR" b="1" dirty="0">
                  <a:solidFill>
                    <a:srgbClr val="002060"/>
                  </a:solidFill>
                  <a:latin typeface="Consolas" panose="020B0609020204030204" pitchFamily="49" charset="0"/>
                </a:rPr>
                <a:t>; </a:t>
              </a:r>
            </a:p>
            <a:p>
              <a:r>
                <a:rPr lang="pt-BR" b="1" dirty="0">
                  <a:solidFill>
                    <a:srgbClr val="002060"/>
                  </a:solidFill>
                  <a:latin typeface="Consolas" panose="020B0609020204030204" pitchFamily="49" charset="0"/>
                </a:rPr>
                <a:t>        display: </a:t>
              </a:r>
              <a:r>
                <a:rPr lang="pt-BR" b="1" dirty="0" err="1">
                  <a:solidFill>
                    <a:srgbClr val="002060"/>
                  </a:solidFill>
                  <a:latin typeface="Consolas" panose="020B0609020204030204" pitchFamily="49" charset="0"/>
                </a:rPr>
                <a:t>inline</a:t>
              </a:r>
              <a:r>
                <a:rPr lang="pt-BR" b="1" dirty="0">
                  <a:solidFill>
                    <a:srgbClr val="002060"/>
                  </a:solidFill>
                  <a:latin typeface="Consolas" panose="020B0609020204030204" pitchFamily="49" charset="0"/>
                </a:rPr>
                <a:t>; </a:t>
              </a:r>
            </a:p>
            <a:p>
              <a:r>
                <a:rPr lang="pt-BR" b="1" dirty="0">
                  <a:solidFill>
                    <a:srgbClr val="002060"/>
                  </a:solidFill>
                  <a:latin typeface="Consolas" panose="020B0609020204030204" pitchFamily="49" charset="0"/>
                </a:rPr>
                <a:t>        background-color: </a:t>
              </a:r>
              <a:r>
                <a:rPr lang="pt-BR" b="1" dirty="0" err="1">
                  <a:solidFill>
                    <a:srgbClr val="002060"/>
                  </a:solidFill>
                  <a:latin typeface="Consolas" panose="020B0609020204030204" pitchFamily="49" charset="0"/>
                </a:rPr>
                <a:t>rgb</a:t>
              </a:r>
              <a:r>
                <a:rPr lang="pt-BR" b="1" dirty="0">
                  <a:solidFill>
                    <a:srgbClr val="002060"/>
                  </a:solidFill>
                  <a:latin typeface="Consolas" panose="020B0609020204030204" pitchFamily="49" charset="0"/>
                </a:rPr>
                <a:t>(220,224,235); </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margin-right</a:t>
              </a:r>
              <a:r>
                <a:rPr lang="pt-BR" b="1" dirty="0">
                  <a:solidFill>
                    <a:srgbClr val="002060"/>
                  </a:solidFill>
                  <a:latin typeface="Consolas" panose="020B0609020204030204" pitchFamily="49" charset="0"/>
                </a:rPr>
                <a:t>: 25px; </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text-align</a:t>
              </a:r>
              <a:r>
                <a:rPr lang="pt-BR" b="1" dirty="0">
                  <a:solidFill>
                    <a:srgbClr val="002060"/>
                  </a:solidFill>
                  <a:latin typeface="Consolas" panose="020B0609020204030204" pitchFamily="49" charset="0"/>
                </a:rPr>
                <a:t>: center; </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padding-left</a:t>
              </a:r>
              <a:r>
                <a:rPr lang="pt-BR" b="1" dirty="0">
                  <a:solidFill>
                    <a:srgbClr val="002060"/>
                  </a:solidFill>
                  <a:latin typeface="Consolas" panose="020B0609020204030204" pitchFamily="49" charset="0"/>
                </a:rPr>
                <a:t>: 45px; </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padding-right</a:t>
              </a:r>
              <a:r>
                <a:rPr lang="pt-BR" b="1" dirty="0">
                  <a:solidFill>
                    <a:srgbClr val="002060"/>
                  </a:solidFill>
                  <a:latin typeface="Consolas" panose="020B0609020204030204" pitchFamily="49" charset="0"/>
                </a:rPr>
                <a:t>: 65px;</a:t>
              </a:r>
            </a:p>
            <a:p>
              <a:r>
                <a:rPr lang="pt-BR" b="1" dirty="0">
                  <a:solidFill>
                    <a:srgbClr val="002060"/>
                  </a:solidFill>
                  <a:latin typeface="Consolas" panose="020B0609020204030204" pitchFamily="49" charset="0"/>
                </a:rPr>
                <a:t>    } </a:t>
              </a:r>
            </a:p>
            <a:p>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style</a:t>
              </a:r>
              <a:r>
                <a:rPr lang="pt-BR" b="1" dirty="0">
                  <a:solidFill>
                    <a:srgbClr val="002060"/>
                  </a:solidFill>
                  <a:latin typeface="Consolas" panose="020B0609020204030204" pitchFamily="49" charset="0"/>
                </a:rPr>
                <a:t>&gt;</a:t>
              </a:r>
            </a:p>
          </p:txBody>
        </p:sp>
        <p:sp>
          <p:nvSpPr>
            <p:cNvPr id="5" name="Retângulo 4"/>
            <p:cNvSpPr/>
            <p:nvPr/>
          </p:nvSpPr>
          <p:spPr>
            <a:xfrm>
              <a:off x="6826635" y="1467832"/>
              <a:ext cx="4127863" cy="2031325"/>
            </a:xfrm>
            <a:prstGeom prst="rect">
              <a:avLst/>
            </a:prstGeom>
          </p:spPr>
          <p:txBody>
            <a:bodyPr wrap="square">
              <a:spAutoFit/>
            </a:bodyPr>
            <a:lstStyle/>
            <a:p>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body</a:t>
              </a:r>
              <a:r>
                <a:rPr lang="pt-BR" b="1" dirty="0">
                  <a:solidFill>
                    <a:srgbClr val="002060"/>
                  </a:solidFill>
                  <a:latin typeface="Consolas" panose="020B0609020204030204" pitchFamily="49" charset="0"/>
                </a:rPr>
                <a:t>&gt;</a:t>
              </a: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ul</a:t>
              </a:r>
              <a:r>
                <a:rPr lang="pt-BR" b="1" dirty="0">
                  <a:solidFill>
                    <a:srgbClr val="002060"/>
                  </a:solidFill>
                  <a:latin typeface="Consolas" panose="020B0609020204030204" pitchFamily="49" charset="0"/>
                </a:rPr>
                <a:t>&gt;</a:t>
              </a:r>
            </a:p>
            <a:p>
              <a:r>
                <a:rPr lang="pt-BR" b="1" dirty="0">
                  <a:solidFill>
                    <a:srgbClr val="002060"/>
                  </a:solidFill>
                  <a:latin typeface="Consolas" panose="020B0609020204030204" pitchFamily="49" charset="0"/>
                </a:rPr>
                <a:t>       &lt;li&gt;PRODUTO 1&lt;/li&gt;</a:t>
              </a:r>
            </a:p>
            <a:p>
              <a:r>
                <a:rPr lang="pt-BR" b="1" dirty="0">
                  <a:solidFill>
                    <a:srgbClr val="002060"/>
                  </a:solidFill>
                  <a:latin typeface="Consolas" panose="020B0609020204030204" pitchFamily="49" charset="0"/>
                </a:rPr>
                <a:t>       &lt;li&gt;PRODUTO 2&lt;/li&gt;</a:t>
              </a:r>
            </a:p>
            <a:p>
              <a:r>
                <a:rPr lang="pt-BR" b="1" dirty="0">
                  <a:solidFill>
                    <a:srgbClr val="002060"/>
                  </a:solidFill>
                  <a:latin typeface="Consolas" panose="020B0609020204030204" pitchFamily="49" charset="0"/>
                </a:rPr>
                <a:t>       &lt;li&gt;PRODUTO 3&lt;/li&gt;</a:t>
              </a: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ul</a:t>
              </a:r>
              <a:r>
                <a:rPr lang="pt-BR" b="1" dirty="0">
                  <a:solidFill>
                    <a:srgbClr val="002060"/>
                  </a:solidFill>
                  <a:latin typeface="Consolas" panose="020B0609020204030204" pitchFamily="49" charset="0"/>
                </a:rPr>
                <a:t>&gt;</a:t>
              </a:r>
            </a:p>
            <a:p>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body</a:t>
              </a:r>
              <a:r>
                <a:rPr lang="pt-BR" b="1" dirty="0">
                  <a:solidFill>
                    <a:srgbClr val="002060"/>
                  </a:solidFill>
                  <a:latin typeface="Consolas" panose="020B0609020204030204" pitchFamily="49" charset="0"/>
                </a:rPr>
                <a:t>&gt;</a:t>
              </a:r>
            </a:p>
          </p:txBody>
        </p:sp>
        <p:pic>
          <p:nvPicPr>
            <p:cNvPr id="8" name="Imagem 7"/>
            <p:cNvPicPr>
              <a:picLocks noChangeAspect="1"/>
            </p:cNvPicPr>
            <p:nvPr/>
          </p:nvPicPr>
          <p:blipFill>
            <a:blip r:embed="rId2"/>
            <a:stretch>
              <a:fillRect/>
            </a:stretch>
          </p:blipFill>
          <p:spPr>
            <a:xfrm>
              <a:off x="4150107" y="4872598"/>
              <a:ext cx="6562725" cy="1219200"/>
            </a:xfrm>
            <a:prstGeom prst="rect">
              <a:avLst/>
            </a:prstGeom>
          </p:spPr>
        </p:pic>
        <p:cxnSp>
          <p:nvCxnSpPr>
            <p:cNvPr id="10" name="Conector de Seta Reta 9"/>
            <p:cNvCxnSpPr/>
            <p:nvPr/>
          </p:nvCxnSpPr>
          <p:spPr>
            <a:xfrm>
              <a:off x="3500846" y="5242538"/>
              <a:ext cx="1097280" cy="60541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to 13"/>
            <p:cNvCxnSpPr/>
            <p:nvPr/>
          </p:nvCxnSpPr>
          <p:spPr>
            <a:xfrm>
              <a:off x="3154679" y="5612120"/>
              <a:ext cx="1835978" cy="7667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Conector de Seta Reta 15"/>
            <p:cNvCxnSpPr/>
            <p:nvPr/>
          </p:nvCxnSpPr>
          <p:spPr>
            <a:xfrm flipV="1">
              <a:off x="4931937" y="5847951"/>
              <a:ext cx="1025433" cy="53087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17"/>
            <p:cNvCxnSpPr/>
            <p:nvPr/>
          </p:nvCxnSpPr>
          <p:spPr>
            <a:xfrm>
              <a:off x="2873828" y="2479029"/>
              <a:ext cx="5101041" cy="318801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19"/>
            <p:cNvCxnSpPr/>
            <p:nvPr/>
          </p:nvCxnSpPr>
          <p:spPr>
            <a:xfrm>
              <a:off x="3735977" y="4691691"/>
              <a:ext cx="2660940" cy="11895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Espaço Reservado para Número de Slide 6"/>
          <p:cNvSpPr>
            <a:spLocks noGrp="1"/>
          </p:cNvSpPr>
          <p:nvPr>
            <p:ph type="sldNum" sz="quarter" idx="12"/>
          </p:nvPr>
        </p:nvSpPr>
        <p:spPr/>
        <p:txBody>
          <a:bodyPr/>
          <a:lstStyle/>
          <a:p>
            <a:fld id="{8256F83C-9D86-480B-90E0-0702DBEB9457}" type="slidenum">
              <a:rPr lang="pt-BR" smtClean="0"/>
              <a:t>68</a:t>
            </a:fld>
            <a:endParaRPr lang="pt-BR"/>
          </a:p>
        </p:txBody>
      </p:sp>
    </p:spTree>
    <p:extLst>
      <p:ext uri="{BB962C8B-B14F-4D97-AF65-F5344CB8AC3E}">
        <p14:creationId xmlns:p14="http://schemas.microsoft.com/office/powerpoint/2010/main" val="26422766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8256F83C-9D86-480B-90E0-0702DBEB9457}" type="slidenum">
              <a:rPr lang="pt-BR" smtClean="0"/>
              <a:t>69</a:t>
            </a:fld>
            <a:endParaRPr lang="pt-BR"/>
          </a:p>
        </p:txBody>
      </p:sp>
      <p:pic>
        <p:nvPicPr>
          <p:cNvPr id="3" name="Imagem 2"/>
          <p:cNvPicPr>
            <a:picLocks noChangeAspect="1"/>
          </p:cNvPicPr>
          <p:nvPr/>
        </p:nvPicPr>
        <p:blipFill>
          <a:blip r:embed="rId2"/>
          <a:stretch>
            <a:fillRect/>
          </a:stretch>
        </p:blipFill>
        <p:spPr>
          <a:xfrm>
            <a:off x="784996" y="140835"/>
            <a:ext cx="6177508" cy="3304658"/>
          </a:xfrm>
          <a:prstGeom prst="rect">
            <a:avLst/>
          </a:prstGeom>
        </p:spPr>
      </p:pic>
      <p:pic>
        <p:nvPicPr>
          <p:cNvPr id="4" name="Imagem 3"/>
          <p:cNvPicPr>
            <a:picLocks noChangeAspect="1"/>
          </p:cNvPicPr>
          <p:nvPr/>
        </p:nvPicPr>
        <p:blipFill>
          <a:blip r:embed="rId3"/>
          <a:stretch>
            <a:fillRect/>
          </a:stretch>
        </p:blipFill>
        <p:spPr>
          <a:xfrm>
            <a:off x="5948852" y="3592285"/>
            <a:ext cx="6243147" cy="3320823"/>
          </a:xfrm>
          <a:prstGeom prst="rect">
            <a:avLst/>
          </a:prstGeom>
        </p:spPr>
      </p:pic>
    </p:spTree>
    <p:extLst>
      <p:ext uri="{BB962C8B-B14F-4D97-AF65-F5344CB8AC3E}">
        <p14:creationId xmlns:p14="http://schemas.microsoft.com/office/powerpoint/2010/main" val="17802916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8256F83C-9D86-480B-90E0-0702DBEB9457}" type="slidenum">
              <a:rPr lang="pt-BR" smtClean="0"/>
              <a:t>70</a:t>
            </a:fld>
            <a:endParaRPr lang="pt-BR"/>
          </a:p>
        </p:txBody>
      </p:sp>
      <p:pic>
        <p:nvPicPr>
          <p:cNvPr id="3" name="Imagem 2"/>
          <p:cNvPicPr>
            <a:picLocks noChangeAspect="1"/>
          </p:cNvPicPr>
          <p:nvPr/>
        </p:nvPicPr>
        <p:blipFill>
          <a:blip r:embed="rId2"/>
          <a:stretch>
            <a:fillRect/>
          </a:stretch>
        </p:blipFill>
        <p:spPr>
          <a:xfrm>
            <a:off x="746896" y="0"/>
            <a:ext cx="6753225" cy="3667125"/>
          </a:xfrm>
          <a:prstGeom prst="rect">
            <a:avLst/>
          </a:prstGeom>
        </p:spPr>
      </p:pic>
      <p:pic>
        <p:nvPicPr>
          <p:cNvPr id="4" name="Imagem 3"/>
          <p:cNvPicPr>
            <a:picLocks noChangeAspect="1"/>
          </p:cNvPicPr>
          <p:nvPr/>
        </p:nvPicPr>
        <p:blipFill>
          <a:blip r:embed="rId3"/>
          <a:stretch>
            <a:fillRect/>
          </a:stretch>
        </p:blipFill>
        <p:spPr>
          <a:xfrm>
            <a:off x="5495925" y="3305175"/>
            <a:ext cx="6696075" cy="3552825"/>
          </a:xfrm>
          <a:prstGeom prst="rect">
            <a:avLst/>
          </a:prstGeom>
        </p:spPr>
      </p:pic>
    </p:spTree>
    <p:extLst>
      <p:ext uri="{BB962C8B-B14F-4D97-AF65-F5344CB8AC3E}">
        <p14:creationId xmlns:p14="http://schemas.microsoft.com/office/powerpoint/2010/main" val="256490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8256F83C-9D86-480B-90E0-0702DBEB9457}" type="slidenum">
              <a:rPr lang="pt-BR" smtClean="0"/>
              <a:t>71</a:t>
            </a:fld>
            <a:endParaRPr lang="pt-BR"/>
          </a:p>
        </p:txBody>
      </p:sp>
      <p:pic>
        <p:nvPicPr>
          <p:cNvPr id="3" name="Imagem 2"/>
          <p:cNvPicPr>
            <a:picLocks noChangeAspect="1"/>
          </p:cNvPicPr>
          <p:nvPr/>
        </p:nvPicPr>
        <p:blipFill>
          <a:blip r:embed="rId2"/>
          <a:stretch>
            <a:fillRect/>
          </a:stretch>
        </p:blipFill>
        <p:spPr>
          <a:xfrm>
            <a:off x="794522" y="102514"/>
            <a:ext cx="6181046" cy="3333697"/>
          </a:xfrm>
          <a:prstGeom prst="rect">
            <a:avLst/>
          </a:prstGeom>
        </p:spPr>
      </p:pic>
      <p:pic>
        <p:nvPicPr>
          <p:cNvPr id="4" name="Imagem 3"/>
          <p:cNvPicPr>
            <a:picLocks noChangeAspect="1"/>
          </p:cNvPicPr>
          <p:nvPr/>
        </p:nvPicPr>
        <p:blipFill>
          <a:blip r:embed="rId3"/>
          <a:stretch>
            <a:fillRect/>
          </a:stretch>
        </p:blipFill>
        <p:spPr>
          <a:xfrm>
            <a:off x="5982789" y="3510541"/>
            <a:ext cx="6078582" cy="3269081"/>
          </a:xfrm>
          <a:prstGeom prst="rect">
            <a:avLst/>
          </a:prstGeom>
        </p:spPr>
      </p:pic>
    </p:spTree>
    <p:extLst>
      <p:ext uri="{BB962C8B-B14F-4D97-AF65-F5344CB8AC3E}">
        <p14:creationId xmlns:p14="http://schemas.microsoft.com/office/powerpoint/2010/main" val="25560014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a:extLst>
              <a:ext uri="{FF2B5EF4-FFF2-40B4-BE49-F238E27FC236}">
                <a16:creationId xmlns:a16="http://schemas.microsoft.com/office/drawing/2014/main" id="{8E7F9D1A-5914-B33D-1D4C-1777EDAFEC7E}"/>
              </a:ext>
            </a:extLst>
          </p:cNvPr>
          <p:cNvSpPr>
            <a:spLocks noGrp="1"/>
          </p:cNvSpPr>
          <p:nvPr>
            <p:ph type="sldNum" sz="quarter" idx="12"/>
          </p:nvPr>
        </p:nvSpPr>
        <p:spPr/>
        <p:txBody>
          <a:bodyPr/>
          <a:lstStyle/>
          <a:p>
            <a:fld id="{8256F83C-9D86-480B-90E0-0702DBEB9457}" type="slidenum">
              <a:rPr lang="pt-BR" smtClean="0"/>
              <a:t>72</a:t>
            </a:fld>
            <a:endParaRPr lang="pt-BR"/>
          </a:p>
        </p:txBody>
      </p:sp>
      <p:sp>
        <p:nvSpPr>
          <p:cNvPr id="5" name="CaixaDeTexto 4">
            <a:extLst>
              <a:ext uri="{FF2B5EF4-FFF2-40B4-BE49-F238E27FC236}">
                <a16:creationId xmlns:a16="http://schemas.microsoft.com/office/drawing/2014/main" id="{FD274451-99C6-55E7-3B30-18AE05168C9A}"/>
              </a:ext>
            </a:extLst>
          </p:cNvPr>
          <p:cNvSpPr txBox="1"/>
          <p:nvPr/>
        </p:nvSpPr>
        <p:spPr>
          <a:xfrm>
            <a:off x="1041133" y="153901"/>
            <a:ext cx="10907486" cy="569387"/>
          </a:xfrm>
          <a:prstGeom prst="rect">
            <a:avLst/>
          </a:prstGeom>
          <a:noFill/>
        </p:spPr>
        <p:txBody>
          <a:bodyPr wrap="square" rtlCol="0">
            <a:spAutoFit/>
          </a:bodyPr>
          <a:lstStyle/>
          <a:p>
            <a:pPr algn="ctr"/>
            <a:r>
              <a:rPr lang="pt-BR" sz="3100" b="1" u="sng" dirty="0">
                <a:solidFill>
                  <a:srgbClr val="002060"/>
                </a:solidFill>
                <a:latin typeface="Arial" panose="020B0604020202020204" pitchFamily="34" charset="0"/>
                <a:cs typeface="Arial" panose="020B0604020202020204" pitchFamily="34" charset="0"/>
              </a:rPr>
              <a:t>Uma ferramenta bem útil está disponível no site abaixo:</a:t>
            </a:r>
          </a:p>
        </p:txBody>
      </p:sp>
      <p:sp>
        <p:nvSpPr>
          <p:cNvPr id="11" name="CaixaDeTexto 10">
            <a:extLst>
              <a:ext uri="{FF2B5EF4-FFF2-40B4-BE49-F238E27FC236}">
                <a16:creationId xmlns:a16="http://schemas.microsoft.com/office/drawing/2014/main" id="{3A978C91-DC7E-BFF3-49BF-C70B7BF1FF19}"/>
              </a:ext>
            </a:extLst>
          </p:cNvPr>
          <p:cNvSpPr txBox="1"/>
          <p:nvPr/>
        </p:nvSpPr>
        <p:spPr>
          <a:xfrm>
            <a:off x="767845" y="795291"/>
            <a:ext cx="11454063" cy="584775"/>
          </a:xfrm>
          <a:prstGeom prst="rect">
            <a:avLst/>
          </a:prstGeom>
          <a:noFill/>
        </p:spPr>
        <p:txBody>
          <a:bodyPr wrap="square">
            <a:spAutoFit/>
          </a:bodyPr>
          <a:lstStyle/>
          <a:p>
            <a:pPr algn="ctr"/>
            <a:r>
              <a:rPr lang="pt-BR" sz="3200" dirty="0">
                <a:hlinkClick r:id="rId2"/>
              </a:rPr>
              <a:t>https://cssgridgenerator.io/</a:t>
            </a:r>
            <a:endParaRPr lang="pt-BR" sz="3200" dirty="0"/>
          </a:p>
        </p:txBody>
      </p:sp>
      <p:pic>
        <p:nvPicPr>
          <p:cNvPr id="13" name="Imagem 12">
            <a:extLst>
              <a:ext uri="{FF2B5EF4-FFF2-40B4-BE49-F238E27FC236}">
                <a16:creationId xmlns:a16="http://schemas.microsoft.com/office/drawing/2014/main" id="{005D6652-3661-BCF2-9F7A-B9C5C2C5576C}"/>
              </a:ext>
            </a:extLst>
          </p:cNvPr>
          <p:cNvPicPr>
            <a:picLocks noChangeAspect="1"/>
          </p:cNvPicPr>
          <p:nvPr/>
        </p:nvPicPr>
        <p:blipFill>
          <a:blip r:embed="rId3"/>
          <a:stretch>
            <a:fillRect/>
          </a:stretch>
        </p:blipFill>
        <p:spPr>
          <a:xfrm>
            <a:off x="2914430" y="1452069"/>
            <a:ext cx="7160892" cy="5121237"/>
          </a:xfrm>
          <a:prstGeom prst="rect">
            <a:avLst/>
          </a:prstGeom>
        </p:spPr>
      </p:pic>
    </p:spTree>
    <p:extLst>
      <p:ext uri="{BB962C8B-B14F-4D97-AF65-F5344CB8AC3E}">
        <p14:creationId xmlns:p14="http://schemas.microsoft.com/office/powerpoint/2010/main" val="11151185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a:blip r:embed="rId2"/>
          <a:stretch>
            <a:fillRect/>
          </a:stretch>
        </p:blipFill>
        <p:spPr>
          <a:xfrm>
            <a:off x="861923" y="831004"/>
            <a:ext cx="1345700" cy="1118809"/>
          </a:xfrm>
          <a:prstGeom prst="rect">
            <a:avLst/>
          </a:prstGeom>
        </p:spPr>
      </p:pic>
      <p:sp>
        <p:nvSpPr>
          <p:cNvPr id="4" name="Retângulo 3"/>
          <p:cNvSpPr/>
          <p:nvPr/>
        </p:nvSpPr>
        <p:spPr>
          <a:xfrm>
            <a:off x="2207623" y="804089"/>
            <a:ext cx="9339943" cy="1200329"/>
          </a:xfrm>
          <a:prstGeom prst="rect">
            <a:avLst/>
          </a:prstGeom>
        </p:spPr>
        <p:txBody>
          <a:bodyPr wrap="square">
            <a:spAutoFit/>
          </a:bodyPr>
          <a:lstStyle/>
          <a:p>
            <a:pPr algn="just"/>
            <a:r>
              <a:rPr lang="pt-BR" sz="2400" dirty="0" err="1">
                <a:solidFill>
                  <a:srgbClr val="002060"/>
                </a:solidFill>
                <a:latin typeface="Arial" panose="020B0604020202020204" pitchFamily="34" charset="0"/>
                <a:cs typeface="Arial" panose="020B0604020202020204" pitchFamily="34" charset="0"/>
              </a:rPr>
              <a:t>Bootstrap</a:t>
            </a:r>
            <a:r>
              <a:rPr lang="pt-BR" sz="2400" dirty="0">
                <a:solidFill>
                  <a:srgbClr val="002060"/>
                </a:solidFill>
                <a:latin typeface="Arial" panose="020B0604020202020204" pitchFamily="34" charset="0"/>
                <a:cs typeface="Arial" panose="020B0604020202020204" pitchFamily="34" charset="0"/>
              </a:rPr>
              <a:t> é um framework de front-</a:t>
            </a:r>
            <a:r>
              <a:rPr lang="pt-BR" sz="2400" dirty="0" err="1">
                <a:solidFill>
                  <a:srgbClr val="002060"/>
                </a:solidFill>
                <a:latin typeface="Arial" panose="020B0604020202020204" pitchFamily="34" charset="0"/>
                <a:cs typeface="Arial" panose="020B0604020202020204" pitchFamily="34" charset="0"/>
              </a:rPr>
              <a:t>end</a:t>
            </a:r>
            <a:r>
              <a:rPr lang="pt-BR" sz="2400" dirty="0">
                <a:solidFill>
                  <a:srgbClr val="002060"/>
                </a:solidFill>
                <a:latin typeface="Arial" panose="020B0604020202020204" pitchFamily="34" charset="0"/>
                <a:cs typeface="Arial" panose="020B0604020202020204" pitchFamily="34" charset="0"/>
              </a:rPr>
              <a:t> que fornece um conjunto de descrições CSS para tornar o seu site bem mais atraente. Deixando dinâmico, extensivo e repleto de recursos.</a:t>
            </a:r>
          </a:p>
        </p:txBody>
      </p:sp>
      <p:sp>
        <p:nvSpPr>
          <p:cNvPr id="5" name="Rectangle 1"/>
          <p:cNvSpPr>
            <a:spLocks noChangeArrowheads="1"/>
          </p:cNvSpPr>
          <p:nvPr/>
        </p:nvSpPr>
        <p:spPr bwMode="auto">
          <a:xfrm>
            <a:off x="644708" y="3959169"/>
            <a:ext cx="11260727"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altLang="pt-BR" sz="2400" b="1" i="0" u="none" strike="noStrike" cap="none" normalizeH="0" baseline="0" dirty="0">
                <a:ln>
                  <a:noFill/>
                </a:ln>
                <a:solidFill>
                  <a:schemeClr val="tx1"/>
                </a:solidFill>
                <a:effectLst/>
                <a:latin typeface="+mn-lt"/>
              </a:rPr>
              <a:t>&lt;link </a:t>
            </a:r>
            <a:r>
              <a:rPr kumimoji="0" lang="pt-BR" altLang="pt-BR" sz="2400" b="1" i="0" u="none" strike="noStrike" cap="none" normalizeH="0" baseline="0" dirty="0" err="1">
                <a:ln>
                  <a:noFill/>
                </a:ln>
                <a:solidFill>
                  <a:schemeClr val="tx1"/>
                </a:solidFill>
                <a:effectLst/>
                <a:latin typeface="+mn-lt"/>
              </a:rPr>
              <a:t>href</a:t>
            </a:r>
            <a:r>
              <a:rPr kumimoji="0" lang="pt-BR" altLang="pt-BR" sz="2400" b="1" i="0" u="none" strike="noStrike" cap="none" normalizeH="0" baseline="0" dirty="0">
                <a:ln>
                  <a:noFill/>
                </a:ln>
                <a:solidFill>
                  <a:schemeClr val="tx1"/>
                </a:solidFill>
                <a:effectLst/>
                <a:latin typeface="+mn-lt"/>
              </a:rPr>
              <a:t>="https://cdn.jsdelivr.net/npm/bootstrap@5.3.0-alpha2/dist/css/bootstrap.min.css" </a:t>
            </a:r>
            <a:r>
              <a:rPr kumimoji="0" lang="pt-BR" altLang="pt-BR" sz="2400" b="1" i="0" u="none" strike="noStrike" cap="none" normalizeH="0" baseline="0" dirty="0" err="1">
                <a:ln>
                  <a:noFill/>
                </a:ln>
                <a:solidFill>
                  <a:schemeClr val="tx1"/>
                </a:solidFill>
                <a:effectLst/>
                <a:latin typeface="+mn-lt"/>
              </a:rPr>
              <a:t>rel</a:t>
            </a:r>
            <a:r>
              <a:rPr kumimoji="0" lang="pt-BR" altLang="pt-BR" sz="2400" b="1" i="0" u="none" strike="noStrike" cap="none" normalizeH="0" baseline="0" dirty="0">
                <a:ln>
                  <a:noFill/>
                </a:ln>
                <a:solidFill>
                  <a:schemeClr val="tx1"/>
                </a:solidFill>
                <a:effectLst/>
                <a:latin typeface="+mn-lt"/>
              </a:rPr>
              <a:t>="</a:t>
            </a:r>
            <a:r>
              <a:rPr kumimoji="0" lang="pt-BR" altLang="pt-BR" sz="2400" b="1" i="0" u="none" strike="noStrike" cap="none" normalizeH="0" baseline="0" dirty="0" err="1">
                <a:ln>
                  <a:noFill/>
                </a:ln>
                <a:solidFill>
                  <a:schemeClr val="tx1"/>
                </a:solidFill>
                <a:effectLst/>
                <a:latin typeface="+mn-lt"/>
              </a:rPr>
              <a:t>stylesheet</a:t>
            </a:r>
            <a:r>
              <a:rPr kumimoji="0" lang="pt-BR" altLang="pt-BR" sz="2400" b="1" i="0" u="none" strike="noStrike" cap="none" normalizeH="0" baseline="0" dirty="0">
                <a:ln>
                  <a:noFill/>
                </a:ln>
                <a:solidFill>
                  <a:schemeClr val="tx1"/>
                </a:solidFill>
                <a:effectLst/>
                <a:latin typeface="+mn-lt"/>
              </a:rPr>
              <a:t>" </a:t>
            </a:r>
            <a:r>
              <a:rPr kumimoji="0" lang="pt-BR" altLang="pt-BR" sz="2400" b="1" i="0" u="none" strike="noStrike" cap="none" normalizeH="0" baseline="0" dirty="0" err="1">
                <a:ln>
                  <a:noFill/>
                </a:ln>
                <a:solidFill>
                  <a:schemeClr val="tx1"/>
                </a:solidFill>
                <a:effectLst/>
                <a:latin typeface="+mn-lt"/>
              </a:rPr>
              <a:t>integrity</a:t>
            </a:r>
            <a:r>
              <a:rPr kumimoji="0" lang="pt-BR" altLang="pt-BR" sz="2400" b="1" i="0" u="none" strike="noStrike" cap="none" normalizeH="0" baseline="0" dirty="0">
                <a:ln>
                  <a:noFill/>
                </a:ln>
                <a:solidFill>
                  <a:schemeClr val="tx1"/>
                </a:solidFill>
                <a:effectLst/>
                <a:latin typeface="+mn-lt"/>
              </a:rPr>
              <a:t>="sha384-aFq/bzH65dt+w6FI2ooMVUpc+21e0SRygnTpmBvdBgSdnuTN7QbdgL+OapgHtvPp" </a:t>
            </a:r>
            <a:r>
              <a:rPr kumimoji="0" lang="pt-BR" altLang="pt-BR" sz="2400" b="1" i="0" u="none" strike="noStrike" cap="none" normalizeH="0" baseline="0" dirty="0" err="1">
                <a:ln>
                  <a:noFill/>
                </a:ln>
                <a:solidFill>
                  <a:schemeClr val="tx1"/>
                </a:solidFill>
                <a:effectLst/>
                <a:latin typeface="+mn-lt"/>
              </a:rPr>
              <a:t>crossorigin</a:t>
            </a:r>
            <a:r>
              <a:rPr kumimoji="0" lang="pt-BR" altLang="pt-BR" sz="2400" b="1" i="0" u="none" strike="noStrike" cap="none" normalizeH="0" baseline="0" dirty="0">
                <a:ln>
                  <a:noFill/>
                </a:ln>
                <a:solidFill>
                  <a:schemeClr val="tx1"/>
                </a:solidFill>
                <a:effectLst/>
                <a:latin typeface="+mn-lt"/>
              </a:rPr>
              <a:t>="</a:t>
            </a:r>
            <a:r>
              <a:rPr kumimoji="0" lang="pt-BR" altLang="pt-BR" sz="2400" b="1" i="0" u="none" strike="noStrike" cap="none" normalizeH="0" baseline="0" dirty="0" err="1">
                <a:ln>
                  <a:noFill/>
                </a:ln>
                <a:solidFill>
                  <a:schemeClr val="tx1"/>
                </a:solidFill>
                <a:effectLst/>
                <a:latin typeface="+mn-lt"/>
              </a:rPr>
              <a:t>anonymous</a:t>
            </a:r>
            <a:r>
              <a:rPr kumimoji="0" lang="pt-BR" altLang="pt-BR" sz="2400" b="1" i="0" u="none" strike="noStrike" cap="none" normalizeH="0" baseline="0" dirty="0">
                <a:ln>
                  <a:noFill/>
                </a:ln>
                <a:solidFill>
                  <a:schemeClr val="tx1"/>
                </a:solidFill>
                <a:effectLst/>
                <a:latin typeface="+mn-lt"/>
              </a:rPr>
              <a:t>"&gt;</a:t>
            </a:r>
          </a:p>
          <a:p>
            <a:pPr marL="0" marR="0" lvl="0" indent="0" algn="ctr" defTabSz="914400" rtl="0" eaLnBrk="0" fontAlgn="base" latinLnBrk="0" hangingPunct="0">
              <a:lnSpc>
                <a:spcPct val="100000"/>
              </a:lnSpc>
              <a:spcBef>
                <a:spcPct val="0"/>
              </a:spcBef>
              <a:spcAft>
                <a:spcPct val="0"/>
              </a:spcAft>
              <a:buClrTx/>
              <a:buSzTx/>
              <a:buFontTx/>
              <a:buNone/>
              <a:tabLst/>
            </a:pPr>
            <a:endParaRPr lang="pt-BR" altLang="pt-BR" sz="2400" b="1" dirty="0">
              <a:latin typeface="+mn-l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pt-BR" altLang="pt-BR" sz="2400" b="1" i="0" u="none" strike="noStrike" cap="none" normalizeH="0" baseline="0" dirty="0">
                <a:ln>
                  <a:noFill/>
                </a:ln>
                <a:solidFill>
                  <a:schemeClr val="tx1"/>
                </a:solidFill>
                <a:effectLst/>
                <a:latin typeface="+mn-lt"/>
              </a:rPr>
              <a:t>Ou</a:t>
            </a:r>
          </a:p>
          <a:p>
            <a:pPr lvl="0" algn="ctr"/>
            <a:r>
              <a:rPr lang="pt-BR" altLang="pt-BR" sz="2400" b="1" dirty="0">
                <a:latin typeface="var(--bs-font-monospace)"/>
              </a:rPr>
              <a:t>https://cdn.jsdelivr.net/npm/bootstrap@5.1.1/dist/css/bootstrap.min.css</a:t>
            </a:r>
            <a:endParaRPr kumimoji="0" lang="pt-BR" altLang="pt-BR" sz="2400" b="0" i="0" u="none" strike="noStrike" cap="none" normalizeH="0" baseline="0" dirty="0">
              <a:ln>
                <a:noFill/>
              </a:ln>
              <a:solidFill>
                <a:schemeClr val="tx1"/>
              </a:solidFill>
              <a:effectLst/>
              <a:latin typeface="+mn-lt"/>
            </a:endParaRPr>
          </a:p>
        </p:txBody>
      </p:sp>
      <p:sp>
        <p:nvSpPr>
          <p:cNvPr id="6" name="Retângulo 5"/>
          <p:cNvSpPr/>
          <p:nvPr/>
        </p:nvSpPr>
        <p:spPr>
          <a:xfrm>
            <a:off x="861923" y="2592425"/>
            <a:ext cx="10685644" cy="1200329"/>
          </a:xfrm>
          <a:prstGeom prst="rect">
            <a:avLst/>
          </a:prstGeom>
        </p:spPr>
        <p:txBody>
          <a:bodyPr wrap="square">
            <a:spAutoFit/>
          </a:bodyPr>
          <a:lstStyle/>
          <a:p>
            <a:pPr algn="just"/>
            <a:r>
              <a:rPr lang="pt-BR" sz="2400" dirty="0">
                <a:solidFill>
                  <a:srgbClr val="002060"/>
                </a:solidFill>
                <a:latin typeface="Arial" panose="020B0604020202020204" pitchFamily="34" charset="0"/>
                <a:cs typeface="Arial" panose="020B0604020202020204" pitchFamily="34" charset="0"/>
              </a:rPr>
              <a:t>Uma forma de usar os recursos disponíveis do </a:t>
            </a:r>
            <a:r>
              <a:rPr lang="pt-BR" sz="2400" dirty="0" err="1">
                <a:solidFill>
                  <a:srgbClr val="002060"/>
                </a:solidFill>
                <a:latin typeface="Arial" panose="020B0604020202020204" pitchFamily="34" charset="0"/>
                <a:cs typeface="Arial" panose="020B0604020202020204" pitchFamily="34" charset="0"/>
              </a:rPr>
              <a:t>bootstrap</a:t>
            </a:r>
            <a:r>
              <a:rPr lang="pt-BR" sz="2400" dirty="0">
                <a:solidFill>
                  <a:srgbClr val="002060"/>
                </a:solidFill>
                <a:latin typeface="Arial" panose="020B0604020202020204" pitchFamily="34" charset="0"/>
                <a:cs typeface="Arial" panose="020B0604020202020204" pitchFamily="34" charset="0"/>
              </a:rPr>
              <a:t> é incluindo o link abaixo no &lt;</a:t>
            </a:r>
            <a:r>
              <a:rPr lang="pt-BR" sz="2400" dirty="0" err="1">
                <a:solidFill>
                  <a:srgbClr val="002060"/>
                </a:solidFill>
                <a:latin typeface="Arial" panose="020B0604020202020204" pitchFamily="34" charset="0"/>
                <a:cs typeface="Arial" panose="020B0604020202020204" pitchFamily="34" charset="0"/>
              </a:rPr>
              <a:t>head</a:t>
            </a:r>
            <a:r>
              <a:rPr lang="pt-BR" sz="2400" dirty="0">
                <a:solidFill>
                  <a:srgbClr val="002060"/>
                </a:solidFill>
                <a:latin typeface="Arial" panose="020B0604020202020204" pitchFamily="34" charset="0"/>
                <a:cs typeface="Arial" panose="020B0604020202020204" pitchFamily="34" charset="0"/>
              </a:rPr>
              <a:t>&gt; &lt;/</a:t>
            </a:r>
            <a:r>
              <a:rPr lang="pt-BR" sz="2400" dirty="0" err="1">
                <a:solidFill>
                  <a:srgbClr val="002060"/>
                </a:solidFill>
                <a:latin typeface="Arial" panose="020B0604020202020204" pitchFamily="34" charset="0"/>
                <a:cs typeface="Arial" panose="020B0604020202020204" pitchFamily="34" charset="0"/>
              </a:rPr>
              <a:t>head</a:t>
            </a:r>
            <a:r>
              <a:rPr lang="pt-BR" sz="2400" dirty="0">
                <a:solidFill>
                  <a:srgbClr val="002060"/>
                </a:solidFill>
                <a:latin typeface="Arial" panose="020B0604020202020204" pitchFamily="34" charset="0"/>
                <a:cs typeface="Arial" panose="020B0604020202020204" pitchFamily="34" charset="0"/>
              </a:rPr>
              <a:t>&gt; do seu projeto </a:t>
            </a:r>
            <a:r>
              <a:rPr lang="pt-BR" sz="2400" b="1" u="sng" dirty="0">
                <a:solidFill>
                  <a:srgbClr val="002060"/>
                </a:solidFill>
                <a:latin typeface="Arial" panose="020B0604020202020204" pitchFamily="34" charset="0"/>
                <a:cs typeface="Arial" panose="020B0604020202020204" pitchFamily="34" charset="0"/>
              </a:rPr>
              <a:t>ou</a:t>
            </a:r>
            <a:r>
              <a:rPr lang="pt-BR" sz="2400" dirty="0">
                <a:solidFill>
                  <a:srgbClr val="002060"/>
                </a:solidFill>
                <a:latin typeface="Arial" panose="020B0604020202020204" pitchFamily="34" charset="0"/>
                <a:cs typeface="Arial" panose="020B0604020202020204" pitchFamily="34" charset="0"/>
              </a:rPr>
              <a:t> baixar o arquivo </a:t>
            </a:r>
            <a:r>
              <a:rPr lang="pt-BR" sz="2400" dirty="0" err="1">
                <a:solidFill>
                  <a:srgbClr val="002060"/>
                </a:solidFill>
                <a:latin typeface="Arial" panose="020B0604020202020204" pitchFamily="34" charset="0"/>
                <a:cs typeface="Arial" panose="020B0604020202020204" pitchFamily="34" charset="0"/>
              </a:rPr>
              <a:t>css</a:t>
            </a:r>
            <a:r>
              <a:rPr lang="pt-BR" sz="2400" dirty="0">
                <a:solidFill>
                  <a:srgbClr val="002060"/>
                </a:solidFill>
                <a:latin typeface="Arial" panose="020B0604020202020204" pitchFamily="34" charset="0"/>
                <a:cs typeface="Arial" panose="020B0604020202020204" pitchFamily="34" charset="0"/>
              </a:rPr>
              <a:t> e colocar na mesma pasta do seu arquivo e incluí-lo no &lt;</a:t>
            </a:r>
            <a:r>
              <a:rPr lang="pt-BR" sz="2400" dirty="0" err="1">
                <a:solidFill>
                  <a:srgbClr val="002060"/>
                </a:solidFill>
                <a:latin typeface="Arial" panose="020B0604020202020204" pitchFamily="34" charset="0"/>
                <a:cs typeface="Arial" panose="020B0604020202020204" pitchFamily="34" charset="0"/>
              </a:rPr>
              <a:t>head</a:t>
            </a:r>
            <a:r>
              <a:rPr lang="pt-BR" sz="2400" dirty="0">
                <a:solidFill>
                  <a:srgbClr val="002060"/>
                </a:solidFill>
                <a:latin typeface="Arial" panose="020B0604020202020204" pitchFamily="34" charset="0"/>
                <a:cs typeface="Arial" panose="020B0604020202020204" pitchFamily="34" charset="0"/>
              </a:rPr>
              <a:t>&gt;&lt;/</a:t>
            </a:r>
            <a:r>
              <a:rPr lang="pt-BR" sz="2400" dirty="0" err="1">
                <a:solidFill>
                  <a:srgbClr val="002060"/>
                </a:solidFill>
                <a:latin typeface="Arial" panose="020B0604020202020204" pitchFamily="34" charset="0"/>
                <a:cs typeface="Arial" panose="020B0604020202020204" pitchFamily="34" charset="0"/>
              </a:rPr>
              <a:t>head</a:t>
            </a:r>
            <a:r>
              <a:rPr lang="pt-BR" sz="2400" dirty="0">
                <a:solidFill>
                  <a:srgbClr val="002060"/>
                </a:solidFill>
                <a:latin typeface="Arial" panose="020B0604020202020204" pitchFamily="34" charset="0"/>
                <a:cs typeface="Arial" panose="020B0604020202020204" pitchFamily="34" charset="0"/>
              </a:rPr>
              <a:t>&gt;</a:t>
            </a:r>
          </a:p>
        </p:txBody>
      </p:sp>
      <p:sp>
        <p:nvSpPr>
          <p:cNvPr id="7" name="Título 1"/>
          <p:cNvSpPr txBox="1">
            <a:spLocks/>
          </p:cNvSpPr>
          <p:nvPr/>
        </p:nvSpPr>
        <p:spPr>
          <a:xfrm>
            <a:off x="-43001" y="2064285"/>
            <a:ext cx="12191999" cy="395111"/>
          </a:xfrm>
          <a:prstGeom prst="rect">
            <a:avLst/>
          </a:prstGeom>
        </p:spPr>
        <p:txBody>
          <a:bodyPr>
            <a:noAutofit/>
          </a:bodyPr>
          <a:lstStyle>
            <a:lvl1pPr algn="l" defTabSz="914400" rtl="0" eaLnBrk="1" latinLnBrk="0" hangingPunct="1">
              <a:lnSpc>
                <a:spcPct val="90000"/>
              </a:lnSpc>
              <a:spcBef>
                <a:spcPct val="0"/>
              </a:spcBef>
              <a:buNone/>
              <a:defRPr sz="4400" b="1" kern="1200">
                <a:solidFill>
                  <a:srgbClr val="1B4572"/>
                </a:solidFill>
                <a:latin typeface="Arial" panose="020B0604020202020204" pitchFamily="34" charset="0"/>
                <a:ea typeface="+mj-ea"/>
                <a:cs typeface="Arial" panose="020B0604020202020204" pitchFamily="34" charset="0"/>
              </a:defRPr>
            </a:lvl1pPr>
          </a:lstStyle>
          <a:p>
            <a:pPr algn="ctr"/>
            <a:r>
              <a:rPr lang="pt-BR" sz="3200" dirty="0">
                <a:solidFill>
                  <a:srgbClr val="002060"/>
                </a:solidFill>
              </a:rPr>
              <a:t>Como incluir o link do bootstrap.min.css no HTML?</a:t>
            </a:r>
          </a:p>
        </p:txBody>
      </p:sp>
      <p:sp>
        <p:nvSpPr>
          <p:cNvPr id="8" name="Retângulo 7"/>
          <p:cNvSpPr/>
          <p:nvPr/>
        </p:nvSpPr>
        <p:spPr>
          <a:xfrm>
            <a:off x="0" y="4716732"/>
            <a:ext cx="12192000" cy="369332"/>
          </a:xfrm>
          <a:prstGeom prst="rect">
            <a:avLst/>
          </a:prstGeom>
        </p:spPr>
        <p:txBody>
          <a:bodyPr wrap="square">
            <a:spAutoFit/>
          </a:bodyPr>
          <a:lstStyle/>
          <a:p>
            <a:r>
              <a:rPr lang="pt-BR" b="1" dirty="0">
                <a:solidFill>
                  <a:srgbClr val="002060"/>
                </a:solidFill>
                <a:latin typeface="Consolas" panose="020B0609020204030204" pitchFamily="49" charset="0"/>
              </a:rPr>
              <a:t>   </a:t>
            </a:r>
          </a:p>
        </p:txBody>
      </p:sp>
      <p:sp>
        <p:nvSpPr>
          <p:cNvPr id="9" name="Retângulo 8"/>
          <p:cNvSpPr/>
          <p:nvPr/>
        </p:nvSpPr>
        <p:spPr>
          <a:xfrm>
            <a:off x="767441" y="3868367"/>
            <a:ext cx="11119759" cy="1696730"/>
          </a:xfrm>
          <a:prstGeom prst="rect">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ítulo 1"/>
          <p:cNvSpPr txBox="1">
            <a:spLocks/>
          </p:cNvSpPr>
          <p:nvPr/>
        </p:nvSpPr>
        <p:spPr>
          <a:xfrm>
            <a:off x="-113483" y="281341"/>
            <a:ext cx="12191999" cy="395111"/>
          </a:xfrm>
          <a:prstGeom prst="rect">
            <a:avLst/>
          </a:prstGeom>
        </p:spPr>
        <p:txBody>
          <a:bodyPr>
            <a:noAutofit/>
          </a:bodyPr>
          <a:lstStyle>
            <a:lvl1pPr algn="l" defTabSz="914400" rtl="0" eaLnBrk="1" latinLnBrk="0" hangingPunct="1">
              <a:lnSpc>
                <a:spcPct val="90000"/>
              </a:lnSpc>
              <a:spcBef>
                <a:spcPct val="0"/>
              </a:spcBef>
              <a:buNone/>
              <a:defRPr sz="4400" b="1" kern="1200">
                <a:solidFill>
                  <a:srgbClr val="1B4572"/>
                </a:solidFill>
                <a:latin typeface="Arial" panose="020B0604020202020204" pitchFamily="34" charset="0"/>
                <a:ea typeface="+mj-ea"/>
                <a:cs typeface="Arial" panose="020B0604020202020204" pitchFamily="34" charset="0"/>
              </a:defRPr>
            </a:lvl1pPr>
          </a:lstStyle>
          <a:p>
            <a:pPr algn="ctr"/>
            <a:r>
              <a:rPr lang="pt-BR" sz="3200" dirty="0">
                <a:solidFill>
                  <a:srgbClr val="002060"/>
                </a:solidFill>
              </a:rPr>
              <a:t>O que é?</a:t>
            </a:r>
          </a:p>
        </p:txBody>
      </p:sp>
      <p:sp>
        <p:nvSpPr>
          <p:cNvPr id="11" name="Espaço Reservado para Número de Slide 10"/>
          <p:cNvSpPr>
            <a:spLocks noGrp="1"/>
          </p:cNvSpPr>
          <p:nvPr>
            <p:ph type="sldNum" sz="quarter" idx="12"/>
          </p:nvPr>
        </p:nvSpPr>
        <p:spPr/>
        <p:txBody>
          <a:bodyPr/>
          <a:lstStyle/>
          <a:p>
            <a:fld id="{8256F83C-9D86-480B-90E0-0702DBEB9457}" type="slidenum">
              <a:rPr lang="pt-BR" smtClean="0"/>
              <a:t>73</a:t>
            </a:fld>
            <a:endParaRPr lang="pt-BR"/>
          </a:p>
        </p:txBody>
      </p:sp>
    </p:spTree>
    <p:extLst>
      <p:ext uri="{BB962C8B-B14F-4D97-AF65-F5344CB8AC3E}">
        <p14:creationId xmlns:p14="http://schemas.microsoft.com/office/powerpoint/2010/main" val="12936487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p:cNvSpPr/>
          <p:nvPr/>
        </p:nvSpPr>
        <p:spPr>
          <a:xfrm>
            <a:off x="881532" y="362667"/>
            <a:ext cx="11130100" cy="830997"/>
          </a:xfrm>
          <a:prstGeom prst="rect">
            <a:avLst/>
          </a:prstGeom>
        </p:spPr>
        <p:txBody>
          <a:bodyPr wrap="square">
            <a:spAutoFit/>
          </a:bodyPr>
          <a:lstStyle/>
          <a:p>
            <a:pPr algn="just"/>
            <a:r>
              <a:rPr lang="pt-BR" sz="2400" dirty="0">
                <a:solidFill>
                  <a:srgbClr val="002060"/>
                </a:solidFill>
                <a:latin typeface="Arial" panose="020B0604020202020204" pitchFamily="34" charset="0"/>
                <a:cs typeface="Arial" panose="020B0604020202020204" pitchFamily="34" charset="0"/>
              </a:rPr>
              <a:t>Acesse o site e verifique diversas possibilidades de customização de elementos para o seu site.</a:t>
            </a:r>
          </a:p>
        </p:txBody>
      </p:sp>
      <p:sp>
        <p:nvSpPr>
          <p:cNvPr id="7" name="Retângulo 6"/>
          <p:cNvSpPr/>
          <p:nvPr/>
        </p:nvSpPr>
        <p:spPr>
          <a:xfrm>
            <a:off x="2645541" y="1193664"/>
            <a:ext cx="7602081" cy="769441"/>
          </a:xfrm>
          <a:prstGeom prst="rect">
            <a:avLst/>
          </a:prstGeom>
        </p:spPr>
        <p:txBody>
          <a:bodyPr wrap="none">
            <a:spAutoFit/>
          </a:bodyPr>
          <a:lstStyle/>
          <a:p>
            <a:r>
              <a:rPr lang="pt-BR" sz="2800" b="1" dirty="0">
                <a:hlinkClick r:id="rId2"/>
              </a:rPr>
              <a:t>https://getbootstrap.com/docs/4.0/components/</a:t>
            </a:r>
            <a:endParaRPr lang="pt-BR" sz="2800" b="1" dirty="0"/>
          </a:p>
          <a:p>
            <a:pPr algn="ctr"/>
            <a:r>
              <a:rPr lang="pt-BR" sz="1600" b="1" i="1" dirty="0"/>
              <a:t>(Acessado em março/2023)</a:t>
            </a:r>
          </a:p>
        </p:txBody>
      </p:sp>
      <p:sp>
        <p:nvSpPr>
          <p:cNvPr id="8" name="Retângulo 7"/>
          <p:cNvSpPr/>
          <p:nvPr/>
        </p:nvSpPr>
        <p:spPr>
          <a:xfrm>
            <a:off x="966107" y="2327786"/>
            <a:ext cx="11130100" cy="461665"/>
          </a:xfrm>
          <a:prstGeom prst="rect">
            <a:avLst/>
          </a:prstGeom>
        </p:spPr>
        <p:txBody>
          <a:bodyPr wrap="square">
            <a:spAutoFit/>
          </a:bodyPr>
          <a:lstStyle/>
          <a:p>
            <a:pPr algn="ctr"/>
            <a:r>
              <a:rPr lang="pt-BR" sz="2400" u="sng" dirty="0">
                <a:solidFill>
                  <a:srgbClr val="002060"/>
                </a:solidFill>
                <a:latin typeface="Arial" panose="020B0604020202020204" pitchFamily="34" charset="0"/>
                <a:cs typeface="Arial" panose="020B0604020202020204" pitchFamily="34" charset="0"/>
              </a:rPr>
              <a:t>A seguir alguns exemplos usando CSS do </a:t>
            </a:r>
            <a:r>
              <a:rPr lang="pt-BR" sz="2400" u="sng" dirty="0" err="1">
                <a:solidFill>
                  <a:srgbClr val="002060"/>
                </a:solidFill>
                <a:latin typeface="Arial" panose="020B0604020202020204" pitchFamily="34" charset="0"/>
                <a:cs typeface="Arial" panose="020B0604020202020204" pitchFamily="34" charset="0"/>
              </a:rPr>
              <a:t>bootstrap</a:t>
            </a:r>
            <a:r>
              <a:rPr lang="pt-BR" sz="2400" u="sng" dirty="0">
                <a:solidFill>
                  <a:srgbClr val="002060"/>
                </a:solidFill>
                <a:latin typeface="Arial" panose="020B0604020202020204" pitchFamily="34" charset="0"/>
                <a:cs typeface="Arial" panose="020B0604020202020204" pitchFamily="34" charset="0"/>
              </a:rPr>
              <a:t>.</a:t>
            </a:r>
          </a:p>
        </p:txBody>
      </p:sp>
      <p:sp>
        <p:nvSpPr>
          <p:cNvPr id="12" name="Retângulo 11"/>
          <p:cNvSpPr/>
          <p:nvPr/>
        </p:nvSpPr>
        <p:spPr>
          <a:xfrm>
            <a:off x="881532" y="3010562"/>
            <a:ext cx="11130100" cy="461665"/>
          </a:xfrm>
          <a:prstGeom prst="rect">
            <a:avLst/>
          </a:prstGeom>
        </p:spPr>
        <p:txBody>
          <a:bodyPr wrap="square">
            <a:spAutoFit/>
          </a:bodyPr>
          <a:lstStyle/>
          <a:p>
            <a:pPr algn="just"/>
            <a:r>
              <a:rPr lang="pt-BR" sz="2400" dirty="0">
                <a:solidFill>
                  <a:srgbClr val="002060"/>
                </a:solidFill>
                <a:latin typeface="Arial" panose="020B0604020202020204" pitchFamily="34" charset="0"/>
                <a:cs typeface="Arial" panose="020B0604020202020204" pitchFamily="34" charset="0"/>
              </a:rPr>
              <a:t>No projeto a seguir será usado um dos estilos de botão.</a:t>
            </a:r>
          </a:p>
        </p:txBody>
      </p:sp>
      <p:pic>
        <p:nvPicPr>
          <p:cNvPr id="13" name="Imagem 12"/>
          <p:cNvPicPr>
            <a:picLocks noChangeAspect="1"/>
          </p:cNvPicPr>
          <p:nvPr/>
        </p:nvPicPr>
        <p:blipFill>
          <a:blip r:embed="rId3"/>
          <a:stretch>
            <a:fillRect/>
          </a:stretch>
        </p:blipFill>
        <p:spPr>
          <a:xfrm>
            <a:off x="3018461" y="3579223"/>
            <a:ext cx="7025391" cy="3119157"/>
          </a:xfrm>
          <a:prstGeom prst="rect">
            <a:avLst/>
          </a:prstGeom>
        </p:spPr>
      </p:pic>
      <p:sp>
        <p:nvSpPr>
          <p:cNvPr id="14" name="Retângulo 13"/>
          <p:cNvSpPr/>
          <p:nvPr/>
        </p:nvSpPr>
        <p:spPr>
          <a:xfrm>
            <a:off x="3252652" y="5016136"/>
            <a:ext cx="6439989" cy="35269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ln>
                <a:solidFill>
                  <a:srgbClr val="FF0000"/>
                </a:solidFill>
              </a:ln>
              <a:noFill/>
            </a:endParaRPr>
          </a:p>
        </p:txBody>
      </p:sp>
      <p:sp>
        <p:nvSpPr>
          <p:cNvPr id="15" name="Seta para Baixo 14"/>
          <p:cNvSpPr/>
          <p:nvPr/>
        </p:nvSpPr>
        <p:spPr>
          <a:xfrm rot="10800000">
            <a:off x="3639270" y="4431839"/>
            <a:ext cx="496389" cy="58429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Espaço Reservado para Número de Slide 1"/>
          <p:cNvSpPr>
            <a:spLocks noGrp="1"/>
          </p:cNvSpPr>
          <p:nvPr>
            <p:ph type="sldNum" sz="quarter" idx="12"/>
          </p:nvPr>
        </p:nvSpPr>
        <p:spPr/>
        <p:txBody>
          <a:bodyPr/>
          <a:lstStyle/>
          <a:p>
            <a:fld id="{8256F83C-9D86-480B-90E0-0702DBEB9457}" type="slidenum">
              <a:rPr lang="pt-BR" smtClean="0"/>
              <a:t>74</a:t>
            </a:fld>
            <a:endParaRPr lang="pt-BR"/>
          </a:p>
        </p:txBody>
      </p:sp>
    </p:spTree>
    <p:extLst>
      <p:ext uri="{BB962C8B-B14F-4D97-AF65-F5344CB8AC3E}">
        <p14:creationId xmlns:p14="http://schemas.microsoft.com/office/powerpoint/2010/main" val="10031374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822419" y="1021788"/>
            <a:ext cx="11130100" cy="1938992"/>
          </a:xfrm>
          <a:prstGeom prst="rect">
            <a:avLst/>
          </a:prstGeom>
        </p:spPr>
        <p:txBody>
          <a:bodyPr wrap="square">
            <a:spAutoFit/>
          </a:bodyPr>
          <a:lstStyle/>
          <a:p>
            <a:pPr algn="just"/>
            <a:r>
              <a:rPr lang="pt-BR" sz="2400" dirty="0">
                <a:solidFill>
                  <a:srgbClr val="002060"/>
                </a:solidFill>
                <a:latin typeface="Arial" panose="020B0604020202020204" pitchFamily="34" charset="0"/>
                <a:cs typeface="Arial" panose="020B0604020202020204" pitchFamily="34" charset="0"/>
              </a:rPr>
              <a:t>Construir uma página web com menu na vertical do lado esquerdo da tela, uma imagem no meio da tela.</a:t>
            </a:r>
          </a:p>
          <a:p>
            <a:pPr algn="just"/>
            <a:endParaRPr lang="pt-BR" sz="2400" dirty="0">
              <a:solidFill>
                <a:srgbClr val="002060"/>
              </a:solidFill>
              <a:latin typeface="Arial" panose="020B0604020202020204" pitchFamily="34" charset="0"/>
              <a:cs typeface="Arial" panose="020B0604020202020204" pitchFamily="34" charset="0"/>
            </a:endParaRPr>
          </a:p>
          <a:p>
            <a:pPr algn="just"/>
            <a:r>
              <a:rPr lang="pt-BR" sz="2400" dirty="0">
                <a:solidFill>
                  <a:srgbClr val="002060"/>
                </a:solidFill>
                <a:latin typeface="Arial" panose="020B0604020202020204" pitchFamily="34" charset="0"/>
                <a:cs typeface="Arial" panose="020B0604020202020204" pitchFamily="34" charset="0"/>
              </a:rPr>
              <a:t>Para desenhar esse layout será usado a classe container-</a:t>
            </a:r>
            <a:r>
              <a:rPr lang="pt-BR" sz="2400" dirty="0" err="1">
                <a:solidFill>
                  <a:srgbClr val="002060"/>
                </a:solidFill>
                <a:latin typeface="Arial" panose="020B0604020202020204" pitchFamily="34" charset="0"/>
                <a:cs typeface="Arial" panose="020B0604020202020204" pitchFamily="34" charset="0"/>
              </a:rPr>
              <a:t>fluid</a:t>
            </a:r>
            <a:r>
              <a:rPr lang="pt-BR" sz="2400" dirty="0">
                <a:solidFill>
                  <a:srgbClr val="002060"/>
                </a:solidFill>
                <a:latin typeface="Arial" panose="020B0604020202020204" pitchFamily="34" charset="0"/>
                <a:cs typeface="Arial" panose="020B0604020202020204" pitchFamily="34" charset="0"/>
              </a:rPr>
              <a:t> do </a:t>
            </a:r>
            <a:r>
              <a:rPr lang="pt-BR" sz="2400" dirty="0" err="1">
                <a:solidFill>
                  <a:srgbClr val="002060"/>
                </a:solidFill>
                <a:latin typeface="Arial" panose="020B0604020202020204" pitchFamily="34" charset="0"/>
                <a:cs typeface="Arial" panose="020B0604020202020204" pitchFamily="34" charset="0"/>
              </a:rPr>
              <a:t>Bootstrap</a:t>
            </a:r>
            <a:r>
              <a:rPr lang="pt-BR" sz="2400" dirty="0">
                <a:solidFill>
                  <a:srgbClr val="002060"/>
                </a:solidFill>
                <a:latin typeface="Arial" panose="020B0604020202020204" pitchFamily="34" charset="0"/>
                <a:cs typeface="Arial" panose="020B0604020202020204" pitchFamily="34" charset="0"/>
              </a:rPr>
              <a:t>. Usando ele é possível dividir a tela em colunas.</a:t>
            </a:r>
          </a:p>
        </p:txBody>
      </p:sp>
      <p:sp>
        <p:nvSpPr>
          <p:cNvPr id="3" name="Título 1"/>
          <p:cNvSpPr txBox="1">
            <a:spLocks/>
          </p:cNvSpPr>
          <p:nvPr/>
        </p:nvSpPr>
        <p:spPr>
          <a:xfrm>
            <a:off x="1778708" y="3390629"/>
            <a:ext cx="9144001" cy="395111"/>
          </a:xfrm>
          <a:prstGeom prst="rect">
            <a:avLst/>
          </a:prstGeom>
        </p:spPr>
        <p:txBody>
          <a:bodyPr>
            <a:normAutofit fontScale="92500" lnSpcReduction="20000"/>
          </a:bodyPr>
          <a:lstStyle>
            <a:lvl1pPr algn="l" defTabSz="914400" rtl="0" eaLnBrk="1" latinLnBrk="0" hangingPunct="1">
              <a:lnSpc>
                <a:spcPct val="90000"/>
              </a:lnSpc>
              <a:spcBef>
                <a:spcPct val="0"/>
              </a:spcBef>
              <a:buNone/>
              <a:defRPr sz="4400" b="1" kern="1200">
                <a:solidFill>
                  <a:srgbClr val="1B4572"/>
                </a:solidFill>
                <a:latin typeface="Arial" panose="020B0604020202020204" pitchFamily="34" charset="0"/>
                <a:ea typeface="+mj-ea"/>
                <a:cs typeface="Arial" panose="020B0604020202020204" pitchFamily="34" charset="0"/>
              </a:defRPr>
            </a:lvl1pPr>
          </a:lstStyle>
          <a:p>
            <a:pPr algn="ctr"/>
            <a:r>
              <a:rPr lang="pt-BR" sz="2800" dirty="0" err="1">
                <a:solidFill>
                  <a:srgbClr val="002060"/>
                </a:solidFill>
              </a:rPr>
              <a:t>class</a:t>
            </a:r>
            <a:r>
              <a:rPr lang="pt-BR" sz="2800" dirty="0">
                <a:solidFill>
                  <a:srgbClr val="002060"/>
                </a:solidFill>
              </a:rPr>
              <a:t> = “container-</a:t>
            </a:r>
            <a:r>
              <a:rPr lang="pt-BR" sz="2800" dirty="0" err="1">
                <a:solidFill>
                  <a:srgbClr val="002060"/>
                </a:solidFill>
              </a:rPr>
              <a:t>fluid</a:t>
            </a:r>
            <a:r>
              <a:rPr lang="pt-BR" sz="2800" dirty="0">
                <a:solidFill>
                  <a:srgbClr val="002060"/>
                </a:solidFill>
              </a:rPr>
              <a:t>”</a:t>
            </a:r>
          </a:p>
        </p:txBody>
      </p:sp>
      <p:graphicFrame>
        <p:nvGraphicFramePr>
          <p:cNvPr id="4" name="Tabela 3"/>
          <p:cNvGraphicFramePr>
            <a:graphicFrameLocks noGrp="1"/>
          </p:cNvGraphicFramePr>
          <p:nvPr>
            <p:extLst>
              <p:ext uri="{D42A27DB-BD31-4B8C-83A1-F6EECF244321}">
                <p14:modId xmlns:p14="http://schemas.microsoft.com/office/powerpoint/2010/main" val="761673203"/>
              </p:ext>
            </p:extLst>
          </p:nvPr>
        </p:nvGraphicFramePr>
        <p:xfrm>
          <a:off x="788094" y="3826407"/>
          <a:ext cx="11125236" cy="1296144"/>
        </p:xfrm>
        <a:graphic>
          <a:graphicData uri="http://schemas.openxmlformats.org/drawingml/2006/table">
            <a:tbl>
              <a:tblPr firstRow="1" bandRow="1">
                <a:tableStyleId>{5C22544A-7EE6-4342-B048-85BDC9FD1C3A}</a:tableStyleId>
              </a:tblPr>
              <a:tblGrid>
                <a:gridCol w="927103">
                  <a:extLst>
                    <a:ext uri="{9D8B030D-6E8A-4147-A177-3AD203B41FA5}">
                      <a16:colId xmlns:a16="http://schemas.microsoft.com/office/drawing/2014/main" val="2738372155"/>
                    </a:ext>
                  </a:extLst>
                </a:gridCol>
                <a:gridCol w="927103">
                  <a:extLst>
                    <a:ext uri="{9D8B030D-6E8A-4147-A177-3AD203B41FA5}">
                      <a16:colId xmlns:a16="http://schemas.microsoft.com/office/drawing/2014/main" val="423426262"/>
                    </a:ext>
                  </a:extLst>
                </a:gridCol>
                <a:gridCol w="927103">
                  <a:extLst>
                    <a:ext uri="{9D8B030D-6E8A-4147-A177-3AD203B41FA5}">
                      <a16:colId xmlns:a16="http://schemas.microsoft.com/office/drawing/2014/main" val="3533771028"/>
                    </a:ext>
                  </a:extLst>
                </a:gridCol>
                <a:gridCol w="927103">
                  <a:extLst>
                    <a:ext uri="{9D8B030D-6E8A-4147-A177-3AD203B41FA5}">
                      <a16:colId xmlns:a16="http://schemas.microsoft.com/office/drawing/2014/main" val="815464888"/>
                    </a:ext>
                  </a:extLst>
                </a:gridCol>
                <a:gridCol w="927103">
                  <a:extLst>
                    <a:ext uri="{9D8B030D-6E8A-4147-A177-3AD203B41FA5}">
                      <a16:colId xmlns:a16="http://schemas.microsoft.com/office/drawing/2014/main" val="2946751234"/>
                    </a:ext>
                  </a:extLst>
                </a:gridCol>
                <a:gridCol w="927103">
                  <a:extLst>
                    <a:ext uri="{9D8B030D-6E8A-4147-A177-3AD203B41FA5}">
                      <a16:colId xmlns:a16="http://schemas.microsoft.com/office/drawing/2014/main" val="296725373"/>
                    </a:ext>
                  </a:extLst>
                </a:gridCol>
                <a:gridCol w="927103">
                  <a:extLst>
                    <a:ext uri="{9D8B030D-6E8A-4147-A177-3AD203B41FA5}">
                      <a16:colId xmlns:a16="http://schemas.microsoft.com/office/drawing/2014/main" val="571820489"/>
                    </a:ext>
                  </a:extLst>
                </a:gridCol>
                <a:gridCol w="927103">
                  <a:extLst>
                    <a:ext uri="{9D8B030D-6E8A-4147-A177-3AD203B41FA5}">
                      <a16:colId xmlns:a16="http://schemas.microsoft.com/office/drawing/2014/main" val="2374646083"/>
                    </a:ext>
                  </a:extLst>
                </a:gridCol>
                <a:gridCol w="927103">
                  <a:extLst>
                    <a:ext uri="{9D8B030D-6E8A-4147-A177-3AD203B41FA5}">
                      <a16:colId xmlns:a16="http://schemas.microsoft.com/office/drawing/2014/main" val="197791550"/>
                    </a:ext>
                  </a:extLst>
                </a:gridCol>
                <a:gridCol w="927103">
                  <a:extLst>
                    <a:ext uri="{9D8B030D-6E8A-4147-A177-3AD203B41FA5}">
                      <a16:colId xmlns:a16="http://schemas.microsoft.com/office/drawing/2014/main" val="619306846"/>
                    </a:ext>
                  </a:extLst>
                </a:gridCol>
                <a:gridCol w="927103">
                  <a:extLst>
                    <a:ext uri="{9D8B030D-6E8A-4147-A177-3AD203B41FA5}">
                      <a16:colId xmlns:a16="http://schemas.microsoft.com/office/drawing/2014/main" val="3485866740"/>
                    </a:ext>
                  </a:extLst>
                </a:gridCol>
                <a:gridCol w="927103">
                  <a:extLst>
                    <a:ext uri="{9D8B030D-6E8A-4147-A177-3AD203B41FA5}">
                      <a16:colId xmlns:a16="http://schemas.microsoft.com/office/drawing/2014/main" val="2534514905"/>
                    </a:ext>
                  </a:extLst>
                </a:gridCol>
              </a:tblGrid>
              <a:tr h="1296144">
                <a:tc>
                  <a:txBody>
                    <a:bodyPr/>
                    <a:lstStyle/>
                    <a:p>
                      <a:endParaRPr lang="pt-BR" dirty="0"/>
                    </a:p>
                    <a:p>
                      <a:endParaRPr lang="pt-BR" dirty="0"/>
                    </a:p>
                    <a:p>
                      <a:endParaRPr lang="pt-BR" dirty="0"/>
                    </a:p>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DFFE5"/>
                    </a:solid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DFFE5"/>
                    </a:solid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DFFE5"/>
                    </a:solid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DFFE5"/>
                    </a:solid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DFFE5"/>
                    </a:solid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DFFE5"/>
                    </a:solid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DFFE5"/>
                    </a:solid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DFFE5"/>
                    </a:solid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DFFE5"/>
                    </a:solid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DFFE5"/>
                    </a:solid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DFFE5"/>
                    </a:solid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DFFE5"/>
                    </a:solidFill>
                  </a:tcPr>
                </a:tc>
                <a:extLst>
                  <a:ext uri="{0D108BD9-81ED-4DB2-BD59-A6C34878D82A}">
                    <a16:rowId xmlns:a16="http://schemas.microsoft.com/office/drawing/2014/main" val="3219530252"/>
                  </a:ext>
                </a:extLst>
              </a:tr>
            </a:tbl>
          </a:graphicData>
        </a:graphic>
      </p:graphicFrame>
      <p:sp>
        <p:nvSpPr>
          <p:cNvPr id="5" name="Retângulo 4"/>
          <p:cNvSpPr/>
          <p:nvPr/>
        </p:nvSpPr>
        <p:spPr>
          <a:xfrm>
            <a:off x="783230" y="5310898"/>
            <a:ext cx="11130100" cy="830997"/>
          </a:xfrm>
          <a:prstGeom prst="rect">
            <a:avLst/>
          </a:prstGeom>
        </p:spPr>
        <p:txBody>
          <a:bodyPr wrap="square">
            <a:spAutoFit/>
          </a:bodyPr>
          <a:lstStyle/>
          <a:p>
            <a:pPr algn="just"/>
            <a:r>
              <a:rPr lang="pt-BR" sz="2400" dirty="0">
                <a:solidFill>
                  <a:srgbClr val="002060"/>
                </a:solidFill>
                <a:latin typeface="Arial" panose="020B0604020202020204" pitchFamily="34" charset="0"/>
                <a:cs typeface="Arial" panose="020B0604020202020204" pitchFamily="34" charset="0"/>
              </a:rPr>
              <a:t>Próximo passo é verificar como fica melhor a distribuição dos elementos na página.</a:t>
            </a:r>
          </a:p>
        </p:txBody>
      </p:sp>
      <p:sp>
        <p:nvSpPr>
          <p:cNvPr id="7" name="Título 1"/>
          <p:cNvSpPr txBox="1">
            <a:spLocks/>
          </p:cNvSpPr>
          <p:nvPr/>
        </p:nvSpPr>
        <p:spPr>
          <a:xfrm>
            <a:off x="1776279" y="421635"/>
            <a:ext cx="9144001" cy="395111"/>
          </a:xfrm>
          <a:prstGeom prst="rect">
            <a:avLst/>
          </a:prstGeom>
        </p:spPr>
        <p:txBody>
          <a:bodyPr>
            <a:noAutofit/>
          </a:bodyPr>
          <a:lstStyle>
            <a:lvl1pPr algn="l" defTabSz="914400" rtl="0" eaLnBrk="1" latinLnBrk="0" hangingPunct="1">
              <a:lnSpc>
                <a:spcPct val="90000"/>
              </a:lnSpc>
              <a:spcBef>
                <a:spcPct val="0"/>
              </a:spcBef>
              <a:buNone/>
              <a:defRPr sz="4400" b="1" kern="1200">
                <a:solidFill>
                  <a:srgbClr val="1B4572"/>
                </a:solidFill>
                <a:latin typeface="Arial" panose="020B0604020202020204" pitchFamily="34" charset="0"/>
                <a:ea typeface="+mj-ea"/>
                <a:cs typeface="Arial" panose="020B0604020202020204" pitchFamily="34" charset="0"/>
              </a:defRPr>
            </a:lvl1pPr>
          </a:lstStyle>
          <a:p>
            <a:pPr algn="ctr"/>
            <a:r>
              <a:rPr lang="pt-BR" sz="3200" dirty="0">
                <a:solidFill>
                  <a:srgbClr val="002060"/>
                </a:solidFill>
              </a:rPr>
              <a:t>Layout usando </a:t>
            </a:r>
            <a:r>
              <a:rPr lang="pt-BR" sz="3200" dirty="0" err="1">
                <a:solidFill>
                  <a:srgbClr val="002060"/>
                </a:solidFill>
              </a:rPr>
              <a:t>bootstrap</a:t>
            </a:r>
            <a:endParaRPr lang="pt-BR" sz="3200" dirty="0">
              <a:solidFill>
                <a:srgbClr val="002060"/>
              </a:solidFill>
            </a:endParaRPr>
          </a:p>
        </p:txBody>
      </p:sp>
      <p:sp>
        <p:nvSpPr>
          <p:cNvPr id="8" name="Espaço Reservado para Número de Slide 7"/>
          <p:cNvSpPr>
            <a:spLocks noGrp="1"/>
          </p:cNvSpPr>
          <p:nvPr>
            <p:ph type="sldNum" sz="quarter" idx="12"/>
          </p:nvPr>
        </p:nvSpPr>
        <p:spPr/>
        <p:txBody>
          <a:bodyPr/>
          <a:lstStyle/>
          <a:p>
            <a:fld id="{8256F83C-9D86-480B-90E0-0702DBEB9457}" type="slidenum">
              <a:rPr lang="pt-BR" smtClean="0"/>
              <a:t>75</a:t>
            </a:fld>
            <a:endParaRPr lang="pt-BR"/>
          </a:p>
        </p:txBody>
      </p:sp>
    </p:spTree>
    <p:extLst>
      <p:ext uri="{BB962C8B-B14F-4D97-AF65-F5344CB8AC3E}">
        <p14:creationId xmlns:p14="http://schemas.microsoft.com/office/powerpoint/2010/main" val="420292820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ela 13"/>
          <p:cNvGraphicFramePr>
            <a:graphicFrameLocks noGrp="1"/>
          </p:cNvGraphicFramePr>
          <p:nvPr>
            <p:extLst>
              <p:ext uri="{D42A27DB-BD31-4B8C-83A1-F6EECF244321}">
                <p14:modId xmlns:p14="http://schemas.microsoft.com/office/powerpoint/2010/main" val="2681744445"/>
              </p:ext>
            </p:extLst>
          </p:nvPr>
        </p:nvGraphicFramePr>
        <p:xfrm>
          <a:off x="931778" y="2405867"/>
          <a:ext cx="11125241" cy="3108960"/>
        </p:xfrm>
        <a:graphic>
          <a:graphicData uri="http://schemas.openxmlformats.org/drawingml/2006/table">
            <a:tbl>
              <a:tblPr firstRow="1" bandRow="1">
                <a:tableStyleId>{5C22544A-7EE6-4342-B048-85BDC9FD1C3A}</a:tableStyleId>
              </a:tblPr>
              <a:tblGrid>
                <a:gridCol w="2781310">
                  <a:extLst>
                    <a:ext uri="{9D8B030D-6E8A-4147-A177-3AD203B41FA5}">
                      <a16:colId xmlns:a16="http://schemas.microsoft.com/office/drawing/2014/main" val="2738372155"/>
                    </a:ext>
                  </a:extLst>
                </a:gridCol>
                <a:gridCol w="8343931">
                  <a:extLst>
                    <a:ext uri="{9D8B030D-6E8A-4147-A177-3AD203B41FA5}">
                      <a16:colId xmlns:a16="http://schemas.microsoft.com/office/drawing/2014/main" val="815464888"/>
                    </a:ext>
                  </a:extLst>
                </a:gridCol>
              </a:tblGrid>
              <a:tr h="1296144">
                <a:tc>
                  <a:txBody>
                    <a:bodyPr/>
                    <a:lstStyle/>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FFE5"/>
                    </a:solidFill>
                  </a:tcPr>
                </a:tc>
                <a:tc>
                  <a:txBody>
                    <a:bodyPr/>
                    <a:lstStyle/>
                    <a:p>
                      <a:endParaRPr lang="pt-B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FFE5"/>
                    </a:solidFill>
                  </a:tcPr>
                </a:tc>
                <a:extLst>
                  <a:ext uri="{0D108BD9-81ED-4DB2-BD59-A6C34878D82A}">
                    <a16:rowId xmlns:a16="http://schemas.microsoft.com/office/drawing/2014/main" val="3219530252"/>
                  </a:ext>
                </a:extLst>
              </a:tr>
            </a:tbl>
          </a:graphicData>
        </a:graphic>
      </p:graphicFrame>
      <p:sp>
        <p:nvSpPr>
          <p:cNvPr id="15" name="Retângulo 14"/>
          <p:cNvSpPr/>
          <p:nvPr/>
        </p:nvSpPr>
        <p:spPr>
          <a:xfrm>
            <a:off x="751763" y="1933749"/>
            <a:ext cx="3288080" cy="400110"/>
          </a:xfrm>
          <a:prstGeom prst="rect">
            <a:avLst/>
          </a:prstGeom>
        </p:spPr>
        <p:txBody>
          <a:bodyPr wrap="none">
            <a:spAutoFit/>
          </a:bodyPr>
          <a:lstStyle/>
          <a:p>
            <a:r>
              <a:rPr lang="pt-BR" sz="2000" b="1" dirty="0">
                <a:solidFill>
                  <a:srgbClr val="002060"/>
                </a:solidFill>
                <a:latin typeface="Consolas" panose="020B0609020204030204" pitchFamily="49" charset="0"/>
              </a:rPr>
              <a:t>&lt;</a:t>
            </a:r>
            <a:r>
              <a:rPr lang="pt-BR" sz="2000" b="1" dirty="0" err="1">
                <a:solidFill>
                  <a:srgbClr val="002060"/>
                </a:solidFill>
                <a:latin typeface="Consolas" panose="020B0609020204030204" pitchFamily="49" charset="0"/>
              </a:rPr>
              <a:t>div</a:t>
            </a:r>
            <a:r>
              <a:rPr lang="pt-BR" sz="2000" b="1" dirty="0">
                <a:solidFill>
                  <a:srgbClr val="002060"/>
                </a:solidFill>
                <a:latin typeface="Consolas" panose="020B0609020204030204" pitchFamily="49" charset="0"/>
              </a:rPr>
              <a:t> </a:t>
            </a:r>
            <a:r>
              <a:rPr lang="pt-BR" sz="2000" b="1" dirty="0" err="1">
                <a:solidFill>
                  <a:srgbClr val="002060"/>
                </a:solidFill>
                <a:latin typeface="Consolas" panose="020B0609020204030204" pitchFamily="49" charset="0"/>
              </a:rPr>
              <a:t>class</a:t>
            </a:r>
            <a:r>
              <a:rPr lang="pt-BR" sz="2000" b="1" dirty="0">
                <a:solidFill>
                  <a:srgbClr val="002060"/>
                </a:solidFill>
                <a:latin typeface="Consolas" panose="020B0609020204030204" pitchFamily="49" charset="0"/>
              </a:rPr>
              <a:t>="col-sm-2"&gt;</a:t>
            </a:r>
            <a:endParaRPr lang="pt-BR" sz="2000" b="1" dirty="0">
              <a:solidFill>
                <a:srgbClr val="002060"/>
              </a:solidFill>
              <a:effectLst/>
              <a:latin typeface="Consolas" panose="020B0609020204030204" pitchFamily="49" charset="0"/>
            </a:endParaRPr>
          </a:p>
        </p:txBody>
      </p:sp>
      <p:sp>
        <p:nvSpPr>
          <p:cNvPr id="16" name="Retângulo 15"/>
          <p:cNvSpPr/>
          <p:nvPr/>
        </p:nvSpPr>
        <p:spPr>
          <a:xfrm>
            <a:off x="6152363" y="1924424"/>
            <a:ext cx="3429144" cy="400110"/>
          </a:xfrm>
          <a:prstGeom prst="rect">
            <a:avLst/>
          </a:prstGeom>
        </p:spPr>
        <p:txBody>
          <a:bodyPr wrap="none">
            <a:spAutoFit/>
          </a:bodyPr>
          <a:lstStyle/>
          <a:p>
            <a:r>
              <a:rPr lang="pt-BR" sz="2000" b="1" dirty="0">
                <a:solidFill>
                  <a:srgbClr val="002060"/>
                </a:solidFill>
                <a:latin typeface="Consolas" panose="020B0609020204030204" pitchFamily="49" charset="0"/>
              </a:rPr>
              <a:t>&lt;</a:t>
            </a:r>
            <a:r>
              <a:rPr lang="pt-BR" sz="2000" b="1" dirty="0" err="1">
                <a:solidFill>
                  <a:srgbClr val="002060"/>
                </a:solidFill>
                <a:latin typeface="Consolas" panose="020B0609020204030204" pitchFamily="49" charset="0"/>
              </a:rPr>
              <a:t>div</a:t>
            </a:r>
            <a:r>
              <a:rPr lang="pt-BR" sz="2000" b="1" dirty="0">
                <a:solidFill>
                  <a:srgbClr val="002060"/>
                </a:solidFill>
                <a:latin typeface="Consolas" panose="020B0609020204030204" pitchFamily="49" charset="0"/>
              </a:rPr>
              <a:t> </a:t>
            </a:r>
            <a:r>
              <a:rPr lang="pt-BR" sz="2000" b="1" dirty="0" err="1">
                <a:solidFill>
                  <a:srgbClr val="002060"/>
                </a:solidFill>
                <a:latin typeface="Consolas" panose="020B0609020204030204" pitchFamily="49" charset="0"/>
              </a:rPr>
              <a:t>class</a:t>
            </a:r>
            <a:r>
              <a:rPr lang="pt-BR" sz="2000" b="1" dirty="0">
                <a:solidFill>
                  <a:srgbClr val="002060"/>
                </a:solidFill>
                <a:latin typeface="Consolas" panose="020B0609020204030204" pitchFamily="49" charset="0"/>
              </a:rPr>
              <a:t>="col-sm-10"&gt;</a:t>
            </a:r>
            <a:endParaRPr lang="pt-BR" sz="2000" b="1" dirty="0">
              <a:solidFill>
                <a:srgbClr val="002060"/>
              </a:solidFill>
              <a:effectLst/>
              <a:latin typeface="Consolas" panose="020B0609020204030204" pitchFamily="49" charset="0"/>
            </a:endParaRPr>
          </a:p>
        </p:txBody>
      </p:sp>
      <p:sp>
        <p:nvSpPr>
          <p:cNvPr id="17" name="CaixaDeTexto 16"/>
          <p:cNvSpPr txBox="1"/>
          <p:nvPr/>
        </p:nvSpPr>
        <p:spPr>
          <a:xfrm rot="19653557">
            <a:off x="6650097" y="3544847"/>
            <a:ext cx="2292615" cy="830997"/>
          </a:xfrm>
          <a:prstGeom prst="rect">
            <a:avLst/>
          </a:prstGeom>
          <a:noFill/>
          <a:ln>
            <a:solidFill>
              <a:schemeClr val="bg2"/>
            </a:solidFill>
          </a:ln>
        </p:spPr>
        <p:txBody>
          <a:bodyPr wrap="none" rtlCol="0" anchor="ctr" anchorCtr="1">
            <a:spAutoFit/>
          </a:bodyPr>
          <a:lstStyle/>
          <a:p>
            <a:r>
              <a:rPr lang="pt-BR" sz="4800" b="1" i="1" dirty="0">
                <a:solidFill>
                  <a:srgbClr val="FF0000"/>
                </a:solidFill>
                <a:effectLst>
                  <a:outerShdw blurRad="38100" dist="38100" dir="2700000" algn="tl">
                    <a:srgbClr val="000000">
                      <a:alpha val="43137"/>
                    </a:srgbClr>
                  </a:outerShdw>
                </a:effectLst>
              </a:rPr>
              <a:t>Imagem</a:t>
            </a:r>
          </a:p>
        </p:txBody>
      </p:sp>
      <p:sp>
        <p:nvSpPr>
          <p:cNvPr id="18" name="CaixaDeTexto 17"/>
          <p:cNvSpPr txBox="1"/>
          <p:nvPr/>
        </p:nvSpPr>
        <p:spPr>
          <a:xfrm rot="19653557">
            <a:off x="1203430" y="3544848"/>
            <a:ext cx="2180405" cy="830997"/>
          </a:xfrm>
          <a:prstGeom prst="rect">
            <a:avLst/>
          </a:prstGeom>
          <a:noFill/>
          <a:ln>
            <a:solidFill>
              <a:schemeClr val="bg2"/>
            </a:solidFill>
          </a:ln>
        </p:spPr>
        <p:txBody>
          <a:bodyPr wrap="none" rtlCol="0" anchor="ctr" anchorCtr="1">
            <a:spAutoFit/>
          </a:bodyPr>
          <a:lstStyle/>
          <a:p>
            <a:r>
              <a:rPr lang="pt-BR" sz="4800" b="1" i="1" dirty="0">
                <a:solidFill>
                  <a:srgbClr val="FF0000"/>
                </a:solidFill>
                <a:effectLst>
                  <a:outerShdw blurRad="38100" dist="38100" dir="2700000" algn="tl">
                    <a:srgbClr val="000000">
                      <a:alpha val="43137"/>
                    </a:srgbClr>
                  </a:outerShdw>
                </a:effectLst>
              </a:rPr>
              <a:t>Botões</a:t>
            </a:r>
          </a:p>
        </p:txBody>
      </p:sp>
      <p:sp>
        <p:nvSpPr>
          <p:cNvPr id="19" name="Retângulo 18"/>
          <p:cNvSpPr/>
          <p:nvPr/>
        </p:nvSpPr>
        <p:spPr>
          <a:xfrm>
            <a:off x="892589" y="677200"/>
            <a:ext cx="11130100" cy="830997"/>
          </a:xfrm>
          <a:prstGeom prst="rect">
            <a:avLst/>
          </a:prstGeom>
        </p:spPr>
        <p:txBody>
          <a:bodyPr wrap="square">
            <a:spAutoFit/>
          </a:bodyPr>
          <a:lstStyle/>
          <a:p>
            <a:pPr algn="just"/>
            <a:r>
              <a:rPr lang="pt-BR" sz="2400" dirty="0">
                <a:solidFill>
                  <a:srgbClr val="002060"/>
                </a:solidFill>
                <a:latin typeface="Arial" panose="020B0604020202020204" pitchFamily="34" charset="0"/>
                <a:cs typeface="Arial" panose="020B0604020202020204" pitchFamily="34" charset="0"/>
              </a:rPr>
              <a:t>Para organizar de modo satisfatório, será mesclado 2 colunas – destinado para botões e mesclado 10 colunas – destinado para a imagem.</a:t>
            </a:r>
          </a:p>
        </p:txBody>
      </p:sp>
      <p:sp>
        <p:nvSpPr>
          <p:cNvPr id="2" name="Espaço Reservado para Número de Slide 1"/>
          <p:cNvSpPr>
            <a:spLocks noGrp="1"/>
          </p:cNvSpPr>
          <p:nvPr>
            <p:ph type="sldNum" sz="quarter" idx="12"/>
          </p:nvPr>
        </p:nvSpPr>
        <p:spPr/>
        <p:txBody>
          <a:bodyPr/>
          <a:lstStyle/>
          <a:p>
            <a:fld id="{8256F83C-9D86-480B-90E0-0702DBEB9457}" type="slidenum">
              <a:rPr lang="pt-BR" smtClean="0"/>
              <a:t>76</a:t>
            </a:fld>
            <a:endParaRPr lang="pt-BR"/>
          </a:p>
        </p:txBody>
      </p:sp>
    </p:spTree>
    <p:extLst>
      <p:ext uri="{BB962C8B-B14F-4D97-AF65-F5344CB8AC3E}">
        <p14:creationId xmlns:p14="http://schemas.microsoft.com/office/powerpoint/2010/main" val="25862079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735837" y="384300"/>
            <a:ext cx="11130100" cy="1569660"/>
          </a:xfrm>
          <a:prstGeom prst="rect">
            <a:avLst/>
          </a:prstGeom>
        </p:spPr>
        <p:txBody>
          <a:bodyPr wrap="square">
            <a:spAutoFit/>
          </a:bodyPr>
          <a:lstStyle/>
          <a:p>
            <a:pPr algn="just"/>
            <a:r>
              <a:rPr lang="pt-BR" sz="2400" dirty="0">
                <a:solidFill>
                  <a:srgbClr val="002060"/>
                </a:solidFill>
                <a:latin typeface="Arial" panose="020B0604020202020204" pitchFamily="34" charset="0"/>
                <a:cs typeface="Arial" panose="020B0604020202020204" pitchFamily="34" charset="0"/>
              </a:rPr>
              <a:t>1º) cria-se uma </a:t>
            </a:r>
            <a:r>
              <a:rPr lang="pt-BR" sz="2400" dirty="0" err="1">
                <a:solidFill>
                  <a:srgbClr val="002060"/>
                </a:solidFill>
                <a:latin typeface="Arial" panose="020B0604020202020204" pitchFamily="34" charset="0"/>
                <a:cs typeface="Arial" panose="020B0604020202020204" pitchFamily="34" charset="0"/>
              </a:rPr>
              <a:t>div</a:t>
            </a:r>
            <a:r>
              <a:rPr lang="pt-BR" sz="2400" dirty="0">
                <a:solidFill>
                  <a:srgbClr val="002060"/>
                </a:solidFill>
                <a:latin typeface="Arial" panose="020B0604020202020204" pitchFamily="34" charset="0"/>
                <a:cs typeface="Arial" panose="020B0604020202020204" pitchFamily="34" charset="0"/>
              </a:rPr>
              <a:t> contendo a classe container-</a:t>
            </a:r>
            <a:r>
              <a:rPr lang="pt-BR" sz="2400" dirty="0" err="1">
                <a:solidFill>
                  <a:srgbClr val="002060"/>
                </a:solidFill>
                <a:latin typeface="Arial" panose="020B0604020202020204" pitchFamily="34" charset="0"/>
                <a:cs typeface="Arial" panose="020B0604020202020204" pitchFamily="34" charset="0"/>
              </a:rPr>
              <a:t>fluid</a:t>
            </a:r>
            <a:r>
              <a:rPr lang="pt-BR" sz="2400" dirty="0">
                <a:solidFill>
                  <a:srgbClr val="002060"/>
                </a:solidFill>
                <a:latin typeface="Arial" panose="020B0604020202020204" pitchFamily="34" charset="0"/>
                <a:cs typeface="Arial" panose="020B0604020202020204" pitchFamily="34" charset="0"/>
              </a:rPr>
              <a:t>.</a:t>
            </a:r>
          </a:p>
          <a:p>
            <a:pPr algn="just"/>
            <a:r>
              <a:rPr lang="pt-BR" sz="2400" dirty="0">
                <a:solidFill>
                  <a:srgbClr val="002060"/>
                </a:solidFill>
                <a:latin typeface="Arial" panose="020B0604020202020204" pitchFamily="34" charset="0"/>
                <a:cs typeface="Arial" panose="020B0604020202020204" pitchFamily="34" charset="0"/>
              </a:rPr>
              <a:t>2º) dentro desta </a:t>
            </a:r>
            <a:r>
              <a:rPr lang="pt-BR" sz="2400" dirty="0" err="1">
                <a:solidFill>
                  <a:srgbClr val="002060"/>
                </a:solidFill>
                <a:latin typeface="Arial" panose="020B0604020202020204" pitchFamily="34" charset="0"/>
                <a:cs typeface="Arial" panose="020B0604020202020204" pitchFamily="34" charset="0"/>
              </a:rPr>
              <a:t>div</a:t>
            </a:r>
            <a:r>
              <a:rPr lang="pt-BR" sz="2400" dirty="0">
                <a:solidFill>
                  <a:srgbClr val="002060"/>
                </a:solidFill>
                <a:latin typeface="Arial" panose="020B0604020202020204" pitchFamily="34" charset="0"/>
                <a:cs typeface="Arial" panose="020B0604020202020204" pitchFamily="34" charset="0"/>
              </a:rPr>
              <a:t> cria-se uma outra </a:t>
            </a:r>
            <a:r>
              <a:rPr lang="pt-BR" sz="2400" dirty="0" err="1">
                <a:solidFill>
                  <a:srgbClr val="002060"/>
                </a:solidFill>
                <a:latin typeface="Arial" panose="020B0604020202020204" pitchFamily="34" charset="0"/>
                <a:cs typeface="Arial" panose="020B0604020202020204" pitchFamily="34" charset="0"/>
              </a:rPr>
              <a:t>div</a:t>
            </a:r>
            <a:r>
              <a:rPr lang="pt-BR" sz="2400" dirty="0">
                <a:solidFill>
                  <a:srgbClr val="002060"/>
                </a:solidFill>
                <a:latin typeface="Arial" panose="020B0604020202020204" pitchFamily="34" charset="0"/>
                <a:cs typeface="Arial" panose="020B0604020202020204" pitchFamily="34" charset="0"/>
              </a:rPr>
              <a:t> que irá conter uma linha.</a:t>
            </a:r>
          </a:p>
          <a:p>
            <a:pPr algn="just"/>
            <a:r>
              <a:rPr lang="pt-BR" sz="2400" dirty="0">
                <a:solidFill>
                  <a:srgbClr val="002060"/>
                </a:solidFill>
                <a:latin typeface="Arial" panose="020B0604020202020204" pitchFamily="34" charset="0"/>
                <a:cs typeface="Arial" panose="020B0604020202020204" pitchFamily="34" charset="0"/>
              </a:rPr>
              <a:t>3º) dentro desta </a:t>
            </a:r>
            <a:r>
              <a:rPr lang="pt-BR" sz="2400" dirty="0" err="1">
                <a:solidFill>
                  <a:srgbClr val="002060"/>
                </a:solidFill>
                <a:latin typeface="Arial" panose="020B0604020202020204" pitchFamily="34" charset="0"/>
                <a:cs typeface="Arial" panose="020B0604020202020204" pitchFamily="34" charset="0"/>
              </a:rPr>
              <a:t>div</a:t>
            </a:r>
            <a:r>
              <a:rPr lang="pt-BR" sz="2400" dirty="0">
                <a:solidFill>
                  <a:srgbClr val="002060"/>
                </a:solidFill>
                <a:latin typeface="Arial" panose="020B0604020202020204" pitchFamily="34" charset="0"/>
                <a:cs typeface="Arial" panose="020B0604020202020204" pitchFamily="34" charset="0"/>
              </a:rPr>
              <a:t> cria-se duas </a:t>
            </a:r>
            <a:r>
              <a:rPr lang="pt-BR" sz="2400" dirty="0" err="1">
                <a:solidFill>
                  <a:srgbClr val="002060"/>
                </a:solidFill>
                <a:latin typeface="Arial" panose="020B0604020202020204" pitchFamily="34" charset="0"/>
                <a:cs typeface="Arial" panose="020B0604020202020204" pitchFamily="34" charset="0"/>
              </a:rPr>
              <a:t>div</a:t>
            </a:r>
            <a:r>
              <a:rPr lang="pt-BR" sz="2400" dirty="0">
                <a:solidFill>
                  <a:srgbClr val="002060"/>
                </a:solidFill>
                <a:latin typeface="Arial" panose="020B0604020202020204" pitchFamily="34" charset="0"/>
                <a:cs typeface="Arial" panose="020B0604020202020204" pitchFamily="34" charset="0"/>
              </a:rPr>
              <a:t>, uma agrupando 2 colunas e outra agrupando 10 colunas.</a:t>
            </a:r>
          </a:p>
        </p:txBody>
      </p:sp>
      <p:grpSp>
        <p:nvGrpSpPr>
          <p:cNvPr id="15" name="Agrupar 14"/>
          <p:cNvGrpSpPr/>
          <p:nvPr/>
        </p:nvGrpSpPr>
        <p:grpSpPr>
          <a:xfrm>
            <a:off x="605754" y="1675322"/>
            <a:ext cx="11103428" cy="4879898"/>
            <a:chOff x="292242" y="1675322"/>
            <a:chExt cx="11103428" cy="4879898"/>
          </a:xfrm>
        </p:grpSpPr>
        <p:grpSp>
          <p:nvGrpSpPr>
            <p:cNvPr id="10" name="Agrupar 9"/>
            <p:cNvGrpSpPr/>
            <p:nvPr/>
          </p:nvGrpSpPr>
          <p:grpSpPr>
            <a:xfrm>
              <a:off x="292242" y="1953960"/>
              <a:ext cx="11103428" cy="4601260"/>
              <a:chOff x="448997" y="2078457"/>
              <a:chExt cx="11103428" cy="4601260"/>
            </a:xfrm>
          </p:grpSpPr>
          <p:sp>
            <p:nvSpPr>
              <p:cNvPr id="3" name="Retângulo 2"/>
              <p:cNvSpPr/>
              <p:nvPr/>
            </p:nvSpPr>
            <p:spPr>
              <a:xfrm>
                <a:off x="448997" y="2078457"/>
                <a:ext cx="10894422" cy="4601260"/>
              </a:xfrm>
              <a:prstGeom prst="rect">
                <a:avLst/>
              </a:prstGeom>
            </p:spPr>
            <p:txBody>
              <a:bodyPr wrap="square">
                <a:spAutoFit/>
              </a:bodyPr>
              <a:lstStyle/>
              <a:p>
                <a:r>
                  <a:rPr lang="pt-BR" b="1" dirty="0">
                    <a:solidFill>
                      <a:srgbClr val="002060"/>
                    </a:solidFill>
                    <a:latin typeface="Consolas" panose="020B0609020204030204" pitchFamily="49" charset="0"/>
                  </a:rPr>
                  <a:t>      </a:t>
                </a: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div</a:t>
                </a:r>
                <a:r>
                  <a:rPr lang="pt-BR" b="1" dirty="0">
                    <a:solidFill>
                      <a:srgbClr val="002060"/>
                    </a:solidFill>
                    <a:latin typeface="Consolas" panose="020B0609020204030204" pitchFamily="49" charset="0"/>
                  </a:rPr>
                  <a:t> </a:t>
                </a:r>
                <a:r>
                  <a:rPr lang="pt-BR" b="1" i="1" dirty="0" err="1">
                    <a:solidFill>
                      <a:srgbClr val="002060"/>
                    </a:solidFill>
                    <a:latin typeface="Consolas" panose="020B0609020204030204" pitchFamily="49" charset="0"/>
                  </a:rPr>
                  <a:t>class</a:t>
                </a:r>
                <a:r>
                  <a:rPr lang="pt-BR" b="1" dirty="0">
                    <a:solidFill>
                      <a:srgbClr val="002060"/>
                    </a:solidFill>
                    <a:latin typeface="Consolas" panose="020B0609020204030204" pitchFamily="49" charset="0"/>
                  </a:rPr>
                  <a:t>="container-</a:t>
                </a:r>
                <a:r>
                  <a:rPr lang="pt-BR" b="1" dirty="0" err="1">
                    <a:solidFill>
                      <a:srgbClr val="002060"/>
                    </a:solidFill>
                    <a:latin typeface="Consolas" panose="020B0609020204030204" pitchFamily="49" charset="0"/>
                  </a:rPr>
                  <a:t>fluid</a:t>
                </a:r>
                <a:r>
                  <a:rPr lang="pt-BR" b="1" dirty="0">
                    <a:solidFill>
                      <a:srgbClr val="002060"/>
                    </a:solidFill>
                    <a:latin typeface="Consolas" panose="020B0609020204030204" pitchFamily="49" charset="0"/>
                  </a:rPr>
                  <a:t>"&gt;</a:t>
                </a:r>
              </a:p>
              <a:p>
                <a:endParaRPr lang="pt-BR" sz="1050"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div</a:t>
                </a:r>
                <a:r>
                  <a:rPr lang="pt-BR" b="1" dirty="0">
                    <a:solidFill>
                      <a:srgbClr val="002060"/>
                    </a:solidFill>
                    <a:latin typeface="Consolas" panose="020B0609020204030204" pitchFamily="49" charset="0"/>
                  </a:rPr>
                  <a:t> </a:t>
                </a:r>
                <a:r>
                  <a:rPr lang="pt-BR" b="1" i="1" dirty="0" err="1">
                    <a:solidFill>
                      <a:srgbClr val="002060"/>
                    </a:solidFill>
                    <a:latin typeface="Consolas" panose="020B0609020204030204" pitchFamily="49" charset="0"/>
                  </a:rPr>
                  <a:t>class</a:t>
                </a:r>
                <a:r>
                  <a:rPr lang="pt-BR" b="1" dirty="0">
                    <a:solidFill>
                      <a:srgbClr val="002060"/>
                    </a:solidFill>
                    <a:latin typeface="Consolas" panose="020B0609020204030204" pitchFamily="49" charset="0"/>
                  </a:rPr>
                  <a:t>="</a:t>
                </a:r>
                <a:r>
                  <a:rPr lang="pt-BR" b="1" dirty="0" err="1">
                    <a:solidFill>
                      <a:srgbClr val="002060"/>
                    </a:solidFill>
                    <a:latin typeface="Consolas" panose="020B0609020204030204" pitchFamily="49" charset="0"/>
                  </a:rPr>
                  <a:t>row</a:t>
                </a:r>
                <a:r>
                  <a:rPr lang="pt-BR" b="1" dirty="0">
                    <a:solidFill>
                      <a:srgbClr val="002060"/>
                    </a:solidFill>
                    <a:latin typeface="Consolas" panose="020B0609020204030204" pitchFamily="49" charset="0"/>
                  </a:rPr>
                  <a:t>"&gt;</a:t>
                </a:r>
              </a:p>
              <a:p>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div</a:t>
                </a:r>
                <a:r>
                  <a:rPr lang="pt-BR" b="1" dirty="0">
                    <a:solidFill>
                      <a:srgbClr val="002060"/>
                    </a:solidFill>
                    <a:latin typeface="Consolas" panose="020B0609020204030204" pitchFamily="49" charset="0"/>
                  </a:rPr>
                  <a:t> </a:t>
                </a:r>
                <a:r>
                  <a:rPr lang="pt-BR" b="1" i="1" dirty="0" err="1">
                    <a:solidFill>
                      <a:srgbClr val="002060"/>
                    </a:solidFill>
                    <a:latin typeface="Consolas" panose="020B0609020204030204" pitchFamily="49" charset="0"/>
                  </a:rPr>
                  <a:t>class</a:t>
                </a:r>
                <a:r>
                  <a:rPr lang="pt-BR" b="1" dirty="0">
                    <a:solidFill>
                      <a:srgbClr val="002060"/>
                    </a:solidFill>
                    <a:latin typeface="Consolas" panose="020B0609020204030204" pitchFamily="49" charset="0"/>
                  </a:rPr>
                  <a:t>="col-sm-2"&gt;</a:t>
                </a:r>
              </a:p>
              <a:p>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div</a:t>
                </a:r>
                <a:r>
                  <a:rPr lang="pt-BR" b="1" dirty="0">
                    <a:solidFill>
                      <a:srgbClr val="002060"/>
                    </a:solidFill>
                    <a:latin typeface="Consolas" panose="020B0609020204030204" pitchFamily="49" charset="0"/>
                  </a:rPr>
                  <a:t>&gt;</a:t>
                </a:r>
              </a:p>
              <a:p>
                <a:endParaRPr lang="pt-BR" b="1" dirty="0">
                  <a:solidFill>
                    <a:srgbClr val="002060"/>
                  </a:solidFill>
                  <a:latin typeface="Consolas" panose="020B0609020204030204" pitchFamily="49" charset="0"/>
                </a:endParaRPr>
              </a:p>
              <a:p>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div</a:t>
                </a:r>
                <a:r>
                  <a:rPr lang="pt-BR" b="1" dirty="0">
                    <a:solidFill>
                      <a:srgbClr val="002060"/>
                    </a:solidFill>
                    <a:latin typeface="Consolas" panose="020B0609020204030204" pitchFamily="49" charset="0"/>
                  </a:rPr>
                  <a:t> </a:t>
                </a:r>
                <a:r>
                  <a:rPr lang="pt-BR" b="1" i="1" dirty="0" err="1">
                    <a:solidFill>
                      <a:srgbClr val="002060"/>
                    </a:solidFill>
                    <a:latin typeface="Consolas" panose="020B0609020204030204" pitchFamily="49" charset="0"/>
                  </a:rPr>
                  <a:t>class</a:t>
                </a:r>
                <a:r>
                  <a:rPr lang="pt-BR" b="1" dirty="0">
                    <a:solidFill>
                      <a:srgbClr val="002060"/>
                    </a:solidFill>
                    <a:latin typeface="Consolas" panose="020B0609020204030204" pitchFamily="49" charset="0"/>
                  </a:rPr>
                  <a:t>="col-sm-10"&gt;</a:t>
                </a:r>
              </a:p>
              <a:p>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div</a:t>
                </a:r>
                <a:r>
                  <a:rPr lang="pt-BR" b="1" dirty="0">
                    <a:solidFill>
                      <a:srgbClr val="002060"/>
                    </a:solidFill>
                    <a:latin typeface="Consolas" panose="020B0609020204030204" pitchFamily="49" charset="0"/>
                  </a:rPr>
                  <a:t>&gt;</a:t>
                </a:r>
              </a:p>
              <a:p>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div</a:t>
                </a:r>
                <a:r>
                  <a:rPr lang="pt-BR" b="1" dirty="0">
                    <a:solidFill>
                      <a:srgbClr val="002060"/>
                    </a:solidFill>
                    <a:latin typeface="Consolas" panose="020B0609020204030204" pitchFamily="49" charset="0"/>
                  </a:rPr>
                  <a:t>&gt;</a:t>
                </a:r>
              </a:p>
              <a:p>
                <a:endParaRPr lang="pt-BR" sz="900"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div</a:t>
                </a:r>
                <a:r>
                  <a:rPr lang="pt-BR" b="1" dirty="0">
                    <a:solidFill>
                      <a:srgbClr val="002060"/>
                    </a:solidFill>
                    <a:latin typeface="Consolas" panose="020B0609020204030204" pitchFamily="49" charset="0"/>
                  </a:rPr>
                  <a:t>&gt;    </a:t>
                </a:r>
              </a:p>
            </p:txBody>
          </p:sp>
          <p:sp>
            <p:nvSpPr>
              <p:cNvPr id="4" name="Retângulo 3"/>
              <p:cNvSpPr/>
              <p:nvPr/>
            </p:nvSpPr>
            <p:spPr>
              <a:xfrm>
                <a:off x="1467900" y="2834640"/>
                <a:ext cx="9875519" cy="3344091"/>
              </a:xfrm>
              <a:prstGeom prst="rect">
                <a:avLst/>
              </a:prstGeom>
              <a:noFill/>
              <a:ln w="5715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p:cNvSpPr/>
              <p:nvPr/>
            </p:nvSpPr>
            <p:spPr>
              <a:xfrm>
                <a:off x="885435" y="2338252"/>
                <a:ext cx="10666990" cy="4341465"/>
              </a:xfrm>
              <a:prstGeom prst="rect">
                <a:avLst/>
              </a:prstGeom>
              <a:noFill/>
              <a:ln w="57150">
                <a:solidFill>
                  <a:srgbClr val="340ED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p:cNvSpPr/>
              <p:nvPr/>
            </p:nvSpPr>
            <p:spPr>
              <a:xfrm>
                <a:off x="1919577" y="3334773"/>
                <a:ext cx="9255035" cy="1041284"/>
              </a:xfrm>
              <a:prstGeom prst="rect">
                <a:avLst/>
              </a:prstGeom>
              <a:noFill/>
              <a:ln w="571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p:cNvSpPr/>
              <p:nvPr/>
            </p:nvSpPr>
            <p:spPr>
              <a:xfrm>
                <a:off x="1919576" y="4701215"/>
                <a:ext cx="9255035" cy="1005840"/>
              </a:xfrm>
              <a:prstGeom prst="rect">
                <a:avLst/>
              </a:prstGeom>
              <a:noFill/>
              <a:ln w="57150">
                <a:solidFill>
                  <a:srgbClr val="7030A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11" name="Texto Explicativo Retangular com Cantos Arredondados 10"/>
            <p:cNvSpPr/>
            <p:nvPr/>
          </p:nvSpPr>
          <p:spPr>
            <a:xfrm>
              <a:off x="5072975" y="1675322"/>
              <a:ext cx="914400" cy="612648"/>
            </a:xfrm>
            <a:prstGeom prst="wedgeRoundRectCallout">
              <a:avLst>
                <a:gd name="adj1" fmla="val -93690"/>
                <a:gd name="adj2" fmla="val 6889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3200" b="1" dirty="0">
                  <a:solidFill>
                    <a:srgbClr val="FFFF00"/>
                  </a:solidFill>
                </a:rPr>
                <a:t>1º</a:t>
              </a:r>
            </a:p>
          </p:txBody>
        </p:sp>
        <p:sp>
          <p:nvSpPr>
            <p:cNvPr id="12" name="Texto Explicativo Retangular com Cantos Arredondados 11"/>
            <p:cNvSpPr/>
            <p:nvPr/>
          </p:nvSpPr>
          <p:spPr>
            <a:xfrm>
              <a:off x="6423813" y="2272470"/>
              <a:ext cx="914400" cy="612648"/>
            </a:xfrm>
            <a:prstGeom prst="wedgeRoundRectCallout">
              <a:avLst>
                <a:gd name="adj1" fmla="val -97976"/>
                <a:gd name="adj2" fmla="val 4544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3200" b="1" dirty="0">
                  <a:solidFill>
                    <a:srgbClr val="FFFF00"/>
                  </a:solidFill>
                </a:rPr>
                <a:t>2º</a:t>
              </a:r>
            </a:p>
          </p:txBody>
        </p:sp>
        <p:sp>
          <p:nvSpPr>
            <p:cNvPr id="13" name="Texto Explicativo Retangular com Cantos Arredondados 12"/>
            <p:cNvSpPr/>
            <p:nvPr/>
          </p:nvSpPr>
          <p:spPr>
            <a:xfrm>
              <a:off x="7725744" y="3030783"/>
              <a:ext cx="914400" cy="612648"/>
            </a:xfrm>
            <a:prstGeom prst="wedgeRoundRectCallout">
              <a:avLst>
                <a:gd name="adj1" fmla="val -130833"/>
                <a:gd name="adj2" fmla="val 3904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3200" b="1" dirty="0">
                  <a:solidFill>
                    <a:srgbClr val="FFFF00"/>
                  </a:solidFill>
                </a:rPr>
                <a:t>3º</a:t>
              </a:r>
            </a:p>
          </p:txBody>
        </p:sp>
        <p:sp>
          <p:nvSpPr>
            <p:cNvPr id="14" name="Texto Explicativo Retangular com Cantos Arredondados 13"/>
            <p:cNvSpPr/>
            <p:nvPr/>
          </p:nvSpPr>
          <p:spPr>
            <a:xfrm>
              <a:off x="7725744" y="3030783"/>
              <a:ext cx="914400" cy="612648"/>
            </a:xfrm>
            <a:prstGeom prst="wedgeRoundRectCallout">
              <a:avLst>
                <a:gd name="adj1" fmla="val -115119"/>
                <a:gd name="adj2" fmla="val 23307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3200" b="1" dirty="0">
                  <a:solidFill>
                    <a:srgbClr val="FFFF00"/>
                  </a:solidFill>
                </a:rPr>
                <a:t>3º</a:t>
              </a:r>
            </a:p>
          </p:txBody>
        </p:sp>
      </p:grpSp>
      <p:sp>
        <p:nvSpPr>
          <p:cNvPr id="8" name="Espaço Reservado para Número de Slide 7"/>
          <p:cNvSpPr>
            <a:spLocks noGrp="1"/>
          </p:cNvSpPr>
          <p:nvPr>
            <p:ph type="sldNum" sz="quarter" idx="12"/>
          </p:nvPr>
        </p:nvSpPr>
        <p:spPr/>
        <p:txBody>
          <a:bodyPr/>
          <a:lstStyle/>
          <a:p>
            <a:fld id="{8256F83C-9D86-480B-90E0-0702DBEB9457}" type="slidenum">
              <a:rPr lang="pt-BR" smtClean="0"/>
              <a:t>77</a:t>
            </a:fld>
            <a:endParaRPr lang="pt-BR"/>
          </a:p>
        </p:txBody>
      </p:sp>
    </p:spTree>
    <p:extLst>
      <p:ext uri="{BB962C8B-B14F-4D97-AF65-F5344CB8AC3E}">
        <p14:creationId xmlns:p14="http://schemas.microsoft.com/office/powerpoint/2010/main" val="154531188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666206" y="883379"/>
            <a:ext cx="11982994" cy="6263253"/>
          </a:xfrm>
          <a:prstGeom prst="rect">
            <a:avLst/>
          </a:prstGeom>
        </p:spPr>
        <p:txBody>
          <a:bodyPr wrap="square">
            <a:spAutoFit/>
          </a:bodyPr>
          <a:lstStyle/>
          <a:p>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head</a:t>
            </a:r>
            <a:r>
              <a:rPr lang="pt-BR" b="1" dirty="0">
                <a:solidFill>
                  <a:srgbClr val="002060"/>
                </a:solidFill>
                <a:latin typeface="Consolas" panose="020B0609020204030204" pitchFamily="49" charset="0"/>
              </a:rPr>
              <a:t>&gt;</a:t>
            </a:r>
          </a:p>
          <a:p>
            <a:r>
              <a:rPr lang="pt-BR" b="1" dirty="0">
                <a:solidFill>
                  <a:srgbClr val="002060"/>
                </a:solidFill>
                <a:latin typeface="Consolas" panose="020B0609020204030204" pitchFamily="49" charset="0"/>
              </a:rPr>
              <a:t>    &lt;meta </a:t>
            </a:r>
            <a:r>
              <a:rPr lang="pt-BR" b="1" i="1" dirty="0" err="1">
                <a:solidFill>
                  <a:srgbClr val="002060"/>
                </a:solidFill>
                <a:latin typeface="Consolas" panose="020B0609020204030204" pitchFamily="49" charset="0"/>
              </a:rPr>
              <a:t>charset</a:t>
            </a:r>
            <a:r>
              <a:rPr lang="pt-BR" b="1" dirty="0">
                <a:solidFill>
                  <a:srgbClr val="002060"/>
                </a:solidFill>
                <a:latin typeface="Consolas" panose="020B0609020204030204" pitchFamily="49" charset="0"/>
              </a:rPr>
              <a:t>="UTF-8"&gt;</a:t>
            </a: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title</a:t>
            </a:r>
            <a:r>
              <a:rPr lang="pt-BR" b="1" dirty="0">
                <a:solidFill>
                  <a:srgbClr val="002060"/>
                </a:solidFill>
                <a:latin typeface="Consolas" panose="020B0609020204030204" pitchFamily="49" charset="0"/>
              </a:rPr>
              <a:t>&gt;Layout do </a:t>
            </a:r>
            <a:r>
              <a:rPr lang="pt-BR" b="1" dirty="0" err="1">
                <a:solidFill>
                  <a:srgbClr val="002060"/>
                </a:solidFill>
                <a:latin typeface="Consolas" panose="020B0609020204030204" pitchFamily="49" charset="0"/>
              </a:rPr>
              <a:t>Bootstrap</a:t>
            </a:r>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title</a:t>
            </a:r>
            <a:r>
              <a:rPr lang="pt-BR" b="1" dirty="0">
                <a:solidFill>
                  <a:srgbClr val="002060"/>
                </a:solidFill>
                <a:latin typeface="Consolas" panose="020B0609020204030204" pitchFamily="49" charset="0"/>
              </a:rPr>
              <a:t>&gt;</a:t>
            </a:r>
          </a:p>
          <a:p>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&lt;link </a:t>
            </a:r>
            <a:r>
              <a:rPr lang="pt-BR" b="1" i="1" dirty="0" err="1">
                <a:solidFill>
                  <a:srgbClr val="002060"/>
                </a:solidFill>
                <a:latin typeface="Consolas" panose="020B0609020204030204" pitchFamily="49" charset="0"/>
              </a:rPr>
              <a:t>href</a:t>
            </a:r>
            <a:r>
              <a:rPr lang="pt-BR" b="1" dirty="0">
                <a:solidFill>
                  <a:srgbClr val="002060"/>
                </a:solidFill>
                <a:latin typeface="Consolas" panose="020B0609020204030204" pitchFamily="49" charset="0"/>
              </a:rPr>
              <a:t>="https://cdn.jsdelivr.net/npm/bootstrap@5.3.0-alpha2/dist/css/bootstrap.min.css" </a:t>
            </a:r>
            <a:r>
              <a:rPr lang="pt-BR" b="1" i="1" dirty="0" err="1">
                <a:solidFill>
                  <a:srgbClr val="002060"/>
                </a:solidFill>
                <a:latin typeface="Consolas" panose="020B0609020204030204" pitchFamily="49" charset="0"/>
              </a:rPr>
              <a:t>rel</a:t>
            </a:r>
            <a:r>
              <a:rPr lang="pt-BR" b="1" dirty="0">
                <a:solidFill>
                  <a:srgbClr val="002060"/>
                </a:solidFill>
                <a:latin typeface="Consolas" panose="020B0609020204030204" pitchFamily="49" charset="0"/>
              </a:rPr>
              <a:t>="</a:t>
            </a:r>
            <a:r>
              <a:rPr lang="pt-BR" b="1" dirty="0" err="1">
                <a:solidFill>
                  <a:srgbClr val="002060"/>
                </a:solidFill>
                <a:latin typeface="Consolas" panose="020B0609020204030204" pitchFamily="49" charset="0"/>
              </a:rPr>
              <a:t>stylesheet</a:t>
            </a:r>
            <a:r>
              <a:rPr lang="pt-BR" b="1" dirty="0">
                <a:solidFill>
                  <a:srgbClr val="002060"/>
                </a:solidFill>
                <a:latin typeface="Consolas" panose="020B0609020204030204" pitchFamily="49" charset="0"/>
              </a:rPr>
              <a:t>" </a:t>
            </a:r>
            <a:r>
              <a:rPr lang="pt-BR" b="1" i="1" dirty="0" err="1">
                <a:solidFill>
                  <a:srgbClr val="002060"/>
                </a:solidFill>
                <a:latin typeface="Consolas" panose="020B0609020204030204" pitchFamily="49" charset="0"/>
              </a:rPr>
              <a:t>integrity</a:t>
            </a:r>
            <a:r>
              <a:rPr lang="pt-BR" b="1" dirty="0">
                <a:solidFill>
                  <a:srgbClr val="002060"/>
                </a:solidFill>
                <a:latin typeface="Consolas" panose="020B0609020204030204" pitchFamily="49" charset="0"/>
              </a:rPr>
              <a:t>="sha384-aFq/bzH65dt+w6FI2ooMVUpc+21e0SRygnTpmBvdBgSdnuTN7QbdgL+OapgHtvPp" </a:t>
            </a:r>
            <a:r>
              <a:rPr lang="pt-BR" b="1" i="1" dirty="0" err="1">
                <a:solidFill>
                  <a:srgbClr val="002060"/>
                </a:solidFill>
                <a:latin typeface="Consolas" panose="020B0609020204030204" pitchFamily="49" charset="0"/>
              </a:rPr>
              <a:t>crossorigin</a:t>
            </a:r>
            <a:r>
              <a:rPr lang="pt-BR" b="1" dirty="0">
                <a:solidFill>
                  <a:srgbClr val="002060"/>
                </a:solidFill>
                <a:latin typeface="Consolas" panose="020B0609020204030204" pitchFamily="49" charset="0"/>
              </a:rPr>
              <a:t>="</a:t>
            </a:r>
            <a:r>
              <a:rPr lang="pt-BR" b="1" dirty="0" err="1">
                <a:solidFill>
                  <a:srgbClr val="002060"/>
                </a:solidFill>
                <a:latin typeface="Consolas" panose="020B0609020204030204" pitchFamily="49" charset="0"/>
              </a:rPr>
              <a:t>anonymous</a:t>
            </a:r>
            <a:r>
              <a:rPr lang="pt-BR" b="1" dirty="0">
                <a:solidFill>
                  <a:srgbClr val="002060"/>
                </a:solidFill>
                <a:latin typeface="Consolas" panose="020B0609020204030204" pitchFamily="49" charset="0"/>
              </a:rPr>
              <a:t>"&gt;</a:t>
            </a:r>
          </a:p>
          <a:p>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style</a:t>
            </a:r>
            <a:r>
              <a:rPr lang="pt-BR" b="1" dirty="0">
                <a:solidFill>
                  <a:srgbClr val="002060"/>
                </a:solidFill>
                <a:latin typeface="Consolas" panose="020B0609020204030204" pitchFamily="49" charset="0"/>
              </a:rPr>
              <a:t>&gt;</a:t>
            </a:r>
          </a:p>
          <a:p>
            <a:r>
              <a:rPr lang="pt-BR" b="1" dirty="0">
                <a:solidFill>
                  <a:srgbClr val="002060"/>
                </a:solidFill>
                <a:latin typeface="Consolas" panose="020B0609020204030204" pitchFamily="49" charset="0"/>
              </a:rPr>
              <a:t>        </a:t>
            </a:r>
            <a:r>
              <a:rPr lang="pt-BR" b="1" i="1" dirty="0">
                <a:solidFill>
                  <a:srgbClr val="002060"/>
                </a:solidFill>
                <a:latin typeface="Consolas" panose="020B0609020204030204" pitchFamily="49" charset="0"/>
              </a:rPr>
              <a:t>.</a:t>
            </a:r>
            <a:r>
              <a:rPr lang="pt-BR" b="1" i="1" dirty="0" err="1">
                <a:solidFill>
                  <a:srgbClr val="002060"/>
                </a:solidFill>
                <a:latin typeface="Consolas" panose="020B0609020204030204" pitchFamily="49" charset="0"/>
              </a:rPr>
              <a:t>classe_botao</a:t>
            </a:r>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width</a:t>
            </a:r>
            <a:r>
              <a:rPr lang="pt-BR" b="1" dirty="0">
                <a:solidFill>
                  <a:srgbClr val="002060"/>
                </a:solidFill>
                <a:latin typeface="Consolas" panose="020B0609020204030204" pitchFamily="49" charset="0"/>
              </a:rPr>
              <a:t>: 100%;</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margin</a:t>
            </a:r>
            <a:r>
              <a:rPr lang="pt-BR" b="1" dirty="0">
                <a:solidFill>
                  <a:srgbClr val="002060"/>
                </a:solidFill>
                <a:latin typeface="Consolas" panose="020B0609020204030204" pitchFamily="49" charset="0"/>
              </a:rPr>
              <a:t>-top: 10px;</a:t>
            </a:r>
          </a:p>
          <a:p>
            <a:r>
              <a:rPr lang="pt-BR" b="1" dirty="0">
                <a:solidFill>
                  <a:srgbClr val="002060"/>
                </a:solidFill>
                <a:latin typeface="Consolas" panose="020B0609020204030204" pitchFamily="49" charset="0"/>
              </a:rPr>
              <a:t>        }</a:t>
            </a:r>
          </a:p>
          <a:p>
            <a:endParaRPr lang="pt-BR" sz="500"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div</a:t>
            </a:r>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width</a:t>
            </a:r>
            <a:r>
              <a:rPr lang="pt-BR" b="1" dirty="0">
                <a:solidFill>
                  <a:srgbClr val="002060"/>
                </a:solidFill>
                <a:latin typeface="Consolas" panose="020B0609020204030204" pitchFamily="49" charset="0"/>
              </a:rPr>
              <a:t>: 100%;</a:t>
            </a:r>
          </a:p>
          <a:p>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height</a:t>
            </a:r>
            <a:r>
              <a:rPr lang="pt-BR" b="1" dirty="0">
                <a:solidFill>
                  <a:srgbClr val="002060"/>
                </a:solidFill>
                <a:latin typeface="Consolas" panose="020B0609020204030204" pitchFamily="49" charset="0"/>
              </a:rPr>
              <a:t>: 50px;</a:t>
            </a:r>
          </a:p>
          <a:p>
            <a:r>
              <a:rPr lang="pt-BR" b="1" dirty="0">
                <a:solidFill>
                  <a:srgbClr val="002060"/>
                </a:solidFill>
                <a:latin typeface="Consolas" panose="020B0609020204030204" pitchFamily="49" charset="0"/>
              </a:rPr>
              <a:t>        }</a:t>
            </a:r>
          </a:p>
          <a:p>
            <a:endParaRPr lang="pt-BR" sz="400"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style</a:t>
            </a:r>
            <a:r>
              <a:rPr lang="pt-BR" b="1" dirty="0">
                <a:solidFill>
                  <a:srgbClr val="002060"/>
                </a:solidFill>
                <a:latin typeface="Consolas" panose="020B0609020204030204" pitchFamily="49" charset="0"/>
              </a:rPr>
              <a:t>&gt;</a:t>
            </a:r>
            <a:endParaRPr lang="pt-BR" sz="1050"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head</a:t>
            </a:r>
            <a:r>
              <a:rPr lang="pt-BR" b="1" dirty="0">
                <a:solidFill>
                  <a:srgbClr val="002060"/>
                </a:solidFill>
                <a:latin typeface="Consolas" panose="020B0609020204030204" pitchFamily="49" charset="0"/>
              </a:rPr>
              <a:t>&gt;</a:t>
            </a:r>
            <a:endParaRPr lang="pt-BR" b="1" dirty="0">
              <a:solidFill>
                <a:srgbClr val="002060"/>
              </a:solidFill>
              <a:effectLst/>
              <a:latin typeface="Consolas" panose="020B0609020204030204" pitchFamily="49" charset="0"/>
            </a:endParaRPr>
          </a:p>
        </p:txBody>
      </p:sp>
      <p:sp>
        <p:nvSpPr>
          <p:cNvPr id="4" name="Texto Explicativo Retangular com Cantos Arredondados 3"/>
          <p:cNvSpPr/>
          <p:nvPr/>
        </p:nvSpPr>
        <p:spPr>
          <a:xfrm>
            <a:off x="9418320" y="3361240"/>
            <a:ext cx="2769326" cy="953588"/>
          </a:xfrm>
          <a:prstGeom prst="wedgeRoundRectCallout">
            <a:avLst>
              <a:gd name="adj1" fmla="val -53852"/>
              <a:gd name="adj2" fmla="val -9593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a:t>Link para o arquivo CSS do </a:t>
            </a:r>
            <a:r>
              <a:rPr lang="pt-BR" sz="2400" b="1" dirty="0" err="1"/>
              <a:t>bootstrap</a:t>
            </a:r>
            <a:endParaRPr lang="pt-BR" sz="2400" b="1" dirty="0"/>
          </a:p>
        </p:txBody>
      </p:sp>
      <p:sp>
        <p:nvSpPr>
          <p:cNvPr id="5" name="Texto Explicativo Retangular com Cantos Arredondados 4"/>
          <p:cNvSpPr/>
          <p:nvPr/>
        </p:nvSpPr>
        <p:spPr>
          <a:xfrm>
            <a:off x="5638802" y="3376751"/>
            <a:ext cx="2769326" cy="1502227"/>
          </a:xfrm>
          <a:prstGeom prst="wedgeRoundRectCallout">
            <a:avLst>
              <a:gd name="adj1" fmla="val -65644"/>
              <a:gd name="adj2" fmla="val -228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err="1"/>
              <a:t>css</a:t>
            </a:r>
            <a:r>
              <a:rPr lang="pt-BR" sz="2400" b="1" dirty="0"/>
              <a:t> para ajustar a largura dos botões e o espaçamento entre eles</a:t>
            </a:r>
          </a:p>
        </p:txBody>
      </p:sp>
      <p:sp>
        <p:nvSpPr>
          <p:cNvPr id="6" name="Texto Explicativo Retangular com Cantos Arredondados 5"/>
          <p:cNvSpPr/>
          <p:nvPr/>
        </p:nvSpPr>
        <p:spPr>
          <a:xfrm>
            <a:off x="5730240" y="5337519"/>
            <a:ext cx="2769326" cy="953588"/>
          </a:xfrm>
          <a:prstGeom prst="wedgeRoundRectCallout">
            <a:avLst>
              <a:gd name="adj1" fmla="val -68474"/>
              <a:gd name="adj2" fmla="val -2606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err="1"/>
              <a:t>css</a:t>
            </a:r>
            <a:r>
              <a:rPr lang="pt-BR" sz="2400" b="1" dirty="0"/>
              <a:t> para customizar uma </a:t>
            </a:r>
            <a:r>
              <a:rPr lang="pt-BR" sz="2400" b="1" dirty="0" err="1"/>
              <a:t>div</a:t>
            </a:r>
            <a:r>
              <a:rPr lang="pt-BR" sz="2400" b="1" dirty="0"/>
              <a:t> superior</a:t>
            </a:r>
          </a:p>
        </p:txBody>
      </p:sp>
      <p:sp>
        <p:nvSpPr>
          <p:cNvPr id="7" name="Chave Direita 6"/>
          <p:cNvSpPr/>
          <p:nvPr/>
        </p:nvSpPr>
        <p:spPr>
          <a:xfrm>
            <a:off x="4872448" y="3376751"/>
            <a:ext cx="195941" cy="1417321"/>
          </a:xfrm>
          <a:prstGeom prst="rightBrace">
            <a:avLst>
              <a:gd name="adj1" fmla="val 97917"/>
              <a:gd name="adj2" fmla="val 50000"/>
            </a:avLst>
          </a:prstGeom>
          <a:ln w="3810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8" name="Retângulo 7"/>
          <p:cNvSpPr/>
          <p:nvPr/>
        </p:nvSpPr>
        <p:spPr>
          <a:xfrm>
            <a:off x="1606732" y="3376751"/>
            <a:ext cx="3161212" cy="1417321"/>
          </a:xfrm>
          <a:prstGeom prst="rect">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p:cNvSpPr/>
          <p:nvPr/>
        </p:nvSpPr>
        <p:spPr>
          <a:xfrm>
            <a:off x="1606732" y="4864289"/>
            <a:ext cx="3161212" cy="1417321"/>
          </a:xfrm>
          <a:prstGeom prst="rect">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Chave Direita 9"/>
          <p:cNvSpPr/>
          <p:nvPr/>
        </p:nvSpPr>
        <p:spPr>
          <a:xfrm>
            <a:off x="4872448" y="4878978"/>
            <a:ext cx="195941" cy="1417321"/>
          </a:xfrm>
          <a:prstGeom prst="rightBrace">
            <a:avLst>
              <a:gd name="adj1" fmla="val 97917"/>
              <a:gd name="adj2" fmla="val 50000"/>
            </a:avLst>
          </a:prstGeom>
          <a:ln w="3810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1" name="Retângulo 10"/>
          <p:cNvSpPr/>
          <p:nvPr/>
        </p:nvSpPr>
        <p:spPr>
          <a:xfrm>
            <a:off x="611778" y="1959431"/>
            <a:ext cx="11575868" cy="958780"/>
          </a:xfrm>
          <a:prstGeom prst="rect">
            <a:avLst/>
          </a:prstGeom>
          <a:noFill/>
          <a:ln w="381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Título 1"/>
          <p:cNvSpPr txBox="1">
            <a:spLocks/>
          </p:cNvSpPr>
          <p:nvPr/>
        </p:nvSpPr>
        <p:spPr>
          <a:xfrm>
            <a:off x="509452" y="421635"/>
            <a:ext cx="12191999" cy="395111"/>
          </a:xfrm>
          <a:prstGeom prst="rect">
            <a:avLst/>
          </a:prstGeom>
        </p:spPr>
        <p:txBody>
          <a:bodyPr>
            <a:noAutofit/>
          </a:bodyPr>
          <a:lstStyle>
            <a:lvl1pPr algn="l" defTabSz="914400" rtl="0" eaLnBrk="1" latinLnBrk="0" hangingPunct="1">
              <a:lnSpc>
                <a:spcPct val="90000"/>
              </a:lnSpc>
              <a:spcBef>
                <a:spcPct val="0"/>
              </a:spcBef>
              <a:buNone/>
              <a:defRPr sz="4400" b="1" kern="1200">
                <a:solidFill>
                  <a:srgbClr val="1B4572"/>
                </a:solidFill>
                <a:latin typeface="Arial" panose="020B0604020202020204" pitchFamily="34" charset="0"/>
                <a:ea typeface="+mj-ea"/>
                <a:cs typeface="Arial" panose="020B0604020202020204" pitchFamily="34" charset="0"/>
              </a:defRPr>
            </a:lvl1pPr>
          </a:lstStyle>
          <a:p>
            <a:pPr algn="ctr"/>
            <a:r>
              <a:rPr lang="pt-BR" sz="3200" dirty="0">
                <a:solidFill>
                  <a:srgbClr val="002060"/>
                </a:solidFill>
              </a:rPr>
              <a:t>Exemplo:</a:t>
            </a:r>
          </a:p>
        </p:txBody>
      </p:sp>
      <p:sp>
        <p:nvSpPr>
          <p:cNvPr id="13" name="Espaço Reservado para Número de Slide 12"/>
          <p:cNvSpPr>
            <a:spLocks noGrp="1"/>
          </p:cNvSpPr>
          <p:nvPr>
            <p:ph type="sldNum" sz="quarter" idx="12"/>
          </p:nvPr>
        </p:nvSpPr>
        <p:spPr/>
        <p:txBody>
          <a:bodyPr/>
          <a:lstStyle/>
          <a:p>
            <a:fld id="{8256F83C-9D86-480B-90E0-0702DBEB9457}" type="slidenum">
              <a:rPr lang="pt-BR" smtClean="0"/>
              <a:t>78</a:t>
            </a:fld>
            <a:endParaRPr lang="pt-BR"/>
          </a:p>
        </p:txBody>
      </p:sp>
    </p:spTree>
    <p:extLst>
      <p:ext uri="{BB962C8B-B14F-4D97-AF65-F5344CB8AC3E}">
        <p14:creationId xmlns:p14="http://schemas.microsoft.com/office/powerpoint/2010/main" val="193863383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640086" y="358183"/>
            <a:ext cx="10894422" cy="6463308"/>
          </a:xfrm>
          <a:prstGeom prst="rect">
            <a:avLst/>
          </a:prstGeom>
        </p:spPr>
        <p:txBody>
          <a:bodyPr wrap="square">
            <a:spAutoFit/>
          </a:bodyPr>
          <a:lstStyle/>
          <a:p>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body</a:t>
            </a:r>
            <a:r>
              <a:rPr lang="pt-BR" b="1" dirty="0">
                <a:solidFill>
                  <a:srgbClr val="002060"/>
                </a:solidFill>
                <a:latin typeface="Consolas" panose="020B0609020204030204" pitchFamily="49" charset="0"/>
              </a:rPr>
              <a:t>&gt;</a:t>
            </a: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div</a:t>
            </a:r>
            <a:r>
              <a:rPr lang="pt-BR" b="1" dirty="0">
                <a:solidFill>
                  <a:srgbClr val="002060"/>
                </a:solidFill>
                <a:latin typeface="Consolas" panose="020B0609020204030204" pitchFamily="49" charset="0"/>
              </a:rPr>
              <a:t>&gt;</a:t>
            </a:r>
          </a:p>
          <a:p>
            <a:r>
              <a:rPr lang="pt-BR" b="1" dirty="0">
                <a:solidFill>
                  <a:srgbClr val="002060"/>
                </a:solidFill>
                <a:latin typeface="Consolas" panose="020B0609020204030204" pitchFamily="49" charset="0"/>
              </a:rPr>
              <a:t>	&lt;!--	AQUI PODE SER COLOCADO UM BANNER	--&gt;</a:t>
            </a:r>
            <a:br>
              <a:rPr lang="pt-BR" b="1" dirty="0">
                <a:solidFill>
                  <a:srgbClr val="002060"/>
                </a:solidFill>
                <a:latin typeface="Consolas" panose="020B0609020204030204" pitchFamily="49" charset="0"/>
              </a:rPr>
            </a:br>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div</a:t>
            </a:r>
            <a:r>
              <a:rPr lang="pt-BR" b="1" dirty="0">
                <a:solidFill>
                  <a:srgbClr val="002060"/>
                </a:solidFill>
                <a:latin typeface="Consolas" panose="020B0609020204030204" pitchFamily="49" charset="0"/>
              </a:rPr>
              <a:t>&gt;</a:t>
            </a: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hr</a:t>
            </a:r>
            <a:r>
              <a:rPr lang="pt-BR" b="1" dirty="0">
                <a:solidFill>
                  <a:srgbClr val="002060"/>
                </a:solidFill>
                <a:latin typeface="Consolas" panose="020B0609020204030204" pitchFamily="49" charset="0"/>
              </a:rPr>
              <a:t>&gt;</a:t>
            </a:r>
          </a:p>
          <a:p>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div</a:t>
            </a:r>
            <a:r>
              <a:rPr lang="pt-BR" b="1" dirty="0">
                <a:solidFill>
                  <a:srgbClr val="002060"/>
                </a:solidFill>
                <a:latin typeface="Consolas" panose="020B0609020204030204" pitchFamily="49" charset="0"/>
              </a:rPr>
              <a:t> </a:t>
            </a:r>
            <a:r>
              <a:rPr lang="pt-BR" b="1" i="1" dirty="0" err="1">
                <a:solidFill>
                  <a:srgbClr val="002060"/>
                </a:solidFill>
                <a:latin typeface="Consolas" panose="020B0609020204030204" pitchFamily="49" charset="0"/>
              </a:rPr>
              <a:t>class</a:t>
            </a:r>
            <a:r>
              <a:rPr lang="pt-BR" b="1" dirty="0">
                <a:solidFill>
                  <a:srgbClr val="002060"/>
                </a:solidFill>
                <a:latin typeface="Consolas" panose="020B0609020204030204" pitchFamily="49" charset="0"/>
              </a:rPr>
              <a:t>="container-</a:t>
            </a:r>
            <a:r>
              <a:rPr lang="pt-BR" b="1" dirty="0" err="1">
                <a:solidFill>
                  <a:srgbClr val="002060"/>
                </a:solidFill>
                <a:latin typeface="Consolas" panose="020B0609020204030204" pitchFamily="49" charset="0"/>
              </a:rPr>
              <a:t>fluid</a:t>
            </a:r>
            <a:r>
              <a:rPr lang="pt-BR" b="1" dirty="0">
                <a:solidFill>
                  <a:srgbClr val="002060"/>
                </a:solidFill>
                <a:latin typeface="Consolas" panose="020B0609020204030204" pitchFamily="49" charset="0"/>
              </a:rPr>
              <a:t>"&gt;</a:t>
            </a: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div</a:t>
            </a:r>
            <a:r>
              <a:rPr lang="pt-BR" b="1" dirty="0">
                <a:solidFill>
                  <a:srgbClr val="002060"/>
                </a:solidFill>
                <a:latin typeface="Consolas" panose="020B0609020204030204" pitchFamily="49" charset="0"/>
              </a:rPr>
              <a:t> </a:t>
            </a:r>
            <a:r>
              <a:rPr lang="pt-BR" b="1" i="1" dirty="0" err="1">
                <a:solidFill>
                  <a:srgbClr val="002060"/>
                </a:solidFill>
                <a:latin typeface="Consolas" panose="020B0609020204030204" pitchFamily="49" charset="0"/>
              </a:rPr>
              <a:t>class</a:t>
            </a:r>
            <a:r>
              <a:rPr lang="pt-BR" b="1" dirty="0">
                <a:solidFill>
                  <a:srgbClr val="002060"/>
                </a:solidFill>
                <a:latin typeface="Consolas" panose="020B0609020204030204" pitchFamily="49" charset="0"/>
              </a:rPr>
              <a:t>="</a:t>
            </a:r>
            <a:r>
              <a:rPr lang="pt-BR" b="1" dirty="0" err="1">
                <a:solidFill>
                  <a:srgbClr val="002060"/>
                </a:solidFill>
                <a:latin typeface="Consolas" panose="020B0609020204030204" pitchFamily="49" charset="0"/>
              </a:rPr>
              <a:t>row</a:t>
            </a:r>
            <a:r>
              <a:rPr lang="pt-BR" b="1" dirty="0">
                <a:solidFill>
                  <a:srgbClr val="002060"/>
                </a:solidFill>
                <a:latin typeface="Consolas" panose="020B0609020204030204" pitchFamily="49" charset="0"/>
              </a:rPr>
              <a:t>"&gt;</a:t>
            </a:r>
          </a:p>
          <a:p>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div</a:t>
            </a:r>
            <a:r>
              <a:rPr lang="pt-BR" b="1" dirty="0">
                <a:solidFill>
                  <a:srgbClr val="002060"/>
                </a:solidFill>
                <a:latin typeface="Consolas" panose="020B0609020204030204" pitchFamily="49" charset="0"/>
              </a:rPr>
              <a:t> </a:t>
            </a:r>
            <a:r>
              <a:rPr lang="pt-BR" b="1" i="1" dirty="0" err="1">
                <a:solidFill>
                  <a:srgbClr val="002060"/>
                </a:solidFill>
                <a:latin typeface="Consolas" panose="020B0609020204030204" pitchFamily="49" charset="0"/>
              </a:rPr>
              <a:t>class</a:t>
            </a:r>
            <a:r>
              <a:rPr lang="pt-BR" b="1" dirty="0">
                <a:solidFill>
                  <a:srgbClr val="002060"/>
                </a:solidFill>
                <a:latin typeface="Consolas" panose="020B0609020204030204" pitchFamily="49" charset="0"/>
              </a:rPr>
              <a:t>="col-sm-2"&gt;</a:t>
            </a: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button</a:t>
            </a:r>
            <a:r>
              <a:rPr lang="pt-BR" b="1" dirty="0">
                <a:solidFill>
                  <a:srgbClr val="002060"/>
                </a:solidFill>
                <a:latin typeface="Consolas" panose="020B0609020204030204" pitchFamily="49" charset="0"/>
              </a:rPr>
              <a:t> </a:t>
            </a:r>
            <a:r>
              <a:rPr lang="pt-BR" b="1" i="1" dirty="0" err="1">
                <a:solidFill>
                  <a:srgbClr val="002060"/>
                </a:solidFill>
                <a:latin typeface="Consolas" panose="020B0609020204030204" pitchFamily="49" charset="0"/>
              </a:rPr>
              <a:t>class</a:t>
            </a:r>
            <a:r>
              <a:rPr lang="pt-BR" b="1" dirty="0">
                <a:solidFill>
                  <a:srgbClr val="002060"/>
                </a:solidFill>
                <a:latin typeface="Consolas" panose="020B0609020204030204" pitchFamily="49" charset="0"/>
              </a:rPr>
              <a:t>="</a:t>
            </a:r>
            <a:r>
              <a:rPr lang="pt-BR" b="1" dirty="0" err="1">
                <a:solidFill>
                  <a:srgbClr val="002060"/>
                </a:solidFill>
                <a:latin typeface="Consolas" panose="020B0609020204030204" pitchFamily="49" charset="0"/>
              </a:rPr>
              <a:t>classe_botao</a:t>
            </a:r>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btn</a:t>
            </a:r>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btn-primary</a:t>
            </a:r>
            <a:r>
              <a:rPr lang="pt-BR" b="1" dirty="0">
                <a:solidFill>
                  <a:srgbClr val="002060"/>
                </a:solidFill>
                <a:latin typeface="Consolas" panose="020B0609020204030204" pitchFamily="49" charset="0"/>
              </a:rPr>
              <a:t>"&gt;Produtos&lt;/</a:t>
            </a:r>
            <a:r>
              <a:rPr lang="pt-BR" b="1" dirty="0" err="1">
                <a:solidFill>
                  <a:srgbClr val="002060"/>
                </a:solidFill>
                <a:latin typeface="Consolas" panose="020B0609020204030204" pitchFamily="49" charset="0"/>
              </a:rPr>
              <a:t>button</a:t>
            </a:r>
            <a:r>
              <a:rPr lang="pt-BR" b="1" dirty="0">
                <a:solidFill>
                  <a:srgbClr val="002060"/>
                </a:solidFill>
                <a:latin typeface="Consolas" panose="020B0609020204030204" pitchFamily="49" charset="0"/>
              </a:rPr>
              <a:t>&gt;</a:t>
            </a: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button</a:t>
            </a:r>
            <a:r>
              <a:rPr lang="pt-BR" b="1" dirty="0">
                <a:solidFill>
                  <a:srgbClr val="002060"/>
                </a:solidFill>
                <a:latin typeface="Consolas" panose="020B0609020204030204" pitchFamily="49" charset="0"/>
              </a:rPr>
              <a:t> </a:t>
            </a:r>
            <a:r>
              <a:rPr lang="pt-BR" b="1" i="1" dirty="0" err="1">
                <a:solidFill>
                  <a:srgbClr val="002060"/>
                </a:solidFill>
                <a:latin typeface="Consolas" panose="020B0609020204030204" pitchFamily="49" charset="0"/>
              </a:rPr>
              <a:t>class</a:t>
            </a:r>
            <a:r>
              <a:rPr lang="pt-BR" b="1" dirty="0">
                <a:solidFill>
                  <a:srgbClr val="002060"/>
                </a:solidFill>
                <a:latin typeface="Consolas" panose="020B0609020204030204" pitchFamily="49" charset="0"/>
              </a:rPr>
              <a:t>="</a:t>
            </a:r>
            <a:r>
              <a:rPr lang="pt-BR" b="1" dirty="0" err="1">
                <a:solidFill>
                  <a:srgbClr val="002060"/>
                </a:solidFill>
                <a:latin typeface="Consolas" panose="020B0609020204030204" pitchFamily="49" charset="0"/>
              </a:rPr>
              <a:t>classe_botao</a:t>
            </a:r>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btn</a:t>
            </a:r>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btn-primary</a:t>
            </a:r>
            <a:r>
              <a:rPr lang="pt-BR" b="1" dirty="0">
                <a:solidFill>
                  <a:srgbClr val="002060"/>
                </a:solidFill>
                <a:latin typeface="Consolas" panose="020B0609020204030204" pitchFamily="49" charset="0"/>
              </a:rPr>
              <a:t>"&gt;Bazar&lt;/</a:t>
            </a:r>
            <a:r>
              <a:rPr lang="pt-BR" b="1" dirty="0" err="1">
                <a:solidFill>
                  <a:srgbClr val="002060"/>
                </a:solidFill>
                <a:latin typeface="Consolas" panose="020B0609020204030204" pitchFamily="49" charset="0"/>
              </a:rPr>
              <a:t>button</a:t>
            </a:r>
            <a:r>
              <a:rPr lang="pt-BR" b="1" dirty="0">
                <a:solidFill>
                  <a:srgbClr val="002060"/>
                </a:solidFill>
                <a:latin typeface="Consolas" panose="020B0609020204030204" pitchFamily="49" charset="0"/>
              </a:rPr>
              <a:t>&gt;</a:t>
            </a: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button</a:t>
            </a:r>
            <a:r>
              <a:rPr lang="pt-BR" b="1" dirty="0">
                <a:solidFill>
                  <a:srgbClr val="002060"/>
                </a:solidFill>
                <a:latin typeface="Consolas" panose="020B0609020204030204" pitchFamily="49" charset="0"/>
              </a:rPr>
              <a:t> </a:t>
            </a:r>
            <a:r>
              <a:rPr lang="pt-BR" b="1" i="1" dirty="0" err="1">
                <a:solidFill>
                  <a:srgbClr val="002060"/>
                </a:solidFill>
                <a:latin typeface="Consolas" panose="020B0609020204030204" pitchFamily="49" charset="0"/>
              </a:rPr>
              <a:t>class</a:t>
            </a:r>
            <a:r>
              <a:rPr lang="pt-BR" b="1" dirty="0">
                <a:solidFill>
                  <a:srgbClr val="002060"/>
                </a:solidFill>
                <a:latin typeface="Consolas" panose="020B0609020204030204" pitchFamily="49" charset="0"/>
              </a:rPr>
              <a:t>="</a:t>
            </a:r>
            <a:r>
              <a:rPr lang="pt-BR" b="1" dirty="0" err="1">
                <a:solidFill>
                  <a:srgbClr val="002060"/>
                </a:solidFill>
                <a:latin typeface="Consolas" panose="020B0609020204030204" pitchFamily="49" charset="0"/>
              </a:rPr>
              <a:t>classe_botao</a:t>
            </a:r>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btn</a:t>
            </a:r>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btn-primary</a:t>
            </a:r>
            <a:r>
              <a:rPr lang="pt-BR" b="1" dirty="0">
                <a:solidFill>
                  <a:srgbClr val="002060"/>
                </a:solidFill>
                <a:latin typeface="Consolas" panose="020B0609020204030204" pitchFamily="49" charset="0"/>
              </a:rPr>
              <a:t>"&gt;Veterinário&lt;/</a:t>
            </a:r>
            <a:r>
              <a:rPr lang="pt-BR" b="1" dirty="0" err="1">
                <a:solidFill>
                  <a:srgbClr val="002060"/>
                </a:solidFill>
                <a:latin typeface="Consolas" panose="020B0609020204030204" pitchFamily="49" charset="0"/>
              </a:rPr>
              <a:t>button</a:t>
            </a:r>
            <a:r>
              <a:rPr lang="pt-BR" b="1" dirty="0">
                <a:solidFill>
                  <a:srgbClr val="002060"/>
                </a:solidFill>
                <a:latin typeface="Consolas" panose="020B0609020204030204" pitchFamily="49" charset="0"/>
              </a:rPr>
              <a:t>&gt;</a:t>
            </a: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button</a:t>
            </a:r>
            <a:r>
              <a:rPr lang="pt-BR" b="1" dirty="0">
                <a:solidFill>
                  <a:srgbClr val="002060"/>
                </a:solidFill>
                <a:latin typeface="Consolas" panose="020B0609020204030204" pitchFamily="49" charset="0"/>
              </a:rPr>
              <a:t> </a:t>
            </a:r>
            <a:r>
              <a:rPr lang="pt-BR" b="1" i="1" dirty="0" err="1">
                <a:solidFill>
                  <a:srgbClr val="002060"/>
                </a:solidFill>
                <a:latin typeface="Consolas" panose="020B0609020204030204" pitchFamily="49" charset="0"/>
              </a:rPr>
              <a:t>class</a:t>
            </a:r>
            <a:r>
              <a:rPr lang="pt-BR" b="1" dirty="0">
                <a:solidFill>
                  <a:srgbClr val="002060"/>
                </a:solidFill>
                <a:latin typeface="Consolas" panose="020B0609020204030204" pitchFamily="49" charset="0"/>
              </a:rPr>
              <a:t>="</a:t>
            </a:r>
            <a:r>
              <a:rPr lang="pt-BR" b="1" dirty="0" err="1">
                <a:solidFill>
                  <a:srgbClr val="002060"/>
                </a:solidFill>
                <a:latin typeface="Consolas" panose="020B0609020204030204" pitchFamily="49" charset="0"/>
              </a:rPr>
              <a:t>classe_botao</a:t>
            </a:r>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btn</a:t>
            </a:r>
            <a:r>
              <a:rPr lang="pt-BR" b="1" dirty="0">
                <a:solidFill>
                  <a:srgbClr val="002060"/>
                </a:solidFill>
                <a:latin typeface="Consolas" panose="020B0609020204030204" pitchFamily="49" charset="0"/>
              </a:rPr>
              <a:t> </a:t>
            </a:r>
            <a:r>
              <a:rPr lang="pt-BR" b="1" dirty="0" err="1">
                <a:solidFill>
                  <a:srgbClr val="002060"/>
                </a:solidFill>
                <a:latin typeface="Consolas" panose="020B0609020204030204" pitchFamily="49" charset="0"/>
              </a:rPr>
              <a:t>btn-primary</a:t>
            </a:r>
            <a:r>
              <a:rPr lang="pt-BR" b="1" dirty="0">
                <a:solidFill>
                  <a:srgbClr val="002060"/>
                </a:solidFill>
                <a:latin typeface="Consolas" panose="020B0609020204030204" pitchFamily="49" charset="0"/>
              </a:rPr>
              <a:t>"&gt;Ajuda&lt;/</a:t>
            </a:r>
            <a:r>
              <a:rPr lang="pt-BR" b="1" dirty="0" err="1">
                <a:solidFill>
                  <a:srgbClr val="002060"/>
                </a:solidFill>
                <a:latin typeface="Consolas" panose="020B0609020204030204" pitchFamily="49" charset="0"/>
              </a:rPr>
              <a:t>button</a:t>
            </a:r>
            <a:r>
              <a:rPr lang="pt-BR" b="1" dirty="0">
                <a:solidFill>
                  <a:srgbClr val="002060"/>
                </a:solidFill>
                <a:latin typeface="Consolas" panose="020B0609020204030204" pitchFamily="49" charset="0"/>
              </a:rPr>
              <a:t>&gt;</a:t>
            </a: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div</a:t>
            </a:r>
            <a:r>
              <a:rPr lang="pt-BR" b="1" dirty="0">
                <a:solidFill>
                  <a:srgbClr val="002060"/>
                </a:solidFill>
                <a:latin typeface="Consolas" panose="020B0609020204030204" pitchFamily="49" charset="0"/>
              </a:rPr>
              <a:t>&gt;</a:t>
            </a:r>
          </a:p>
          <a:p>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div</a:t>
            </a:r>
            <a:r>
              <a:rPr lang="pt-BR" b="1" dirty="0">
                <a:solidFill>
                  <a:srgbClr val="002060"/>
                </a:solidFill>
                <a:latin typeface="Consolas" panose="020B0609020204030204" pitchFamily="49" charset="0"/>
              </a:rPr>
              <a:t> </a:t>
            </a:r>
            <a:r>
              <a:rPr lang="pt-BR" b="1" i="1" dirty="0" err="1">
                <a:solidFill>
                  <a:srgbClr val="002060"/>
                </a:solidFill>
                <a:latin typeface="Consolas" panose="020B0609020204030204" pitchFamily="49" charset="0"/>
              </a:rPr>
              <a:t>class</a:t>
            </a:r>
            <a:r>
              <a:rPr lang="pt-BR" b="1" dirty="0">
                <a:solidFill>
                  <a:srgbClr val="002060"/>
                </a:solidFill>
                <a:latin typeface="Consolas" panose="020B0609020204030204" pitchFamily="49" charset="0"/>
              </a:rPr>
              <a:t>="col-sm-10"&gt;</a:t>
            </a:r>
          </a:p>
          <a:p>
            <a:r>
              <a:rPr lang="pt-BR" b="1" dirty="0">
                <a:solidFill>
                  <a:srgbClr val="002060"/>
                </a:solidFill>
                <a:latin typeface="Consolas" panose="020B0609020204030204" pitchFamily="49" charset="0"/>
              </a:rPr>
              <a:t>                &lt;</a:t>
            </a:r>
            <a:r>
              <a:rPr lang="pt-BR" b="1" i="1" u="sng" dirty="0">
                <a:solidFill>
                  <a:srgbClr val="002060"/>
                </a:solidFill>
                <a:latin typeface="Consolas" panose="020B0609020204030204" pitchFamily="49" charset="0"/>
              </a:rPr>
              <a:t>center</a:t>
            </a:r>
            <a:r>
              <a:rPr lang="pt-BR" b="1" dirty="0">
                <a:solidFill>
                  <a:srgbClr val="002060"/>
                </a:solidFill>
                <a:latin typeface="Consolas" panose="020B0609020204030204" pitchFamily="49" charset="0"/>
              </a:rPr>
              <a:t>&gt;&lt;</a:t>
            </a:r>
            <a:r>
              <a:rPr lang="pt-BR" b="1" dirty="0" err="1">
                <a:solidFill>
                  <a:srgbClr val="002060"/>
                </a:solidFill>
                <a:latin typeface="Consolas" panose="020B0609020204030204" pitchFamily="49" charset="0"/>
              </a:rPr>
              <a:t>img</a:t>
            </a:r>
            <a:r>
              <a:rPr lang="pt-BR" b="1" dirty="0">
                <a:solidFill>
                  <a:srgbClr val="002060"/>
                </a:solidFill>
                <a:latin typeface="Consolas" panose="020B0609020204030204" pitchFamily="49" charset="0"/>
              </a:rPr>
              <a:t> </a:t>
            </a:r>
            <a:r>
              <a:rPr lang="pt-BR" b="1" i="1" dirty="0" err="1">
                <a:solidFill>
                  <a:srgbClr val="002060"/>
                </a:solidFill>
                <a:latin typeface="Consolas" panose="020B0609020204030204" pitchFamily="49" charset="0"/>
              </a:rPr>
              <a:t>src</a:t>
            </a:r>
            <a:r>
              <a:rPr lang="pt-BR" b="1" dirty="0">
                <a:solidFill>
                  <a:srgbClr val="002060"/>
                </a:solidFill>
                <a:latin typeface="Consolas" panose="020B0609020204030204" pitchFamily="49" charset="0"/>
              </a:rPr>
              <a:t>="mapa_mundi.png"&gt;&lt;/</a:t>
            </a:r>
            <a:r>
              <a:rPr lang="pt-BR" b="1" i="1" u="sng" dirty="0">
                <a:solidFill>
                  <a:srgbClr val="002060"/>
                </a:solidFill>
                <a:latin typeface="Consolas" panose="020B0609020204030204" pitchFamily="49" charset="0"/>
              </a:rPr>
              <a:t>center</a:t>
            </a:r>
            <a:r>
              <a:rPr lang="pt-BR" b="1" dirty="0">
                <a:solidFill>
                  <a:srgbClr val="002060"/>
                </a:solidFill>
                <a:latin typeface="Consolas" panose="020B0609020204030204" pitchFamily="49" charset="0"/>
              </a:rPr>
              <a:t>&gt;</a:t>
            </a: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div</a:t>
            </a:r>
            <a:r>
              <a:rPr lang="pt-BR" b="1" dirty="0">
                <a:solidFill>
                  <a:srgbClr val="002060"/>
                </a:solidFill>
                <a:latin typeface="Consolas" panose="020B0609020204030204" pitchFamily="49" charset="0"/>
              </a:rPr>
              <a:t>&gt;</a:t>
            </a:r>
          </a:p>
          <a:p>
            <a:endParaRPr lang="pt-BR" b="1" dirty="0">
              <a:solidFill>
                <a:srgbClr val="002060"/>
              </a:solidFill>
              <a:latin typeface="Consolas" panose="020B0609020204030204" pitchFamily="49" charset="0"/>
            </a:endParaRP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div</a:t>
            </a:r>
            <a:r>
              <a:rPr lang="pt-BR" b="1" dirty="0">
                <a:solidFill>
                  <a:srgbClr val="002060"/>
                </a:solidFill>
                <a:latin typeface="Consolas" panose="020B0609020204030204" pitchFamily="49" charset="0"/>
              </a:rPr>
              <a:t>&gt;</a:t>
            </a:r>
          </a:p>
          <a:p>
            <a:r>
              <a:rPr lang="pt-BR" b="1" dirty="0">
                <a:solidFill>
                  <a:srgbClr val="002060"/>
                </a:solidFill>
                <a:latin typeface="Consolas" panose="020B0609020204030204" pitchFamily="49" charset="0"/>
              </a:rPr>
              <a:t>    &lt;/</a:t>
            </a:r>
            <a:r>
              <a:rPr lang="pt-BR" b="1" dirty="0" err="1">
                <a:solidFill>
                  <a:srgbClr val="002060"/>
                </a:solidFill>
                <a:latin typeface="Consolas" panose="020B0609020204030204" pitchFamily="49" charset="0"/>
              </a:rPr>
              <a:t>div</a:t>
            </a:r>
            <a:r>
              <a:rPr lang="pt-BR" b="1" dirty="0">
                <a:solidFill>
                  <a:srgbClr val="002060"/>
                </a:solidFill>
                <a:latin typeface="Consolas" panose="020B0609020204030204" pitchFamily="49" charset="0"/>
              </a:rPr>
              <a:t>&gt;    </a:t>
            </a:r>
          </a:p>
          <a:p>
            <a:r>
              <a:rPr lang="pt-BR" b="1" dirty="0">
                <a:solidFill>
                  <a:srgbClr val="002060"/>
                </a:solidFill>
                <a:latin typeface="Consolas" panose="020B0609020204030204" pitchFamily="49" charset="0"/>
              </a:rPr>
              <a:t>&lt;/</a:t>
            </a:r>
            <a:r>
              <a:rPr lang="pt-BR" b="1" dirty="0" err="1">
                <a:solidFill>
                  <a:srgbClr val="002060"/>
                </a:solidFill>
                <a:latin typeface="Consolas" panose="020B0609020204030204" pitchFamily="49" charset="0"/>
              </a:rPr>
              <a:t>body</a:t>
            </a:r>
            <a:r>
              <a:rPr lang="pt-BR" b="1" dirty="0">
                <a:solidFill>
                  <a:srgbClr val="002060"/>
                </a:solidFill>
                <a:latin typeface="Consolas" panose="020B0609020204030204" pitchFamily="49" charset="0"/>
              </a:rPr>
              <a:t>&gt;</a:t>
            </a:r>
            <a:endParaRPr lang="pt-BR" b="1" dirty="0">
              <a:solidFill>
                <a:srgbClr val="002060"/>
              </a:solidFill>
              <a:effectLst/>
              <a:latin typeface="Consolas" panose="020B0609020204030204" pitchFamily="49" charset="0"/>
            </a:endParaRPr>
          </a:p>
        </p:txBody>
      </p:sp>
      <p:sp>
        <p:nvSpPr>
          <p:cNvPr id="4" name="Retângulo 3"/>
          <p:cNvSpPr/>
          <p:nvPr/>
        </p:nvSpPr>
        <p:spPr>
          <a:xfrm>
            <a:off x="1645926" y="2312125"/>
            <a:ext cx="10293531" cy="3866605"/>
          </a:xfrm>
          <a:prstGeom prst="rect">
            <a:avLst/>
          </a:prstGeom>
          <a:noFill/>
          <a:ln w="5715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p:cNvSpPr/>
          <p:nvPr/>
        </p:nvSpPr>
        <p:spPr>
          <a:xfrm>
            <a:off x="1105995" y="1955074"/>
            <a:ext cx="10977154" cy="4497977"/>
          </a:xfrm>
          <a:prstGeom prst="rect">
            <a:avLst/>
          </a:prstGeom>
          <a:noFill/>
          <a:ln w="57150">
            <a:solidFill>
              <a:srgbClr val="340ED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p:cNvSpPr/>
          <p:nvPr/>
        </p:nvSpPr>
        <p:spPr>
          <a:xfrm>
            <a:off x="2168441" y="2821577"/>
            <a:ext cx="9601200" cy="1724297"/>
          </a:xfrm>
          <a:prstGeom prst="rect">
            <a:avLst/>
          </a:prstGeom>
          <a:noFill/>
          <a:ln w="571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p:cNvSpPr/>
          <p:nvPr/>
        </p:nvSpPr>
        <p:spPr>
          <a:xfrm>
            <a:off x="2168441" y="4728755"/>
            <a:ext cx="9601200" cy="1005840"/>
          </a:xfrm>
          <a:prstGeom prst="rect">
            <a:avLst/>
          </a:prstGeom>
          <a:noFill/>
          <a:ln w="57150">
            <a:solidFill>
              <a:srgbClr val="7030A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7"/>
          <p:cNvSpPr/>
          <p:nvPr/>
        </p:nvSpPr>
        <p:spPr>
          <a:xfrm>
            <a:off x="1105995" y="653709"/>
            <a:ext cx="10977154" cy="857230"/>
          </a:xfrm>
          <a:prstGeom prst="rect">
            <a:avLst/>
          </a:prstGeom>
          <a:noFill/>
          <a:ln w="5715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Espaço Reservado para Número de Slide 8"/>
          <p:cNvSpPr>
            <a:spLocks noGrp="1"/>
          </p:cNvSpPr>
          <p:nvPr>
            <p:ph type="sldNum" sz="quarter" idx="12"/>
          </p:nvPr>
        </p:nvSpPr>
        <p:spPr/>
        <p:txBody>
          <a:bodyPr/>
          <a:lstStyle/>
          <a:p>
            <a:fld id="{8256F83C-9D86-480B-90E0-0702DBEB9457}" type="slidenum">
              <a:rPr lang="pt-BR" smtClean="0"/>
              <a:t>79</a:t>
            </a:fld>
            <a:endParaRPr lang="pt-BR"/>
          </a:p>
        </p:txBody>
      </p:sp>
    </p:spTree>
    <p:extLst>
      <p:ext uri="{BB962C8B-B14F-4D97-AF65-F5344CB8AC3E}">
        <p14:creationId xmlns:p14="http://schemas.microsoft.com/office/powerpoint/2010/main" val="26090503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Agrupar 13"/>
          <p:cNvGrpSpPr/>
          <p:nvPr/>
        </p:nvGrpSpPr>
        <p:grpSpPr>
          <a:xfrm>
            <a:off x="2364378" y="1055887"/>
            <a:ext cx="9705840" cy="5488605"/>
            <a:chOff x="2364378" y="1055887"/>
            <a:chExt cx="9705840" cy="5488605"/>
          </a:xfrm>
        </p:grpSpPr>
        <p:pic>
          <p:nvPicPr>
            <p:cNvPr id="2" name="Imagem 1"/>
            <p:cNvPicPr>
              <a:picLocks noChangeAspect="1"/>
            </p:cNvPicPr>
            <p:nvPr/>
          </p:nvPicPr>
          <p:blipFill>
            <a:blip r:embed="rId2"/>
            <a:stretch>
              <a:fillRect/>
            </a:stretch>
          </p:blipFill>
          <p:spPr>
            <a:xfrm>
              <a:off x="2364379" y="1055887"/>
              <a:ext cx="9705838" cy="5488605"/>
            </a:xfrm>
            <a:prstGeom prst="rect">
              <a:avLst/>
            </a:prstGeom>
            <a:ln>
              <a:solidFill>
                <a:schemeClr val="tx1"/>
              </a:solidFill>
            </a:ln>
          </p:spPr>
        </p:pic>
        <p:sp>
          <p:nvSpPr>
            <p:cNvPr id="5" name="Retângulo 4"/>
            <p:cNvSpPr/>
            <p:nvPr/>
          </p:nvSpPr>
          <p:spPr>
            <a:xfrm>
              <a:off x="2455818" y="2612571"/>
              <a:ext cx="1449977" cy="3840480"/>
            </a:xfrm>
            <a:prstGeom prst="rect">
              <a:avLst/>
            </a:prstGeom>
            <a:noFill/>
            <a:ln w="5715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p:cNvSpPr/>
            <p:nvPr/>
          </p:nvSpPr>
          <p:spPr>
            <a:xfrm>
              <a:off x="3997234" y="2612571"/>
              <a:ext cx="7968344" cy="3840480"/>
            </a:xfrm>
            <a:prstGeom prst="rect">
              <a:avLst/>
            </a:prstGeom>
            <a:noFill/>
            <a:ln w="57150">
              <a:solidFill>
                <a:srgbClr val="7030A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p:cNvSpPr/>
            <p:nvPr/>
          </p:nvSpPr>
          <p:spPr>
            <a:xfrm>
              <a:off x="2364379" y="2515400"/>
              <a:ext cx="9705839" cy="4029092"/>
            </a:xfrm>
            <a:prstGeom prst="rect">
              <a:avLst/>
            </a:prstGeom>
            <a:noFill/>
            <a:ln w="5715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7"/>
            <p:cNvSpPr/>
            <p:nvPr/>
          </p:nvSpPr>
          <p:spPr>
            <a:xfrm>
              <a:off x="2364378" y="1776549"/>
              <a:ext cx="9705839" cy="647410"/>
            </a:xfrm>
            <a:prstGeom prst="rect">
              <a:avLst/>
            </a:prstGeom>
            <a:noFill/>
            <a:ln w="571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10" name="Imagem 9"/>
          <p:cNvPicPr>
            <a:picLocks noChangeAspect="1"/>
          </p:cNvPicPr>
          <p:nvPr/>
        </p:nvPicPr>
        <p:blipFill>
          <a:blip r:embed="rId3"/>
          <a:stretch>
            <a:fillRect/>
          </a:stretch>
        </p:blipFill>
        <p:spPr>
          <a:xfrm>
            <a:off x="65242" y="5254920"/>
            <a:ext cx="2144164" cy="1087771"/>
          </a:xfrm>
          <a:prstGeom prst="rect">
            <a:avLst/>
          </a:prstGeom>
          <a:ln w="57150">
            <a:solidFill>
              <a:srgbClr val="0070C0"/>
            </a:solidFill>
          </a:ln>
        </p:spPr>
      </p:pic>
      <p:pic>
        <p:nvPicPr>
          <p:cNvPr id="11" name="Imagem 10"/>
          <p:cNvPicPr>
            <a:picLocks noChangeAspect="1"/>
          </p:cNvPicPr>
          <p:nvPr/>
        </p:nvPicPr>
        <p:blipFill>
          <a:blip r:embed="rId4"/>
          <a:stretch>
            <a:fillRect/>
          </a:stretch>
        </p:blipFill>
        <p:spPr>
          <a:xfrm>
            <a:off x="117494" y="423975"/>
            <a:ext cx="1989191" cy="1147610"/>
          </a:xfrm>
          <a:prstGeom prst="rect">
            <a:avLst/>
          </a:prstGeom>
          <a:ln w="57150">
            <a:solidFill>
              <a:srgbClr val="0070C0"/>
            </a:solidFill>
          </a:ln>
        </p:spPr>
      </p:pic>
      <p:sp>
        <p:nvSpPr>
          <p:cNvPr id="12" name="Seta para Baixo 11"/>
          <p:cNvSpPr/>
          <p:nvPr/>
        </p:nvSpPr>
        <p:spPr>
          <a:xfrm rot="18759668">
            <a:off x="2110618" y="1382617"/>
            <a:ext cx="402883" cy="7458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Seta para Baixo 12"/>
          <p:cNvSpPr/>
          <p:nvPr/>
        </p:nvSpPr>
        <p:spPr>
          <a:xfrm rot="13625036">
            <a:off x="2263283" y="4669538"/>
            <a:ext cx="402883" cy="7458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Espaço Reservado para Número de Slide 3"/>
          <p:cNvSpPr>
            <a:spLocks noGrp="1"/>
          </p:cNvSpPr>
          <p:nvPr>
            <p:ph type="sldNum" sz="quarter" idx="12"/>
          </p:nvPr>
        </p:nvSpPr>
        <p:spPr/>
        <p:txBody>
          <a:bodyPr/>
          <a:lstStyle/>
          <a:p>
            <a:fld id="{8256F83C-9D86-480B-90E0-0702DBEB9457}" type="slidenum">
              <a:rPr lang="pt-BR" smtClean="0"/>
              <a:t>80</a:t>
            </a:fld>
            <a:endParaRPr lang="pt-BR"/>
          </a:p>
        </p:txBody>
      </p:sp>
    </p:spTree>
    <p:extLst>
      <p:ext uri="{BB962C8B-B14F-4D97-AF65-F5344CB8AC3E}">
        <p14:creationId xmlns:p14="http://schemas.microsoft.com/office/powerpoint/2010/main" val="332727266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a:blip r:embed="rId2"/>
          <a:stretch>
            <a:fillRect/>
          </a:stretch>
        </p:blipFill>
        <p:spPr>
          <a:xfrm>
            <a:off x="3078208" y="1227909"/>
            <a:ext cx="8943975" cy="4695825"/>
          </a:xfrm>
          <a:prstGeom prst="rect">
            <a:avLst/>
          </a:prstGeom>
          <a:ln>
            <a:solidFill>
              <a:schemeClr val="tx1"/>
            </a:solidFill>
          </a:ln>
        </p:spPr>
      </p:pic>
      <p:sp>
        <p:nvSpPr>
          <p:cNvPr id="6" name="Texto Explicativo Retangular com Cantos Arredondados 5"/>
          <p:cNvSpPr/>
          <p:nvPr/>
        </p:nvSpPr>
        <p:spPr>
          <a:xfrm>
            <a:off x="195943" y="1227908"/>
            <a:ext cx="2560321" cy="4558937"/>
          </a:xfrm>
          <a:prstGeom prst="wedgeRoundRectCallout">
            <a:avLst>
              <a:gd name="adj1" fmla="val 64520"/>
              <a:gd name="adj2" fmla="val -448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b="1" dirty="0"/>
              <a:t>Isto é o que acontece sem o </a:t>
            </a:r>
            <a:r>
              <a:rPr lang="pt-BR" sz="2000" b="1" dirty="0" err="1"/>
              <a:t>css</a:t>
            </a:r>
            <a:r>
              <a:rPr lang="pt-BR" sz="2000" b="1" dirty="0"/>
              <a:t> para os botões. Eles ficam com </a:t>
            </a:r>
            <a:r>
              <a:rPr lang="pt-BR" sz="2000" b="1" u="sng" dirty="0">
                <a:solidFill>
                  <a:srgbClr val="FFFF00"/>
                </a:solidFill>
              </a:rPr>
              <a:t>tamanho desuniformes</a:t>
            </a:r>
            <a:r>
              <a:rPr lang="pt-BR" sz="2000" b="1" dirty="0"/>
              <a:t>, pois as palavras tem tamanho diferentes (falta do </a:t>
            </a:r>
            <a:r>
              <a:rPr lang="pt-BR" sz="2000" b="1" dirty="0" err="1"/>
              <a:t>width</a:t>
            </a:r>
            <a:r>
              <a:rPr lang="pt-BR" sz="2000" b="1" dirty="0"/>
              <a:t>=100%) </a:t>
            </a:r>
            <a:r>
              <a:rPr lang="pt-BR" sz="2000" b="1" u="sng" dirty="0">
                <a:solidFill>
                  <a:srgbClr val="FFFF00"/>
                </a:solidFill>
              </a:rPr>
              <a:t>e ficam todos colados um no outro</a:t>
            </a:r>
            <a:r>
              <a:rPr lang="pt-BR" sz="2000" b="1" dirty="0"/>
              <a:t>, devido a falta do </a:t>
            </a:r>
            <a:r>
              <a:rPr lang="pt-BR" sz="2000" b="1" dirty="0" err="1"/>
              <a:t>margin</a:t>
            </a:r>
            <a:r>
              <a:rPr lang="pt-BR" sz="2000" b="1" dirty="0"/>
              <a:t>-top</a:t>
            </a:r>
          </a:p>
        </p:txBody>
      </p:sp>
      <p:sp>
        <p:nvSpPr>
          <p:cNvPr id="4" name="Espaço Reservado para Número de Slide 3"/>
          <p:cNvSpPr>
            <a:spLocks noGrp="1"/>
          </p:cNvSpPr>
          <p:nvPr>
            <p:ph type="sldNum" sz="quarter" idx="12"/>
          </p:nvPr>
        </p:nvSpPr>
        <p:spPr/>
        <p:txBody>
          <a:bodyPr/>
          <a:lstStyle/>
          <a:p>
            <a:fld id="{8256F83C-9D86-480B-90E0-0702DBEB9457}" type="slidenum">
              <a:rPr lang="pt-BR" smtClean="0"/>
              <a:t>81</a:t>
            </a:fld>
            <a:endParaRPr lang="pt-BR" dirty="0"/>
          </a:p>
        </p:txBody>
      </p:sp>
    </p:spTree>
    <p:extLst>
      <p:ext uri="{BB962C8B-B14F-4D97-AF65-F5344CB8AC3E}">
        <p14:creationId xmlns:p14="http://schemas.microsoft.com/office/powerpoint/2010/main" val="349743202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8256F83C-9D86-480B-90E0-0702DBEB9457}" type="slidenum">
              <a:rPr lang="pt-BR" smtClean="0"/>
              <a:t>82</a:t>
            </a:fld>
            <a:endParaRPr lang="pt-BR"/>
          </a:p>
        </p:txBody>
      </p:sp>
      <p:pic>
        <p:nvPicPr>
          <p:cNvPr id="3" name="Imagem 2"/>
          <p:cNvPicPr>
            <a:picLocks noChangeAspect="1"/>
          </p:cNvPicPr>
          <p:nvPr/>
        </p:nvPicPr>
        <p:blipFill>
          <a:blip r:embed="rId2"/>
          <a:stretch>
            <a:fillRect/>
          </a:stretch>
        </p:blipFill>
        <p:spPr>
          <a:xfrm>
            <a:off x="752807" y="992160"/>
            <a:ext cx="11310605" cy="5461226"/>
          </a:xfrm>
          <a:prstGeom prst="rect">
            <a:avLst/>
          </a:prstGeom>
        </p:spPr>
      </p:pic>
      <p:sp>
        <p:nvSpPr>
          <p:cNvPr id="4" name="Retângulo 3"/>
          <p:cNvSpPr/>
          <p:nvPr/>
        </p:nvSpPr>
        <p:spPr>
          <a:xfrm>
            <a:off x="1968915" y="325936"/>
            <a:ext cx="8878388" cy="523220"/>
          </a:xfrm>
          <a:prstGeom prst="rect">
            <a:avLst/>
          </a:prstGeom>
        </p:spPr>
        <p:txBody>
          <a:bodyPr wrap="square">
            <a:spAutoFit/>
          </a:bodyPr>
          <a:lstStyle/>
          <a:p>
            <a:pPr algn="ctr"/>
            <a:r>
              <a:rPr lang="pt-BR" sz="2800" b="1" dirty="0">
                <a:solidFill>
                  <a:srgbClr val="002060"/>
                </a:solidFill>
                <a:latin typeface="Arial" panose="020B0604020202020204" pitchFamily="34" charset="0"/>
                <a:cs typeface="Arial" panose="020B0604020202020204" pitchFamily="34" charset="0"/>
              </a:rPr>
              <a:t>ESP8266 - </a:t>
            </a:r>
            <a:r>
              <a:rPr lang="pt-BR" sz="2800" b="1" dirty="0" err="1">
                <a:solidFill>
                  <a:srgbClr val="002060"/>
                </a:solidFill>
                <a:latin typeface="Arial" panose="020B0604020202020204" pitchFamily="34" charset="0"/>
                <a:cs typeface="Arial" panose="020B0604020202020204" pitchFamily="34" charset="0"/>
              </a:rPr>
              <a:t>pinagem</a:t>
            </a:r>
            <a:endParaRPr lang="pt-BR" sz="2800" dirty="0"/>
          </a:p>
        </p:txBody>
      </p:sp>
    </p:spTree>
    <p:extLst>
      <p:ext uri="{BB962C8B-B14F-4D97-AF65-F5344CB8AC3E}">
        <p14:creationId xmlns:p14="http://schemas.microsoft.com/office/powerpoint/2010/main" val="382358812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a:extLst>
              <a:ext uri="{FF2B5EF4-FFF2-40B4-BE49-F238E27FC236}">
                <a16:creationId xmlns:a16="http://schemas.microsoft.com/office/drawing/2014/main" id="{9120F5DE-D78A-5A2C-4FB4-D1312F1E1024}"/>
              </a:ext>
            </a:extLst>
          </p:cNvPr>
          <p:cNvSpPr>
            <a:spLocks noGrp="1"/>
          </p:cNvSpPr>
          <p:nvPr>
            <p:ph type="sldNum" sz="quarter" idx="12"/>
          </p:nvPr>
        </p:nvSpPr>
        <p:spPr/>
        <p:txBody>
          <a:bodyPr/>
          <a:lstStyle/>
          <a:p>
            <a:fld id="{8256F83C-9D86-480B-90E0-0702DBEB9457}" type="slidenum">
              <a:rPr lang="pt-BR" smtClean="0"/>
              <a:t>83</a:t>
            </a:fld>
            <a:endParaRPr lang="pt-BR"/>
          </a:p>
        </p:txBody>
      </p:sp>
      <p:sp>
        <p:nvSpPr>
          <p:cNvPr id="3" name="Retângulo 2">
            <a:extLst>
              <a:ext uri="{FF2B5EF4-FFF2-40B4-BE49-F238E27FC236}">
                <a16:creationId xmlns:a16="http://schemas.microsoft.com/office/drawing/2014/main" id="{200B7CF5-FDBB-EE33-4487-445E2D157371}"/>
              </a:ext>
            </a:extLst>
          </p:cNvPr>
          <p:cNvSpPr/>
          <p:nvPr/>
        </p:nvSpPr>
        <p:spPr>
          <a:xfrm>
            <a:off x="1968915" y="838554"/>
            <a:ext cx="8878388" cy="523220"/>
          </a:xfrm>
          <a:prstGeom prst="rect">
            <a:avLst/>
          </a:prstGeom>
        </p:spPr>
        <p:txBody>
          <a:bodyPr wrap="square">
            <a:spAutoFit/>
          </a:bodyPr>
          <a:lstStyle/>
          <a:p>
            <a:pPr algn="ctr"/>
            <a:r>
              <a:rPr lang="pt-BR" sz="2800" b="1" dirty="0">
                <a:solidFill>
                  <a:srgbClr val="002060"/>
                </a:solidFill>
                <a:latin typeface="Arial" panose="020B0604020202020204" pitchFamily="34" charset="0"/>
                <a:cs typeface="Arial" panose="020B0604020202020204" pitchFamily="34" charset="0"/>
              </a:rPr>
              <a:t>ESP32 - pinagem</a:t>
            </a:r>
            <a:endParaRPr lang="pt-BR" sz="2800" dirty="0"/>
          </a:p>
        </p:txBody>
      </p:sp>
      <p:pic>
        <p:nvPicPr>
          <p:cNvPr id="5" name="Imagem 4">
            <a:extLst>
              <a:ext uri="{FF2B5EF4-FFF2-40B4-BE49-F238E27FC236}">
                <a16:creationId xmlns:a16="http://schemas.microsoft.com/office/drawing/2014/main" id="{804BC60B-27C5-119D-D7E5-22948D8E4737}"/>
              </a:ext>
            </a:extLst>
          </p:cNvPr>
          <p:cNvPicPr>
            <a:picLocks noChangeAspect="1"/>
          </p:cNvPicPr>
          <p:nvPr/>
        </p:nvPicPr>
        <p:blipFill>
          <a:blip r:embed="rId2"/>
          <a:stretch>
            <a:fillRect/>
          </a:stretch>
        </p:blipFill>
        <p:spPr>
          <a:xfrm>
            <a:off x="1361993" y="1523999"/>
            <a:ext cx="10092232" cy="4081717"/>
          </a:xfrm>
          <a:prstGeom prst="rect">
            <a:avLst/>
          </a:prstGeom>
        </p:spPr>
      </p:pic>
    </p:spTree>
    <p:extLst>
      <p:ext uri="{BB962C8B-B14F-4D97-AF65-F5344CB8AC3E}">
        <p14:creationId xmlns:p14="http://schemas.microsoft.com/office/powerpoint/2010/main" val="41439800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a:extLst>
              <a:ext uri="{FF2B5EF4-FFF2-40B4-BE49-F238E27FC236}">
                <a16:creationId xmlns:a16="http://schemas.microsoft.com/office/drawing/2014/main" id="{590544FD-F89E-4E7C-8D6F-4A269CD076E3}"/>
              </a:ext>
            </a:extLst>
          </p:cNvPr>
          <p:cNvSpPr>
            <a:spLocks noGrp="1"/>
          </p:cNvSpPr>
          <p:nvPr>
            <p:ph type="sldNum" sz="quarter" idx="12"/>
          </p:nvPr>
        </p:nvSpPr>
        <p:spPr/>
        <p:txBody>
          <a:bodyPr/>
          <a:lstStyle/>
          <a:p>
            <a:fld id="{8256F83C-9D86-480B-90E0-0702DBEB9457}" type="slidenum">
              <a:rPr lang="pt-BR" smtClean="0"/>
              <a:t>84</a:t>
            </a:fld>
            <a:endParaRPr lang="pt-BR"/>
          </a:p>
        </p:txBody>
      </p:sp>
      <p:pic>
        <p:nvPicPr>
          <p:cNvPr id="4" name="Imagem 3">
            <a:extLst>
              <a:ext uri="{FF2B5EF4-FFF2-40B4-BE49-F238E27FC236}">
                <a16:creationId xmlns:a16="http://schemas.microsoft.com/office/drawing/2014/main" id="{C14D1737-FF70-33C7-57FB-275C4C1C8458}"/>
              </a:ext>
            </a:extLst>
          </p:cNvPr>
          <p:cNvPicPr>
            <a:picLocks noChangeAspect="1"/>
          </p:cNvPicPr>
          <p:nvPr/>
        </p:nvPicPr>
        <p:blipFill>
          <a:blip r:embed="rId2"/>
          <a:stretch>
            <a:fillRect/>
          </a:stretch>
        </p:blipFill>
        <p:spPr>
          <a:xfrm>
            <a:off x="4477569" y="61442"/>
            <a:ext cx="6220693" cy="6735115"/>
          </a:xfrm>
          <a:prstGeom prst="rect">
            <a:avLst/>
          </a:prstGeom>
        </p:spPr>
      </p:pic>
      <p:sp>
        <p:nvSpPr>
          <p:cNvPr id="5" name="Retângulo 4">
            <a:extLst>
              <a:ext uri="{FF2B5EF4-FFF2-40B4-BE49-F238E27FC236}">
                <a16:creationId xmlns:a16="http://schemas.microsoft.com/office/drawing/2014/main" id="{6B853589-3179-B03C-03B1-A37E53DCDCC3}"/>
              </a:ext>
            </a:extLst>
          </p:cNvPr>
          <p:cNvSpPr/>
          <p:nvPr/>
        </p:nvSpPr>
        <p:spPr>
          <a:xfrm>
            <a:off x="962525" y="2331198"/>
            <a:ext cx="3251367" cy="1384995"/>
          </a:xfrm>
          <a:prstGeom prst="rect">
            <a:avLst/>
          </a:prstGeom>
        </p:spPr>
        <p:txBody>
          <a:bodyPr wrap="square">
            <a:spAutoFit/>
          </a:bodyPr>
          <a:lstStyle/>
          <a:p>
            <a:pPr algn="ctr"/>
            <a:r>
              <a:rPr lang="pt-BR" sz="2800" b="1" dirty="0">
                <a:solidFill>
                  <a:srgbClr val="002060"/>
                </a:solidFill>
                <a:latin typeface="Arial" panose="020B0604020202020204" pitchFamily="34" charset="0"/>
                <a:cs typeface="Arial" panose="020B0604020202020204" pitchFamily="34" charset="0"/>
              </a:rPr>
              <a:t>Comparativo</a:t>
            </a:r>
          </a:p>
          <a:p>
            <a:pPr algn="ctr"/>
            <a:endParaRPr lang="pt-BR" sz="2800" b="1" dirty="0">
              <a:solidFill>
                <a:srgbClr val="002060"/>
              </a:solidFill>
              <a:latin typeface="Arial" panose="020B0604020202020204" pitchFamily="34" charset="0"/>
              <a:cs typeface="Arial" panose="020B0604020202020204" pitchFamily="34" charset="0"/>
            </a:endParaRPr>
          </a:p>
          <a:p>
            <a:pPr algn="ctr"/>
            <a:r>
              <a:rPr lang="pt-BR" sz="2800" b="1" dirty="0">
                <a:solidFill>
                  <a:srgbClr val="002060"/>
                </a:solidFill>
                <a:latin typeface="Arial" panose="020B0604020202020204" pitchFamily="34" charset="0"/>
                <a:cs typeface="Arial" panose="020B0604020202020204" pitchFamily="34" charset="0"/>
              </a:rPr>
              <a:t>ESP8266 x ESP32</a:t>
            </a:r>
            <a:endParaRPr lang="pt-BR" sz="2800" dirty="0"/>
          </a:p>
        </p:txBody>
      </p:sp>
    </p:spTree>
    <p:extLst>
      <p:ext uri="{BB962C8B-B14F-4D97-AF65-F5344CB8AC3E}">
        <p14:creationId xmlns:p14="http://schemas.microsoft.com/office/powerpoint/2010/main" val="248198092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8256F83C-9D86-480B-90E0-0702DBEB9457}" type="slidenum">
              <a:rPr lang="pt-BR" smtClean="0"/>
              <a:t>85</a:t>
            </a:fld>
            <a:endParaRPr lang="pt-BR"/>
          </a:p>
        </p:txBody>
      </p:sp>
      <p:sp>
        <p:nvSpPr>
          <p:cNvPr id="3" name="Retângulo 2"/>
          <p:cNvSpPr/>
          <p:nvPr/>
        </p:nvSpPr>
        <p:spPr>
          <a:xfrm>
            <a:off x="783772" y="1359790"/>
            <a:ext cx="12004765" cy="5632311"/>
          </a:xfrm>
          <a:prstGeom prst="rect">
            <a:avLst/>
          </a:prstGeom>
        </p:spPr>
        <p:txBody>
          <a:bodyPr wrap="square">
            <a:spAutoFit/>
          </a:bodyPr>
          <a:lstStyle/>
          <a:p>
            <a:r>
              <a:rPr lang="pt-BR" dirty="0"/>
              <a:t>/*************************************************************</a:t>
            </a:r>
          </a:p>
          <a:p>
            <a:r>
              <a:rPr lang="pt-BR" dirty="0"/>
              <a:t> *  CONFIGURAÇÃO DO ESP8266 OU ESP32 COMO ACCESS POINT (AP)</a:t>
            </a:r>
          </a:p>
          <a:p>
            <a:r>
              <a:rPr lang="pt-BR" dirty="0"/>
              <a:t> * ************************************************************</a:t>
            </a:r>
          </a:p>
          <a:p>
            <a:r>
              <a:rPr lang="pt-BR" dirty="0"/>
              <a:t> * SE ESTIVER USANDO A PLACA ESP32 DEVERÁ USAR A BIBLIOTECA </a:t>
            </a:r>
          </a:p>
          <a:p>
            <a:r>
              <a:rPr lang="pt-BR" dirty="0"/>
              <a:t> * #include &lt;</a:t>
            </a:r>
            <a:r>
              <a:rPr lang="pt-BR" dirty="0" err="1"/>
              <a:t>WiFiClient.h</a:t>
            </a:r>
            <a:r>
              <a:rPr lang="pt-BR" dirty="0"/>
              <a:t>&gt;</a:t>
            </a:r>
          </a:p>
          <a:p>
            <a:r>
              <a:rPr lang="pt-BR" dirty="0"/>
              <a:t> * #include &lt;</a:t>
            </a:r>
            <a:r>
              <a:rPr lang="pt-BR" dirty="0" err="1"/>
              <a:t>WebServer.h</a:t>
            </a:r>
            <a:r>
              <a:rPr lang="pt-BR" dirty="0"/>
              <a:t>&gt;</a:t>
            </a:r>
          </a:p>
          <a:p>
            <a:r>
              <a:rPr lang="pt-BR" dirty="0"/>
              <a:t> * </a:t>
            </a:r>
          </a:p>
          <a:p>
            <a:r>
              <a:rPr lang="pt-BR" dirty="0"/>
              <a:t> * E </a:t>
            </a:r>
          </a:p>
          <a:p>
            <a:r>
              <a:rPr lang="pt-BR" dirty="0"/>
              <a:t> * </a:t>
            </a:r>
          </a:p>
          <a:p>
            <a:r>
              <a:rPr lang="pt-BR" dirty="0"/>
              <a:t> * </a:t>
            </a:r>
            <a:r>
              <a:rPr lang="pt-BR" dirty="0" err="1"/>
              <a:t>WebServer</a:t>
            </a:r>
            <a:r>
              <a:rPr lang="pt-BR" dirty="0"/>
              <a:t> server(80);</a:t>
            </a:r>
          </a:p>
          <a:p>
            <a:r>
              <a:rPr lang="pt-BR" dirty="0"/>
              <a:t> * </a:t>
            </a:r>
          </a:p>
          <a:p>
            <a:r>
              <a:rPr lang="pt-BR" dirty="0"/>
              <a:t> * SE ESTIVER USANDO A PLACA ESP8266 DEVERÁ USAR A BIBLIOTECA</a:t>
            </a:r>
          </a:p>
          <a:p>
            <a:r>
              <a:rPr lang="pt-BR" dirty="0"/>
              <a:t> * #include &lt;ESP8266WiFi.h&gt;</a:t>
            </a:r>
          </a:p>
          <a:p>
            <a:r>
              <a:rPr lang="pt-BR" dirty="0"/>
              <a:t> * #include &lt;ESP8266WebServer.h&gt;</a:t>
            </a:r>
          </a:p>
          <a:p>
            <a:r>
              <a:rPr lang="pt-BR" dirty="0"/>
              <a:t> * </a:t>
            </a:r>
          </a:p>
          <a:p>
            <a:r>
              <a:rPr lang="pt-BR" dirty="0"/>
              <a:t> * E</a:t>
            </a:r>
          </a:p>
          <a:p>
            <a:r>
              <a:rPr lang="pt-BR" dirty="0"/>
              <a:t> * </a:t>
            </a:r>
          </a:p>
          <a:p>
            <a:r>
              <a:rPr lang="pt-BR" dirty="0"/>
              <a:t> * ESP8266WebServer server(80);</a:t>
            </a:r>
          </a:p>
          <a:p>
            <a:r>
              <a:rPr lang="pt-BR" dirty="0"/>
              <a:t> ****************************************************************/</a:t>
            </a:r>
          </a:p>
          <a:p>
            <a:endParaRPr lang="pt-BR" dirty="0"/>
          </a:p>
        </p:txBody>
      </p:sp>
      <p:sp>
        <p:nvSpPr>
          <p:cNvPr id="4" name="Retângulo 3"/>
          <p:cNvSpPr/>
          <p:nvPr/>
        </p:nvSpPr>
        <p:spPr>
          <a:xfrm>
            <a:off x="2011679" y="130629"/>
            <a:ext cx="9339943" cy="1200329"/>
          </a:xfrm>
          <a:prstGeom prst="rect">
            <a:avLst/>
          </a:prstGeom>
        </p:spPr>
        <p:txBody>
          <a:bodyPr wrap="square">
            <a:spAutoFit/>
          </a:bodyPr>
          <a:lstStyle/>
          <a:p>
            <a:pPr algn="ctr"/>
            <a:r>
              <a:rPr lang="pt-BR" sz="2400" b="1" dirty="0">
                <a:solidFill>
                  <a:srgbClr val="002060"/>
                </a:solidFill>
                <a:latin typeface="Arial" panose="020B0604020202020204" pitchFamily="34" charset="0"/>
                <a:cs typeface="Arial" panose="020B0604020202020204" pitchFamily="34" charset="0"/>
              </a:rPr>
              <a:t>IMPORTANTE: </a:t>
            </a:r>
          </a:p>
          <a:p>
            <a:pPr algn="ctr"/>
            <a:endParaRPr lang="pt-BR" sz="2400" b="1" dirty="0">
              <a:solidFill>
                <a:srgbClr val="002060"/>
              </a:solidFill>
              <a:latin typeface="Arial" panose="020B0604020202020204" pitchFamily="34" charset="0"/>
              <a:cs typeface="Arial" panose="020B0604020202020204" pitchFamily="34" charset="0"/>
            </a:endParaRPr>
          </a:p>
          <a:p>
            <a:pPr algn="ctr"/>
            <a:r>
              <a:rPr lang="pt-BR" sz="2400" b="1" dirty="0">
                <a:solidFill>
                  <a:srgbClr val="002060"/>
                </a:solidFill>
                <a:latin typeface="Arial" panose="020B0604020202020204" pitchFamily="34" charset="0"/>
                <a:cs typeface="Arial" panose="020B0604020202020204" pitchFamily="34" charset="0"/>
              </a:rPr>
              <a:t>Qual biblioteca utilizar com o ESP8266 ou ESP32???</a:t>
            </a:r>
          </a:p>
        </p:txBody>
      </p:sp>
    </p:spTree>
    <p:extLst>
      <p:ext uri="{BB962C8B-B14F-4D97-AF65-F5344CB8AC3E}">
        <p14:creationId xmlns:p14="http://schemas.microsoft.com/office/powerpoint/2010/main" val="359283189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8256F83C-9D86-480B-90E0-0702DBEB9457}" type="slidenum">
              <a:rPr lang="pt-BR" smtClean="0"/>
              <a:t>86</a:t>
            </a:fld>
            <a:endParaRPr lang="pt-BR"/>
          </a:p>
        </p:txBody>
      </p:sp>
      <p:sp>
        <p:nvSpPr>
          <p:cNvPr id="3" name="Retângulo 2"/>
          <p:cNvSpPr/>
          <p:nvPr/>
        </p:nvSpPr>
        <p:spPr>
          <a:xfrm>
            <a:off x="783771" y="394692"/>
            <a:ext cx="10411097" cy="6463308"/>
          </a:xfrm>
          <a:prstGeom prst="rect">
            <a:avLst/>
          </a:prstGeom>
        </p:spPr>
        <p:txBody>
          <a:bodyPr wrap="square">
            <a:spAutoFit/>
          </a:bodyPr>
          <a:lstStyle/>
          <a:p>
            <a:r>
              <a:rPr lang="pt-BR" dirty="0"/>
              <a:t>#include &lt;ESP8266WiFi.h&gt;</a:t>
            </a:r>
          </a:p>
          <a:p>
            <a:r>
              <a:rPr lang="pt-BR" dirty="0"/>
              <a:t>#include &lt;ESP8266WebServer.h&gt;</a:t>
            </a:r>
          </a:p>
          <a:p>
            <a:r>
              <a:rPr lang="pt-BR" dirty="0"/>
              <a:t>//#include &lt;</a:t>
            </a:r>
            <a:r>
              <a:rPr lang="pt-BR" dirty="0" err="1"/>
              <a:t>WiFiClient.h</a:t>
            </a:r>
            <a:r>
              <a:rPr lang="pt-BR" dirty="0"/>
              <a:t>&gt;</a:t>
            </a:r>
          </a:p>
          <a:p>
            <a:r>
              <a:rPr lang="pt-BR" dirty="0"/>
              <a:t>//#include &lt;</a:t>
            </a:r>
            <a:r>
              <a:rPr lang="pt-BR" dirty="0" err="1"/>
              <a:t>WebServer.h</a:t>
            </a:r>
            <a:r>
              <a:rPr lang="pt-BR" dirty="0"/>
              <a:t>&gt;</a:t>
            </a:r>
          </a:p>
          <a:p>
            <a:endParaRPr lang="pt-BR" dirty="0"/>
          </a:p>
          <a:p>
            <a:r>
              <a:rPr lang="pt-BR" dirty="0"/>
              <a:t>#include "</a:t>
            </a:r>
            <a:r>
              <a:rPr lang="pt-BR" dirty="0" err="1"/>
              <a:t>DHT.h</a:t>
            </a:r>
            <a:r>
              <a:rPr lang="pt-BR" dirty="0"/>
              <a:t>"</a:t>
            </a:r>
          </a:p>
          <a:p>
            <a:r>
              <a:rPr lang="pt-BR" dirty="0"/>
              <a:t>#define DHTPIN 2</a:t>
            </a:r>
          </a:p>
          <a:p>
            <a:r>
              <a:rPr lang="pt-BR" dirty="0"/>
              <a:t>#define DHTTYPE DHT22</a:t>
            </a:r>
          </a:p>
          <a:p>
            <a:r>
              <a:rPr lang="pt-BR" dirty="0"/>
              <a:t>DHT </a:t>
            </a:r>
            <a:r>
              <a:rPr lang="pt-BR" dirty="0" err="1"/>
              <a:t>dht</a:t>
            </a:r>
            <a:r>
              <a:rPr lang="pt-BR" dirty="0"/>
              <a:t>(DHTPIN, DHTTYPE);</a:t>
            </a:r>
          </a:p>
          <a:p>
            <a:endParaRPr lang="pt-BR" dirty="0"/>
          </a:p>
          <a:p>
            <a:r>
              <a:rPr lang="pt-BR" dirty="0"/>
              <a:t>//</a:t>
            </a:r>
            <a:r>
              <a:rPr lang="pt-BR" dirty="0" err="1"/>
              <a:t>WebServer</a:t>
            </a:r>
            <a:r>
              <a:rPr lang="pt-BR" dirty="0"/>
              <a:t> server(80);</a:t>
            </a:r>
          </a:p>
          <a:p>
            <a:r>
              <a:rPr lang="pt-BR" dirty="0"/>
              <a:t>ESP8266WebServer server(80);</a:t>
            </a:r>
          </a:p>
          <a:p>
            <a:endParaRPr lang="pt-BR" dirty="0"/>
          </a:p>
          <a:p>
            <a:r>
              <a:rPr lang="pt-BR" dirty="0" err="1"/>
              <a:t>float</a:t>
            </a:r>
            <a:r>
              <a:rPr lang="pt-BR" dirty="0"/>
              <a:t> </a:t>
            </a:r>
            <a:r>
              <a:rPr lang="pt-BR" dirty="0" err="1"/>
              <a:t>umid</a:t>
            </a:r>
            <a:r>
              <a:rPr lang="pt-BR" dirty="0"/>
              <a:t>;</a:t>
            </a:r>
          </a:p>
          <a:p>
            <a:r>
              <a:rPr lang="pt-BR" dirty="0" err="1"/>
              <a:t>float</a:t>
            </a:r>
            <a:r>
              <a:rPr lang="pt-BR" dirty="0"/>
              <a:t> </a:t>
            </a:r>
            <a:r>
              <a:rPr lang="pt-BR" dirty="0" err="1"/>
              <a:t>temp</a:t>
            </a:r>
            <a:r>
              <a:rPr lang="pt-BR" dirty="0"/>
              <a:t>;</a:t>
            </a:r>
          </a:p>
          <a:p>
            <a:endParaRPr lang="pt-BR" dirty="0"/>
          </a:p>
          <a:p>
            <a:r>
              <a:rPr lang="pt-BR" dirty="0" err="1"/>
              <a:t>void</a:t>
            </a:r>
            <a:r>
              <a:rPr lang="pt-BR" dirty="0"/>
              <a:t> setup() </a:t>
            </a:r>
          </a:p>
          <a:p>
            <a:r>
              <a:rPr lang="pt-BR" dirty="0"/>
              <a:t>{</a:t>
            </a:r>
          </a:p>
          <a:p>
            <a:r>
              <a:rPr lang="pt-BR" dirty="0"/>
              <a:t>  </a:t>
            </a:r>
            <a:r>
              <a:rPr lang="pt-BR" dirty="0" err="1"/>
              <a:t>dht.begin</a:t>
            </a:r>
            <a:r>
              <a:rPr lang="pt-BR" dirty="0"/>
              <a:t>();</a:t>
            </a:r>
          </a:p>
          <a:p>
            <a:r>
              <a:rPr lang="pt-BR" dirty="0"/>
              <a:t>  </a:t>
            </a:r>
            <a:r>
              <a:rPr lang="pt-BR" dirty="0" err="1"/>
              <a:t>WiFi.softAP</a:t>
            </a:r>
            <a:r>
              <a:rPr lang="pt-BR" dirty="0"/>
              <a:t>("Rede4", "0123456789");   </a:t>
            </a:r>
          </a:p>
          <a:p>
            <a:r>
              <a:rPr lang="pt-BR" dirty="0"/>
              <a:t>  </a:t>
            </a:r>
            <a:r>
              <a:rPr lang="pt-BR" dirty="0" err="1"/>
              <a:t>server.on</a:t>
            </a:r>
            <a:r>
              <a:rPr lang="pt-BR" dirty="0"/>
              <a:t>("/</a:t>
            </a:r>
            <a:r>
              <a:rPr lang="pt-BR" dirty="0" err="1"/>
              <a:t>msg</a:t>
            </a:r>
            <a:r>
              <a:rPr lang="pt-BR" dirty="0"/>
              <a:t>", </a:t>
            </a:r>
            <a:r>
              <a:rPr lang="pt-BR" dirty="0" err="1"/>
              <a:t>msg_site</a:t>
            </a:r>
            <a:r>
              <a:rPr lang="pt-BR" dirty="0"/>
              <a:t>);</a:t>
            </a:r>
          </a:p>
          <a:p>
            <a:r>
              <a:rPr lang="pt-BR" dirty="0"/>
              <a:t>  </a:t>
            </a:r>
            <a:r>
              <a:rPr lang="pt-BR" dirty="0" err="1"/>
              <a:t>server.begin</a:t>
            </a:r>
            <a:r>
              <a:rPr lang="pt-BR" dirty="0"/>
              <a:t>();</a:t>
            </a:r>
          </a:p>
          <a:p>
            <a:r>
              <a:rPr lang="pt-BR" dirty="0"/>
              <a:t>}</a:t>
            </a:r>
          </a:p>
        </p:txBody>
      </p:sp>
      <p:sp>
        <p:nvSpPr>
          <p:cNvPr id="4" name="Balão de Fala: Retângulo com Cantos Arredondados 3">
            <a:extLst>
              <a:ext uri="{FF2B5EF4-FFF2-40B4-BE49-F238E27FC236}">
                <a16:creationId xmlns:a16="http://schemas.microsoft.com/office/drawing/2014/main" id="{6292C607-ED7E-4F47-E51D-BE543281AB7D}"/>
              </a:ext>
            </a:extLst>
          </p:cNvPr>
          <p:cNvSpPr/>
          <p:nvPr/>
        </p:nvSpPr>
        <p:spPr>
          <a:xfrm>
            <a:off x="4563979" y="192505"/>
            <a:ext cx="2671010" cy="633663"/>
          </a:xfrm>
          <a:prstGeom prst="wedgeRoundRectCallout">
            <a:avLst>
              <a:gd name="adj1" fmla="val -60473"/>
              <a:gd name="adj2" fmla="val 2958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ESP8266</a:t>
            </a:r>
          </a:p>
        </p:txBody>
      </p:sp>
      <p:sp>
        <p:nvSpPr>
          <p:cNvPr id="5" name="Balão de Fala: Retângulo com Cantos Arredondados 4">
            <a:extLst>
              <a:ext uri="{FF2B5EF4-FFF2-40B4-BE49-F238E27FC236}">
                <a16:creationId xmlns:a16="http://schemas.microsoft.com/office/drawing/2014/main" id="{EF2934D9-5425-94F8-FFFD-77D81BBE75C0}"/>
              </a:ext>
            </a:extLst>
          </p:cNvPr>
          <p:cNvSpPr/>
          <p:nvPr/>
        </p:nvSpPr>
        <p:spPr>
          <a:xfrm>
            <a:off x="4563979" y="1130968"/>
            <a:ext cx="2671010" cy="633663"/>
          </a:xfrm>
          <a:prstGeom prst="wedgeRoundRectCallout">
            <a:avLst>
              <a:gd name="adj1" fmla="val -59872"/>
              <a:gd name="adj2" fmla="val -2231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ESP32</a:t>
            </a:r>
          </a:p>
        </p:txBody>
      </p:sp>
    </p:spTree>
    <p:extLst>
      <p:ext uri="{BB962C8B-B14F-4D97-AF65-F5344CB8AC3E}">
        <p14:creationId xmlns:p14="http://schemas.microsoft.com/office/powerpoint/2010/main" val="60865721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8256F83C-9D86-480B-90E0-0702DBEB9457}" type="slidenum">
              <a:rPr lang="pt-BR" smtClean="0"/>
              <a:t>87</a:t>
            </a:fld>
            <a:endParaRPr lang="pt-BR"/>
          </a:p>
        </p:txBody>
      </p:sp>
      <p:sp>
        <p:nvSpPr>
          <p:cNvPr id="3" name="Retângulo 2"/>
          <p:cNvSpPr/>
          <p:nvPr/>
        </p:nvSpPr>
        <p:spPr>
          <a:xfrm>
            <a:off x="927463" y="0"/>
            <a:ext cx="10515600" cy="7294305"/>
          </a:xfrm>
          <a:prstGeom prst="rect">
            <a:avLst/>
          </a:prstGeom>
        </p:spPr>
        <p:txBody>
          <a:bodyPr wrap="square">
            <a:spAutoFit/>
          </a:bodyPr>
          <a:lstStyle/>
          <a:p>
            <a:r>
              <a:rPr lang="pt-BR" dirty="0" err="1"/>
              <a:t>void</a:t>
            </a:r>
            <a:r>
              <a:rPr lang="pt-BR" dirty="0"/>
              <a:t> loop() {</a:t>
            </a:r>
          </a:p>
          <a:p>
            <a:r>
              <a:rPr lang="pt-BR" dirty="0"/>
              <a:t>  </a:t>
            </a:r>
            <a:r>
              <a:rPr lang="pt-BR" dirty="0" err="1"/>
              <a:t>server.handleClient</a:t>
            </a:r>
            <a:r>
              <a:rPr lang="pt-BR" dirty="0"/>
              <a:t>();</a:t>
            </a:r>
          </a:p>
          <a:p>
            <a:r>
              <a:rPr lang="pt-BR" dirty="0"/>
              <a:t>}</a:t>
            </a:r>
          </a:p>
          <a:p>
            <a:endParaRPr lang="pt-BR" dirty="0"/>
          </a:p>
          <a:p>
            <a:r>
              <a:rPr lang="pt-BR" dirty="0" err="1"/>
              <a:t>void</a:t>
            </a:r>
            <a:r>
              <a:rPr lang="pt-BR" dirty="0"/>
              <a:t> </a:t>
            </a:r>
            <a:r>
              <a:rPr lang="pt-BR" dirty="0" err="1"/>
              <a:t>msg_site</a:t>
            </a:r>
            <a:r>
              <a:rPr lang="pt-BR" dirty="0"/>
              <a:t>(){</a:t>
            </a:r>
          </a:p>
          <a:p>
            <a:r>
              <a:rPr lang="pt-BR" dirty="0"/>
              <a:t>    //</a:t>
            </a:r>
            <a:r>
              <a:rPr lang="pt-BR" dirty="0" err="1"/>
              <a:t>umid</a:t>
            </a:r>
            <a:r>
              <a:rPr lang="pt-BR" dirty="0"/>
              <a:t> = </a:t>
            </a:r>
            <a:r>
              <a:rPr lang="pt-BR" dirty="0" err="1"/>
              <a:t>dht.readHumidity</a:t>
            </a:r>
            <a:r>
              <a:rPr lang="pt-BR" dirty="0"/>
              <a:t>();</a:t>
            </a:r>
          </a:p>
          <a:p>
            <a:r>
              <a:rPr lang="pt-BR" dirty="0"/>
              <a:t>    </a:t>
            </a:r>
            <a:r>
              <a:rPr lang="pt-BR" dirty="0" err="1"/>
              <a:t>umid</a:t>
            </a:r>
            <a:r>
              <a:rPr lang="pt-BR" dirty="0"/>
              <a:t> = 56.7;</a:t>
            </a:r>
          </a:p>
          <a:p>
            <a:r>
              <a:rPr lang="pt-BR" dirty="0"/>
              <a:t>    //</a:t>
            </a:r>
            <a:r>
              <a:rPr lang="pt-BR" dirty="0" err="1"/>
              <a:t>temp</a:t>
            </a:r>
            <a:r>
              <a:rPr lang="pt-BR" dirty="0"/>
              <a:t> = </a:t>
            </a:r>
            <a:r>
              <a:rPr lang="pt-BR" dirty="0" err="1"/>
              <a:t>dht.readTemperature</a:t>
            </a:r>
            <a:r>
              <a:rPr lang="pt-BR" dirty="0"/>
              <a:t>();</a:t>
            </a:r>
          </a:p>
          <a:p>
            <a:r>
              <a:rPr lang="pt-BR" dirty="0"/>
              <a:t>    </a:t>
            </a:r>
            <a:r>
              <a:rPr lang="pt-BR" dirty="0" err="1"/>
              <a:t>temp</a:t>
            </a:r>
            <a:r>
              <a:rPr lang="pt-BR" dirty="0"/>
              <a:t> = 22.4;</a:t>
            </a:r>
          </a:p>
          <a:p>
            <a:r>
              <a:rPr lang="pt-BR" dirty="0"/>
              <a:t>  </a:t>
            </a:r>
          </a:p>
          <a:p>
            <a:r>
              <a:rPr lang="pt-BR" dirty="0"/>
              <a:t>    </a:t>
            </a:r>
            <a:r>
              <a:rPr lang="pt-BR" dirty="0" err="1"/>
              <a:t>String</a:t>
            </a:r>
            <a:r>
              <a:rPr lang="pt-BR" dirty="0"/>
              <a:t> </a:t>
            </a:r>
            <a:r>
              <a:rPr lang="pt-BR" dirty="0" err="1"/>
              <a:t>msg</a:t>
            </a:r>
            <a:r>
              <a:rPr lang="pt-BR" dirty="0"/>
              <a:t> = "&lt;!DOCTYPE </a:t>
            </a:r>
            <a:r>
              <a:rPr lang="pt-BR" dirty="0" err="1"/>
              <a:t>html</a:t>
            </a:r>
            <a:r>
              <a:rPr lang="pt-BR" dirty="0"/>
              <a:t>&gt;";</a:t>
            </a:r>
          </a:p>
          <a:p>
            <a:r>
              <a:rPr lang="pt-BR" dirty="0"/>
              <a:t>    </a:t>
            </a:r>
            <a:r>
              <a:rPr lang="pt-BR" dirty="0" err="1"/>
              <a:t>msg</a:t>
            </a:r>
            <a:r>
              <a:rPr lang="pt-BR" dirty="0"/>
              <a:t> += "&lt;</a:t>
            </a:r>
            <a:r>
              <a:rPr lang="pt-BR" dirty="0" err="1"/>
              <a:t>html</a:t>
            </a:r>
            <a:r>
              <a:rPr lang="pt-BR" dirty="0"/>
              <a:t> </a:t>
            </a:r>
            <a:r>
              <a:rPr lang="pt-BR" dirty="0" err="1"/>
              <a:t>lang</a:t>
            </a:r>
            <a:r>
              <a:rPr lang="pt-BR" dirty="0"/>
              <a:t>=\"</a:t>
            </a:r>
            <a:r>
              <a:rPr lang="pt-BR" dirty="0" err="1"/>
              <a:t>pt</a:t>
            </a:r>
            <a:r>
              <a:rPr lang="pt-BR" dirty="0"/>
              <a:t>-BR\"&gt;";</a:t>
            </a:r>
          </a:p>
          <a:p>
            <a:r>
              <a:rPr lang="pt-BR" dirty="0"/>
              <a:t>    </a:t>
            </a:r>
            <a:r>
              <a:rPr lang="pt-BR" dirty="0" err="1"/>
              <a:t>msg</a:t>
            </a:r>
            <a:r>
              <a:rPr lang="pt-BR" dirty="0"/>
              <a:t> += "&lt;</a:t>
            </a:r>
            <a:r>
              <a:rPr lang="pt-BR" dirty="0" err="1"/>
              <a:t>head</a:t>
            </a:r>
            <a:r>
              <a:rPr lang="pt-BR" dirty="0"/>
              <a:t>&gt;&lt;meta </a:t>
            </a:r>
            <a:r>
              <a:rPr lang="pt-BR" dirty="0" err="1"/>
              <a:t>charset</a:t>
            </a:r>
            <a:r>
              <a:rPr lang="pt-BR" dirty="0"/>
              <a:t>=\"UTF-8\"&gt;";</a:t>
            </a:r>
          </a:p>
          <a:p>
            <a:r>
              <a:rPr lang="pt-BR" dirty="0"/>
              <a:t>    </a:t>
            </a:r>
            <a:r>
              <a:rPr lang="pt-BR" dirty="0" err="1"/>
              <a:t>msg</a:t>
            </a:r>
            <a:r>
              <a:rPr lang="pt-BR" dirty="0"/>
              <a:t> += "&lt;</a:t>
            </a:r>
            <a:r>
              <a:rPr lang="pt-BR" dirty="0" err="1"/>
              <a:t>title</a:t>
            </a:r>
            <a:r>
              <a:rPr lang="pt-BR" dirty="0"/>
              <a:t>&gt;Embarcados&lt;/</a:t>
            </a:r>
            <a:r>
              <a:rPr lang="pt-BR" dirty="0" err="1"/>
              <a:t>title</a:t>
            </a:r>
            <a:r>
              <a:rPr lang="pt-BR" dirty="0"/>
              <a:t>&gt;&lt;/</a:t>
            </a:r>
            <a:r>
              <a:rPr lang="pt-BR" dirty="0" err="1"/>
              <a:t>head</a:t>
            </a:r>
            <a:r>
              <a:rPr lang="pt-BR" dirty="0"/>
              <a:t>&gt;";</a:t>
            </a:r>
          </a:p>
          <a:p>
            <a:r>
              <a:rPr lang="pt-BR" dirty="0"/>
              <a:t>    </a:t>
            </a:r>
            <a:r>
              <a:rPr lang="pt-BR" dirty="0" err="1"/>
              <a:t>msg</a:t>
            </a:r>
            <a:r>
              <a:rPr lang="pt-BR" dirty="0"/>
              <a:t> += "&lt;</a:t>
            </a:r>
            <a:r>
              <a:rPr lang="pt-BR" dirty="0" err="1"/>
              <a:t>body</a:t>
            </a:r>
            <a:r>
              <a:rPr lang="pt-BR" dirty="0"/>
              <a:t>&gt;&lt;h2&gt;&lt;b&gt;Monitoramento de Temperatura e Umidade&lt;/b&gt;&lt;/h2&gt;";</a:t>
            </a:r>
          </a:p>
          <a:p>
            <a:r>
              <a:rPr lang="pt-BR" dirty="0"/>
              <a:t>    </a:t>
            </a:r>
            <a:r>
              <a:rPr lang="pt-BR" dirty="0" err="1"/>
              <a:t>msg</a:t>
            </a:r>
            <a:r>
              <a:rPr lang="pt-BR" dirty="0"/>
              <a:t> += "&lt;p&gt;&lt;h3&gt;A temperatura atual é de: ";</a:t>
            </a:r>
          </a:p>
          <a:p>
            <a:r>
              <a:rPr lang="pt-BR" dirty="0"/>
              <a:t>    </a:t>
            </a:r>
            <a:r>
              <a:rPr lang="pt-BR" dirty="0" err="1"/>
              <a:t>msg</a:t>
            </a:r>
            <a:r>
              <a:rPr lang="pt-BR" dirty="0"/>
              <a:t> += (</a:t>
            </a:r>
            <a:r>
              <a:rPr lang="pt-BR" dirty="0" err="1"/>
              <a:t>float</a:t>
            </a:r>
            <a:r>
              <a:rPr lang="pt-BR" dirty="0"/>
              <a:t>)</a:t>
            </a:r>
            <a:r>
              <a:rPr lang="pt-BR" dirty="0" err="1"/>
              <a:t>temp</a:t>
            </a:r>
            <a:r>
              <a:rPr lang="pt-BR" dirty="0"/>
              <a:t>;</a:t>
            </a:r>
          </a:p>
          <a:p>
            <a:r>
              <a:rPr lang="pt-BR" dirty="0"/>
              <a:t>    </a:t>
            </a:r>
            <a:r>
              <a:rPr lang="pt-BR" dirty="0" err="1"/>
              <a:t>msg</a:t>
            </a:r>
            <a:r>
              <a:rPr lang="pt-BR" dirty="0"/>
              <a:t> += " graus&lt;/h3&gt;&lt;/p&gt;"; </a:t>
            </a:r>
          </a:p>
          <a:p>
            <a:r>
              <a:rPr lang="pt-BR" dirty="0"/>
              <a:t>    </a:t>
            </a:r>
            <a:r>
              <a:rPr lang="pt-BR" dirty="0" err="1"/>
              <a:t>msg</a:t>
            </a:r>
            <a:r>
              <a:rPr lang="pt-BR" dirty="0"/>
              <a:t> += "&lt;p&gt;&lt;h3&gt;A umidade relativa do ar é de: ";</a:t>
            </a:r>
          </a:p>
          <a:p>
            <a:r>
              <a:rPr lang="pt-BR" dirty="0"/>
              <a:t>    </a:t>
            </a:r>
            <a:r>
              <a:rPr lang="pt-BR" dirty="0" err="1"/>
              <a:t>msg</a:t>
            </a:r>
            <a:r>
              <a:rPr lang="pt-BR" dirty="0"/>
              <a:t> += (</a:t>
            </a:r>
            <a:r>
              <a:rPr lang="pt-BR" dirty="0" err="1"/>
              <a:t>float</a:t>
            </a:r>
            <a:r>
              <a:rPr lang="pt-BR" dirty="0"/>
              <a:t>)</a:t>
            </a:r>
            <a:r>
              <a:rPr lang="pt-BR" dirty="0" err="1"/>
              <a:t>umid</a:t>
            </a:r>
            <a:r>
              <a:rPr lang="pt-BR" dirty="0"/>
              <a:t>;</a:t>
            </a:r>
          </a:p>
          <a:p>
            <a:r>
              <a:rPr lang="pt-BR" dirty="0"/>
              <a:t>    </a:t>
            </a:r>
            <a:r>
              <a:rPr lang="pt-BR" dirty="0" err="1"/>
              <a:t>msg</a:t>
            </a:r>
            <a:r>
              <a:rPr lang="pt-BR" dirty="0"/>
              <a:t> += "%.&lt;/h3&gt;&lt;/p&gt;";</a:t>
            </a:r>
          </a:p>
          <a:p>
            <a:r>
              <a:rPr lang="pt-BR" dirty="0"/>
              <a:t>    </a:t>
            </a:r>
            <a:r>
              <a:rPr lang="pt-BR" dirty="0" err="1"/>
              <a:t>msg</a:t>
            </a:r>
            <a:r>
              <a:rPr lang="pt-BR" dirty="0"/>
              <a:t> += "&lt;/</a:t>
            </a:r>
            <a:r>
              <a:rPr lang="pt-BR" dirty="0" err="1"/>
              <a:t>body</a:t>
            </a:r>
            <a:r>
              <a:rPr lang="pt-BR" dirty="0"/>
              <a:t>&gt;&lt;/</a:t>
            </a:r>
            <a:r>
              <a:rPr lang="pt-BR" dirty="0" err="1"/>
              <a:t>html</a:t>
            </a:r>
            <a:r>
              <a:rPr lang="pt-BR" dirty="0"/>
              <a:t>&gt;";</a:t>
            </a:r>
          </a:p>
          <a:p>
            <a:r>
              <a:rPr lang="pt-BR" dirty="0"/>
              <a:t>    </a:t>
            </a:r>
          </a:p>
          <a:p>
            <a:r>
              <a:rPr lang="pt-BR" dirty="0"/>
              <a:t>    </a:t>
            </a:r>
            <a:r>
              <a:rPr lang="pt-BR" dirty="0" err="1"/>
              <a:t>server.send</a:t>
            </a:r>
            <a:r>
              <a:rPr lang="pt-BR" dirty="0"/>
              <a:t>(200, "</a:t>
            </a:r>
            <a:r>
              <a:rPr lang="pt-BR" dirty="0" err="1"/>
              <a:t>text</a:t>
            </a:r>
            <a:r>
              <a:rPr lang="pt-BR" dirty="0"/>
              <a:t>/</a:t>
            </a:r>
            <a:r>
              <a:rPr lang="pt-BR" dirty="0" err="1"/>
              <a:t>html</a:t>
            </a:r>
            <a:r>
              <a:rPr lang="pt-BR" dirty="0"/>
              <a:t>", </a:t>
            </a:r>
            <a:r>
              <a:rPr lang="pt-BR" dirty="0" err="1"/>
              <a:t>msg</a:t>
            </a:r>
            <a:r>
              <a:rPr lang="pt-BR" dirty="0"/>
              <a:t>); </a:t>
            </a:r>
          </a:p>
          <a:p>
            <a:r>
              <a:rPr lang="pt-BR" dirty="0"/>
              <a:t>}</a:t>
            </a:r>
          </a:p>
        </p:txBody>
      </p:sp>
      <p:sp>
        <p:nvSpPr>
          <p:cNvPr id="4" name="Texto Explicativo Retangular com Cantos Arredondados 3"/>
          <p:cNvSpPr/>
          <p:nvPr/>
        </p:nvSpPr>
        <p:spPr>
          <a:xfrm>
            <a:off x="5577840" y="1240971"/>
            <a:ext cx="5199017" cy="1541418"/>
          </a:xfrm>
          <a:prstGeom prst="wedgeRoundRectCallout">
            <a:avLst>
              <a:gd name="adj1" fmla="val -75161"/>
              <a:gd name="adj2" fmla="val 72669"/>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Texto Explicativo Retangular com Cantos Arredondados 4"/>
          <p:cNvSpPr/>
          <p:nvPr/>
        </p:nvSpPr>
        <p:spPr>
          <a:xfrm>
            <a:off x="5577839" y="1240971"/>
            <a:ext cx="5199018" cy="1541418"/>
          </a:xfrm>
          <a:prstGeom prst="wedgeRoundRectCallout">
            <a:avLst>
              <a:gd name="adj1" fmla="val -50086"/>
              <a:gd name="adj2" fmla="val 92160"/>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a:solidFill>
                  <a:srgbClr val="002060"/>
                </a:solidFill>
              </a:rPr>
              <a:t>Sempre que precisares colocar algo entre “ ....”, deve colocar a barra antes das aspas </a:t>
            </a:r>
            <a:r>
              <a:rPr lang="pt-BR" sz="2400" b="1" dirty="0">
                <a:solidFill>
                  <a:srgbClr val="002060"/>
                </a:solidFill>
                <a:sym typeface="Wingdings" panose="05000000000000000000" pitchFamily="2" charset="2"/>
              </a:rPr>
              <a:t> </a:t>
            </a:r>
            <a:r>
              <a:rPr lang="pt-BR" sz="2400" b="1" dirty="0">
                <a:solidFill>
                  <a:srgbClr val="00F200"/>
                </a:solidFill>
              </a:rPr>
              <a:t>\</a:t>
            </a:r>
            <a:r>
              <a:rPr lang="pt-BR" sz="2400" b="1" dirty="0">
                <a:solidFill>
                  <a:srgbClr val="FF0000"/>
                </a:solidFill>
              </a:rPr>
              <a:t>”</a:t>
            </a:r>
            <a:r>
              <a:rPr lang="pt-BR" sz="2400" b="1" dirty="0">
                <a:solidFill>
                  <a:srgbClr val="002060"/>
                </a:solidFill>
              </a:rPr>
              <a:t>.......</a:t>
            </a:r>
            <a:r>
              <a:rPr lang="pt-BR" sz="2400" b="1" dirty="0">
                <a:solidFill>
                  <a:srgbClr val="00F200"/>
                </a:solidFill>
              </a:rPr>
              <a:t>\</a:t>
            </a:r>
            <a:r>
              <a:rPr lang="pt-BR" sz="2400" b="1" dirty="0">
                <a:solidFill>
                  <a:srgbClr val="FF0000"/>
                </a:solidFill>
              </a:rPr>
              <a:t>”</a:t>
            </a:r>
          </a:p>
        </p:txBody>
      </p:sp>
      <p:sp>
        <p:nvSpPr>
          <p:cNvPr id="6" name="Balão de Fala: Retângulo com Cantos Arredondados 5">
            <a:extLst>
              <a:ext uri="{FF2B5EF4-FFF2-40B4-BE49-F238E27FC236}">
                <a16:creationId xmlns:a16="http://schemas.microsoft.com/office/drawing/2014/main" id="{2E818C51-052A-14A9-91A2-10C30B39FF3A}"/>
              </a:ext>
            </a:extLst>
          </p:cNvPr>
          <p:cNvSpPr/>
          <p:nvPr/>
        </p:nvSpPr>
        <p:spPr>
          <a:xfrm>
            <a:off x="3665621" y="80211"/>
            <a:ext cx="7403407" cy="724455"/>
          </a:xfrm>
          <a:prstGeom prst="wedgeRoundRectCallout">
            <a:avLst>
              <a:gd name="adj1" fmla="val -55503"/>
              <a:gd name="adj2" fmla="val 492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pt-BR" altLang="pt-BR" sz="1400" b="1" i="0" u="none" strike="noStrike" cap="none" normalizeH="0" baseline="0" dirty="0">
                <a:ln>
                  <a:noFill/>
                </a:ln>
                <a:solidFill>
                  <a:srgbClr val="FFFF00"/>
                </a:solidFill>
                <a:effectLst/>
                <a:latin typeface="Arial" panose="020B0604020202020204" pitchFamily="34" charset="0"/>
              </a:rPr>
              <a:t>Para atender às requisições web, é necessário que chame regularmente </a:t>
            </a:r>
            <a:r>
              <a:rPr kumimoji="0" lang="pt-BR" altLang="pt-BR" sz="1400" b="1" i="0" u="none" strike="noStrike" cap="none" normalizeH="0" baseline="0" dirty="0" err="1">
                <a:ln>
                  <a:noFill/>
                </a:ln>
                <a:solidFill>
                  <a:srgbClr val="FFFF00"/>
                </a:solidFill>
                <a:effectLst/>
                <a:latin typeface="Arial Unicode MS"/>
              </a:rPr>
              <a:t>server.handleClient</a:t>
            </a:r>
            <a:r>
              <a:rPr kumimoji="0" lang="pt-BR" altLang="pt-BR" sz="1400" b="1" i="0" u="none" strike="noStrike" cap="none" normalizeH="0" baseline="0" dirty="0">
                <a:ln>
                  <a:noFill/>
                </a:ln>
                <a:solidFill>
                  <a:srgbClr val="FFFF00"/>
                </a:solidFill>
                <a:effectLst/>
                <a:latin typeface="Arial Unicode MS"/>
              </a:rPr>
              <a:t>()</a:t>
            </a:r>
            <a:r>
              <a:rPr kumimoji="0" lang="pt-BR" altLang="pt-BR" sz="1400" b="1" i="0" u="none" strike="noStrike" cap="none" normalizeH="0" baseline="0" dirty="0">
                <a:ln>
                  <a:noFill/>
                </a:ln>
                <a:solidFill>
                  <a:srgbClr val="FFFF00"/>
                </a:solidFill>
                <a:effectLst/>
              </a:rPr>
              <a:t> dentro do </a:t>
            </a:r>
            <a:r>
              <a:rPr kumimoji="0" lang="pt-BR" altLang="pt-BR" sz="1400" b="1" i="0" u="none" strike="noStrike" cap="none" normalizeH="0" baseline="0" dirty="0">
                <a:ln>
                  <a:noFill/>
                </a:ln>
                <a:solidFill>
                  <a:srgbClr val="FFFF00"/>
                </a:solidFill>
                <a:effectLst/>
                <a:latin typeface="Arial Unicode MS"/>
              </a:rPr>
              <a:t>loop()</a:t>
            </a:r>
            <a:r>
              <a:rPr kumimoji="0" lang="pt-BR" altLang="pt-BR" sz="1400" b="1" i="0" u="none" strike="noStrike" cap="none" normalizeH="0" baseline="0" dirty="0">
                <a:ln>
                  <a:noFill/>
                </a:ln>
                <a:solidFill>
                  <a:srgbClr val="FFFF00"/>
                </a:solidFill>
                <a:effectLst/>
              </a:rPr>
              <a:t> </a:t>
            </a:r>
            <a:endParaRPr kumimoji="0" lang="pt-BR" altLang="pt-BR" sz="1400" b="1" i="0" u="none" strike="noStrike" cap="none" normalizeH="0" baseline="0" dirty="0">
              <a:ln>
                <a:noFill/>
              </a:ln>
              <a:solidFill>
                <a:srgbClr val="FFFF00"/>
              </a:solidFill>
              <a:effectLst/>
              <a:latin typeface="Arial" panose="020B0604020202020204" pitchFamily="34" charset="0"/>
            </a:endParaRPr>
          </a:p>
        </p:txBody>
      </p:sp>
    </p:spTree>
    <p:extLst>
      <p:ext uri="{BB962C8B-B14F-4D97-AF65-F5344CB8AC3E}">
        <p14:creationId xmlns:p14="http://schemas.microsoft.com/office/powerpoint/2010/main" val="119465418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8256F83C-9D86-480B-90E0-0702DBEB9457}" type="slidenum">
              <a:rPr lang="pt-BR" smtClean="0"/>
              <a:t>88</a:t>
            </a:fld>
            <a:endParaRPr lang="pt-BR"/>
          </a:p>
        </p:txBody>
      </p:sp>
      <p:sp>
        <p:nvSpPr>
          <p:cNvPr id="3" name="Retângulo 2"/>
          <p:cNvSpPr/>
          <p:nvPr/>
        </p:nvSpPr>
        <p:spPr>
          <a:xfrm>
            <a:off x="735837" y="384300"/>
            <a:ext cx="11130100" cy="5139869"/>
          </a:xfrm>
          <a:prstGeom prst="rect">
            <a:avLst/>
          </a:prstGeom>
        </p:spPr>
        <p:txBody>
          <a:bodyPr wrap="square">
            <a:spAutoFit/>
          </a:bodyPr>
          <a:lstStyle/>
          <a:p>
            <a:pPr algn="ctr"/>
            <a:r>
              <a:rPr lang="pt-BR" sz="3200" b="1" dirty="0">
                <a:solidFill>
                  <a:srgbClr val="002060"/>
                </a:solidFill>
                <a:latin typeface="Arial" panose="020B0604020202020204" pitchFamily="34" charset="0"/>
                <a:cs typeface="Arial" panose="020B0604020202020204" pitchFamily="34" charset="0"/>
              </a:rPr>
              <a:t>Procedimentos para acessar a página no ESP8266 configurado como ponto de acesso (Access Point)</a:t>
            </a:r>
          </a:p>
          <a:p>
            <a:pPr algn="just"/>
            <a:endParaRPr lang="pt-BR" sz="2400" dirty="0">
              <a:solidFill>
                <a:srgbClr val="002060"/>
              </a:solidFill>
              <a:latin typeface="Arial" panose="020B0604020202020204" pitchFamily="34" charset="0"/>
              <a:cs typeface="Arial" panose="020B0604020202020204" pitchFamily="34" charset="0"/>
            </a:endParaRPr>
          </a:p>
          <a:p>
            <a:pPr algn="just"/>
            <a:endParaRPr lang="pt-BR" sz="2400" dirty="0">
              <a:solidFill>
                <a:srgbClr val="002060"/>
              </a:solidFill>
              <a:latin typeface="Arial" panose="020B0604020202020204" pitchFamily="34" charset="0"/>
              <a:cs typeface="Arial" panose="020B0604020202020204" pitchFamily="34" charset="0"/>
            </a:endParaRPr>
          </a:p>
          <a:p>
            <a:pPr algn="just"/>
            <a:r>
              <a:rPr lang="pt-BR" sz="2400" dirty="0">
                <a:solidFill>
                  <a:srgbClr val="002060"/>
                </a:solidFill>
                <a:latin typeface="Arial" panose="020B0604020202020204" pitchFamily="34" charset="0"/>
                <a:cs typeface="Arial" panose="020B0604020202020204" pitchFamily="34" charset="0"/>
              </a:rPr>
              <a:t>1º) Para acessar este servidor web, primeiro programe o ESP8266.</a:t>
            </a:r>
          </a:p>
          <a:p>
            <a:pPr algn="just"/>
            <a:endParaRPr lang="pt-BR" sz="2400" dirty="0">
              <a:solidFill>
                <a:srgbClr val="002060"/>
              </a:solidFill>
              <a:latin typeface="Arial" panose="020B0604020202020204" pitchFamily="34" charset="0"/>
              <a:cs typeface="Arial" panose="020B0604020202020204" pitchFamily="34" charset="0"/>
            </a:endParaRPr>
          </a:p>
          <a:p>
            <a:pPr algn="just"/>
            <a:r>
              <a:rPr lang="pt-BR" sz="2400" dirty="0">
                <a:solidFill>
                  <a:srgbClr val="002060"/>
                </a:solidFill>
                <a:latin typeface="Arial" panose="020B0604020202020204" pitchFamily="34" charset="0"/>
                <a:cs typeface="Arial" panose="020B0604020202020204" pitchFamily="34" charset="0"/>
              </a:rPr>
              <a:t>2º) Desabilite os “Dados Móveis” no celular.</a:t>
            </a:r>
          </a:p>
          <a:p>
            <a:pPr algn="just"/>
            <a:endParaRPr lang="pt-BR" sz="2400" dirty="0">
              <a:solidFill>
                <a:srgbClr val="002060"/>
              </a:solidFill>
              <a:latin typeface="Arial" panose="020B0604020202020204" pitchFamily="34" charset="0"/>
              <a:cs typeface="Arial" panose="020B0604020202020204" pitchFamily="34" charset="0"/>
            </a:endParaRPr>
          </a:p>
          <a:p>
            <a:pPr algn="just"/>
            <a:r>
              <a:rPr lang="pt-BR" sz="2400" dirty="0">
                <a:solidFill>
                  <a:srgbClr val="002060"/>
                </a:solidFill>
                <a:latin typeface="Arial" panose="020B0604020202020204" pitchFamily="34" charset="0"/>
                <a:cs typeface="Arial" panose="020B0604020202020204" pitchFamily="34" charset="0"/>
              </a:rPr>
              <a:t>3º) Procure pela rede </a:t>
            </a:r>
            <a:r>
              <a:rPr lang="pt-BR" sz="2400" dirty="0" err="1">
                <a:solidFill>
                  <a:srgbClr val="002060"/>
                </a:solidFill>
                <a:latin typeface="Arial" panose="020B0604020202020204" pitchFamily="34" charset="0"/>
                <a:cs typeface="Arial" panose="020B0604020202020204" pitchFamily="34" charset="0"/>
              </a:rPr>
              <a:t>wi-fi</a:t>
            </a:r>
            <a:r>
              <a:rPr lang="pt-BR" sz="2400" dirty="0">
                <a:solidFill>
                  <a:srgbClr val="002060"/>
                </a:solidFill>
                <a:latin typeface="Arial" panose="020B0604020202020204" pitchFamily="34" charset="0"/>
                <a:cs typeface="Arial" panose="020B0604020202020204" pitchFamily="34" charset="0"/>
              </a:rPr>
              <a:t> criada no exemplo anterior.</a:t>
            </a:r>
          </a:p>
          <a:p>
            <a:pPr algn="just"/>
            <a:endParaRPr lang="pt-BR" sz="2400" dirty="0">
              <a:solidFill>
                <a:srgbClr val="002060"/>
              </a:solidFill>
              <a:latin typeface="Arial" panose="020B0604020202020204" pitchFamily="34" charset="0"/>
              <a:cs typeface="Arial" panose="020B0604020202020204" pitchFamily="34" charset="0"/>
            </a:endParaRPr>
          </a:p>
          <a:p>
            <a:pPr algn="just"/>
            <a:r>
              <a:rPr lang="pt-BR" sz="2400" dirty="0">
                <a:solidFill>
                  <a:srgbClr val="002060"/>
                </a:solidFill>
                <a:latin typeface="Arial" panose="020B0604020202020204" pitchFamily="34" charset="0"/>
                <a:cs typeface="Arial" panose="020B0604020202020204" pitchFamily="34" charset="0"/>
              </a:rPr>
              <a:t>4º) Abra o navegador no celular e digite: 192.168.4.1/</a:t>
            </a:r>
            <a:r>
              <a:rPr lang="pt-BR" sz="2400" dirty="0" err="1">
                <a:solidFill>
                  <a:srgbClr val="002060"/>
                </a:solidFill>
                <a:latin typeface="Arial" panose="020B0604020202020204" pitchFamily="34" charset="0"/>
                <a:cs typeface="Arial" panose="020B0604020202020204" pitchFamily="34" charset="0"/>
              </a:rPr>
              <a:t>msg</a:t>
            </a:r>
            <a:endParaRPr lang="pt-BR" sz="2400" dirty="0">
              <a:solidFill>
                <a:srgbClr val="002060"/>
              </a:solidFill>
              <a:latin typeface="Arial" panose="020B0604020202020204" pitchFamily="34" charset="0"/>
              <a:cs typeface="Arial" panose="020B0604020202020204" pitchFamily="34" charset="0"/>
            </a:endParaRPr>
          </a:p>
          <a:p>
            <a:pPr algn="just"/>
            <a:endParaRPr lang="pt-BR" sz="2400" dirty="0">
              <a:solidFill>
                <a:srgbClr val="002060"/>
              </a:solidFill>
              <a:latin typeface="Arial" panose="020B0604020202020204" pitchFamily="34" charset="0"/>
              <a:cs typeface="Arial" panose="020B0604020202020204" pitchFamily="34" charset="0"/>
            </a:endParaRPr>
          </a:p>
          <a:p>
            <a:pPr algn="just"/>
            <a:r>
              <a:rPr lang="pt-BR" sz="2400" dirty="0">
                <a:solidFill>
                  <a:srgbClr val="002060"/>
                </a:solidFill>
                <a:latin typeface="Arial" panose="020B0604020202020204" pitchFamily="34" charset="0"/>
                <a:cs typeface="Arial" panose="020B0604020202020204" pitchFamily="34" charset="0"/>
              </a:rPr>
              <a:t>5º) O site deve ser carregado no browser do celular.</a:t>
            </a:r>
          </a:p>
        </p:txBody>
      </p:sp>
    </p:spTree>
    <p:extLst>
      <p:ext uri="{BB962C8B-B14F-4D97-AF65-F5344CB8AC3E}">
        <p14:creationId xmlns:p14="http://schemas.microsoft.com/office/powerpoint/2010/main" val="3307372345"/>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Cortar</Template>
  <TotalTime>10337</TotalTime>
  <Words>7936</Words>
  <Application>Microsoft Office PowerPoint</Application>
  <PresentationFormat>Widescreen</PresentationFormat>
  <Paragraphs>1226</Paragraphs>
  <Slides>88</Slides>
  <Notes>1</Notes>
  <HiddenSlides>1</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88</vt:i4>
      </vt:variant>
    </vt:vector>
  </HeadingPairs>
  <TitlesOfParts>
    <vt:vector size="96" baseType="lpstr">
      <vt:lpstr>Arial</vt:lpstr>
      <vt:lpstr>Arial Unicode MS</vt:lpstr>
      <vt:lpstr>Calibri</vt:lpstr>
      <vt:lpstr>Consolas</vt:lpstr>
      <vt:lpstr>Franklin Gothic Book</vt:lpstr>
      <vt:lpstr>var(--bs-font-monospace)</vt:lpstr>
      <vt:lpstr>Wingdings</vt:lpstr>
      <vt:lpstr>Crop</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Anderson Royes Terroso</dc:creator>
  <cp:lastModifiedBy>aterroso</cp:lastModifiedBy>
  <cp:revision>21</cp:revision>
  <dcterms:created xsi:type="dcterms:W3CDTF">2023-08-03T20:33:21Z</dcterms:created>
  <dcterms:modified xsi:type="dcterms:W3CDTF">2025-07-31T19:41:48Z</dcterms:modified>
</cp:coreProperties>
</file>