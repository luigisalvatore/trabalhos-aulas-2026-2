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7" r:id="rId2"/>
    <p:sldId id="271" r:id="rId3"/>
    <p:sldId id="283" r:id="rId4"/>
    <p:sldId id="284" r:id="rId5"/>
    <p:sldId id="292" r:id="rId6"/>
    <p:sldId id="285" r:id="rId7"/>
    <p:sldId id="286" r:id="rId8"/>
    <p:sldId id="287" r:id="rId9"/>
    <p:sldId id="288" r:id="rId10"/>
    <p:sldId id="272" r:id="rId11"/>
    <p:sldId id="279" r:id="rId12"/>
    <p:sldId id="289" r:id="rId13"/>
    <p:sldId id="280" r:id="rId14"/>
    <p:sldId id="281" r:id="rId15"/>
    <p:sldId id="282" r:id="rId16"/>
    <p:sldId id="275" r:id="rId17"/>
    <p:sldId id="290" r:id="rId18"/>
    <p:sldId id="291" r:id="rId19"/>
    <p:sldId id="293" r:id="rId20"/>
    <p:sldId id="294" r:id="rId21"/>
    <p:sldId id="29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2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06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228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5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7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633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92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23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9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83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527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416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8811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94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55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231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1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BE451C3-0FF4-47C4-B829-773ADF60F88C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732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92F27B-1756-9B46-5AE1-988B3BBC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5013157"/>
            <a:ext cx="10233800" cy="11638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i="1" dirty="0"/>
              <a:t>Prof. Anderson Terroso</a:t>
            </a:r>
          </a:p>
          <a:p>
            <a:pPr marL="0" indent="0" algn="ctr">
              <a:buNone/>
            </a:pPr>
            <a:r>
              <a:rPr lang="pt-BR" sz="2400" i="1" dirty="0"/>
              <a:t>Março/2026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228215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pt-BR" sz="7200" u="sng" dirty="0"/>
              <a:t>Situação 2:</a:t>
            </a:r>
            <a:r>
              <a:rPr lang="pt-BR" sz="7200" dirty="0"/>
              <a:t> HTML+CSS armazenados na Flash usando SPIFFS</a:t>
            </a:r>
          </a:p>
        </p:txBody>
      </p:sp>
    </p:spTree>
    <p:extLst>
      <p:ext uri="{BB962C8B-B14F-4D97-AF65-F5344CB8AC3E}">
        <p14:creationId xmlns:p14="http://schemas.microsoft.com/office/powerpoint/2010/main" val="598407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11" y="872855"/>
            <a:ext cx="9180177" cy="526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821D3FC-2574-BE5B-E9D6-440572C0F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453" y="768451"/>
            <a:ext cx="9428423" cy="5321099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441E3ED5-E829-6ECA-29EE-E06F71437741}"/>
              </a:ext>
            </a:extLst>
          </p:cNvPr>
          <p:cNvSpPr/>
          <p:nvPr/>
        </p:nvSpPr>
        <p:spPr>
          <a:xfrm>
            <a:off x="1077124" y="4515998"/>
            <a:ext cx="826499" cy="6286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9AC3E62-2296-A5C9-BF39-0132C11DC6A2}"/>
              </a:ext>
            </a:extLst>
          </p:cNvPr>
          <p:cNvSpPr/>
          <p:nvPr/>
        </p:nvSpPr>
        <p:spPr>
          <a:xfrm>
            <a:off x="2437294" y="5098928"/>
            <a:ext cx="3143250" cy="628650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8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70CB347-86B6-5788-49AA-906FE1DA2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516251"/>
            <a:ext cx="10523220" cy="5825499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806A428E-ADD6-305C-B081-05522D2F78B9}"/>
              </a:ext>
            </a:extLst>
          </p:cNvPr>
          <p:cNvSpPr/>
          <p:nvPr/>
        </p:nvSpPr>
        <p:spPr>
          <a:xfrm>
            <a:off x="7814581" y="2190845"/>
            <a:ext cx="826499" cy="628650"/>
          </a:xfrm>
          <a:prstGeom prst="right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361FBA5-882A-1204-6053-A0523489C0EC}"/>
              </a:ext>
            </a:extLst>
          </p:cNvPr>
          <p:cNvSpPr/>
          <p:nvPr/>
        </p:nvSpPr>
        <p:spPr>
          <a:xfrm>
            <a:off x="8686800" y="2269040"/>
            <a:ext cx="2670810" cy="495120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38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3773145-9A10-ADD2-B2D8-127190A05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2177"/>
            <a:ext cx="12192000" cy="5011872"/>
          </a:xfrm>
          <a:prstGeom prst="rect">
            <a:avLst/>
          </a:prstGeom>
        </p:spPr>
      </p:pic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623F26EF-7033-4562-80EA-3052F5CD5EB8}"/>
              </a:ext>
            </a:extLst>
          </p:cNvPr>
          <p:cNvSpPr/>
          <p:nvPr/>
        </p:nvSpPr>
        <p:spPr>
          <a:xfrm>
            <a:off x="848139" y="233951"/>
            <a:ext cx="4754571" cy="1214795"/>
          </a:xfrm>
          <a:prstGeom prst="wedgeRoundRectCallout">
            <a:avLst>
              <a:gd name="adj1" fmla="val 36493"/>
              <a:gd name="adj2" fmla="val 8213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tx1"/>
                </a:solidFill>
              </a:rPr>
              <a:t>Placa disponível no laboratório – ESP32 WROOM</a:t>
            </a:r>
          </a:p>
          <a:p>
            <a:pPr algn="ctr"/>
            <a:r>
              <a:rPr lang="pt-BR" sz="2400" b="1" dirty="0">
                <a:solidFill>
                  <a:schemeClr val="tx1"/>
                </a:solidFill>
              </a:rPr>
              <a:t>(</a:t>
            </a:r>
            <a:r>
              <a:rPr lang="pt-BR" sz="2400" b="1" dirty="0" err="1">
                <a:solidFill>
                  <a:schemeClr val="tx1"/>
                </a:solidFill>
              </a:rPr>
              <a:t>Espressif</a:t>
            </a:r>
            <a:r>
              <a:rPr lang="pt-BR" sz="2400" b="1" dirty="0">
                <a:solidFill>
                  <a:schemeClr val="tx1"/>
                </a:solidFill>
              </a:rPr>
              <a:t> ESP32 </a:t>
            </a:r>
            <a:r>
              <a:rPr lang="pt-BR" sz="2400" b="1" dirty="0" err="1">
                <a:solidFill>
                  <a:schemeClr val="tx1"/>
                </a:solidFill>
              </a:rPr>
              <a:t>Dev</a:t>
            </a:r>
            <a:r>
              <a:rPr lang="pt-BR" sz="2400" b="1" dirty="0">
                <a:solidFill>
                  <a:schemeClr val="tx1"/>
                </a:solidFill>
              </a:rPr>
              <a:t> Module)</a:t>
            </a:r>
          </a:p>
        </p:txBody>
      </p:sp>
    </p:spTree>
    <p:extLst>
      <p:ext uri="{BB962C8B-B14F-4D97-AF65-F5344CB8AC3E}">
        <p14:creationId xmlns:p14="http://schemas.microsoft.com/office/powerpoint/2010/main" val="4145473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23D0DF5-68D0-DE51-23A4-BE41E33AB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235" y="595145"/>
            <a:ext cx="8623640" cy="5667711"/>
          </a:xfrm>
          <a:prstGeom prst="rect">
            <a:avLst/>
          </a:prstGeom>
        </p:spPr>
      </p:pic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84232DD5-E6A5-E241-BA3A-8E204B06C605}"/>
              </a:ext>
            </a:extLst>
          </p:cNvPr>
          <p:cNvSpPr/>
          <p:nvPr/>
        </p:nvSpPr>
        <p:spPr>
          <a:xfrm>
            <a:off x="1344125" y="1575989"/>
            <a:ext cx="1965960" cy="980844"/>
          </a:xfrm>
          <a:prstGeom prst="wedgeRoundRectCallout">
            <a:avLst>
              <a:gd name="adj1" fmla="val 89633"/>
              <a:gd name="adj2" fmla="val 62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tx1"/>
                </a:solidFill>
              </a:rPr>
              <a:t>Nome do projeto.</a:t>
            </a:r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E4400042-DD41-43DC-A572-80A22A242A7A}"/>
              </a:ext>
            </a:extLst>
          </p:cNvPr>
          <p:cNvSpPr/>
          <p:nvPr/>
        </p:nvSpPr>
        <p:spPr>
          <a:xfrm>
            <a:off x="1344125" y="2808844"/>
            <a:ext cx="1965960" cy="980844"/>
          </a:xfrm>
          <a:prstGeom prst="wedgeRoundRectCallout">
            <a:avLst>
              <a:gd name="adj1" fmla="val 91959"/>
              <a:gd name="adj2" fmla="val 1122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tx1"/>
                </a:solidFill>
              </a:rPr>
              <a:t>Selecione a placa.</a:t>
            </a:r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26432F00-3657-46D0-BE40-97A255C64927}"/>
              </a:ext>
            </a:extLst>
          </p:cNvPr>
          <p:cNvSpPr/>
          <p:nvPr/>
        </p:nvSpPr>
        <p:spPr>
          <a:xfrm>
            <a:off x="1344125" y="4072758"/>
            <a:ext cx="1965960" cy="980844"/>
          </a:xfrm>
          <a:prstGeom prst="wedgeRoundRectCallout">
            <a:avLst>
              <a:gd name="adj1" fmla="val 76261"/>
              <a:gd name="adj2" fmla="val -435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tx1"/>
                </a:solidFill>
              </a:rPr>
              <a:t>Framework = Arduino.</a:t>
            </a:r>
            <a:endParaRPr lang="pt-BR" sz="2400" dirty="0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42881F99-3340-EACB-3AAE-E49E1C4D671A}"/>
              </a:ext>
            </a:extLst>
          </p:cNvPr>
          <p:cNvSpPr/>
          <p:nvPr/>
        </p:nvSpPr>
        <p:spPr>
          <a:xfrm rot="5400000">
            <a:off x="9047947" y="5038067"/>
            <a:ext cx="826499" cy="6286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9" name="Balão de Fala: Retângulo com Cantos Arredondados 8">
            <a:extLst>
              <a:ext uri="{FF2B5EF4-FFF2-40B4-BE49-F238E27FC236}">
                <a16:creationId xmlns:a16="http://schemas.microsoft.com/office/drawing/2014/main" id="{1F164FF3-E41B-F336-3651-32BD9B4D7662}"/>
              </a:ext>
            </a:extLst>
          </p:cNvPr>
          <p:cNvSpPr/>
          <p:nvPr/>
        </p:nvSpPr>
        <p:spPr>
          <a:xfrm>
            <a:off x="1344125" y="5167807"/>
            <a:ext cx="1965960" cy="980844"/>
          </a:xfrm>
          <a:prstGeom prst="wedgeRoundRectCallout">
            <a:avLst>
              <a:gd name="adj1" fmla="val 85237"/>
              <a:gd name="adj2" fmla="val -7461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chemeClr val="tx1"/>
                </a:solidFill>
              </a:rPr>
              <a:t>Se quiser salvar em outro local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35243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5D89F4E-528D-2084-4F04-4823CC2DC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8" y="523470"/>
            <a:ext cx="7382905" cy="5811061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3518FF37-16FF-DFE9-66D0-C9FDA88EA63D}"/>
              </a:ext>
            </a:extLst>
          </p:cNvPr>
          <p:cNvSpPr/>
          <p:nvPr/>
        </p:nvSpPr>
        <p:spPr>
          <a:xfrm>
            <a:off x="3166111" y="2177962"/>
            <a:ext cx="3406140" cy="6172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BE3B845-7AA2-BC90-D86C-E6C2248A498B}"/>
              </a:ext>
            </a:extLst>
          </p:cNvPr>
          <p:cNvSpPr/>
          <p:nvPr/>
        </p:nvSpPr>
        <p:spPr>
          <a:xfrm>
            <a:off x="3166111" y="2939962"/>
            <a:ext cx="3406140" cy="6172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33B955C-D40D-89BA-1FBE-8A1AD26BC4DD}"/>
              </a:ext>
            </a:extLst>
          </p:cNvPr>
          <p:cNvSpPr/>
          <p:nvPr/>
        </p:nvSpPr>
        <p:spPr>
          <a:xfrm>
            <a:off x="2804161" y="3709582"/>
            <a:ext cx="2087880" cy="6172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62A8977A-525C-205F-6F22-1C2F631BAAAB}"/>
              </a:ext>
            </a:extLst>
          </p:cNvPr>
          <p:cNvSpPr/>
          <p:nvPr/>
        </p:nvSpPr>
        <p:spPr>
          <a:xfrm rot="5400000">
            <a:off x="8641083" y="5088080"/>
            <a:ext cx="826499" cy="62865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30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D7E34A-D275-0416-4401-5507484C6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467266"/>
            <a:ext cx="7274820" cy="5650752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3ED21A0F-465C-0646-7ED4-4E9E7CFCAD57}"/>
              </a:ext>
            </a:extLst>
          </p:cNvPr>
          <p:cNvGrpSpPr/>
          <p:nvPr/>
        </p:nvGrpSpPr>
        <p:grpSpPr>
          <a:xfrm>
            <a:off x="0" y="4320201"/>
            <a:ext cx="5143500" cy="1679784"/>
            <a:chOff x="160020" y="4949189"/>
            <a:chExt cx="5143500" cy="1679784"/>
          </a:xfrm>
        </p:grpSpPr>
        <p:sp>
          <p:nvSpPr>
            <p:cNvPr id="6" name="Balão de Fala: Retângulo com Cantos Arredondados 5">
              <a:extLst>
                <a:ext uri="{FF2B5EF4-FFF2-40B4-BE49-F238E27FC236}">
                  <a16:creationId xmlns:a16="http://schemas.microsoft.com/office/drawing/2014/main" id="{ED265A83-1FF6-458C-AA85-AFD676BB1A34}"/>
                </a:ext>
              </a:extLst>
            </p:cNvPr>
            <p:cNvSpPr/>
            <p:nvPr/>
          </p:nvSpPr>
          <p:spPr>
            <a:xfrm>
              <a:off x="160020" y="4949190"/>
              <a:ext cx="5143500" cy="1679783"/>
            </a:xfrm>
            <a:prstGeom prst="wedgeRoundRectCallout">
              <a:avLst>
                <a:gd name="adj1" fmla="val 18357"/>
                <a:gd name="adj2" fmla="val -116752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2000" b="1" dirty="0">
                  <a:solidFill>
                    <a:schemeClr val="tx1"/>
                  </a:solidFill>
                </a:rPr>
                <a:t>platformio.ini = este arquivo tem todas as inicializações. Inclusive as bibliotecas que forem instaladas. Diferentemente da IDE Arduino, no </a:t>
              </a:r>
              <a:r>
                <a:rPr lang="pt-BR" sz="2000" b="1" dirty="0" err="1">
                  <a:solidFill>
                    <a:schemeClr val="tx1"/>
                  </a:solidFill>
                </a:rPr>
                <a:t>VSCode</a:t>
              </a:r>
              <a:r>
                <a:rPr lang="pt-BR" sz="2000" b="1" dirty="0">
                  <a:solidFill>
                    <a:schemeClr val="tx1"/>
                  </a:solidFill>
                </a:rPr>
                <a:t> as bibliotecas são instaladas no projeto.</a:t>
              </a:r>
              <a:endParaRPr lang="pt-BR" sz="2000" dirty="0"/>
            </a:p>
          </p:txBody>
        </p:sp>
        <p:sp>
          <p:nvSpPr>
            <p:cNvPr id="7" name="Balão de Fala: Retângulo com Cantos Arredondados 6">
              <a:extLst>
                <a:ext uri="{FF2B5EF4-FFF2-40B4-BE49-F238E27FC236}">
                  <a16:creationId xmlns:a16="http://schemas.microsoft.com/office/drawing/2014/main" id="{72C9C2E1-4BBB-3190-7E8C-FF849CCCD3D1}"/>
                </a:ext>
              </a:extLst>
            </p:cNvPr>
            <p:cNvSpPr/>
            <p:nvPr/>
          </p:nvSpPr>
          <p:spPr>
            <a:xfrm>
              <a:off x="160020" y="4949189"/>
              <a:ext cx="5143500" cy="1679783"/>
            </a:xfrm>
            <a:prstGeom prst="wedgeRoundRectCallout">
              <a:avLst>
                <a:gd name="adj1" fmla="val 82357"/>
                <a:gd name="adj2" fmla="val 17296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2000" b="1" dirty="0">
                  <a:solidFill>
                    <a:schemeClr val="tx1"/>
                  </a:solidFill>
                </a:rPr>
                <a:t>platformio.ini = este arquivo tem todas as inicializações. Inclusive as bibliotecas que forem instaladas. Diferentemente da IDE Arduino, no </a:t>
              </a:r>
              <a:r>
                <a:rPr lang="pt-BR" sz="2000" b="1" dirty="0" err="1">
                  <a:solidFill>
                    <a:schemeClr val="tx1"/>
                  </a:solidFill>
                </a:rPr>
                <a:t>VSCode</a:t>
              </a:r>
              <a:r>
                <a:rPr lang="pt-BR" sz="2000" b="1" dirty="0">
                  <a:solidFill>
                    <a:schemeClr val="tx1"/>
                  </a:solidFill>
                </a:rPr>
                <a:t> as bibliotecas são instaladas no projeto.</a:t>
              </a:r>
              <a:endParaRPr lang="pt-BR" sz="2000" dirty="0"/>
            </a:p>
          </p:txBody>
        </p:sp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A342EA-B73F-4630-877A-6ADF157BB8CD}"/>
              </a:ext>
            </a:extLst>
          </p:cNvPr>
          <p:cNvSpPr txBox="1"/>
          <p:nvPr/>
        </p:nvSpPr>
        <p:spPr>
          <a:xfrm>
            <a:off x="6902064" y="6164184"/>
            <a:ext cx="5090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lib_deps</a:t>
            </a:r>
            <a:r>
              <a:rPr lang="pt-BR" b="1" i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 = </a:t>
            </a:r>
            <a:r>
              <a:rPr lang="pt-BR" b="1" i="0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zeed</a:t>
            </a:r>
            <a:r>
              <a:rPr lang="pt-BR" b="1" i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/ESP </a:t>
            </a:r>
            <a:r>
              <a:rPr lang="pt-BR" b="1" i="0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Async</a:t>
            </a:r>
            <a:r>
              <a:rPr lang="pt-BR" b="1" i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pt-BR" b="1" i="0" dirty="0" err="1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WebServer</a:t>
            </a:r>
            <a:r>
              <a:rPr lang="pt-BR" b="1" i="0" dirty="0">
                <a:solidFill>
                  <a:srgbClr val="FFFF00"/>
                </a:solidFill>
                <a:effectLst/>
                <a:latin typeface="Roboto" panose="02000000000000000000" pitchFamily="2" charset="0"/>
              </a:rPr>
              <a:t>@^1.2.3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8629EEA-F271-8863-1CFC-6D0B39B5E714}"/>
              </a:ext>
            </a:extLst>
          </p:cNvPr>
          <p:cNvSpPr txBox="1"/>
          <p:nvPr/>
        </p:nvSpPr>
        <p:spPr>
          <a:xfrm>
            <a:off x="3220276" y="6164184"/>
            <a:ext cx="300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b="1" dirty="0"/>
              <a:t>INCLUA ESSA LINHA</a:t>
            </a:r>
          </a:p>
          <a:p>
            <a:pPr algn="r"/>
            <a:r>
              <a:rPr lang="pt-BR" b="1" dirty="0"/>
              <a:t>LIB ESPASYNCWEBSERVER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7DC6471A-B14B-257C-CC04-04174051E307}"/>
              </a:ext>
            </a:extLst>
          </p:cNvPr>
          <p:cNvSpPr/>
          <p:nvPr/>
        </p:nvSpPr>
        <p:spPr>
          <a:xfrm>
            <a:off x="6359611" y="6302684"/>
            <a:ext cx="453155" cy="36933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40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4330925-5C17-2961-371F-BF970536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54" y="712172"/>
            <a:ext cx="7284432" cy="483195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4986575-94AF-FE59-4B91-D923E7988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431" y="4297721"/>
            <a:ext cx="4067743" cy="184810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AB62D4C-2403-1C44-F656-1E46EF3B8470}"/>
              </a:ext>
            </a:extLst>
          </p:cNvPr>
          <p:cNvSpPr/>
          <p:nvPr/>
        </p:nvSpPr>
        <p:spPr>
          <a:xfrm>
            <a:off x="8835144" y="5341322"/>
            <a:ext cx="2754630" cy="33147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7" name="Balão de Fala: Retângulo com Cantos Arredondados 6">
            <a:extLst>
              <a:ext uri="{FF2B5EF4-FFF2-40B4-BE49-F238E27FC236}">
                <a16:creationId xmlns:a16="http://schemas.microsoft.com/office/drawing/2014/main" id="{3CD850C2-CE4E-EC6E-7337-C44041FA524C}"/>
              </a:ext>
            </a:extLst>
          </p:cNvPr>
          <p:cNvSpPr/>
          <p:nvPr/>
        </p:nvSpPr>
        <p:spPr>
          <a:xfrm>
            <a:off x="68826" y="4523278"/>
            <a:ext cx="1524000" cy="1600103"/>
          </a:xfrm>
          <a:prstGeom prst="wedgeRoundRectCallout">
            <a:avLst>
              <a:gd name="adj1" fmla="val 43038"/>
              <a:gd name="adj2" fmla="val -8952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chemeClr val="tx1"/>
                </a:solidFill>
              </a:rPr>
              <a:t>Clique com o botão direito do mouse nesta área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4CAA44D-08C1-9E1F-542D-5202399CE9A4}"/>
              </a:ext>
            </a:extLst>
          </p:cNvPr>
          <p:cNvCxnSpPr>
            <a:endCxn id="5" idx="0"/>
          </p:cNvCxnSpPr>
          <p:nvPr/>
        </p:nvCxnSpPr>
        <p:spPr>
          <a:xfrm>
            <a:off x="4768645" y="4061162"/>
            <a:ext cx="5320658" cy="236559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470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0C23C1-3965-12E8-A48A-F88BB2641A1F}"/>
              </a:ext>
            </a:extLst>
          </p:cNvPr>
          <p:cNvSpPr txBox="1"/>
          <p:nvPr/>
        </p:nvSpPr>
        <p:spPr>
          <a:xfrm>
            <a:off x="506963" y="547832"/>
            <a:ext cx="11178074" cy="55861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Arquivo </a:t>
            </a:r>
            <a:r>
              <a:rPr kumimoji="0" lang="pt-BR" altLang="pt-BR" sz="1700" b="1" i="0" u="sng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endParaRPr kumimoji="0" lang="pt-BR" altLang="pt-BR" sz="17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700" b="1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700" b="1" dirty="0"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&lt;!DOCTYPE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html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html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head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title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&gt;ESP32 Web Server&lt;/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title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&lt;link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rel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stylesheet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type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text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href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="novo_estilo.css"&gt;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&lt;meta http-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equiv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refresh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content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="5"&gt;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head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&lt;body&gt;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&lt;h1&gt;ESP32 Servidor Web&lt;/h1&gt;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&lt;p&gt;&lt;a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href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button1"&gt;ON&lt;/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&gt;&lt;/a&gt;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&lt;a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href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="/off"&gt;&lt;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button2"&gt;OFF&lt;/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button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&gt;&lt;/a&gt; &lt;/p&gt;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700" b="1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&lt;p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="sensor-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labels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"&gt;Temperatura: &lt;b&gt; %TEMP% &lt;/b&gt;&lt;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sup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units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"&gt;&amp;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deg;C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sup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&gt;&lt;/p&gt;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   &lt;p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="sensor-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labels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"&gt;Umidade:&lt;b&gt; %UMID% &lt;/b&gt;&lt;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sup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 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class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="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units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"&gt;&amp;#37;&lt;/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sup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&gt;&lt;/p&gt;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&lt;/body&gt;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&lt;/</a:t>
            </a:r>
            <a:r>
              <a:rPr kumimoji="0" lang="pt-BR" altLang="pt-BR" sz="1700" b="1" i="0" u="none" strike="noStrike" cap="none" normalizeH="0" baseline="0" dirty="0" err="1">
                <a:ln>
                  <a:noFill/>
                </a:ln>
                <a:effectLst/>
                <a:latin typeface="Consolas" panose="020B0609020204030204" pitchFamily="49" charset="0"/>
              </a:rPr>
              <a:t>html</a:t>
            </a:r>
            <a:r>
              <a:rPr kumimoji="0" lang="pt-BR" altLang="pt-BR" sz="17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&gt;</a:t>
            </a:r>
            <a:endParaRPr lang="pt-BR" altLang="pt-BR" sz="17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3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9BB61D35-3E18-3CD4-C2B7-3AA6257CA425}"/>
              </a:ext>
            </a:extLst>
          </p:cNvPr>
          <p:cNvSpPr txBox="1"/>
          <p:nvPr/>
        </p:nvSpPr>
        <p:spPr>
          <a:xfrm>
            <a:off x="774441" y="0"/>
            <a:ext cx="8397551" cy="6986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 err="1"/>
              <a:t>html</a:t>
            </a:r>
            <a:r>
              <a:rPr lang="pt-BR" sz="1400" b="1" dirty="0"/>
              <a:t> {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font-family</a:t>
            </a:r>
            <a:r>
              <a:rPr lang="pt-BR" sz="1400" b="1" dirty="0"/>
              <a:t>: Arial;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text-align</a:t>
            </a:r>
            <a:r>
              <a:rPr lang="pt-BR" sz="1400" b="1" dirty="0"/>
              <a:t>: center;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h1 {</a:t>
            </a:r>
          </a:p>
          <a:p>
            <a:r>
              <a:rPr lang="pt-BR" sz="1400" b="1" dirty="0"/>
              <a:t>    color: #0F3376;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padding</a:t>
            </a:r>
            <a:r>
              <a:rPr lang="pt-BR" sz="1400" b="1" dirty="0"/>
              <a:t>: 10px;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p {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font-size</a:t>
            </a:r>
            <a:r>
              <a:rPr lang="pt-BR" sz="1400" b="1" dirty="0"/>
              <a:t>: 1.5rem;    /* relativo ao tamanho da fonte */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.</a:t>
            </a:r>
            <a:r>
              <a:rPr lang="pt-BR" sz="1400" b="1" dirty="0" err="1"/>
              <a:t>button</a:t>
            </a:r>
            <a:r>
              <a:rPr lang="pt-BR" sz="1400" b="1" dirty="0"/>
              <a:t> {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width</a:t>
            </a:r>
            <a:r>
              <a:rPr lang="pt-BR" sz="1400" b="1" dirty="0"/>
              <a:t>: 200px;         /* fixar largura do botão */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border-radius</a:t>
            </a:r>
            <a:r>
              <a:rPr lang="pt-BR" sz="1400" b="1" dirty="0"/>
              <a:t>: 4px;   /* fazer a borda arredondada */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border</a:t>
            </a:r>
            <a:r>
              <a:rPr lang="pt-BR" sz="1400" b="1" dirty="0"/>
              <a:t>: </a:t>
            </a:r>
            <a:r>
              <a:rPr lang="pt-BR" sz="1400" b="1" dirty="0" err="1"/>
              <a:t>none</a:t>
            </a:r>
            <a:r>
              <a:rPr lang="pt-BR" sz="1400" b="1" dirty="0"/>
              <a:t>;         /* sem cor de borda */</a:t>
            </a:r>
          </a:p>
          <a:p>
            <a:r>
              <a:rPr lang="pt-BR" sz="1400" b="1" dirty="0"/>
              <a:t>    color: </a:t>
            </a:r>
            <a:r>
              <a:rPr lang="pt-BR" sz="1400" b="1" dirty="0" err="1"/>
              <a:t>white</a:t>
            </a:r>
            <a:r>
              <a:rPr lang="pt-BR" sz="1400" b="1" dirty="0"/>
              <a:t>;       /* cor da letra */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font-size</a:t>
            </a:r>
            <a:r>
              <a:rPr lang="pt-BR" sz="1400" b="1" dirty="0"/>
              <a:t>: 30px;      /* cor da letra */</a:t>
            </a:r>
          </a:p>
          <a:p>
            <a:endParaRPr lang="pt-BR" sz="1400" b="1" dirty="0"/>
          </a:p>
          <a:p>
            <a:r>
              <a:rPr lang="pt-BR" sz="1400" b="1" dirty="0"/>
              <a:t>    </a:t>
            </a:r>
            <a:r>
              <a:rPr lang="pt-BR" sz="1400" b="1" dirty="0" err="1"/>
              <a:t>padding</a:t>
            </a:r>
            <a:r>
              <a:rPr lang="pt-BR" sz="1400" b="1" dirty="0"/>
              <a:t>: 16px;</a:t>
            </a:r>
          </a:p>
          <a:p>
            <a:r>
              <a:rPr lang="pt-BR" sz="1400" b="1" dirty="0"/>
              <a:t>    </a:t>
            </a:r>
            <a:r>
              <a:rPr lang="pt-BR" sz="1400" b="1" dirty="0" err="1"/>
              <a:t>margin</a:t>
            </a:r>
            <a:r>
              <a:rPr lang="pt-BR" sz="1400" b="1" dirty="0"/>
              <a:t>: 5px;          /* distância entre os botões */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.button1 {</a:t>
            </a:r>
          </a:p>
          <a:p>
            <a:r>
              <a:rPr lang="pt-BR" sz="1400" b="1" dirty="0"/>
              <a:t>    background-color: #008CBA;</a:t>
            </a:r>
          </a:p>
          <a:p>
            <a:r>
              <a:rPr lang="pt-BR" sz="1400" b="1" dirty="0"/>
              <a:t>}</a:t>
            </a:r>
          </a:p>
          <a:p>
            <a:endParaRPr lang="pt-BR" sz="1400" b="1" dirty="0"/>
          </a:p>
          <a:p>
            <a:r>
              <a:rPr lang="pt-BR" sz="1400" b="1" dirty="0"/>
              <a:t>.button2 {</a:t>
            </a:r>
          </a:p>
          <a:p>
            <a:r>
              <a:rPr lang="pt-BR" sz="1400" b="1" dirty="0"/>
              <a:t>    background-color: #f44336;</a:t>
            </a:r>
          </a:p>
          <a:p>
            <a:r>
              <a:rPr lang="pt-BR" sz="1400" b="1" dirty="0"/>
              <a:t>}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15661E8-A096-66D0-94D4-5A3C01D3C6D9}"/>
              </a:ext>
            </a:extLst>
          </p:cNvPr>
          <p:cNvSpPr txBox="1"/>
          <p:nvPr/>
        </p:nvSpPr>
        <p:spPr>
          <a:xfrm>
            <a:off x="4043654" y="0"/>
            <a:ext cx="1859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Arquivo </a:t>
            </a:r>
            <a:r>
              <a:rPr kumimoji="0" lang="pt-BR" altLang="pt-BR" sz="1800" b="1" i="0" u="sng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css</a:t>
            </a:r>
            <a:endParaRPr kumimoji="0" lang="pt-BR" altLang="pt-BR" sz="1800" b="1" i="0" u="sng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148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B9A2115-19E5-949B-5713-B1216465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381" y="572405"/>
            <a:ext cx="8729048" cy="5713190"/>
          </a:xfrm>
          <a:prstGeom prst="rect">
            <a:avLst/>
          </a:prstGeom>
        </p:spPr>
      </p:pic>
      <p:sp>
        <p:nvSpPr>
          <p:cNvPr id="5" name="Balão de Fala: Retângulo com Cantos Arredondados 4">
            <a:extLst>
              <a:ext uri="{FF2B5EF4-FFF2-40B4-BE49-F238E27FC236}">
                <a16:creationId xmlns:a16="http://schemas.microsoft.com/office/drawing/2014/main" id="{6B9A8394-10F4-4009-18E8-A06642085E67}"/>
              </a:ext>
            </a:extLst>
          </p:cNvPr>
          <p:cNvSpPr/>
          <p:nvPr/>
        </p:nvSpPr>
        <p:spPr>
          <a:xfrm>
            <a:off x="205571" y="2028179"/>
            <a:ext cx="2914650" cy="3377306"/>
          </a:xfrm>
          <a:prstGeom prst="wedgeRoundRectCallout">
            <a:avLst>
              <a:gd name="adj1" fmla="val 71594"/>
              <a:gd name="adj2" fmla="val -4458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000" b="1" dirty="0">
                <a:solidFill>
                  <a:schemeClr val="tx1"/>
                </a:solidFill>
              </a:rPr>
              <a:t>Na pasta </a:t>
            </a:r>
            <a:r>
              <a:rPr lang="pt-BR" sz="2000" b="1" dirty="0" err="1">
                <a:solidFill>
                  <a:schemeClr val="tx1"/>
                </a:solidFill>
              </a:rPr>
              <a:t>src</a:t>
            </a:r>
            <a:r>
              <a:rPr lang="pt-BR" sz="2000" b="1" dirty="0">
                <a:solidFill>
                  <a:schemeClr val="tx1"/>
                </a:solidFill>
              </a:rPr>
              <a:t> está o arquivo principal.</a:t>
            </a:r>
          </a:p>
          <a:p>
            <a:pPr algn="ctr"/>
            <a:r>
              <a:rPr lang="pt-BR" sz="2000" b="1" dirty="0">
                <a:solidFill>
                  <a:schemeClr val="tx1"/>
                </a:solidFill>
              </a:rPr>
              <a:t>A estrutura do programa main.cpp é igual ao feito na IDE Arduino. Tem duas funções </a:t>
            </a:r>
            <a:r>
              <a:rPr lang="pt-BR" sz="2000" b="1" dirty="0" err="1">
                <a:solidFill>
                  <a:schemeClr val="tx1"/>
                </a:solidFill>
              </a:rPr>
              <a:t>void</a:t>
            </a:r>
            <a:r>
              <a:rPr lang="pt-BR" sz="2000" b="1" dirty="0">
                <a:solidFill>
                  <a:schemeClr val="tx1"/>
                </a:solidFill>
              </a:rPr>
              <a:t> setup() e </a:t>
            </a:r>
            <a:r>
              <a:rPr lang="pt-BR" sz="2000" b="1" dirty="0" err="1">
                <a:solidFill>
                  <a:schemeClr val="tx1"/>
                </a:solidFill>
              </a:rPr>
              <a:t>void</a:t>
            </a:r>
            <a:r>
              <a:rPr lang="pt-BR" sz="2000" b="1" dirty="0">
                <a:solidFill>
                  <a:schemeClr val="tx1"/>
                </a:solidFill>
              </a:rPr>
              <a:t> loop(). A única diferença é que deve manter o #include &lt;</a:t>
            </a:r>
            <a:r>
              <a:rPr lang="pt-BR" sz="2000" b="1" dirty="0" err="1">
                <a:solidFill>
                  <a:schemeClr val="tx1"/>
                </a:solidFill>
              </a:rPr>
              <a:t>Arduino.h</a:t>
            </a:r>
            <a:r>
              <a:rPr lang="pt-BR" sz="2000" b="1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506026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9339FE6-709E-E490-758E-F7FED9D606A8}"/>
              </a:ext>
            </a:extLst>
          </p:cNvPr>
          <p:cNvSpPr txBox="1"/>
          <p:nvPr/>
        </p:nvSpPr>
        <p:spPr>
          <a:xfrm>
            <a:off x="215423" y="0"/>
            <a:ext cx="1126826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/**************** MODO STATION (CONECTA A REDE WIFI) ************************/</a:t>
            </a:r>
          </a:p>
          <a:p>
            <a:r>
              <a:rPr lang="pt-BR" dirty="0"/>
              <a:t>#include &lt;</a:t>
            </a:r>
            <a:r>
              <a:rPr lang="pt-BR" dirty="0" err="1"/>
              <a:t>WiFi.h</a:t>
            </a:r>
            <a:r>
              <a:rPr lang="pt-BR" dirty="0"/>
              <a:t>&gt;</a:t>
            </a:r>
          </a:p>
          <a:p>
            <a:r>
              <a:rPr lang="pt-BR" dirty="0"/>
              <a:t>#include &lt;</a:t>
            </a:r>
            <a:r>
              <a:rPr lang="pt-BR" dirty="0" err="1"/>
              <a:t>WebServer.h</a:t>
            </a:r>
            <a:r>
              <a:rPr lang="pt-BR" dirty="0"/>
              <a:t>&gt;</a:t>
            </a:r>
          </a:p>
          <a:p>
            <a:endParaRPr lang="pt-BR" dirty="0"/>
          </a:p>
          <a:p>
            <a:r>
              <a:rPr lang="pt-BR" dirty="0"/>
              <a:t>#include &lt;</a:t>
            </a:r>
            <a:r>
              <a:rPr lang="pt-BR" dirty="0" err="1"/>
              <a:t>ESPAsyncWebServer.h</a:t>
            </a:r>
            <a:r>
              <a:rPr lang="pt-BR" dirty="0"/>
              <a:t>&gt;</a:t>
            </a:r>
          </a:p>
          <a:p>
            <a:r>
              <a:rPr lang="pt-BR" dirty="0"/>
              <a:t>#include "</a:t>
            </a:r>
            <a:r>
              <a:rPr lang="pt-BR" dirty="0" err="1"/>
              <a:t>FS.h</a:t>
            </a:r>
            <a:r>
              <a:rPr lang="pt-BR" dirty="0"/>
              <a:t>"</a:t>
            </a:r>
          </a:p>
          <a:p>
            <a:r>
              <a:rPr lang="pt-BR" dirty="0"/>
              <a:t>#include "</a:t>
            </a:r>
            <a:r>
              <a:rPr lang="pt-BR" dirty="0" err="1"/>
              <a:t>SPIFFS.h</a:t>
            </a:r>
            <a:r>
              <a:rPr lang="pt-BR" dirty="0"/>
              <a:t>"</a:t>
            </a:r>
          </a:p>
          <a:p>
            <a:r>
              <a:rPr lang="pt-BR" dirty="0"/>
              <a:t>#define </a:t>
            </a:r>
            <a:r>
              <a:rPr lang="pt-BR" dirty="0" err="1"/>
              <a:t>led</a:t>
            </a:r>
            <a:r>
              <a:rPr lang="pt-BR" dirty="0"/>
              <a:t> 2</a:t>
            </a:r>
          </a:p>
          <a:p>
            <a:r>
              <a:rPr lang="pt-BR" dirty="0" err="1"/>
              <a:t>const</a:t>
            </a:r>
            <a:r>
              <a:rPr lang="pt-BR" dirty="0"/>
              <a:t> char* </a:t>
            </a:r>
            <a:r>
              <a:rPr lang="pt-BR" dirty="0" err="1"/>
              <a:t>ssid</a:t>
            </a:r>
            <a:r>
              <a:rPr lang="pt-BR" dirty="0"/>
              <a:t> = "nome da rede do celular de vocês";  </a:t>
            </a:r>
          </a:p>
          <a:p>
            <a:r>
              <a:rPr lang="pt-BR" dirty="0" err="1"/>
              <a:t>const</a:t>
            </a:r>
            <a:r>
              <a:rPr lang="pt-BR" dirty="0"/>
              <a:t> char* </a:t>
            </a:r>
            <a:r>
              <a:rPr lang="pt-BR" dirty="0" err="1"/>
              <a:t>password</a:t>
            </a:r>
            <a:r>
              <a:rPr lang="pt-BR" dirty="0"/>
              <a:t> = "senha da rede </a:t>
            </a:r>
            <a:r>
              <a:rPr lang="pt-BR" dirty="0" err="1"/>
              <a:t>wifi</a:t>
            </a:r>
            <a:r>
              <a:rPr lang="pt-BR" dirty="0"/>
              <a:t> do celular de vocês";  </a:t>
            </a:r>
          </a:p>
          <a:p>
            <a:endParaRPr lang="pt-BR" dirty="0"/>
          </a:p>
          <a:p>
            <a:r>
              <a:rPr lang="pt-BR" dirty="0" err="1"/>
              <a:t>AsyncWebServer</a:t>
            </a:r>
            <a:r>
              <a:rPr lang="pt-BR" dirty="0"/>
              <a:t> server(80);</a:t>
            </a:r>
          </a:p>
          <a:p>
            <a:endParaRPr lang="pt-BR" dirty="0"/>
          </a:p>
          <a:p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le_temp</a:t>
            </a:r>
            <a:r>
              <a:rPr lang="pt-BR" dirty="0"/>
              <a:t>() 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</a:t>
            </a:r>
            <a:r>
              <a:rPr lang="pt-BR" dirty="0" err="1"/>
              <a:t>float</a:t>
            </a:r>
            <a:r>
              <a:rPr lang="pt-BR" dirty="0"/>
              <a:t> </a:t>
            </a:r>
            <a:r>
              <a:rPr lang="pt-BR" dirty="0" err="1"/>
              <a:t>temp</a:t>
            </a:r>
            <a:r>
              <a:rPr lang="pt-BR" dirty="0"/>
              <a:t> = </a:t>
            </a:r>
            <a:r>
              <a:rPr lang="pt-BR" dirty="0" err="1"/>
              <a:t>random</a:t>
            </a:r>
            <a:r>
              <a:rPr lang="pt-BR" dirty="0"/>
              <a:t>(0,1000)/10;</a:t>
            </a:r>
          </a:p>
          <a:p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(</a:t>
            </a:r>
            <a:r>
              <a:rPr lang="pt-BR" dirty="0" err="1"/>
              <a:t>temp</a:t>
            </a:r>
            <a:r>
              <a:rPr lang="pt-BR" dirty="0"/>
              <a:t>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  </a:t>
            </a:r>
          </a:p>
          <a:p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le_umid</a:t>
            </a:r>
            <a:r>
              <a:rPr lang="pt-BR" dirty="0"/>
              <a:t>() 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</a:t>
            </a:r>
            <a:r>
              <a:rPr lang="pt-BR" dirty="0" err="1"/>
              <a:t>float</a:t>
            </a:r>
            <a:r>
              <a:rPr lang="pt-BR" dirty="0"/>
              <a:t> </a:t>
            </a:r>
            <a:r>
              <a:rPr lang="pt-BR" dirty="0" err="1"/>
              <a:t>umid</a:t>
            </a:r>
            <a:r>
              <a:rPr lang="pt-BR" dirty="0"/>
              <a:t> = </a:t>
            </a:r>
            <a:r>
              <a:rPr lang="pt-BR" dirty="0" err="1"/>
              <a:t>random</a:t>
            </a:r>
            <a:r>
              <a:rPr lang="pt-BR" dirty="0"/>
              <a:t>(0,1000)/10;</a:t>
            </a:r>
          </a:p>
          <a:p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(</a:t>
            </a:r>
            <a:r>
              <a:rPr lang="pt-BR" dirty="0" err="1"/>
              <a:t>umid</a:t>
            </a:r>
            <a:r>
              <a:rPr lang="pt-BR" dirty="0"/>
              <a:t>);</a:t>
            </a:r>
          </a:p>
          <a:p>
            <a:r>
              <a:rPr lang="pt-BR" dirty="0"/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94DC72F-F1BF-0B12-0009-37203DF4C4AF}"/>
              </a:ext>
            </a:extLst>
          </p:cNvPr>
          <p:cNvSpPr txBox="1"/>
          <p:nvPr/>
        </p:nvSpPr>
        <p:spPr>
          <a:xfrm>
            <a:off x="10429293" y="440485"/>
            <a:ext cx="1762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Código ESP32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282FF8E-E9B2-6E17-8428-9953CB333671}"/>
              </a:ext>
            </a:extLst>
          </p:cNvPr>
          <p:cNvGrpSpPr/>
          <p:nvPr/>
        </p:nvGrpSpPr>
        <p:grpSpPr>
          <a:xfrm>
            <a:off x="4654517" y="2417633"/>
            <a:ext cx="7449133" cy="4379532"/>
            <a:chOff x="4654517" y="2417633"/>
            <a:chExt cx="7449133" cy="4379532"/>
          </a:xfrm>
        </p:grpSpPr>
        <p:pic>
          <p:nvPicPr>
            <p:cNvPr id="3" name="Imagem 2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79350FDD-D20E-9B4F-4FC0-9E46D1CA0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54517" y="2874870"/>
              <a:ext cx="1761968" cy="3922295"/>
            </a:xfrm>
            <a:prstGeom prst="rect">
              <a:avLst/>
            </a:prstGeom>
          </p:spPr>
        </p:pic>
        <p:pic>
          <p:nvPicPr>
            <p:cNvPr id="6" name="Imagem 5" descr="Interface gráfica do usuário, Texto, Aplicativo&#10;&#10;O conteúdo gerado por IA pode estar incorreto.">
              <a:extLst>
                <a:ext uri="{FF2B5EF4-FFF2-40B4-BE49-F238E27FC236}">
                  <a16:creationId xmlns:a16="http://schemas.microsoft.com/office/drawing/2014/main" id="{96E5C4B0-CC0F-ECCB-810B-9B3DE378F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6019" y="2874870"/>
              <a:ext cx="1761969" cy="3922295"/>
            </a:xfrm>
            <a:prstGeom prst="rect">
              <a:avLst/>
            </a:prstGeom>
          </p:spPr>
        </p:pic>
        <p:pic>
          <p:nvPicPr>
            <p:cNvPr id="9" name="Imagem 8" descr="Interface gráfica do usuário, Texto, Aplicativo&#10;&#10;O conteúdo gerado por IA pode estar incorreto.">
              <a:extLst>
                <a:ext uri="{FF2B5EF4-FFF2-40B4-BE49-F238E27FC236}">
                  <a16:creationId xmlns:a16="http://schemas.microsoft.com/office/drawing/2014/main" id="{E02DFE36-7760-AE77-3F5C-CBCA01D8A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41682" y="2862841"/>
              <a:ext cx="1761968" cy="3922295"/>
            </a:xfrm>
            <a:prstGeom prst="rect">
              <a:avLst/>
            </a:prstGeom>
          </p:spPr>
        </p:pic>
        <p:pic>
          <p:nvPicPr>
            <p:cNvPr id="11" name="Imagem 10" descr="Interface gráfica do usuário, Aplicativo, Email&#10;&#10;O conteúdo gerado por IA pode estar incorreto.">
              <a:extLst>
                <a:ext uri="{FF2B5EF4-FFF2-40B4-BE49-F238E27FC236}">
                  <a16:creationId xmlns:a16="http://schemas.microsoft.com/office/drawing/2014/main" id="{3B753E42-B3C5-5FA5-9E46-E1A988E26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0357" y="2874870"/>
              <a:ext cx="1761968" cy="3922295"/>
            </a:xfrm>
            <a:prstGeom prst="rect">
              <a:avLst/>
            </a:prstGeom>
          </p:spPr>
        </p:pic>
        <p:sp>
          <p:nvSpPr>
            <p:cNvPr id="12" name="Seta: para Baixo 11">
              <a:extLst>
                <a:ext uri="{FF2B5EF4-FFF2-40B4-BE49-F238E27FC236}">
                  <a16:creationId xmlns:a16="http://schemas.microsoft.com/office/drawing/2014/main" id="{8600C218-B3FB-97D1-C06A-FC79DC943E7B}"/>
                </a:ext>
              </a:extLst>
            </p:cNvPr>
            <p:cNvSpPr/>
            <p:nvPr/>
          </p:nvSpPr>
          <p:spPr>
            <a:xfrm>
              <a:off x="10980821" y="2430378"/>
              <a:ext cx="441158" cy="447794"/>
            </a:xfrm>
            <a:prstGeom prst="down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5758AFC5-9C1A-3992-F945-D927D533C9CB}"/>
                </a:ext>
              </a:extLst>
            </p:cNvPr>
            <p:cNvSpPr/>
            <p:nvPr/>
          </p:nvSpPr>
          <p:spPr>
            <a:xfrm>
              <a:off x="6575382" y="2417633"/>
              <a:ext cx="4735264" cy="16217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2749DAAB-A53E-0954-6415-D07B32BCBAE4}"/>
                </a:ext>
              </a:extLst>
            </p:cNvPr>
            <p:cNvSpPr/>
            <p:nvPr/>
          </p:nvSpPr>
          <p:spPr>
            <a:xfrm>
              <a:off x="6167397" y="3224463"/>
              <a:ext cx="473242" cy="32886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id="{BB634CBF-8DFD-2845-5B9B-5D7DF53269C6}"/>
                </a:ext>
              </a:extLst>
            </p:cNvPr>
            <p:cNvSpPr/>
            <p:nvPr/>
          </p:nvSpPr>
          <p:spPr>
            <a:xfrm>
              <a:off x="8070019" y="3224463"/>
              <a:ext cx="473242" cy="32886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Seta: para a Direita 15">
              <a:extLst>
                <a:ext uri="{FF2B5EF4-FFF2-40B4-BE49-F238E27FC236}">
                  <a16:creationId xmlns:a16="http://schemas.microsoft.com/office/drawing/2014/main" id="{21326764-18F1-DB54-52F6-D6D6DE4870CB}"/>
                </a:ext>
              </a:extLst>
            </p:cNvPr>
            <p:cNvSpPr/>
            <p:nvPr/>
          </p:nvSpPr>
          <p:spPr>
            <a:xfrm>
              <a:off x="9971367" y="3224463"/>
              <a:ext cx="473242" cy="32886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18785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2A47BC0-2C5C-7A8E-4B30-3BA5811F3A04}"/>
              </a:ext>
            </a:extLst>
          </p:cNvPr>
          <p:cNvSpPr txBox="1"/>
          <p:nvPr/>
        </p:nvSpPr>
        <p:spPr>
          <a:xfrm>
            <a:off x="699795" y="203214"/>
            <a:ext cx="1126826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String</a:t>
            </a:r>
            <a:r>
              <a:rPr lang="pt-BR" dirty="0"/>
              <a:t> processor(</a:t>
            </a:r>
            <a:r>
              <a:rPr lang="pt-BR" dirty="0" err="1"/>
              <a:t>const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&amp; var)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</a:t>
            </a:r>
            <a:r>
              <a:rPr lang="pt-BR" dirty="0" err="1"/>
              <a:t>if</a:t>
            </a:r>
            <a:r>
              <a:rPr lang="pt-BR" dirty="0"/>
              <a:t> (var == "TEMP"){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le_temp</a:t>
            </a:r>
            <a:r>
              <a:rPr lang="pt-BR" dirty="0"/>
              <a:t>();</a:t>
            </a:r>
          </a:p>
          <a:p>
            <a:r>
              <a:rPr lang="pt-BR" dirty="0"/>
              <a:t>  }</a:t>
            </a:r>
          </a:p>
          <a:p>
            <a:r>
              <a:rPr lang="pt-BR" dirty="0"/>
              <a:t>  </a:t>
            </a:r>
            <a:r>
              <a:rPr lang="pt-BR" dirty="0" err="1"/>
              <a:t>else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(var == "UMID"){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le_umid</a:t>
            </a:r>
            <a:r>
              <a:rPr lang="pt-BR" dirty="0"/>
              <a:t>();</a:t>
            </a:r>
          </a:p>
          <a:p>
            <a:r>
              <a:rPr lang="pt-BR" dirty="0"/>
              <a:t>  }</a:t>
            </a:r>
          </a:p>
          <a:p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();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dirty="0" err="1"/>
              <a:t>void</a:t>
            </a:r>
            <a:r>
              <a:rPr lang="pt-BR" dirty="0"/>
              <a:t> setup() </a:t>
            </a:r>
          </a:p>
          <a:p>
            <a:r>
              <a:rPr lang="pt-BR" dirty="0"/>
              <a:t>{</a:t>
            </a:r>
          </a:p>
          <a:p>
            <a:r>
              <a:rPr lang="pt-BR" dirty="0"/>
              <a:t>  </a:t>
            </a:r>
            <a:r>
              <a:rPr lang="pt-BR" dirty="0" err="1"/>
              <a:t>Serial.begin</a:t>
            </a:r>
            <a:r>
              <a:rPr lang="pt-BR" dirty="0"/>
              <a:t>(115200);</a:t>
            </a:r>
          </a:p>
          <a:p>
            <a:r>
              <a:rPr lang="pt-BR" dirty="0"/>
              <a:t>  </a:t>
            </a:r>
            <a:r>
              <a:rPr lang="pt-BR" dirty="0" err="1"/>
              <a:t>pinMode</a:t>
            </a:r>
            <a:r>
              <a:rPr lang="pt-BR" dirty="0"/>
              <a:t>(</a:t>
            </a:r>
            <a:r>
              <a:rPr lang="pt-BR" dirty="0" err="1"/>
              <a:t>led</a:t>
            </a:r>
            <a:r>
              <a:rPr lang="pt-BR"/>
              <a:t>, OUTPUT);</a:t>
            </a:r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if</a:t>
            </a:r>
            <a:r>
              <a:rPr lang="pt-BR" dirty="0"/>
              <a:t>(!</a:t>
            </a:r>
            <a:r>
              <a:rPr lang="pt-BR" dirty="0" err="1"/>
              <a:t>SPIFFS.begin</a:t>
            </a:r>
            <a:r>
              <a:rPr lang="pt-BR" dirty="0"/>
              <a:t>())</a:t>
            </a:r>
          </a:p>
          <a:p>
            <a:r>
              <a:rPr lang="pt-BR" dirty="0"/>
              <a:t>  {</a:t>
            </a:r>
          </a:p>
          <a:p>
            <a:r>
              <a:rPr lang="pt-BR" dirty="0"/>
              <a:t>    </a:t>
            </a:r>
            <a:r>
              <a:rPr lang="pt-BR" dirty="0" err="1"/>
              <a:t>Serial.println</a:t>
            </a:r>
            <a:r>
              <a:rPr lang="pt-BR" dirty="0"/>
              <a:t>("Um </a:t>
            </a:r>
            <a:r>
              <a:rPr lang="pt-BR" dirty="0" err="1"/>
              <a:t>errro</a:t>
            </a:r>
            <a:r>
              <a:rPr lang="pt-BR" dirty="0"/>
              <a:t> com a Flash");</a:t>
            </a:r>
          </a:p>
          <a:p>
            <a:r>
              <a:rPr lang="pt-BR" dirty="0"/>
              <a:t>    </a:t>
            </a:r>
            <a:r>
              <a:rPr lang="pt-BR" dirty="0" err="1"/>
              <a:t>return</a:t>
            </a:r>
            <a:r>
              <a:rPr lang="pt-BR" dirty="0"/>
              <a:t>;</a:t>
            </a:r>
          </a:p>
          <a:p>
            <a:r>
              <a:rPr lang="pt-BR" dirty="0"/>
              <a:t>  }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Serial.println</a:t>
            </a:r>
            <a:r>
              <a:rPr lang="pt-BR" dirty="0"/>
              <a:t>("Conectando......");</a:t>
            </a:r>
          </a:p>
          <a:p>
            <a:r>
              <a:rPr lang="pt-BR" dirty="0"/>
              <a:t>  </a:t>
            </a:r>
            <a:r>
              <a:rPr lang="pt-BR" dirty="0" err="1"/>
              <a:t>WiFi.begin</a:t>
            </a:r>
            <a:r>
              <a:rPr lang="pt-BR" dirty="0"/>
              <a:t>(</a:t>
            </a:r>
            <a:r>
              <a:rPr lang="pt-BR" dirty="0" err="1"/>
              <a:t>ssid</a:t>
            </a:r>
            <a:r>
              <a:rPr lang="pt-BR" dirty="0"/>
              <a:t>, </a:t>
            </a:r>
            <a:r>
              <a:rPr lang="pt-BR" dirty="0" err="1"/>
              <a:t>password</a:t>
            </a:r>
            <a:r>
              <a:rPr lang="pt-BR" dirty="0"/>
              <a:t>);</a:t>
            </a:r>
          </a:p>
          <a:p>
            <a:r>
              <a:rPr lang="pt-B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16919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C4E6675-432E-0EE5-D310-0CCF992830CE}"/>
              </a:ext>
            </a:extLst>
          </p:cNvPr>
          <p:cNvSpPr txBox="1"/>
          <p:nvPr/>
        </p:nvSpPr>
        <p:spPr>
          <a:xfrm>
            <a:off x="755780" y="429208"/>
            <a:ext cx="112682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  </a:t>
            </a:r>
            <a:r>
              <a:rPr lang="pt-BR" dirty="0" err="1"/>
              <a:t>while</a:t>
            </a:r>
            <a:r>
              <a:rPr lang="pt-BR" dirty="0"/>
              <a:t> (</a:t>
            </a:r>
            <a:r>
              <a:rPr lang="pt-BR" dirty="0" err="1"/>
              <a:t>WiFi.status</a:t>
            </a:r>
            <a:r>
              <a:rPr lang="pt-BR" dirty="0"/>
              <a:t>() != WL_CONNECTED) </a:t>
            </a:r>
          </a:p>
          <a:p>
            <a:r>
              <a:rPr lang="pt-BR" dirty="0"/>
              <a:t>  {</a:t>
            </a:r>
          </a:p>
          <a:p>
            <a:r>
              <a:rPr lang="pt-BR" dirty="0"/>
              <a:t>    delay(1000);</a:t>
            </a:r>
          </a:p>
          <a:p>
            <a:r>
              <a:rPr lang="pt-BR" dirty="0"/>
              <a:t>    </a:t>
            </a:r>
            <a:r>
              <a:rPr lang="pt-BR" dirty="0" err="1"/>
              <a:t>Serial.print</a:t>
            </a:r>
            <a:r>
              <a:rPr lang="pt-BR" dirty="0"/>
              <a:t>(".");</a:t>
            </a:r>
          </a:p>
          <a:p>
            <a:r>
              <a:rPr lang="pt-BR" dirty="0"/>
              <a:t>  }</a:t>
            </a:r>
          </a:p>
          <a:p>
            <a:r>
              <a:rPr lang="pt-BR" dirty="0"/>
              <a:t>  </a:t>
            </a:r>
            <a:r>
              <a:rPr lang="pt-BR" dirty="0" err="1"/>
              <a:t>Serial.println</a:t>
            </a:r>
            <a:r>
              <a:rPr lang="pt-BR" dirty="0"/>
              <a:t>("");</a:t>
            </a:r>
          </a:p>
          <a:p>
            <a:r>
              <a:rPr lang="pt-BR" dirty="0"/>
              <a:t>  </a:t>
            </a:r>
            <a:r>
              <a:rPr lang="pt-BR" dirty="0" err="1"/>
              <a:t>Serial.println</a:t>
            </a:r>
            <a:r>
              <a:rPr lang="pt-BR" dirty="0"/>
              <a:t>("WiFi conectado com sucesso");</a:t>
            </a:r>
          </a:p>
          <a:p>
            <a:r>
              <a:rPr lang="pt-BR" dirty="0"/>
              <a:t>  </a:t>
            </a:r>
            <a:r>
              <a:rPr lang="pt-BR" dirty="0" err="1"/>
              <a:t>Serial.print</a:t>
            </a:r>
            <a:r>
              <a:rPr lang="pt-BR" dirty="0"/>
              <a:t>("IP do ESP32 eh: ");</a:t>
            </a:r>
          </a:p>
          <a:p>
            <a:r>
              <a:rPr lang="pt-BR" dirty="0"/>
              <a:t>  </a:t>
            </a:r>
            <a:r>
              <a:rPr lang="pt-BR" dirty="0" err="1"/>
              <a:t>Serial.println</a:t>
            </a:r>
            <a:r>
              <a:rPr lang="pt-BR" dirty="0"/>
              <a:t>(</a:t>
            </a:r>
            <a:r>
              <a:rPr lang="pt-BR" dirty="0" err="1"/>
              <a:t>WiFi.localIP</a:t>
            </a:r>
            <a:r>
              <a:rPr lang="pt-BR" dirty="0"/>
              <a:t>());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</a:t>
            </a:r>
          </a:p>
          <a:p>
            <a:r>
              <a:rPr lang="pt-BR" dirty="0"/>
              <a:t>  {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</a:t>
            </a:r>
            <a:r>
              <a:rPr lang="pt-BR" dirty="0"/>
              <a:t>(SPIFFS, "/index.html", </a:t>
            </a:r>
            <a:r>
              <a:rPr lang="pt-BR" dirty="0" err="1"/>
              <a:t>String</a:t>
            </a:r>
            <a:r>
              <a:rPr lang="pt-BR" dirty="0"/>
              <a:t>(), false, processor);</a:t>
            </a:r>
          </a:p>
          <a:p>
            <a:r>
              <a:rPr lang="pt-BR" dirty="0"/>
              <a:t>  });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("/novo_estilo.css",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 </a:t>
            </a:r>
          </a:p>
          <a:p>
            <a:r>
              <a:rPr lang="pt-BR" dirty="0"/>
              <a:t>  {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</a:t>
            </a:r>
            <a:r>
              <a:rPr lang="pt-BR" dirty="0"/>
              <a:t>(SPIFFS, "/novo_estilo.css", "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css</a:t>
            </a:r>
            <a:r>
              <a:rPr lang="pt-BR" dirty="0"/>
              <a:t>");</a:t>
            </a:r>
          </a:p>
          <a:p>
            <a:r>
              <a:rPr lang="pt-BR" dirty="0"/>
              <a:t>  });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64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834629" y="197346"/>
            <a:ext cx="1099382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   </a:t>
            </a:r>
            <a:r>
              <a:rPr lang="pt-BR" dirty="0" err="1"/>
              <a:t>server.on</a:t>
            </a:r>
            <a:r>
              <a:rPr lang="pt-BR" dirty="0"/>
              <a:t>("/</a:t>
            </a:r>
            <a:r>
              <a:rPr lang="pt-BR" dirty="0" err="1"/>
              <a:t>on</a:t>
            </a:r>
            <a:r>
              <a:rPr lang="pt-BR" dirty="0"/>
              <a:t>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){</a:t>
            </a:r>
          </a:p>
          <a:p>
            <a:r>
              <a:rPr lang="pt-BR" dirty="0"/>
              <a:t>    </a:t>
            </a:r>
            <a:r>
              <a:rPr lang="pt-BR" dirty="0" err="1"/>
              <a:t>digitalWrite</a:t>
            </a:r>
            <a:r>
              <a:rPr lang="pt-BR" dirty="0"/>
              <a:t>(</a:t>
            </a:r>
            <a:r>
              <a:rPr lang="pt-BR" dirty="0" err="1"/>
              <a:t>led</a:t>
            </a:r>
            <a:r>
              <a:rPr lang="pt-BR" dirty="0"/>
              <a:t>, HIGH);    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</a:t>
            </a:r>
            <a:r>
              <a:rPr lang="pt-BR" dirty="0"/>
              <a:t>(SPIFFS, "/index.html", </a:t>
            </a:r>
            <a:r>
              <a:rPr lang="pt-BR" dirty="0" err="1"/>
              <a:t>String</a:t>
            </a:r>
            <a:r>
              <a:rPr lang="pt-BR" dirty="0"/>
              <a:t>(), false, processor);</a:t>
            </a:r>
          </a:p>
          <a:p>
            <a:r>
              <a:rPr lang="pt-BR" dirty="0"/>
              <a:t>  });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("/off",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){</a:t>
            </a:r>
          </a:p>
          <a:p>
            <a:r>
              <a:rPr lang="pt-BR" dirty="0"/>
              <a:t>    </a:t>
            </a:r>
            <a:r>
              <a:rPr lang="pt-BR" dirty="0" err="1"/>
              <a:t>digitalWrite</a:t>
            </a:r>
            <a:r>
              <a:rPr lang="pt-BR" dirty="0"/>
              <a:t>(</a:t>
            </a:r>
            <a:r>
              <a:rPr lang="pt-BR" dirty="0" err="1"/>
              <a:t>led</a:t>
            </a:r>
            <a:r>
              <a:rPr lang="pt-BR" dirty="0"/>
              <a:t>, LOW);    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</a:t>
            </a:r>
            <a:r>
              <a:rPr lang="pt-BR" dirty="0"/>
              <a:t>(SPIFFS, "/index.html", </a:t>
            </a:r>
            <a:r>
              <a:rPr lang="pt-BR" dirty="0" err="1"/>
              <a:t>String</a:t>
            </a:r>
            <a:r>
              <a:rPr lang="pt-BR" dirty="0"/>
              <a:t>(), false, processor);</a:t>
            </a:r>
          </a:p>
          <a:p>
            <a:r>
              <a:rPr lang="pt-BR" dirty="0"/>
              <a:t>  });</a:t>
            </a:r>
          </a:p>
          <a:p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</a:t>
            </a:r>
            <a:r>
              <a:rPr lang="pt-BR" dirty="0" err="1"/>
              <a:t>temp</a:t>
            </a:r>
            <a:r>
              <a:rPr lang="pt-BR" dirty="0"/>
              <a:t>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){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send_P</a:t>
            </a:r>
            <a:r>
              <a:rPr lang="pt-BR" dirty="0"/>
              <a:t>(200, "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plain</a:t>
            </a:r>
            <a:r>
              <a:rPr lang="pt-BR" dirty="0"/>
              <a:t>", </a:t>
            </a:r>
            <a:r>
              <a:rPr lang="pt-BR" dirty="0" err="1"/>
              <a:t>le_temp</a:t>
            </a:r>
            <a:r>
              <a:rPr lang="pt-BR" dirty="0"/>
              <a:t>().</a:t>
            </a:r>
            <a:r>
              <a:rPr lang="pt-BR" dirty="0" err="1"/>
              <a:t>c_str</a:t>
            </a:r>
            <a:r>
              <a:rPr lang="pt-BR" dirty="0"/>
              <a:t>());</a:t>
            </a:r>
          </a:p>
          <a:p>
            <a:r>
              <a:rPr lang="pt-BR" dirty="0"/>
              <a:t>  });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  </a:t>
            </a:r>
            <a:r>
              <a:rPr lang="pt-BR" dirty="0" err="1"/>
              <a:t>server.on</a:t>
            </a:r>
            <a:r>
              <a:rPr lang="pt-BR" dirty="0"/>
              <a:t>("/</a:t>
            </a:r>
            <a:r>
              <a:rPr lang="pt-BR" dirty="0" err="1"/>
              <a:t>umid</a:t>
            </a:r>
            <a:r>
              <a:rPr lang="pt-BR" dirty="0"/>
              <a:t>", HTTP_GET, [](</a:t>
            </a:r>
            <a:r>
              <a:rPr lang="pt-BR" dirty="0" err="1"/>
              <a:t>AsyncWebServerRequest</a:t>
            </a:r>
            <a:r>
              <a:rPr lang="pt-BR" dirty="0"/>
              <a:t> *</a:t>
            </a:r>
            <a:r>
              <a:rPr lang="pt-BR" dirty="0" err="1"/>
              <a:t>request</a:t>
            </a:r>
            <a:r>
              <a:rPr lang="pt-BR" dirty="0"/>
              <a:t>){</a:t>
            </a:r>
          </a:p>
          <a:p>
            <a:r>
              <a:rPr lang="pt-BR" dirty="0"/>
              <a:t>    </a:t>
            </a:r>
            <a:r>
              <a:rPr lang="pt-BR" dirty="0" err="1"/>
              <a:t>request</a:t>
            </a:r>
            <a:r>
              <a:rPr lang="pt-BR" dirty="0"/>
              <a:t>-&gt;</a:t>
            </a:r>
            <a:r>
              <a:rPr lang="pt-BR" dirty="0" err="1"/>
              <a:t>send_P</a:t>
            </a:r>
            <a:r>
              <a:rPr lang="pt-BR" dirty="0"/>
              <a:t>(200, "</a:t>
            </a:r>
            <a:r>
              <a:rPr lang="pt-BR" dirty="0" err="1"/>
              <a:t>text</a:t>
            </a:r>
            <a:r>
              <a:rPr lang="pt-BR" dirty="0"/>
              <a:t>/</a:t>
            </a:r>
            <a:r>
              <a:rPr lang="pt-BR" dirty="0" err="1"/>
              <a:t>plain</a:t>
            </a:r>
            <a:r>
              <a:rPr lang="pt-BR" dirty="0"/>
              <a:t>", </a:t>
            </a:r>
            <a:r>
              <a:rPr lang="pt-BR" dirty="0" err="1"/>
              <a:t>le_umid</a:t>
            </a:r>
            <a:r>
              <a:rPr lang="pt-BR" dirty="0"/>
              <a:t>().</a:t>
            </a:r>
            <a:r>
              <a:rPr lang="pt-BR" dirty="0" err="1"/>
              <a:t>c_str</a:t>
            </a:r>
            <a:r>
              <a:rPr lang="pt-BR" dirty="0"/>
              <a:t>());</a:t>
            </a:r>
          </a:p>
          <a:p>
            <a:r>
              <a:rPr lang="pt-BR" dirty="0"/>
              <a:t>  });</a:t>
            </a:r>
          </a:p>
          <a:p>
            <a:r>
              <a:rPr lang="pt-BR" dirty="0"/>
              <a:t>  </a:t>
            </a:r>
          </a:p>
          <a:p>
            <a:r>
              <a:rPr lang="pt-BR" dirty="0"/>
              <a:t>  </a:t>
            </a:r>
            <a:r>
              <a:rPr lang="pt-BR" dirty="0" err="1"/>
              <a:t>server.begin</a:t>
            </a:r>
            <a:r>
              <a:rPr lang="pt-BR" dirty="0"/>
              <a:t>();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 </a:t>
            </a:r>
          </a:p>
          <a:p>
            <a:r>
              <a:rPr lang="pt-BR" dirty="0" err="1"/>
              <a:t>void</a:t>
            </a:r>
            <a:r>
              <a:rPr lang="pt-BR" dirty="0"/>
              <a:t> loop()</a:t>
            </a:r>
          </a:p>
          <a:p>
            <a:r>
              <a:rPr lang="pt-BR" dirty="0"/>
              <a:t>{}</a:t>
            </a:r>
          </a:p>
        </p:txBody>
      </p:sp>
    </p:spTree>
    <p:extLst>
      <p:ext uri="{BB962C8B-B14F-4D97-AF65-F5344CB8AC3E}">
        <p14:creationId xmlns:p14="http://schemas.microsoft.com/office/powerpoint/2010/main" val="2288438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5B46ECC-5432-1A11-CC7C-00E8FD3E948E}"/>
              </a:ext>
            </a:extLst>
          </p:cNvPr>
          <p:cNvSpPr>
            <a:spLocks noGrp="1"/>
          </p:cNvSpPr>
          <p:nvPr/>
        </p:nvSpPr>
        <p:spPr>
          <a:xfrm>
            <a:off x="203835" y="2434591"/>
            <a:ext cx="3410611" cy="3520440"/>
          </a:xfrm>
          <a:prstGeom prst="rect">
            <a:avLst/>
          </a:prstGeom>
        </p:spPr>
        <p:txBody>
          <a:bodyPr vert="horz" lIns="91440" tIns="0" rIns="9144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kern="1200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pt-BR" sz="2800" dirty="0"/>
          </a:p>
          <a:p>
            <a:pPr algn="ctr"/>
            <a:r>
              <a:rPr lang="pt-BR" sz="2800" dirty="0"/>
              <a:t>Depois de clicar em  upload, começa o processo de compilar e fazer a programação do esp32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88DDFD1-6B2B-A2F5-0230-18B62D751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533" y="594361"/>
            <a:ext cx="8242632" cy="603504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C4C4705-34B5-CC1F-7458-7A6BFBC65F80}"/>
              </a:ext>
            </a:extLst>
          </p:cNvPr>
          <p:cNvSpPr/>
          <p:nvPr/>
        </p:nvSpPr>
        <p:spPr>
          <a:xfrm>
            <a:off x="6406515" y="4968421"/>
            <a:ext cx="5173980" cy="1409520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25E898D-4EB8-4F22-DD0B-E0D3C99BEADC}"/>
              </a:ext>
            </a:extLst>
          </p:cNvPr>
          <p:cNvSpPr/>
          <p:nvPr/>
        </p:nvSpPr>
        <p:spPr>
          <a:xfrm>
            <a:off x="4246245" y="906334"/>
            <a:ext cx="2160270" cy="274320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A940C78-0CC2-2018-EB8B-55F4BCB1415D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5326380" y="1180654"/>
            <a:ext cx="3667125" cy="3787767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C3A589E7-949A-E660-BA10-3031A16E9885}"/>
              </a:ext>
            </a:extLst>
          </p:cNvPr>
          <p:cNvSpPr>
            <a:spLocks noGrp="1"/>
          </p:cNvSpPr>
          <p:nvPr/>
        </p:nvSpPr>
        <p:spPr>
          <a:xfrm>
            <a:off x="969809" y="114715"/>
            <a:ext cx="10706856" cy="730688"/>
          </a:xfrm>
          <a:prstGeom prst="rect">
            <a:avLst/>
          </a:prstGeom>
        </p:spPr>
        <p:txBody>
          <a:bodyPr vert="horz" lIns="91440" tIns="0" rIns="91440" bIns="0" rtlCol="0" anchor="t">
            <a:normAutofit fontScale="92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kern="1200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COMPILAR E FAZER O UPLOAD DO CÓDIGO PRINCIPAL</a:t>
            </a:r>
          </a:p>
        </p:txBody>
      </p:sp>
    </p:spTree>
    <p:extLst>
      <p:ext uri="{BB962C8B-B14F-4D97-AF65-F5344CB8AC3E}">
        <p14:creationId xmlns:p14="http://schemas.microsoft.com/office/powerpoint/2010/main" val="2725848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2E0B2A4-4606-2757-1309-75BECDBB8E05}"/>
              </a:ext>
            </a:extLst>
          </p:cNvPr>
          <p:cNvSpPr>
            <a:spLocks noGrp="1"/>
          </p:cNvSpPr>
          <p:nvPr/>
        </p:nvSpPr>
        <p:spPr>
          <a:xfrm>
            <a:off x="1440538" y="182039"/>
            <a:ext cx="9879437" cy="980844"/>
          </a:xfrm>
          <a:prstGeom prst="rect">
            <a:avLst/>
          </a:prstGeom>
        </p:spPr>
        <p:txBody>
          <a:bodyPr vert="horz" lIns="91440" tIns="0" rIns="9144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pt-BR" sz="3600" kern="1200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Baixar arquivos da pasta data para o esp32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221D7A-FCB4-3C09-CE76-6928AAA0C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16" y="1162883"/>
            <a:ext cx="5000442" cy="5513078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84918E16-6016-2B21-125A-14074220B8BA}"/>
              </a:ext>
            </a:extLst>
          </p:cNvPr>
          <p:cNvSpPr txBox="1">
            <a:spLocks/>
          </p:cNvSpPr>
          <p:nvPr/>
        </p:nvSpPr>
        <p:spPr>
          <a:xfrm>
            <a:off x="7004234" y="3915524"/>
            <a:ext cx="4440711" cy="980844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cap="none" dirty="0"/>
              <a:t>Se você deseja baixar os arquivos da pasta data para a memória Flash do ESP32, clique em (1), depois em (2) e depois em (3). Lembre-se de ter a placa conectada no computador.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4BC3AC7-A7A6-F9F8-7610-0F9E53F66EBF}"/>
              </a:ext>
            </a:extLst>
          </p:cNvPr>
          <p:cNvSpPr/>
          <p:nvPr/>
        </p:nvSpPr>
        <p:spPr>
          <a:xfrm>
            <a:off x="1322555" y="4782283"/>
            <a:ext cx="537850" cy="554804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431650D-DD28-DD49-3500-D8EA3D38F0FE}"/>
              </a:ext>
            </a:extLst>
          </p:cNvPr>
          <p:cNvSpPr/>
          <p:nvPr/>
        </p:nvSpPr>
        <p:spPr>
          <a:xfrm>
            <a:off x="2063686" y="4862614"/>
            <a:ext cx="2010695" cy="326782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0" name="CaixaDeTexto 10">
            <a:extLst>
              <a:ext uri="{FF2B5EF4-FFF2-40B4-BE49-F238E27FC236}">
                <a16:creationId xmlns:a16="http://schemas.microsoft.com/office/drawing/2014/main" id="{22CD48AC-00D5-29BC-5575-B2138D0C5113}"/>
              </a:ext>
            </a:extLst>
          </p:cNvPr>
          <p:cNvSpPr txBox="1"/>
          <p:nvPr/>
        </p:nvSpPr>
        <p:spPr>
          <a:xfrm>
            <a:off x="747055" y="4787707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rgbClr val="FF0000"/>
                </a:solidFill>
              </a:rPr>
              <a:t>1º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1" name="CaixaDeTexto 11">
            <a:extLst>
              <a:ext uri="{FF2B5EF4-FFF2-40B4-BE49-F238E27FC236}">
                <a16:creationId xmlns:a16="http://schemas.microsoft.com/office/drawing/2014/main" id="{AF5B28E7-C6B4-E3D0-A056-44069099B910}"/>
              </a:ext>
            </a:extLst>
          </p:cNvPr>
          <p:cNvSpPr txBox="1"/>
          <p:nvPr/>
        </p:nvSpPr>
        <p:spPr>
          <a:xfrm>
            <a:off x="4074381" y="4767941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rgbClr val="FF0000"/>
                </a:solidFill>
              </a:rPr>
              <a:t>2º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F28D11E-4392-A896-2562-48F9A24466FD}"/>
              </a:ext>
            </a:extLst>
          </p:cNvPr>
          <p:cNvSpPr/>
          <p:nvPr/>
        </p:nvSpPr>
        <p:spPr>
          <a:xfrm>
            <a:off x="2063686" y="5396487"/>
            <a:ext cx="2010695" cy="326782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3" name="CaixaDeTexto 13">
            <a:extLst>
              <a:ext uri="{FF2B5EF4-FFF2-40B4-BE49-F238E27FC236}">
                <a16:creationId xmlns:a16="http://schemas.microsoft.com/office/drawing/2014/main" id="{B81716E5-0DB5-649F-0B19-D4D4D606525D}"/>
              </a:ext>
            </a:extLst>
          </p:cNvPr>
          <p:cNvSpPr txBox="1"/>
          <p:nvPr/>
        </p:nvSpPr>
        <p:spPr>
          <a:xfrm>
            <a:off x="4106769" y="5291161"/>
            <a:ext cx="508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rgbClr val="FF0000"/>
                </a:solidFill>
              </a:rPr>
              <a:t>3º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733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88BF2-6F3B-4EE1-B7B3-5195495D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678" y="230047"/>
            <a:ext cx="10515600" cy="1134925"/>
          </a:xfrm>
        </p:spPr>
        <p:txBody>
          <a:bodyPr>
            <a:normAutofit fontScale="90000"/>
          </a:bodyPr>
          <a:lstStyle/>
          <a:p>
            <a:pPr algn="ctr"/>
            <a:r>
              <a:rPr lang="pt-BR" sz="8000" b="1" dirty="0">
                <a:solidFill>
                  <a:srgbClr val="FFFF00"/>
                </a:solidFill>
              </a:rPr>
              <a:t>RESUMO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0607D09-75A7-4D26-BB48-79C68A86FBE2}"/>
              </a:ext>
            </a:extLst>
          </p:cNvPr>
          <p:cNvSpPr txBox="1"/>
          <p:nvPr/>
        </p:nvSpPr>
        <p:spPr>
          <a:xfrm>
            <a:off x="705678" y="2226747"/>
            <a:ext cx="491324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COMANDO</a:t>
            </a:r>
          </a:p>
          <a:p>
            <a:pPr algn="ctr"/>
            <a:endParaRPr lang="pt-BR" sz="2800" b="1" dirty="0"/>
          </a:p>
          <a:p>
            <a:pPr algn="ctr"/>
            <a:r>
              <a:rPr lang="pt-BR" sz="2800" b="1" dirty="0"/>
              <a:t> </a:t>
            </a:r>
            <a:r>
              <a:rPr lang="pt-BR" sz="2800" b="1" dirty="0">
                <a:solidFill>
                  <a:srgbClr val="FFFF00"/>
                </a:solidFill>
              </a:rPr>
              <a:t>UPLOAD</a:t>
            </a:r>
          </a:p>
          <a:p>
            <a:pPr algn="ctr"/>
            <a:endParaRPr lang="pt-BR" sz="2800" b="1" dirty="0">
              <a:solidFill>
                <a:srgbClr val="FFFF00"/>
              </a:solidFill>
            </a:endParaRPr>
          </a:p>
          <a:p>
            <a:pPr algn="ctr"/>
            <a:r>
              <a:rPr lang="pt-BR" sz="2800" b="1" dirty="0"/>
              <a:t>USAR QUANDO FEZ ALGUMA ALTERAÇÃO NO  ARQUIVO CPP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15A92DA-029E-4ABE-8E01-630AB0251A8D}"/>
              </a:ext>
            </a:extLst>
          </p:cNvPr>
          <p:cNvSpPr txBox="1"/>
          <p:nvPr/>
        </p:nvSpPr>
        <p:spPr>
          <a:xfrm>
            <a:off x="6440557" y="1364973"/>
            <a:ext cx="4913243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COMANDO </a:t>
            </a:r>
          </a:p>
          <a:p>
            <a:pPr algn="ctr"/>
            <a:endParaRPr lang="pt-BR" sz="2800" b="1" dirty="0">
              <a:solidFill>
                <a:srgbClr val="FFFF00"/>
              </a:solidFill>
            </a:endParaRPr>
          </a:p>
          <a:p>
            <a:pPr algn="ctr"/>
            <a:r>
              <a:rPr lang="pt-BR" sz="2800" b="1" dirty="0">
                <a:solidFill>
                  <a:srgbClr val="FFFF00"/>
                </a:solidFill>
              </a:rPr>
              <a:t>BUILD FILE SYSTEM IMAGE</a:t>
            </a:r>
          </a:p>
          <a:p>
            <a:pPr algn="ctr"/>
            <a:endParaRPr lang="pt-BR" sz="2800" b="1" dirty="0">
              <a:solidFill>
                <a:srgbClr val="FFFF00"/>
              </a:solidFill>
            </a:endParaRPr>
          </a:p>
          <a:p>
            <a:pPr algn="ctr"/>
            <a:r>
              <a:rPr lang="pt-BR" sz="2800" b="1" dirty="0">
                <a:solidFill>
                  <a:srgbClr val="FFFF00"/>
                </a:solidFill>
              </a:rPr>
              <a:t>&amp;</a:t>
            </a:r>
          </a:p>
          <a:p>
            <a:pPr algn="ctr"/>
            <a:endParaRPr lang="pt-BR" sz="2800" b="1" dirty="0">
              <a:solidFill>
                <a:srgbClr val="FFFF00"/>
              </a:solidFill>
            </a:endParaRPr>
          </a:p>
          <a:p>
            <a:pPr algn="ctr"/>
            <a:r>
              <a:rPr lang="pt-BR" sz="2800" b="1" dirty="0">
                <a:solidFill>
                  <a:srgbClr val="FFFF00"/>
                </a:solidFill>
              </a:rPr>
              <a:t>UPLOAD FILE SYSTEM IMAGE</a:t>
            </a:r>
          </a:p>
          <a:p>
            <a:pPr algn="ctr"/>
            <a:endParaRPr lang="pt-BR" sz="2800" b="1" dirty="0">
              <a:solidFill>
                <a:srgbClr val="FFFF00"/>
              </a:solidFill>
            </a:endParaRPr>
          </a:p>
          <a:p>
            <a:pPr algn="ctr"/>
            <a:r>
              <a:rPr lang="pt-BR" sz="2800" b="1" dirty="0"/>
              <a:t>USAR QUANDO FEZ ALGUMA ALTERAÇÃO NO HTML E/OU CSS E/OU PNG</a:t>
            </a:r>
          </a:p>
        </p:txBody>
      </p:sp>
    </p:spTree>
    <p:extLst>
      <p:ext uri="{BB962C8B-B14F-4D97-AF65-F5344CB8AC3E}">
        <p14:creationId xmlns:p14="http://schemas.microsoft.com/office/powerpoint/2010/main" val="4150818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5A5EC-B1D2-4F14-B39F-A9EC91FC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COMO SABER O NÚMERO IP ATRIBUÍDO PELO CELULAR ANDROID???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6AF40E1-E6B7-43F7-B126-E2A2492C5131}"/>
              </a:ext>
            </a:extLst>
          </p:cNvPr>
          <p:cNvGrpSpPr/>
          <p:nvPr/>
        </p:nvGrpSpPr>
        <p:grpSpPr>
          <a:xfrm>
            <a:off x="391233" y="1325563"/>
            <a:ext cx="10235094" cy="5392598"/>
            <a:chOff x="1577009" y="1813920"/>
            <a:chExt cx="8962885" cy="4904241"/>
          </a:xfrm>
        </p:grpSpPr>
        <p:pic>
          <p:nvPicPr>
            <p:cNvPr id="5" name="Imagem 4" descr="Interface gráfica do usuário, Texto, Aplicativo, Email&#10;&#10;O conteúdo gerado por IA pode estar incorreto.">
              <a:extLst>
                <a:ext uri="{FF2B5EF4-FFF2-40B4-BE49-F238E27FC236}">
                  <a16:creationId xmlns:a16="http://schemas.microsoft.com/office/drawing/2014/main" id="{616C0738-50A0-4231-9959-7B57CB356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7009" y="1828914"/>
              <a:ext cx="2120021" cy="4889247"/>
            </a:xfrm>
            <a:prstGeom prst="rect">
              <a:avLst/>
            </a:prstGeom>
          </p:spPr>
        </p:pic>
        <p:pic>
          <p:nvPicPr>
            <p:cNvPr id="6" name="Imagem 5" descr="Interface gráfica do usuário, Texto, Aplicativo&#10;&#10;O conteúdo gerado por IA pode estar incorreto.">
              <a:extLst>
                <a:ext uri="{FF2B5EF4-FFF2-40B4-BE49-F238E27FC236}">
                  <a16:creationId xmlns:a16="http://schemas.microsoft.com/office/drawing/2014/main" id="{6E4755F5-8AFC-43BB-B6BC-131D5D1BA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8989" y="1828914"/>
              <a:ext cx="2120022" cy="4889247"/>
            </a:xfrm>
            <a:prstGeom prst="rect">
              <a:avLst/>
            </a:prstGeom>
          </p:spPr>
        </p:pic>
        <p:pic>
          <p:nvPicPr>
            <p:cNvPr id="7" name="Imagem 6" descr="Interface gráfica do usuário, Texto, Aplicativo&#10;&#10;O conteúdo gerado por IA pode estar incorreto.">
              <a:extLst>
                <a:ext uri="{FF2B5EF4-FFF2-40B4-BE49-F238E27FC236}">
                  <a16:creationId xmlns:a16="http://schemas.microsoft.com/office/drawing/2014/main" id="{CF48EBB8-73E3-4B2F-B477-553BDA15F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19873" y="1813920"/>
              <a:ext cx="2120021" cy="4889247"/>
            </a:xfrm>
            <a:prstGeom prst="rect">
              <a:avLst/>
            </a:prstGeom>
          </p:spPr>
        </p:pic>
        <p:pic>
          <p:nvPicPr>
            <p:cNvPr id="8" name="Imagem 7" descr="Interface gráfica do usuário, Aplicativo, Email&#10;&#10;O conteúdo gerado por IA pode estar incorreto.">
              <a:extLst>
                <a:ext uri="{FF2B5EF4-FFF2-40B4-BE49-F238E27FC236}">
                  <a16:creationId xmlns:a16="http://schemas.microsoft.com/office/drawing/2014/main" id="{4C039311-5B47-4318-9D7B-4B4EDB15F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58106" y="1828914"/>
              <a:ext cx="2120021" cy="4889247"/>
            </a:xfrm>
            <a:prstGeom prst="rect">
              <a:avLst/>
            </a:prstGeom>
          </p:spPr>
        </p:pic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A00C9E53-E863-4C17-9E5B-96A6EA60D778}"/>
                </a:ext>
              </a:extLst>
            </p:cNvPr>
            <p:cNvSpPr/>
            <p:nvPr/>
          </p:nvSpPr>
          <p:spPr>
            <a:xfrm>
              <a:off x="3397324" y="2264691"/>
              <a:ext cx="569410" cy="40993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Seta: para a Direita 11">
              <a:extLst>
                <a:ext uri="{FF2B5EF4-FFF2-40B4-BE49-F238E27FC236}">
                  <a16:creationId xmlns:a16="http://schemas.microsoft.com/office/drawing/2014/main" id="{90C08B2C-99AB-486E-B0CD-5E4B1EF86CBC}"/>
                </a:ext>
              </a:extLst>
            </p:cNvPr>
            <p:cNvSpPr/>
            <p:nvPr/>
          </p:nvSpPr>
          <p:spPr>
            <a:xfrm>
              <a:off x="5686581" y="2264691"/>
              <a:ext cx="569410" cy="40993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Seta: para a Direita 12">
              <a:extLst>
                <a:ext uri="{FF2B5EF4-FFF2-40B4-BE49-F238E27FC236}">
                  <a16:creationId xmlns:a16="http://schemas.microsoft.com/office/drawing/2014/main" id="{C4A753DE-20FA-4593-971B-DFFC05E62489}"/>
                </a:ext>
              </a:extLst>
            </p:cNvPr>
            <p:cNvSpPr/>
            <p:nvPr/>
          </p:nvSpPr>
          <p:spPr>
            <a:xfrm>
              <a:off x="7974306" y="2264691"/>
              <a:ext cx="569410" cy="40993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5" name="Seta: para a Direita 14">
            <a:extLst>
              <a:ext uri="{FF2B5EF4-FFF2-40B4-BE49-F238E27FC236}">
                <a16:creationId xmlns:a16="http://schemas.microsoft.com/office/drawing/2014/main" id="{A6E510A2-EF48-4651-840D-08FF3637597D}"/>
              </a:ext>
            </a:extLst>
          </p:cNvPr>
          <p:cNvSpPr/>
          <p:nvPr/>
        </p:nvSpPr>
        <p:spPr>
          <a:xfrm rot="8429533">
            <a:off x="9597381" y="5603772"/>
            <a:ext cx="1512260" cy="455879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651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447D0-D659-4FA0-9602-691B49201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Segundo o </a:t>
            </a:r>
            <a:r>
              <a:rPr lang="pt-BR" dirty="0" err="1"/>
              <a:t>chatGPT</a:t>
            </a:r>
            <a:r>
              <a:rPr lang="pt-BR" dirty="0"/>
              <a:t>, essa informação é bloqueada no IOS. Sugestão do </a:t>
            </a:r>
            <a:r>
              <a:rPr lang="pt-BR" dirty="0" err="1"/>
              <a:t>chatGPT</a:t>
            </a:r>
            <a:r>
              <a:rPr lang="pt-BR" dirty="0"/>
              <a:t>: usar um destes app </a:t>
            </a:r>
          </a:p>
          <a:p>
            <a:pPr lvl="1"/>
            <a:endParaRPr lang="pt-BR" dirty="0"/>
          </a:p>
          <a:p>
            <a:pPr lvl="1"/>
            <a:r>
              <a:rPr lang="pt-BR" dirty="0" err="1"/>
              <a:t>Fing</a:t>
            </a:r>
            <a:r>
              <a:rPr lang="pt-BR" dirty="0"/>
              <a:t> – Network Tools</a:t>
            </a:r>
          </a:p>
          <a:p>
            <a:pPr lvl="1"/>
            <a:r>
              <a:rPr lang="pt-BR" dirty="0"/>
              <a:t>Network </a:t>
            </a:r>
            <a:r>
              <a:rPr lang="pt-BR" dirty="0" err="1"/>
              <a:t>Analyser</a:t>
            </a:r>
            <a:endParaRPr lang="pt-BR" dirty="0"/>
          </a:p>
          <a:p>
            <a:pPr lvl="1"/>
            <a:r>
              <a:rPr lang="pt-BR"/>
              <a:t>...</a:t>
            </a:r>
            <a:endParaRPr lang="pt-B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9CF01B0-DCDF-43C7-A3C7-E84221822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5043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b="1" dirty="0">
                <a:solidFill>
                  <a:srgbClr val="FFFF00"/>
                </a:solidFill>
              </a:rPr>
              <a:t>COMO SABER O NÚMERO IP ATRIBUÍDO PELO CELULAR APPLE (IOS)???</a:t>
            </a:r>
          </a:p>
        </p:txBody>
      </p:sp>
    </p:spTree>
    <p:extLst>
      <p:ext uri="{BB962C8B-B14F-4D97-AF65-F5344CB8AC3E}">
        <p14:creationId xmlns:p14="http://schemas.microsoft.com/office/powerpoint/2010/main" val="4224194371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Profundidade</Template>
  <TotalTime>67</TotalTime>
  <Words>1223</Words>
  <Application>Microsoft Office PowerPoint</Application>
  <PresentationFormat>Widescreen</PresentationFormat>
  <Paragraphs>192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Consolas</vt:lpstr>
      <vt:lpstr>Corbel</vt:lpstr>
      <vt:lpstr>Roboto</vt:lpstr>
      <vt:lpstr>Profundidade</vt:lpstr>
      <vt:lpstr>Situação 2: HTML+CSS armazenados na Flash usando SPIFFS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RESUMO</vt:lpstr>
      <vt:lpstr>COMO SABER O NÚMERO IP ATRIBUÍDO PELO CELULAR ANDROID???</vt:lpstr>
      <vt:lpstr>COMO SABER O NÚMERO IP ATRIBUÍDO PELO CELULAR APPLE (IOS)???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Situação 2: HTML+CSS armazenados na Flash usando SPIFFS</dc:title>
  <dc:creator>aterroso</dc:creator>
  <cp:lastModifiedBy>Anderson Royes Terroso</cp:lastModifiedBy>
  <cp:revision>6</cp:revision>
  <dcterms:created xsi:type="dcterms:W3CDTF">2026-03-17T19:16:06Z</dcterms:created>
  <dcterms:modified xsi:type="dcterms:W3CDTF">2026-03-19T20:41:23Z</dcterms:modified>
</cp:coreProperties>
</file>