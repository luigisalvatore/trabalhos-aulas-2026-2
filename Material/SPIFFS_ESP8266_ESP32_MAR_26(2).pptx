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56"/>
  </p:notesMasterIdLst>
  <p:sldIdLst>
    <p:sldId id="256" r:id="rId2"/>
    <p:sldId id="346" r:id="rId3"/>
    <p:sldId id="259" r:id="rId4"/>
    <p:sldId id="260" r:id="rId5"/>
    <p:sldId id="285" r:id="rId6"/>
    <p:sldId id="319" r:id="rId7"/>
    <p:sldId id="320" r:id="rId8"/>
    <p:sldId id="321" r:id="rId9"/>
    <p:sldId id="344" r:id="rId10"/>
    <p:sldId id="345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262" r:id="rId26"/>
    <p:sldId id="261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284" r:id="rId36"/>
    <p:sldId id="263" r:id="rId37"/>
    <p:sldId id="264" r:id="rId38"/>
    <p:sldId id="270" r:id="rId39"/>
    <p:sldId id="265" r:id="rId40"/>
    <p:sldId id="266" r:id="rId41"/>
    <p:sldId id="268" r:id="rId42"/>
    <p:sldId id="269" r:id="rId43"/>
    <p:sldId id="267" r:id="rId44"/>
    <p:sldId id="257" r:id="rId45"/>
    <p:sldId id="283" r:id="rId46"/>
    <p:sldId id="258" r:id="rId47"/>
    <p:sldId id="271" r:id="rId48"/>
    <p:sldId id="272" r:id="rId49"/>
    <p:sldId id="279" r:id="rId50"/>
    <p:sldId id="280" r:id="rId51"/>
    <p:sldId id="281" r:id="rId52"/>
    <p:sldId id="282" r:id="rId53"/>
    <p:sldId id="275" r:id="rId54"/>
    <p:sldId id="347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3649C-3AA1-4744-B5D9-E9188A8660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F7017-2620-46E7-A177-15C4D17DFC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1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5057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923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62394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5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54280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8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38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0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499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4364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3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69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837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541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drive/folders/1RJ7rSQKiB-NTU7WaRgYMyZ38p0R6qGBD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eletrogate.com/webserver-assincrono-com-esp32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nerdtutorials.com/esp8266-web-server-spiffs-nodemcu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14792" y="2624481"/>
            <a:ext cx="8661566" cy="2098226"/>
          </a:xfrm>
        </p:spPr>
        <p:txBody>
          <a:bodyPr/>
          <a:lstStyle/>
          <a:p>
            <a:b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USAR o </a:t>
            </a:r>
            <a:r>
              <a:rPr lang="pt-BR" sz="4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SPIFFs</a:t>
            </a:r>
            <a: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4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</a:t>
            </a:r>
            <a: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Flash file system)</a:t>
            </a:r>
            <a:b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ESP32 ou esp8266</a:t>
            </a:r>
            <a:b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t-BR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USANDO VSCODE (PLATFORMIO) OU IDE ARDUINO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79906" y="4792306"/>
            <a:ext cx="6831673" cy="1086237"/>
          </a:xfrm>
        </p:spPr>
        <p:txBody>
          <a:bodyPr/>
          <a:lstStyle/>
          <a:p>
            <a:r>
              <a:rPr lang="pt-BR" dirty="0"/>
              <a:t>Prof. Anderson Terroso</a:t>
            </a:r>
          </a:p>
          <a:p>
            <a:r>
              <a:rPr lang="pt-BR" dirty="0"/>
              <a:t>AGOSTO/2025</a:t>
            </a:r>
          </a:p>
        </p:txBody>
      </p:sp>
    </p:spTree>
    <p:extLst>
      <p:ext uri="{BB962C8B-B14F-4D97-AF65-F5344CB8AC3E}">
        <p14:creationId xmlns:p14="http://schemas.microsoft.com/office/powerpoint/2010/main" val="52397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CEEBD-0FA0-3EA6-4B9F-21A34EBE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6600" b="1" dirty="0"/>
              <a:t>Os dois próximos slides só vale para quem for usar a IDE do Arduino. Se você usar o VSCODE – </a:t>
            </a:r>
            <a:r>
              <a:rPr lang="pt-BR" sz="6600" b="1" dirty="0" err="1"/>
              <a:t>PlatformIO</a:t>
            </a:r>
            <a:r>
              <a:rPr lang="pt-BR" sz="6600" b="1" dirty="0"/>
              <a:t>,  pode passar para </a:t>
            </a:r>
            <a:r>
              <a:rPr lang="pt-BR" sz="6600" b="1" dirty="0">
                <a:hlinkClick r:id="rId2" action="ppaction://hlinksldjump"/>
              </a:rPr>
              <a:t>o slide 5</a:t>
            </a:r>
            <a:r>
              <a:rPr lang="pt-BR" sz="66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325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0519" y="11243"/>
            <a:ext cx="11551481" cy="774930"/>
          </a:xfrm>
        </p:spPr>
        <p:txBody>
          <a:bodyPr>
            <a:normAutofit/>
          </a:bodyPr>
          <a:lstStyle/>
          <a:p>
            <a:r>
              <a:rPr lang="pt-BR" b="1" dirty="0"/>
              <a:t>Passo 1: (somente para quem usar IDE Arduino)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39301" y="603291"/>
            <a:ext cx="10912767" cy="5134942"/>
          </a:xfrm>
        </p:spPr>
        <p:txBody>
          <a:bodyPr>
            <a:noAutofit/>
          </a:bodyPr>
          <a:lstStyle/>
          <a:p>
            <a:pPr algn="just"/>
            <a:r>
              <a:rPr lang="pt-BR" b="1" dirty="0"/>
              <a:t>Copiar o arquivo que habilitará uma opção no menu da IDE do </a:t>
            </a:r>
            <a:r>
              <a:rPr lang="pt-BR" b="1" dirty="0" err="1"/>
              <a:t>Arduino</a:t>
            </a:r>
            <a:r>
              <a:rPr lang="pt-BR" b="1" dirty="0"/>
              <a:t> para fazer o download dos arquivos para a memória flash do ESP8266 ou ESP32.</a:t>
            </a:r>
          </a:p>
          <a:p>
            <a:pPr marL="0" indent="0" algn="ctr">
              <a:buNone/>
            </a:pPr>
            <a:r>
              <a:rPr lang="pt-BR" b="1" u="sng" dirty="0">
                <a:solidFill>
                  <a:srgbClr val="FF0000"/>
                </a:solidFill>
              </a:rPr>
              <a:t>Somente funciona para as versões 1.x da IDE do </a:t>
            </a:r>
            <a:r>
              <a:rPr lang="pt-BR" b="1" u="sng" dirty="0" err="1">
                <a:solidFill>
                  <a:srgbClr val="FF0000"/>
                </a:solidFill>
              </a:rPr>
              <a:t>Arduino</a:t>
            </a:r>
            <a:r>
              <a:rPr lang="pt-BR" b="1" u="sng" dirty="0">
                <a:solidFill>
                  <a:srgbClr val="FF0000"/>
                </a:solidFill>
              </a:rPr>
              <a:t> – na versão 2.x ainda não funciona!!!!!</a:t>
            </a:r>
            <a:endParaRPr lang="pt-BR" b="1" dirty="0"/>
          </a:p>
          <a:p>
            <a:pPr marL="384048" lvl="1" algn="just">
              <a:spcBef>
                <a:spcPts val="1000"/>
              </a:spcBef>
              <a:buFont typeface="Franklin Gothic Book" panose="020B0503020102020204" pitchFamily="34" charset="0"/>
              <a:buChar char="■"/>
            </a:pPr>
            <a:r>
              <a:rPr lang="pt-BR" dirty="0"/>
              <a:t>Baixe os arquivos *.zip (</a:t>
            </a:r>
            <a:r>
              <a:rPr lang="pt-BR" b="1" dirty="0">
                <a:hlinkClick r:id="rId2"/>
              </a:rPr>
              <a:t>https://drive.google.com/drive/folders/1RJ7rSQKiB-NTU7WaRgYMyZ38p0R6qGBD?usp=sharing</a:t>
            </a:r>
            <a:r>
              <a:rPr lang="pt-BR" dirty="0"/>
              <a:t>), </a:t>
            </a:r>
            <a:r>
              <a:rPr lang="pt-BR" b="1" u="sng" dirty="0">
                <a:solidFill>
                  <a:srgbClr val="FF0000"/>
                </a:solidFill>
              </a:rPr>
              <a:t>descompacte e terá duas pastas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Procure a pasta tools do </a:t>
            </a:r>
            <a:r>
              <a:rPr lang="pt-BR" dirty="0" err="1"/>
              <a:t>Arduino</a:t>
            </a:r>
            <a:r>
              <a:rPr lang="pt-BR" dirty="0"/>
              <a:t>:</a:t>
            </a:r>
          </a:p>
          <a:p>
            <a:pPr lvl="1" algn="just"/>
            <a:r>
              <a:rPr lang="pt-BR" dirty="0"/>
              <a:t>Normalmente o caminho é o seguinte: </a:t>
            </a:r>
            <a:r>
              <a:rPr lang="pt-BR" b="1" dirty="0"/>
              <a:t>C:\Program Files (x86)\</a:t>
            </a:r>
            <a:r>
              <a:rPr lang="pt-BR" b="1" dirty="0" err="1"/>
              <a:t>Arduino</a:t>
            </a:r>
            <a:r>
              <a:rPr lang="pt-BR" b="1" dirty="0"/>
              <a:t>\tools\</a:t>
            </a:r>
          </a:p>
          <a:p>
            <a:pPr lvl="1" algn="just"/>
            <a:r>
              <a:rPr lang="pt-BR" dirty="0"/>
              <a:t>Dentro desta pasta (tools) copie a duas pastas que foram descompactadas:</a:t>
            </a:r>
          </a:p>
          <a:p>
            <a:pPr lvl="1" algn="just"/>
            <a:endParaRPr lang="pt-BR" dirty="0"/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Estas duas pastas contém um arquivo *.</a:t>
            </a:r>
            <a:r>
              <a:rPr lang="pt-BR" dirty="0" err="1"/>
              <a:t>jar</a:t>
            </a:r>
            <a:r>
              <a:rPr lang="pt-BR" dirty="0"/>
              <a:t> </a:t>
            </a:r>
          </a:p>
          <a:p>
            <a:pPr marL="530352" lvl="1" indent="0" algn="just">
              <a:buNone/>
            </a:pPr>
            <a:r>
              <a:rPr lang="pt-BR" dirty="0"/>
              <a:t>que habilita na IDE do </a:t>
            </a:r>
            <a:r>
              <a:rPr lang="pt-BR" dirty="0" err="1"/>
              <a:t>Arduino</a:t>
            </a:r>
            <a:r>
              <a:rPr lang="pt-BR" dirty="0"/>
              <a:t> a seguinte a opção: </a:t>
            </a:r>
          </a:p>
          <a:p>
            <a:pPr marL="530352" lvl="1" indent="0" algn="just">
              <a:buNone/>
            </a:pPr>
            <a:r>
              <a:rPr lang="pt-BR" dirty="0"/>
              <a:t>no menu </a:t>
            </a:r>
            <a:r>
              <a:rPr lang="pt-BR" b="1" dirty="0"/>
              <a:t>Ferramentas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 </a:t>
            </a:r>
            <a:r>
              <a:rPr lang="pt-BR" b="1" dirty="0">
                <a:solidFill>
                  <a:srgbClr val="7030A0"/>
                </a:solidFill>
                <a:sym typeface="Wingdings" panose="05000000000000000000" pitchFamily="2" charset="2"/>
              </a:rPr>
              <a:t>ESP32 Sketch Data Upload</a:t>
            </a:r>
          </a:p>
          <a:p>
            <a:pPr marL="530352" lvl="1" indent="0" algn="just">
              <a:buNone/>
            </a:pPr>
            <a:r>
              <a:rPr lang="pt-BR" dirty="0">
                <a:sym typeface="Wingdings" panose="05000000000000000000" pitchFamily="2" charset="2"/>
              </a:rPr>
              <a:t>                                                               ou</a:t>
            </a:r>
          </a:p>
          <a:p>
            <a:pPr marL="530352" lvl="1" indent="0" algn="just">
              <a:buNone/>
            </a:pPr>
            <a:r>
              <a:rPr lang="pt-BR" dirty="0">
                <a:sym typeface="Wingdings" panose="05000000000000000000" pitchFamily="2" charset="2"/>
              </a:rPr>
              <a:t>                                       </a:t>
            </a:r>
            <a:r>
              <a:rPr lang="pt-BR" b="1" dirty="0">
                <a:solidFill>
                  <a:srgbClr val="7030A0"/>
                </a:solidFill>
                <a:sym typeface="Wingdings" panose="05000000000000000000" pitchFamily="2" charset="2"/>
              </a:rPr>
              <a:t>ESP8266 Sketch Data Upload</a:t>
            </a:r>
            <a:endParaRPr lang="pt-BR" b="1" dirty="0">
              <a:solidFill>
                <a:srgbClr val="7030A0"/>
              </a:solidFill>
            </a:endParaRPr>
          </a:p>
          <a:p>
            <a:pPr lvl="1" algn="just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51969" t="79853" r="31658" b="14296"/>
          <a:stretch/>
        </p:blipFill>
        <p:spPr>
          <a:xfrm>
            <a:off x="2839559" y="3621858"/>
            <a:ext cx="3550596" cy="71336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l="20942" t="7248" r="43620" b="54587"/>
          <a:stretch/>
        </p:blipFill>
        <p:spPr>
          <a:xfrm>
            <a:off x="7451385" y="3946240"/>
            <a:ext cx="4610911" cy="27918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tângulo 5"/>
          <p:cNvSpPr/>
          <p:nvPr/>
        </p:nvSpPr>
        <p:spPr>
          <a:xfrm>
            <a:off x="8709285" y="4152277"/>
            <a:ext cx="749508" cy="329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8919148" y="5711254"/>
            <a:ext cx="1708878" cy="539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640519" y="6150114"/>
            <a:ext cx="690964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OBS.: Feche e abra novamente a IDE do </a:t>
            </a:r>
            <a:r>
              <a:rPr lang="pt-BR" sz="2000" b="1" dirty="0" err="1">
                <a:solidFill>
                  <a:srgbClr val="FF0000"/>
                </a:solidFill>
              </a:rPr>
              <a:t>Arduino</a:t>
            </a:r>
            <a:r>
              <a:rPr lang="pt-BR" sz="2000" b="1" dirty="0">
                <a:solidFill>
                  <a:srgbClr val="FF0000"/>
                </a:solidFill>
              </a:rPr>
              <a:t> para carregar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as opções.</a:t>
            </a:r>
          </a:p>
        </p:txBody>
      </p:sp>
      <p:sp>
        <p:nvSpPr>
          <p:cNvPr id="9" name="Retângulo 8"/>
          <p:cNvSpPr/>
          <p:nvPr/>
        </p:nvSpPr>
        <p:spPr>
          <a:xfrm>
            <a:off x="739301" y="1242659"/>
            <a:ext cx="11069522" cy="5649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41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39300" y="11243"/>
            <a:ext cx="11452699" cy="774930"/>
          </a:xfrm>
        </p:spPr>
        <p:txBody>
          <a:bodyPr>
            <a:normAutofit/>
          </a:bodyPr>
          <a:lstStyle/>
          <a:p>
            <a:r>
              <a:rPr lang="pt-BR" b="1" dirty="0"/>
              <a:t>Passo 2 (somente para quem usar IDE Arduino)</a:t>
            </a: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739301" y="786173"/>
            <a:ext cx="10863085" cy="513494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O próximo passo é criar uma pasta dentro da pasta do projeto que você está desenvolvendo. Caso você não saiba onde fica a pasta, faça o seguinte: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Abra o projeto na IDE do </a:t>
            </a:r>
            <a:r>
              <a:rPr lang="pt-BR" dirty="0" err="1">
                <a:solidFill>
                  <a:schemeClr val="tx1"/>
                </a:solidFill>
              </a:rPr>
              <a:t>Arduino</a:t>
            </a:r>
            <a:r>
              <a:rPr lang="pt-BR" dirty="0">
                <a:solidFill>
                  <a:schemeClr val="tx1"/>
                </a:solidFill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Agora pressione as teclas </a:t>
            </a:r>
            <a:r>
              <a:rPr lang="pt-BR" b="1" dirty="0">
                <a:solidFill>
                  <a:srgbClr val="FF0000"/>
                </a:solidFill>
              </a:rPr>
              <a:t>CTRL + K 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Pronto, será aberta a pasta onde está o projeto (*.</a:t>
            </a:r>
            <a:r>
              <a:rPr lang="pt-BR" dirty="0" err="1">
                <a:solidFill>
                  <a:schemeClr val="tx1"/>
                </a:solidFill>
              </a:rPr>
              <a:t>ino</a:t>
            </a:r>
            <a:r>
              <a:rPr lang="pt-BR" dirty="0">
                <a:solidFill>
                  <a:schemeClr val="tx1"/>
                </a:solidFill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rgbClr val="FF0000"/>
                </a:solidFill>
              </a:rPr>
              <a:t>Crie uma pasta chamada “data”.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Dentro desta pasta você irá copiar todos os arquivos que deseja gravar na memória Flash do ESP8266 ou ESP32. Só atenção com o tamanho dos arquivos e a capacidade de memória do seu </a:t>
            </a:r>
            <a:r>
              <a:rPr lang="pt-BR" dirty="0" err="1">
                <a:solidFill>
                  <a:schemeClr val="tx1"/>
                </a:solidFill>
              </a:rPr>
              <a:t>microcontrolador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lvl="1"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765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AD02F7D-05C9-4283-510B-DA3227F45FA9}"/>
              </a:ext>
            </a:extLst>
          </p:cNvPr>
          <p:cNvSpPr txBox="1"/>
          <p:nvPr/>
        </p:nvSpPr>
        <p:spPr>
          <a:xfrm>
            <a:off x="3160295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VSCODE (PLATFORMIO)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98827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83773145-9A10-ADD2-B2D8-127190A05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6128"/>
            <a:ext cx="12192000" cy="5011872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08099AEF-912E-030E-00A0-6F4AB7CA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121" y="621491"/>
            <a:ext cx="4215758" cy="614394"/>
          </a:xfrm>
        </p:spPr>
        <p:txBody>
          <a:bodyPr/>
          <a:lstStyle/>
          <a:p>
            <a:pPr algn="ctr"/>
            <a:r>
              <a:rPr lang="pt-BR" dirty="0"/>
              <a:t>Placa esp32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4278B-5F0B-FE03-01D7-9964E59E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636" y="562238"/>
            <a:ext cx="10172447" cy="980844"/>
          </a:xfrm>
        </p:spPr>
        <p:txBody>
          <a:bodyPr/>
          <a:lstStyle/>
          <a:p>
            <a:r>
              <a:rPr lang="pt-BR" dirty="0"/>
              <a:t>Instalar a extensão </a:t>
            </a:r>
            <a:r>
              <a:rPr lang="pt-BR" dirty="0" err="1"/>
              <a:t>p</a:t>
            </a:r>
            <a:r>
              <a:rPr lang="pt-BR" cap="none" dirty="0" err="1"/>
              <a:t>latform</a:t>
            </a:r>
            <a:r>
              <a:rPr lang="pt-BR" dirty="0" err="1"/>
              <a:t>IO</a:t>
            </a:r>
            <a:r>
              <a:rPr lang="pt-BR" dirty="0"/>
              <a:t> IDE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D742F4-AFA3-01C5-AF0E-C3423DF6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7E1D48-DAB2-4F55-B0E1-1E585B1F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793852"/>
            <a:ext cx="10614300" cy="4229042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45C8B02-F24C-EDCD-1B11-E779C18E5D3B}"/>
              </a:ext>
            </a:extLst>
          </p:cNvPr>
          <p:cNvSpPr/>
          <p:nvPr/>
        </p:nvSpPr>
        <p:spPr>
          <a:xfrm>
            <a:off x="552396" y="5292090"/>
            <a:ext cx="777240" cy="59364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842687C-1BE6-B40C-8CB3-526556EF935D}"/>
              </a:ext>
            </a:extLst>
          </p:cNvPr>
          <p:cNvSpPr/>
          <p:nvPr/>
        </p:nvSpPr>
        <p:spPr>
          <a:xfrm>
            <a:off x="2000250" y="2686050"/>
            <a:ext cx="3406140" cy="8343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85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56FE6-9E79-8594-73C6-002AE31F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Basta instalar a extensão....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EE9E51-1C10-83A6-C40A-4AACEC5AB2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336088-B9A8-CAEC-A628-78B8CD67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58" y="2354580"/>
            <a:ext cx="11352123" cy="3794761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3DA19EE1-8051-0EE3-6ED1-D286871726A7}"/>
              </a:ext>
            </a:extLst>
          </p:cNvPr>
          <p:cNvSpPr/>
          <p:nvPr/>
        </p:nvSpPr>
        <p:spPr>
          <a:xfrm>
            <a:off x="9075420" y="4697730"/>
            <a:ext cx="115443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AD9EBDD7-9766-EC8A-B418-D6D141B521DC}"/>
              </a:ext>
            </a:extLst>
          </p:cNvPr>
          <p:cNvSpPr/>
          <p:nvPr/>
        </p:nvSpPr>
        <p:spPr>
          <a:xfrm>
            <a:off x="5444490" y="5894517"/>
            <a:ext cx="4533900" cy="814893"/>
          </a:xfrm>
          <a:prstGeom prst="wedgeRectCallout">
            <a:avLst>
              <a:gd name="adj1" fmla="val 34820"/>
              <a:gd name="adj2" fmla="val -1282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Após a instalação (</a:t>
            </a:r>
            <a:r>
              <a:rPr lang="pt-BR" sz="2400" b="1" dirty="0" err="1">
                <a:solidFill>
                  <a:schemeClr val="tx1"/>
                </a:solidFill>
              </a:rPr>
              <a:t>Install</a:t>
            </a:r>
            <a:r>
              <a:rPr lang="pt-BR" sz="2400" b="1" dirty="0">
                <a:solidFill>
                  <a:schemeClr val="tx1"/>
                </a:solidFill>
              </a:rPr>
              <a:t>) a opção mudará para </a:t>
            </a:r>
            <a:r>
              <a:rPr lang="pt-BR" sz="2400" b="1" dirty="0" err="1">
                <a:solidFill>
                  <a:schemeClr val="tx1"/>
                </a:solidFill>
              </a:rPr>
              <a:t>Uninstall</a:t>
            </a:r>
            <a:endParaRPr lang="pt-BR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25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61875-1E82-C98D-90B7-4B4D1818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19" y="729342"/>
            <a:ext cx="10726647" cy="98084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Como habilitar a aba terminal serial no </a:t>
            </a:r>
            <a:r>
              <a:rPr lang="pt-BR" dirty="0" err="1"/>
              <a:t>vscode</a:t>
            </a:r>
            <a:r>
              <a:rPr lang="pt-BR" dirty="0"/>
              <a:t>?</a:t>
            </a:r>
            <a:br>
              <a:rPr lang="pt-BR" dirty="0"/>
            </a:br>
            <a:r>
              <a:rPr lang="pt-BR" dirty="0"/>
              <a:t>Instale a extensão terminal serial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95DE00-F57C-323D-EA83-ACB3DB38B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86C8EB-3EC8-D7B2-BBA5-6110E6BF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6" y="1913833"/>
            <a:ext cx="10726647" cy="494416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781B937-B204-BF76-1AE0-D91DFA6C7670}"/>
              </a:ext>
            </a:extLst>
          </p:cNvPr>
          <p:cNvSpPr/>
          <p:nvPr/>
        </p:nvSpPr>
        <p:spPr>
          <a:xfrm>
            <a:off x="641587" y="4676138"/>
            <a:ext cx="547134" cy="50165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12E7FE5-B49F-4ECC-34E0-295E759C19F2}"/>
              </a:ext>
            </a:extLst>
          </p:cNvPr>
          <p:cNvSpPr/>
          <p:nvPr/>
        </p:nvSpPr>
        <p:spPr>
          <a:xfrm>
            <a:off x="1188720" y="3178174"/>
            <a:ext cx="3017519" cy="913766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FDB59D-176F-4C8A-8B0C-23776C3BE645}"/>
              </a:ext>
            </a:extLst>
          </p:cNvPr>
          <p:cNvSpPr txBox="1"/>
          <p:nvPr/>
        </p:nvSpPr>
        <p:spPr>
          <a:xfrm>
            <a:off x="121586" y="4651272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1º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8CC635-DC6D-F386-EBBD-8118334C884C}"/>
              </a:ext>
            </a:extLst>
          </p:cNvPr>
          <p:cNvSpPr txBox="1"/>
          <p:nvPr/>
        </p:nvSpPr>
        <p:spPr>
          <a:xfrm>
            <a:off x="4343066" y="3373447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2º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73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9F4EB-696B-3B2D-877F-0DD14AB6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129" y="1095939"/>
            <a:ext cx="9879437" cy="98084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400" dirty="0"/>
              <a:t>Agora basta conectar a placa, selecionar a porta serial (</a:t>
            </a:r>
            <a:r>
              <a:rPr lang="pt-BR" sz="2400" dirty="0" err="1"/>
              <a:t>port</a:t>
            </a:r>
            <a:r>
              <a:rPr lang="pt-BR" sz="2400" dirty="0"/>
              <a:t>) , </a:t>
            </a:r>
            <a:r>
              <a:rPr lang="pt-BR" sz="2400" dirty="0" err="1"/>
              <a:t>baud</a:t>
            </a:r>
            <a:r>
              <a:rPr lang="pt-BR" sz="2400" dirty="0"/>
              <a:t> rate e clicar em start </a:t>
            </a:r>
            <a:r>
              <a:rPr lang="pt-BR" sz="2400" dirty="0" err="1"/>
              <a:t>monitoring</a:t>
            </a:r>
            <a:r>
              <a:rPr lang="pt-BR" sz="2400" dirty="0"/>
              <a:t>. Quando for fazer uma nova gravação do firmware, lembre-se de fechar a conexão (close </a:t>
            </a:r>
            <a:r>
              <a:rPr lang="pt-BR" sz="2400" dirty="0" err="1"/>
              <a:t>monitoring</a:t>
            </a:r>
            <a:r>
              <a:rPr lang="pt-BR" sz="2400" dirty="0"/>
              <a:t>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8F8AF3-F8CB-839C-F39C-8DB4C0371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3CB689-E4D6-2BE3-D1D5-CED4D29E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0582"/>
            <a:ext cx="12192000" cy="45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00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41D33-7A23-658E-31BE-DF1412A40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304979"/>
            <a:ext cx="9879437" cy="980844"/>
          </a:xfrm>
        </p:spPr>
        <p:txBody>
          <a:bodyPr/>
          <a:lstStyle/>
          <a:p>
            <a:pPr algn="ctr"/>
            <a:r>
              <a:rPr lang="pt-BR" dirty="0"/>
              <a:t>Para criar um novo projeto......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873229-B0AA-0918-1466-DF3E541FE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11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21D3FC-2574-BE5B-E9D6-440572C0F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89" y="1438043"/>
            <a:ext cx="9428423" cy="5321099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41E3ED5-E829-6ECA-29EE-E06F71437741}"/>
              </a:ext>
            </a:extLst>
          </p:cNvPr>
          <p:cNvSpPr/>
          <p:nvPr/>
        </p:nvSpPr>
        <p:spPr>
          <a:xfrm>
            <a:off x="937260" y="5185590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AC3E62-2296-A5C9-BF39-0132C11DC6A2}"/>
              </a:ext>
            </a:extLst>
          </p:cNvPr>
          <p:cNvSpPr/>
          <p:nvPr/>
        </p:nvSpPr>
        <p:spPr>
          <a:xfrm>
            <a:off x="2297430" y="5768520"/>
            <a:ext cx="3143250" cy="62865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88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CCD05-DBE7-6889-9BD8-691F93B6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392" y="0"/>
            <a:ext cx="9879437" cy="980844"/>
          </a:xfrm>
        </p:spPr>
        <p:txBody>
          <a:bodyPr/>
          <a:lstStyle/>
          <a:p>
            <a:r>
              <a:rPr lang="pt-BR" dirty="0"/>
              <a:t>Clique em “new Project”....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E7B203-FC84-D653-5BDC-C786E1CE4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12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0CB347-86B6-5788-49AA-906FE1DA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1032501"/>
            <a:ext cx="10523220" cy="5825499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06A428E-ADD6-305C-B081-05522D2F78B9}"/>
              </a:ext>
            </a:extLst>
          </p:cNvPr>
          <p:cNvSpPr/>
          <p:nvPr/>
        </p:nvSpPr>
        <p:spPr>
          <a:xfrm>
            <a:off x="8374651" y="2707095"/>
            <a:ext cx="826499" cy="62865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61FBA5-882A-1204-6053-A0523489C0EC}"/>
              </a:ext>
            </a:extLst>
          </p:cNvPr>
          <p:cNvSpPr/>
          <p:nvPr/>
        </p:nvSpPr>
        <p:spPr>
          <a:xfrm>
            <a:off x="9246870" y="2785290"/>
            <a:ext cx="2670810" cy="49512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03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FCBB1-EEFE-2D7A-4049-34FFAEEF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115252"/>
            <a:ext cx="9879437" cy="980844"/>
          </a:xfrm>
        </p:spPr>
        <p:txBody>
          <a:bodyPr/>
          <a:lstStyle/>
          <a:p>
            <a:r>
              <a:rPr lang="pt-BR" sz="3200" dirty="0"/>
              <a:t>Defina o nome do projeto, a placa e o framework.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614177-02EE-1055-D6C9-A3A3183DE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3D0DF5-68D0-DE51-23A4-BE41E33A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110" y="1096096"/>
            <a:ext cx="8623640" cy="5667711"/>
          </a:xfrm>
          <a:prstGeom prst="rect">
            <a:avLst/>
          </a:prstGeom>
        </p:spPr>
      </p:pic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84232DD5-E6A5-E241-BA3A-8E204B06C605}"/>
              </a:ext>
            </a:extLst>
          </p:cNvPr>
          <p:cNvSpPr/>
          <p:nvPr/>
        </p:nvSpPr>
        <p:spPr>
          <a:xfrm>
            <a:off x="1143000" y="2076940"/>
            <a:ext cx="1965960" cy="980844"/>
          </a:xfrm>
          <a:prstGeom prst="wedgeRoundRectCallout">
            <a:avLst>
              <a:gd name="adj1" fmla="val 89633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Nome do projeto.</a:t>
            </a:r>
          </a:p>
        </p:txBody>
      </p:sp>
      <p:sp>
        <p:nvSpPr>
          <p:cNvPr id="9" name="Balão de Fala: Retângulo com Cantos Arredondados 8">
            <a:extLst>
              <a:ext uri="{FF2B5EF4-FFF2-40B4-BE49-F238E27FC236}">
                <a16:creationId xmlns:a16="http://schemas.microsoft.com/office/drawing/2014/main" id="{E4400042-DD41-43DC-A572-80A22A242A7A}"/>
              </a:ext>
            </a:extLst>
          </p:cNvPr>
          <p:cNvSpPr/>
          <p:nvPr/>
        </p:nvSpPr>
        <p:spPr>
          <a:xfrm>
            <a:off x="1143000" y="3309795"/>
            <a:ext cx="1965960" cy="980844"/>
          </a:xfrm>
          <a:prstGeom prst="wedgeRoundRectCallout">
            <a:avLst>
              <a:gd name="adj1" fmla="val 91959"/>
              <a:gd name="adj2" fmla="val 112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Selecione a placa.</a:t>
            </a:r>
          </a:p>
        </p:txBody>
      </p:sp>
      <p:sp>
        <p:nvSpPr>
          <p:cNvPr id="10" name="Balão de Fala: Retângulo com Cantos Arredondados 9">
            <a:extLst>
              <a:ext uri="{FF2B5EF4-FFF2-40B4-BE49-F238E27FC236}">
                <a16:creationId xmlns:a16="http://schemas.microsoft.com/office/drawing/2014/main" id="{26432F00-3657-46D0-BE40-97A255C64927}"/>
              </a:ext>
            </a:extLst>
          </p:cNvPr>
          <p:cNvSpPr/>
          <p:nvPr/>
        </p:nvSpPr>
        <p:spPr>
          <a:xfrm>
            <a:off x="1143000" y="4573709"/>
            <a:ext cx="1965960" cy="980844"/>
          </a:xfrm>
          <a:prstGeom prst="wedgeRoundRectCallout">
            <a:avLst>
              <a:gd name="adj1" fmla="val 76261"/>
              <a:gd name="adj2" fmla="val -435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Framework = Arduino.</a:t>
            </a:r>
            <a:endParaRPr lang="pt-BR" sz="2400" dirty="0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42881F99-3340-EACB-3AAE-E49E1C4D671A}"/>
              </a:ext>
            </a:extLst>
          </p:cNvPr>
          <p:cNvSpPr/>
          <p:nvPr/>
        </p:nvSpPr>
        <p:spPr>
          <a:xfrm rot="5400000">
            <a:off x="8846822" y="5539018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54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1EA86-D2CD-87A3-AC37-6089D212C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-67873"/>
            <a:ext cx="9879437" cy="980844"/>
          </a:xfrm>
        </p:spPr>
        <p:txBody>
          <a:bodyPr/>
          <a:lstStyle/>
          <a:p>
            <a:r>
              <a:rPr lang="pt-BR" dirty="0"/>
              <a:t>Dados do projeto....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53B793-0681-8E7B-C318-367FA8E91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14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D89F4E-528D-2084-4F04-4823CC2DC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87" y="928688"/>
            <a:ext cx="7382905" cy="5811061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3518FF37-16FF-DFE9-66D0-C9FDA88EA63D}"/>
              </a:ext>
            </a:extLst>
          </p:cNvPr>
          <p:cNvSpPr/>
          <p:nvPr/>
        </p:nvSpPr>
        <p:spPr>
          <a:xfrm>
            <a:off x="3371850" y="2583180"/>
            <a:ext cx="340614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BE3B845-7AA2-BC90-D86C-E6C2248A498B}"/>
              </a:ext>
            </a:extLst>
          </p:cNvPr>
          <p:cNvSpPr/>
          <p:nvPr/>
        </p:nvSpPr>
        <p:spPr>
          <a:xfrm>
            <a:off x="3371850" y="3345180"/>
            <a:ext cx="340614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33B955C-D40D-89BA-1FBE-8A1AD26BC4DD}"/>
              </a:ext>
            </a:extLst>
          </p:cNvPr>
          <p:cNvSpPr/>
          <p:nvPr/>
        </p:nvSpPr>
        <p:spPr>
          <a:xfrm>
            <a:off x="3009900" y="4114800"/>
            <a:ext cx="208788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62A8977A-525C-205F-6F22-1C2F631BAAAB}"/>
              </a:ext>
            </a:extLst>
          </p:cNvPr>
          <p:cNvSpPr/>
          <p:nvPr/>
        </p:nvSpPr>
        <p:spPr>
          <a:xfrm rot="5400000">
            <a:off x="8846822" y="5493298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36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9302C-3874-8F5D-29F4-DFB1E303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0"/>
            <a:ext cx="9879437" cy="980844"/>
          </a:xfrm>
        </p:spPr>
        <p:txBody>
          <a:bodyPr/>
          <a:lstStyle/>
          <a:p>
            <a:r>
              <a:rPr lang="pt-BR" dirty="0"/>
              <a:t>Foi criado o projeto.....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DF9B86-89C9-D68B-63B2-7199383FED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15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BD7E34A-D275-0416-4401-5507484C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370" y="1096254"/>
            <a:ext cx="7274820" cy="5650752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ED21A0F-465C-0646-7ED4-4E9E7CFCAD57}"/>
              </a:ext>
            </a:extLst>
          </p:cNvPr>
          <p:cNvGrpSpPr/>
          <p:nvPr/>
        </p:nvGrpSpPr>
        <p:grpSpPr>
          <a:xfrm>
            <a:off x="160020" y="4949189"/>
            <a:ext cx="5143500" cy="1679784"/>
            <a:chOff x="160020" y="4949189"/>
            <a:chExt cx="5143500" cy="1679784"/>
          </a:xfrm>
        </p:grpSpPr>
        <p:sp>
          <p:nvSpPr>
            <p:cNvPr id="8" name="Balão de Fala: Retângulo com Cantos Arredondados 7">
              <a:extLst>
                <a:ext uri="{FF2B5EF4-FFF2-40B4-BE49-F238E27FC236}">
                  <a16:creationId xmlns:a16="http://schemas.microsoft.com/office/drawing/2014/main" id="{ED265A83-1FF6-458C-AA85-AFD676BB1A34}"/>
                </a:ext>
              </a:extLst>
            </p:cNvPr>
            <p:cNvSpPr/>
            <p:nvPr/>
          </p:nvSpPr>
          <p:spPr>
            <a:xfrm>
              <a:off x="160020" y="4949190"/>
              <a:ext cx="5143500" cy="1679783"/>
            </a:xfrm>
            <a:prstGeom prst="wedgeRoundRectCallout">
              <a:avLst>
                <a:gd name="adj1" fmla="val 18357"/>
                <a:gd name="adj2" fmla="val -116752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tx1"/>
                  </a:solidFill>
                </a:rPr>
                <a:t>platformio.ini = este arquivo tem todas as inicializações. Inclusive as bibliotecas que forem instaladas. Diferentemente da IDE Arduino, no </a:t>
              </a:r>
              <a:r>
                <a:rPr lang="pt-BR" sz="2000" b="1" dirty="0" err="1">
                  <a:solidFill>
                    <a:schemeClr val="tx1"/>
                  </a:solidFill>
                </a:rPr>
                <a:t>VSCode</a:t>
              </a:r>
              <a:r>
                <a:rPr lang="pt-BR" sz="2000" b="1" dirty="0">
                  <a:solidFill>
                    <a:schemeClr val="tx1"/>
                  </a:solidFill>
                </a:rPr>
                <a:t> as bibliotecas são instaladas no projeto.</a:t>
              </a:r>
              <a:endParaRPr lang="pt-BR" sz="2000" dirty="0"/>
            </a:p>
          </p:txBody>
        </p:sp>
        <p:sp>
          <p:nvSpPr>
            <p:cNvPr id="9" name="Balão de Fala: Retângulo com Cantos Arredondados 8">
              <a:extLst>
                <a:ext uri="{FF2B5EF4-FFF2-40B4-BE49-F238E27FC236}">
                  <a16:creationId xmlns:a16="http://schemas.microsoft.com/office/drawing/2014/main" id="{72C9C2E1-4BBB-3190-7E8C-FF849CCCD3D1}"/>
                </a:ext>
              </a:extLst>
            </p:cNvPr>
            <p:cNvSpPr/>
            <p:nvPr/>
          </p:nvSpPr>
          <p:spPr>
            <a:xfrm>
              <a:off x="160020" y="4949189"/>
              <a:ext cx="5143500" cy="1679783"/>
            </a:xfrm>
            <a:prstGeom prst="wedgeRoundRectCallout">
              <a:avLst>
                <a:gd name="adj1" fmla="val 82357"/>
                <a:gd name="adj2" fmla="val 172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tx1"/>
                  </a:solidFill>
                </a:rPr>
                <a:t>platformio.ini = este arquivo tem todas as inicializações. Inclusive as bibliotecas que forem instaladas. Diferentemente da IDE Arduino, no </a:t>
              </a:r>
              <a:r>
                <a:rPr lang="pt-BR" sz="2000" b="1" dirty="0" err="1">
                  <a:solidFill>
                    <a:schemeClr val="tx1"/>
                  </a:solidFill>
                </a:rPr>
                <a:t>VSCode</a:t>
              </a:r>
              <a:r>
                <a:rPr lang="pt-BR" sz="2000" b="1" dirty="0">
                  <a:solidFill>
                    <a:schemeClr val="tx1"/>
                  </a:solidFill>
                </a:rPr>
                <a:t> as bibliotecas são instaladas no projeto.</a:t>
              </a:r>
              <a:endParaRPr lang="pt-BR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52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F7939-CA2B-FA50-6208-456F9776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384946"/>
            <a:ext cx="9879437" cy="615993"/>
          </a:xfrm>
        </p:spPr>
        <p:txBody>
          <a:bodyPr/>
          <a:lstStyle/>
          <a:p>
            <a:r>
              <a:rPr lang="pt-BR" sz="3200" dirty="0"/>
              <a:t>O arquivo principal (main.cpp) fica na pasta </a:t>
            </a:r>
            <a:r>
              <a:rPr lang="pt-BR" sz="3200" dirty="0" err="1"/>
              <a:t>src</a:t>
            </a:r>
            <a:r>
              <a:rPr lang="pt-BR" sz="3200" dirty="0"/>
              <a:t> (</a:t>
            </a:r>
            <a:r>
              <a:rPr lang="pt-BR" sz="3200" dirty="0" err="1"/>
              <a:t>source</a:t>
            </a:r>
            <a:r>
              <a:rPr lang="pt-BR" sz="3200" dirty="0"/>
              <a:t>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940AEA-1B9C-F60A-5CAC-5A300A314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16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9A2115-19E5-949B-5713-B1216465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1030510"/>
            <a:ext cx="8729048" cy="5713190"/>
          </a:xfrm>
          <a:prstGeom prst="rect">
            <a:avLst/>
          </a:prstGeom>
        </p:spPr>
      </p:pic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6B9A8394-10F4-4009-18E8-A06642085E67}"/>
              </a:ext>
            </a:extLst>
          </p:cNvPr>
          <p:cNvSpPr/>
          <p:nvPr/>
        </p:nvSpPr>
        <p:spPr>
          <a:xfrm>
            <a:off x="91440" y="2486284"/>
            <a:ext cx="2914650" cy="3377306"/>
          </a:xfrm>
          <a:prstGeom prst="wedgeRoundRectCallout">
            <a:avLst>
              <a:gd name="adj1" fmla="val 71594"/>
              <a:gd name="adj2" fmla="val -4458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/>
                </a:solidFill>
              </a:rPr>
              <a:t>Na pasta </a:t>
            </a:r>
            <a:r>
              <a:rPr lang="pt-BR" sz="2000" b="1" dirty="0" err="1">
                <a:solidFill>
                  <a:schemeClr val="tx1"/>
                </a:solidFill>
              </a:rPr>
              <a:t>src</a:t>
            </a:r>
            <a:r>
              <a:rPr lang="pt-BR" sz="2000" b="1" dirty="0">
                <a:solidFill>
                  <a:schemeClr val="tx1"/>
                </a:solidFill>
              </a:rPr>
              <a:t> está o arquivo principal.</a:t>
            </a:r>
          </a:p>
          <a:p>
            <a:pPr algn="ctr"/>
            <a:r>
              <a:rPr lang="pt-BR" sz="2000" b="1" dirty="0">
                <a:solidFill>
                  <a:schemeClr val="tx1"/>
                </a:solidFill>
              </a:rPr>
              <a:t>A estrutura do programa main.cpp é igual ao feito na IDE Arduino. Tem duas funções </a:t>
            </a:r>
            <a:r>
              <a:rPr lang="pt-BR" sz="2000" b="1" dirty="0" err="1">
                <a:solidFill>
                  <a:schemeClr val="tx1"/>
                </a:solidFill>
              </a:rPr>
              <a:t>void</a:t>
            </a:r>
            <a:r>
              <a:rPr lang="pt-BR" sz="2000" b="1" dirty="0">
                <a:solidFill>
                  <a:schemeClr val="tx1"/>
                </a:solidFill>
              </a:rPr>
              <a:t> setup() e </a:t>
            </a:r>
            <a:r>
              <a:rPr lang="pt-BR" sz="2000" b="1" dirty="0" err="1">
                <a:solidFill>
                  <a:schemeClr val="tx1"/>
                </a:solidFill>
              </a:rPr>
              <a:t>void</a:t>
            </a:r>
            <a:r>
              <a:rPr lang="pt-BR" sz="2000" b="1" dirty="0">
                <a:solidFill>
                  <a:schemeClr val="tx1"/>
                </a:solidFill>
              </a:rPr>
              <a:t> loop(). A única diferença é que deve manter o #include &lt;</a:t>
            </a:r>
            <a:r>
              <a:rPr lang="pt-BR" sz="2000" b="1" dirty="0" err="1">
                <a:solidFill>
                  <a:schemeClr val="tx1"/>
                </a:solidFill>
              </a:rPr>
              <a:t>Arduino.h</a:t>
            </a:r>
            <a:r>
              <a:rPr lang="pt-BR" sz="2000" b="1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2696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EE014-6C60-72E5-6D00-3EC9E2FF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406" y="405092"/>
            <a:ext cx="9879437" cy="748877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 simples, apenas para demonstrar o uso do </a:t>
            </a:r>
            <a:r>
              <a:rPr lang="pt-BR" dirty="0" err="1"/>
              <a:t>vscode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2561D7-74BB-080A-F898-C8673DFFB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17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25E9A28-86C7-A727-A816-D7D752DC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961" y="1133612"/>
            <a:ext cx="7332077" cy="562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15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09F31-9A1A-EDE0-E777-9A2FCB86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961" y="1509362"/>
            <a:ext cx="3959311" cy="69723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Uma dica de usar o </a:t>
            </a:r>
            <a:r>
              <a:rPr lang="pt-BR" dirty="0" err="1"/>
              <a:t>vsc</a:t>
            </a:r>
            <a:r>
              <a:rPr lang="pt-BR" cap="none" dirty="0" err="1"/>
              <a:t>ode</a:t>
            </a:r>
            <a:r>
              <a:rPr lang="pt-BR" dirty="0"/>
              <a:t> é habilitar o auto </a:t>
            </a:r>
            <a:r>
              <a:rPr lang="pt-BR" dirty="0" err="1"/>
              <a:t>save</a:t>
            </a:r>
            <a:r>
              <a:rPr lang="pt-BR" dirty="0"/>
              <a:t>, assim não esquece de “salvar” a cada alteração.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06B614-8D79-DB84-057B-4557D7770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18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BCC84F-5DC4-D03B-4BC3-6B6680135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69" y="54839"/>
            <a:ext cx="5303209" cy="672315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B80ED7D-1BC7-B78C-1A23-1F12728ABCF0}"/>
              </a:ext>
            </a:extLst>
          </p:cNvPr>
          <p:cNvSpPr/>
          <p:nvPr/>
        </p:nvSpPr>
        <p:spPr>
          <a:xfrm>
            <a:off x="6153150" y="4671240"/>
            <a:ext cx="1082040" cy="3808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1E43E8-1803-E63D-3105-B9253DD052D8}"/>
              </a:ext>
            </a:extLst>
          </p:cNvPr>
          <p:cNvSpPr/>
          <p:nvPr/>
        </p:nvSpPr>
        <p:spPr>
          <a:xfrm>
            <a:off x="6096000" y="80010"/>
            <a:ext cx="441960" cy="2743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01A4BA4-965A-1678-CF90-8C5B63083B3C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6316980" y="354330"/>
            <a:ext cx="377190" cy="431691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899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46C63-C310-7373-D5D3-8FD6D38F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34" y="3145017"/>
            <a:ext cx="3541454" cy="100584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800" dirty="0"/>
              <a:t>Para compilar, temos que selecionar o ícone da </a:t>
            </a:r>
            <a:r>
              <a:rPr lang="pt-BR" sz="2800" dirty="0" err="1"/>
              <a:t>platformio</a:t>
            </a:r>
            <a:r>
              <a:rPr lang="pt-BR" sz="2800" dirty="0"/>
              <a:t>. </a:t>
            </a:r>
            <a:br>
              <a:rPr lang="pt-BR" sz="2800" dirty="0"/>
            </a:br>
            <a:r>
              <a:rPr lang="pt-BR" sz="2800" dirty="0"/>
              <a:t>Abrirá todas estas opções...para compilar e gravar o dispositivo clique em upload....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94107B-D5BB-1B92-2859-4233B4707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19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8DB65A-CED0-E98D-5DB8-32A97AC9E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20" y="223390"/>
            <a:ext cx="6382641" cy="6411220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32A8B9C5-824E-3B01-206A-9FF4041376E4}"/>
              </a:ext>
            </a:extLst>
          </p:cNvPr>
          <p:cNvSpPr/>
          <p:nvPr/>
        </p:nvSpPr>
        <p:spPr>
          <a:xfrm>
            <a:off x="4189488" y="4054020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839BE3A0-CF99-8530-044C-C09E6BAE15BE}"/>
              </a:ext>
            </a:extLst>
          </p:cNvPr>
          <p:cNvSpPr/>
          <p:nvPr/>
        </p:nvSpPr>
        <p:spPr>
          <a:xfrm rot="10800000">
            <a:off x="6462931" y="2194740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315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46ECC-5432-1A11-CC7C-00E8FD3E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0" y="2663190"/>
            <a:ext cx="3410611" cy="3520440"/>
          </a:xfrm>
        </p:spPr>
        <p:txBody>
          <a:bodyPr/>
          <a:lstStyle/>
          <a:p>
            <a:pPr algn="ctr"/>
            <a:r>
              <a:rPr lang="pt-BR" sz="2800" dirty="0"/>
              <a:t>Depois de clicar em  upload, começa o processo de compilar e fazer a programação do esp32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441AE1-4F93-05BC-EADD-DADEB9F5F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20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8DDFD1-6B2B-A2F5-0230-18B62D7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368" y="822960"/>
            <a:ext cx="8242632" cy="603504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C4C4705-34B5-CC1F-7458-7A6BFBC65F80}"/>
              </a:ext>
            </a:extLst>
          </p:cNvPr>
          <p:cNvSpPr/>
          <p:nvPr/>
        </p:nvSpPr>
        <p:spPr>
          <a:xfrm>
            <a:off x="6610350" y="5197020"/>
            <a:ext cx="5173980" cy="14095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5E898D-4EB8-4F22-DD0B-E0D3C99BEADC}"/>
              </a:ext>
            </a:extLst>
          </p:cNvPr>
          <p:cNvSpPr/>
          <p:nvPr/>
        </p:nvSpPr>
        <p:spPr>
          <a:xfrm>
            <a:off x="4450080" y="1134933"/>
            <a:ext cx="2160270" cy="2743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A940C78-0CC2-2018-EB8B-55F4BCB1415D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5530215" y="1409253"/>
            <a:ext cx="3667125" cy="3787767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93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712E9-5EA6-CB8C-A76A-6BC769058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693" y="1576935"/>
            <a:ext cx="10119467" cy="98084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Se tudo der certo, o console vai indicar “</a:t>
            </a:r>
            <a:r>
              <a:rPr lang="pt-BR" dirty="0" err="1"/>
              <a:t>success</a:t>
            </a:r>
            <a:r>
              <a:rPr lang="pt-BR" dirty="0"/>
              <a:t>” e fazer o reset da placa...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29FC5D-A80F-E819-C205-B813C12B6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21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CA50B4C-EEF3-9452-B0E7-5F7550790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19" y="2721160"/>
            <a:ext cx="11788369" cy="27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6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C75DC-BF5C-0572-F38C-1711D9DC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573" y="105115"/>
            <a:ext cx="10405217" cy="1088436"/>
          </a:xfrm>
        </p:spPr>
        <p:txBody>
          <a:bodyPr>
            <a:normAutofit fontScale="90000"/>
          </a:bodyPr>
          <a:lstStyle/>
          <a:p>
            <a:r>
              <a:rPr lang="pt-BR" sz="2400" dirty="0"/>
              <a:t>Resumindo: </a:t>
            </a:r>
            <a:br>
              <a:rPr lang="pt-BR" sz="2400" dirty="0"/>
            </a:br>
            <a:r>
              <a:rPr lang="pt-BR" sz="2400" dirty="0"/>
              <a:t>- </a:t>
            </a:r>
            <a:r>
              <a:rPr lang="pt-BR" sz="2400" dirty="0" err="1"/>
              <a:t>platformio</a:t>
            </a:r>
            <a:r>
              <a:rPr lang="pt-BR" sz="2400" dirty="0"/>
              <a:t> </a:t>
            </a:r>
            <a:r>
              <a:rPr lang="pt-BR" sz="2400" dirty="0">
                <a:sym typeface="Wingdings" panose="05000000000000000000" pitchFamily="2" charset="2"/>
              </a:rPr>
              <a:t> comandos (Upload, etc..)</a:t>
            </a:r>
            <a:br>
              <a:rPr lang="pt-BR" sz="2400" dirty="0">
                <a:sym typeface="Wingdings" panose="05000000000000000000" pitchFamily="2" charset="2"/>
              </a:rPr>
            </a:br>
            <a:r>
              <a:rPr lang="pt-BR" sz="2400" dirty="0">
                <a:sym typeface="Wingdings" panose="05000000000000000000" pitchFamily="2" charset="2"/>
              </a:rPr>
              <a:t>- </a:t>
            </a:r>
            <a:r>
              <a:rPr lang="pt-BR" sz="2400" dirty="0" err="1">
                <a:sym typeface="Wingdings" panose="05000000000000000000" pitchFamily="2" charset="2"/>
              </a:rPr>
              <a:t>explorer</a:t>
            </a:r>
            <a:r>
              <a:rPr lang="pt-BR" sz="2400" dirty="0">
                <a:sym typeface="Wingdings" panose="05000000000000000000" pitchFamily="2" charset="2"/>
              </a:rPr>
              <a:t>  pastas e arquivos do projeto.</a:t>
            </a:r>
            <a:endParaRPr lang="pt-BR" sz="24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277393-1F09-21CB-2B92-869E0BD54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22</a:t>
            </a:fld>
            <a:endParaRPr lang="pt-BR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7ABCB72-F03B-65C4-8D94-00331DD117D2}"/>
              </a:ext>
            </a:extLst>
          </p:cNvPr>
          <p:cNvGrpSpPr/>
          <p:nvPr/>
        </p:nvGrpSpPr>
        <p:grpSpPr>
          <a:xfrm>
            <a:off x="1639028" y="2008341"/>
            <a:ext cx="3581900" cy="4439270"/>
            <a:chOff x="1904750" y="1850490"/>
            <a:chExt cx="3581900" cy="443927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FB0E9486-C90D-E363-CF56-8349A9BCD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4750" y="1850490"/>
              <a:ext cx="3581900" cy="4439270"/>
            </a:xfrm>
            <a:prstGeom prst="rect">
              <a:avLst/>
            </a:prstGeom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4737B38-B14A-814B-07B0-100D0A9F1FD3}"/>
                </a:ext>
              </a:extLst>
            </p:cNvPr>
            <p:cNvSpPr/>
            <p:nvPr/>
          </p:nvSpPr>
          <p:spPr>
            <a:xfrm>
              <a:off x="1927610" y="2339520"/>
              <a:ext cx="495550" cy="43797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322A8FB-4A25-3C50-4EB6-1327BD3CA0D7}"/>
                </a:ext>
              </a:extLst>
            </p:cNvPr>
            <p:cNvSpPr/>
            <p:nvPr/>
          </p:nvSpPr>
          <p:spPr>
            <a:xfrm>
              <a:off x="2575560" y="2339520"/>
              <a:ext cx="2830830" cy="30325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B9EB74-4F2D-102C-62F3-4323155E9113}"/>
              </a:ext>
            </a:extLst>
          </p:cNvPr>
          <p:cNvGrpSpPr/>
          <p:nvPr/>
        </p:nvGrpSpPr>
        <p:grpSpPr>
          <a:xfrm>
            <a:off x="7269391" y="1327177"/>
            <a:ext cx="3089046" cy="5372967"/>
            <a:chOff x="8135464" y="1383642"/>
            <a:chExt cx="3089046" cy="537296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6B7C798-55C3-0B16-04F6-5CBBA3D77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35464" y="1383642"/>
              <a:ext cx="3089046" cy="5372967"/>
            </a:xfrm>
            <a:prstGeom prst="rect">
              <a:avLst/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AD8B1859-4D95-E483-359E-51116CD577D7}"/>
                </a:ext>
              </a:extLst>
            </p:cNvPr>
            <p:cNvSpPr/>
            <p:nvPr/>
          </p:nvSpPr>
          <p:spPr>
            <a:xfrm>
              <a:off x="8169754" y="4720770"/>
              <a:ext cx="414176" cy="43797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E8455203-682F-02AE-FE5E-4356D99C2620}"/>
                </a:ext>
              </a:extLst>
            </p:cNvPr>
            <p:cNvSpPr/>
            <p:nvPr/>
          </p:nvSpPr>
          <p:spPr>
            <a:xfrm>
              <a:off x="8737694" y="1826554"/>
              <a:ext cx="2406556" cy="4802845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Seta: para Cima 15">
            <a:extLst>
              <a:ext uri="{FF2B5EF4-FFF2-40B4-BE49-F238E27FC236}">
                <a16:creationId xmlns:a16="http://schemas.microsoft.com/office/drawing/2014/main" id="{61037374-6764-95D1-7D5D-63979346B236}"/>
              </a:ext>
            </a:extLst>
          </p:cNvPr>
          <p:cNvSpPr/>
          <p:nvPr/>
        </p:nvSpPr>
        <p:spPr>
          <a:xfrm rot="5400000">
            <a:off x="756454" y="2277835"/>
            <a:ext cx="727587" cy="87704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Cima 16">
            <a:extLst>
              <a:ext uri="{FF2B5EF4-FFF2-40B4-BE49-F238E27FC236}">
                <a16:creationId xmlns:a16="http://schemas.microsoft.com/office/drawing/2014/main" id="{B1D31288-EDB3-2AFE-F889-0FE49327D798}"/>
              </a:ext>
            </a:extLst>
          </p:cNvPr>
          <p:cNvSpPr/>
          <p:nvPr/>
        </p:nvSpPr>
        <p:spPr>
          <a:xfrm rot="5400000">
            <a:off x="6347603" y="4444769"/>
            <a:ext cx="727587" cy="87704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165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2D82B-098E-0C44-0DA9-B20915A4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134592"/>
            <a:ext cx="9879437" cy="980844"/>
          </a:xfrm>
        </p:spPr>
        <p:txBody>
          <a:bodyPr>
            <a:normAutofit fontScale="90000"/>
          </a:bodyPr>
          <a:lstStyle/>
          <a:p>
            <a:r>
              <a:rPr lang="pt-BR" dirty="0"/>
              <a:t>Criando pasta data para gravar na memória flash do esp32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A99A9C6-66AB-FB05-5869-A57EAB2FD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330925-5C17-2961-371F-BF970536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3010"/>
            <a:ext cx="7284432" cy="48319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4986575-94AF-FE59-4B91-D923E798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257" y="4808559"/>
            <a:ext cx="4067743" cy="184810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3AB62D4C-2403-1C44-F656-1E46EF3B8470}"/>
              </a:ext>
            </a:extLst>
          </p:cNvPr>
          <p:cNvSpPr/>
          <p:nvPr/>
        </p:nvSpPr>
        <p:spPr>
          <a:xfrm>
            <a:off x="8903970" y="5852160"/>
            <a:ext cx="2754630" cy="33147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Balão de Fala: Retângulo com Cantos Arredondados 10">
            <a:extLst>
              <a:ext uri="{FF2B5EF4-FFF2-40B4-BE49-F238E27FC236}">
                <a16:creationId xmlns:a16="http://schemas.microsoft.com/office/drawing/2014/main" id="{3CD850C2-CE4E-EC6E-7337-C44041FA524C}"/>
              </a:ext>
            </a:extLst>
          </p:cNvPr>
          <p:cNvSpPr/>
          <p:nvPr/>
        </p:nvSpPr>
        <p:spPr>
          <a:xfrm>
            <a:off x="137652" y="5034116"/>
            <a:ext cx="1524000" cy="1600103"/>
          </a:xfrm>
          <a:prstGeom prst="wedgeRoundRectCallout">
            <a:avLst>
              <a:gd name="adj1" fmla="val 43038"/>
              <a:gd name="adj2" fmla="val -8952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Clique com o botão direito do mouse nesta área</a:t>
            </a: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4CAA44D-08C1-9E1F-542D-5202399CE9A4}"/>
              </a:ext>
            </a:extLst>
          </p:cNvPr>
          <p:cNvCxnSpPr>
            <a:endCxn id="9" idx="0"/>
          </p:cNvCxnSpPr>
          <p:nvPr/>
        </p:nvCxnSpPr>
        <p:spPr>
          <a:xfrm>
            <a:off x="4837471" y="4572000"/>
            <a:ext cx="5320658" cy="236559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06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E9739-D05B-8907-DCE0-64B7D037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598791"/>
            <a:ext cx="9879437" cy="980844"/>
          </a:xfrm>
        </p:spPr>
        <p:txBody>
          <a:bodyPr/>
          <a:lstStyle/>
          <a:p>
            <a:pPr algn="ctr"/>
            <a:r>
              <a:rPr lang="pt-BR" dirty="0"/>
              <a:t>Copia os arquivos para esta pasta data.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33B2C7-6D85-A8D9-9155-3F234DEA0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24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BE07EA-0EF5-0059-73AC-26CFB672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077" y="2529906"/>
            <a:ext cx="5243845" cy="357933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297250F-132C-12C9-8B76-FAB9CD54FF56}"/>
              </a:ext>
            </a:extLst>
          </p:cNvPr>
          <p:cNvSpPr/>
          <p:nvPr/>
        </p:nvSpPr>
        <p:spPr>
          <a:xfrm>
            <a:off x="4343400" y="4697730"/>
            <a:ext cx="2023110" cy="9601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236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660628" y="1008646"/>
            <a:ext cx="553137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SPIFFS.open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("/teste.txt", "r");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(!file)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Serial.println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("Falha na abertura do arquivo!");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Serial.print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("O conteúdo do arquivo: ");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file.available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{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Serial.write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());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loop()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{}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to 6"/>
          <p:cNvCxnSpPr/>
          <p:nvPr/>
        </p:nvCxnSpPr>
        <p:spPr>
          <a:xfrm flipH="1">
            <a:off x="6535711" y="1109272"/>
            <a:ext cx="29981" cy="5614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739515" y="136840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#include "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FS.h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#include "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SPIFFS.h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setup()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Serial.begin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(115200);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(!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SPIFFS.begin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{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Serial.println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("Erro na inicialização do SPIFFS!");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9" name="Texto Explicativo em Elipse 8"/>
          <p:cNvSpPr/>
          <p:nvPr/>
        </p:nvSpPr>
        <p:spPr>
          <a:xfrm>
            <a:off x="3590142" y="1214198"/>
            <a:ext cx="2668249" cy="974361"/>
          </a:xfrm>
          <a:prstGeom prst="wedgeEllipseCallout">
            <a:avLst>
              <a:gd name="adj1" fmla="val -68919"/>
              <a:gd name="adj2" fmla="val -37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Inclui a biblioteca File System e SPIFFS</a:t>
            </a:r>
          </a:p>
        </p:txBody>
      </p:sp>
      <p:sp>
        <p:nvSpPr>
          <p:cNvPr id="10" name="Texto Explicativo em Elipse 9"/>
          <p:cNvSpPr/>
          <p:nvPr/>
        </p:nvSpPr>
        <p:spPr>
          <a:xfrm>
            <a:off x="3590142" y="2385620"/>
            <a:ext cx="2668249" cy="974361"/>
          </a:xfrm>
          <a:prstGeom prst="wedgeEllipseCallout">
            <a:avLst>
              <a:gd name="adj1" fmla="val -70271"/>
              <a:gd name="adj2" fmla="val 486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Se consegue inicializar o SPIFFS</a:t>
            </a:r>
          </a:p>
        </p:txBody>
      </p:sp>
      <p:sp>
        <p:nvSpPr>
          <p:cNvPr id="11" name="Texto Explicativo em Elipse 10"/>
          <p:cNvSpPr/>
          <p:nvPr/>
        </p:nvSpPr>
        <p:spPr>
          <a:xfrm>
            <a:off x="9323880" y="0"/>
            <a:ext cx="2668249" cy="974361"/>
          </a:xfrm>
          <a:prstGeom prst="wedgeEllipseCallout">
            <a:avLst>
              <a:gd name="adj1" fmla="val -44428"/>
              <a:gd name="adj2" fmla="val 563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Faz a abertura do arquivo para leitura (</a:t>
            </a:r>
            <a:r>
              <a:rPr lang="pt-BR" b="1" dirty="0" err="1">
                <a:solidFill>
                  <a:srgbClr val="FFFF00"/>
                </a:solidFill>
              </a:rPr>
              <a:t>read</a:t>
            </a:r>
            <a:r>
              <a:rPr lang="pt-BR" b="1" dirty="0">
                <a:solidFill>
                  <a:srgbClr val="FFFF00"/>
                </a:solidFill>
              </a:rPr>
              <a:t> -f)</a:t>
            </a:r>
          </a:p>
        </p:txBody>
      </p:sp>
      <p:sp>
        <p:nvSpPr>
          <p:cNvPr id="12" name="Texto Explicativo em Elipse 11"/>
          <p:cNvSpPr/>
          <p:nvPr/>
        </p:nvSpPr>
        <p:spPr>
          <a:xfrm>
            <a:off x="9323879" y="1499012"/>
            <a:ext cx="2668249" cy="974361"/>
          </a:xfrm>
          <a:prstGeom prst="wedgeEllipseCallout">
            <a:avLst>
              <a:gd name="adj1" fmla="val -111844"/>
              <a:gd name="adj2" fmla="val 317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Se existe o arquivo ou não!</a:t>
            </a:r>
          </a:p>
        </p:txBody>
      </p:sp>
      <p:sp>
        <p:nvSpPr>
          <p:cNvPr id="13" name="Texto Explicativo em Elipse 12"/>
          <p:cNvSpPr/>
          <p:nvPr/>
        </p:nvSpPr>
        <p:spPr>
          <a:xfrm>
            <a:off x="9523751" y="4516334"/>
            <a:ext cx="2668249" cy="974361"/>
          </a:xfrm>
          <a:prstGeom prst="wedgeEllipseCallout">
            <a:avLst>
              <a:gd name="adj1" fmla="val -62405"/>
              <a:gd name="adj2" fmla="val -790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Se o arquivo está disponível</a:t>
            </a:r>
          </a:p>
        </p:txBody>
      </p:sp>
      <p:sp>
        <p:nvSpPr>
          <p:cNvPr id="14" name="Texto Explicativo em Elipse 13"/>
          <p:cNvSpPr/>
          <p:nvPr/>
        </p:nvSpPr>
        <p:spPr>
          <a:xfrm>
            <a:off x="9091535" y="5554963"/>
            <a:ext cx="2668249" cy="974361"/>
          </a:xfrm>
          <a:prstGeom prst="wedgeEllipseCallout">
            <a:avLst>
              <a:gd name="adj1" fmla="val -65214"/>
              <a:gd name="adj2" fmla="val -1144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Lê o conteúdo do arquivo</a:t>
            </a:r>
          </a:p>
        </p:txBody>
      </p:sp>
      <p:sp>
        <p:nvSpPr>
          <p:cNvPr id="15" name="Texto Explicativo em Elipse 14"/>
          <p:cNvSpPr/>
          <p:nvPr/>
        </p:nvSpPr>
        <p:spPr>
          <a:xfrm>
            <a:off x="3465227" y="5749830"/>
            <a:ext cx="2668249" cy="974361"/>
          </a:xfrm>
          <a:prstGeom prst="wedgeEllipseCallout">
            <a:avLst>
              <a:gd name="adj1" fmla="val 75235"/>
              <a:gd name="adj2" fmla="val -944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Fecha o arquivo</a:t>
            </a: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739516" y="11243"/>
            <a:ext cx="8352020" cy="774930"/>
          </a:xfrm>
        </p:spPr>
        <p:txBody>
          <a:bodyPr>
            <a:normAutofit fontScale="90000"/>
          </a:bodyPr>
          <a:lstStyle/>
          <a:p>
            <a:r>
              <a:rPr lang="pt-BR" sz="4000" b="1" dirty="0"/>
              <a:t>Código para ler um arquivo e imprimir o conteúdo na serial.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1742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719528" y="-38588"/>
            <a:ext cx="11457482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[SPIFFS] data    </a:t>
            </a:r>
            <a:r>
              <a:rPr lang="pt-BR" sz="1400" b="1" dirty="0">
                <a:solidFill>
                  <a:srgbClr val="FF0000"/>
                </a:solidFill>
              </a:rPr>
              <a:t>: C:\Users\Anderson\Documents\Arduino\SPIFFS_arquivo_TXT\data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size</a:t>
            </a:r>
            <a:r>
              <a:rPr lang="pt-BR" sz="1400" dirty="0"/>
              <a:t>    : 2024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page</a:t>
            </a:r>
            <a:r>
              <a:rPr lang="pt-BR" sz="1400" dirty="0"/>
              <a:t>    : 256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block</a:t>
            </a:r>
            <a:r>
              <a:rPr lang="pt-BR" sz="1400" dirty="0"/>
              <a:t>   : 8192</a:t>
            </a:r>
          </a:p>
          <a:p>
            <a:r>
              <a:rPr lang="pt-BR" sz="1400" dirty="0"/>
              <a:t>/</a:t>
            </a:r>
            <a:r>
              <a:rPr lang="pt-BR" sz="1400" b="1" dirty="0">
                <a:solidFill>
                  <a:srgbClr val="FF0000"/>
                </a:solidFill>
              </a:rPr>
              <a:t>teste.txt</a:t>
            </a:r>
          </a:p>
          <a:p>
            <a:r>
              <a:rPr lang="pt-BR" sz="1400" dirty="0"/>
              <a:t>[SPIFFS] upload  : C:\Users\Anderson\AppData\Local\Temp\arduino_build_508149/SPIFFS_arquivo_TXT.spiffs.bin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address</a:t>
            </a:r>
            <a:r>
              <a:rPr lang="pt-BR" sz="1400" dirty="0"/>
              <a:t>  : 0x200000</a:t>
            </a:r>
          </a:p>
          <a:p>
            <a:r>
              <a:rPr lang="pt-BR" sz="1400" dirty="0"/>
              <a:t>[SPIFFS] reset    : --</a:t>
            </a:r>
            <a:r>
              <a:rPr lang="pt-BR" sz="1400" dirty="0" err="1"/>
              <a:t>before</a:t>
            </a:r>
            <a:r>
              <a:rPr lang="pt-BR" sz="1400" dirty="0"/>
              <a:t> </a:t>
            </a:r>
            <a:r>
              <a:rPr lang="pt-BR" sz="1400" dirty="0" err="1"/>
              <a:t>default_reset</a:t>
            </a:r>
            <a:r>
              <a:rPr lang="pt-BR" sz="1400" dirty="0"/>
              <a:t> --</a:t>
            </a:r>
            <a:r>
              <a:rPr lang="pt-BR" sz="1400" dirty="0" err="1"/>
              <a:t>after</a:t>
            </a:r>
            <a:r>
              <a:rPr lang="pt-BR" sz="1400" dirty="0"/>
              <a:t> </a:t>
            </a:r>
            <a:r>
              <a:rPr lang="pt-BR" sz="1400" dirty="0" err="1"/>
              <a:t>hard_reset</a:t>
            </a:r>
            <a:endParaRPr lang="pt-BR" sz="1400" dirty="0"/>
          </a:p>
          <a:p>
            <a:r>
              <a:rPr lang="pt-BR" sz="1400" dirty="0"/>
              <a:t>[SPIFFS] </a:t>
            </a:r>
            <a:r>
              <a:rPr lang="pt-BR" sz="1400" dirty="0" err="1"/>
              <a:t>port</a:t>
            </a:r>
            <a:r>
              <a:rPr lang="pt-BR" sz="1400" dirty="0"/>
              <a:t>     : COM5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speed</a:t>
            </a:r>
            <a:r>
              <a:rPr lang="pt-BR" sz="1400" dirty="0"/>
              <a:t>    : 115200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python</a:t>
            </a:r>
            <a:r>
              <a:rPr lang="pt-BR" sz="1400" dirty="0"/>
              <a:t>   : C:\Users\Anderson\AppData\Local\Arduino15\packages\esp8266\tools\python3\3.7.2-post1\python3.exe</a:t>
            </a:r>
          </a:p>
          <a:p>
            <a:r>
              <a:rPr lang="pt-BR" sz="1400" dirty="0"/>
              <a:t>[SPIFFS] </a:t>
            </a:r>
            <a:r>
              <a:rPr lang="pt-BR" sz="1400" dirty="0" err="1"/>
              <a:t>uploader</a:t>
            </a:r>
            <a:r>
              <a:rPr lang="pt-BR" sz="1400" dirty="0"/>
              <a:t> : C:\Users\Anderson\AppData\Local\Arduino15\packages\esp8266\hardware\esp8266\3.0.0\tools\upload.py</a:t>
            </a:r>
          </a:p>
          <a:p>
            <a:endParaRPr lang="pt-BR" sz="1400" dirty="0"/>
          </a:p>
          <a:p>
            <a:r>
              <a:rPr lang="pt-BR" sz="1400" dirty="0"/>
              <a:t>esptool.py v3.0</a:t>
            </a:r>
          </a:p>
          <a:p>
            <a:r>
              <a:rPr lang="pt-BR" sz="1400" dirty="0"/>
              <a:t>Serial </a:t>
            </a:r>
            <a:r>
              <a:rPr lang="pt-BR" sz="1400" dirty="0" err="1"/>
              <a:t>port</a:t>
            </a:r>
            <a:r>
              <a:rPr lang="pt-BR" sz="1400" dirty="0"/>
              <a:t> COM5</a:t>
            </a:r>
          </a:p>
          <a:p>
            <a:r>
              <a:rPr lang="pt-BR" sz="1400" dirty="0" err="1"/>
              <a:t>Connecting</a:t>
            </a:r>
            <a:r>
              <a:rPr lang="pt-BR" sz="1400" dirty="0"/>
              <a:t>....</a:t>
            </a:r>
          </a:p>
          <a:p>
            <a:r>
              <a:rPr lang="pt-BR" sz="1400" dirty="0"/>
              <a:t>Chip </a:t>
            </a:r>
            <a:r>
              <a:rPr lang="pt-BR" sz="1400" dirty="0" err="1"/>
              <a:t>is</a:t>
            </a:r>
            <a:r>
              <a:rPr lang="pt-BR" sz="1400" dirty="0"/>
              <a:t> ESP8266EX</a:t>
            </a:r>
          </a:p>
          <a:p>
            <a:r>
              <a:rPr lang="pt-BR" sz="1400" dirty="0" err="1"/>
              <a:t>Features</a:t>
            </a:r>
            <a:r>
              <a:rPr lang="pt-BR" sz="1400" dirty="0"/>
              <a:t>: WiFi</a:t>
            </a:r>
          </a:p>
          <a:p>
            <a:r>
              <a:rPr lang="pt-BR" sz="1400" dirty="0"/>
              <a:t>Crystal </a:t>
            </a:r>
            <a:r>
              <a:rPr lang="pt-BR" sz="1400" dirty="0" err="1"/>
              <a:t>is</a:t>
            </a:r>
            <a:r>
              <a:rPr lang="pt-BR" sz="1400" dirty="0"/>
              <a:t> 26MHz</a:t>
            </a:r>
          </a:p>
          <a:p>
            <a:r>
              <a:rPr lang="pt-BR" sz="1400" dirty="0"/>
              <a:t>MAC: 80:7d:3a:3e:ae:58</a:t>
            </a:r>
          </a:p>
          <a:p>
            <a:r>
              <a:rPr lang="pt-BR" sz="1400" dirty="0" err="1"/>
              <a:t>Uploading</a:t>
            </a:r>
            <a:r>
              <a:rPr lang="pt-BR" sz="1400" dirty="0"/>
              <a:t> </a:t>
            </a:r>
            <a:r>
              <a:rPr lang="pt-BR" sz="1400" dirty="0" err="1"/>
              <a:t>stub</a:t>
            </a:r>
            <a:r>
              <a:rPr lang="pt-BR" sz="1400" dirty="0"/>
              <a:t>...</a:t>
            </a:r>
          </a:p>
          <a:p>
            <a:r>
              <a:rPr lang="pt-BR" sz="1400" dirty="0" err="1"/>
              <a:t>Running</a:t>
            </a:r>
            <a:r>
              <a:rPr lang="pt-BR" sz="1400" dirty="0"/>
              <a:t> </a:t>
            </a:r>
            <a:r>
              <a:rPr lang="pt-BR" sz="1400" dirty="0" err="1"/>
              <a:t>stub</a:t>
            </a:r>
            <a:r>
              <a:rPr lang="pt-BR" sz="1400" dirty="0"/>
              <a:t>...</a:t>
            </a:r>
          </a:p>
          <a:p>
            <a:r>
              <a:rPr lang="pt-BR" sz="1400" dirty="0" err="1"/>
              <a:t>Stub</a:t>
            </a:r>
            <a:r>
              <a:rPr lang="pt-BR" sz="1400" dirty="0"/>
              <a:t> </a:t>
            </a:r>
            <a:r>
              <a:rPr lang="pt-BR" sz="1400" dirty="0" err="1"/>
              <a:t>running</a:t>
            </a:r>
            <a:r>
              <a:rPr lang="pt-BR" sz="1400" dirty="0"/>
              <a:t>...</a:t>
            </a:r>
          </a:p>
          <a:p>
            <a:r>
              <a:rPr lang="pt-BR" sz="1400" dirty="0" err="1"/>
              <a:t>Configuring</a:t>
            </a:r>
            <a:r>
              <a:rPr lang="pt-BR" sz="1400" dirty="0"/>
              <a:t> flash </a:t>
            </a:r>
            <a:r>
              <a:rPr lang="pt-BR" sz="1400" dirty="0" err="1"/>
              <a:t>size</a:t>
            </a:r>
            <a:r>
              <a:rPr lang="pt-BR" sz="1400" dirty="0"/>
              <a:t>...</a:t>
            </a:r>
          </a:p>
          <a:p>
            <a:r>
              <a:rPr lang="pt-BR" sz="1400" dirty="0" err="1"/>
              <a:t>Auto-detected</a:t>
            </a:r>
            <a:r>
              <a:rPr lang="pt-BR" sz="1400" dirty="0"/>
              <a:t> Flash </a:t>
            </a:r>
            <a:r>
              <a:rPr lang="pt-BR" sz="1400" dirty="0" err="1"/>
              <a:t>size</a:t>
            </a:r>
            <a:r>
              <a:rPr lang="pt-BR" sz="1400" dirty="0"/>
              <a:t>: 4MB</a:t>
            </a:r>
          </a:p>
          <a:p>
            <a:r>
              <a:rPr lang="pt-BR" sz="1400" dirty="0" err="1"/>
              <a:t>Compressed</a:t>
            </a:r>
            <a:r>
              <a:rPr lang="pt-BR" sz="1400" dirty="0"/>
              <a:t> 2072576 bytes </a:t>
            </a:r>
            <a:r>
              <a:rPr lang="pt-BR" sz="1400" dirty="0" err="1"/>
              <a:t>to</a:t>
            </a:r>
            <a:r>
              <a:rPr lang="pt-BR" sz="1400" dirty="0"/>
              <a:t> 2696...</a:t>
            </a:r>
          </a:p>
          <a:p>
            <a:r>
              <a:rPr lang="pt-BR" sz="1400" b="1" dirty="0" err="1">
                <a:solidFill>
                  <a:srgbClr val="FF0000"/>
                </a:solidFill>
              </a:rPr>
              <a:t>Writing</a:t>
            </a:r>
            <a:r>
              <a:rPr lang="pt-BR" sz="1400" b="1" dirty="0">
                <a:solidFill>
                  <a:srgbClr val="FF0000"/>
                </a:solidFill>
              </a:rPr>
              <a:t> </a:t>
            </a:r>
            <a:r>
              <a:rPr lang="pt-BR" sz="1400" b="1" dirty="0" err="1">
                <a:solidFill>
                  <a:srgbClr val="FF0000"/>
                </a:solidFill>
              </a:rPr>
              <a:t>at</a:t>
            </a:r>
            <a:r>
              <a:rPr lang="pt-BR" sz="1400" b="1" dirty="0">
                <a:solidFill>
                  <a:srgbClr val="FF0000"/>
                </a:solidFill>
              </a:rPr>
              <a:t> 0x00200000... (100 %)</a:t>
            </a:r>
          </a:p>
          <a:p>
            <a:r>
              <a:rPr lang="pt-BR" sz="1400" b="1" dirty="0" err="1">
                <a:solidFill>
                  <a:srgbClr val="FF0000"/>
                </a:solidFill>
              </a:rPr>
              <a:t>Wrote</a:t>
            </a:r>
            <a:r>
              <a:rPr lang="pt-BR" sz="1400" b="1" dirty="0">
                <a:solidFill>
                  <a:srgbClr val="FF0000"/>
                </a:solidFill>
              </a:rPr>
              <a:t> 2072576 bytes (2696 </a:t>
            </a:r>
            <a:r>
              <a:rPr lang="pt-BR" sz="1400" b="1" dirty="0" err="1">
                <a:solidFill>
                  <a:srgbClr val="FF0000"/>
                </a:solidFill>
              </a:rPr>
              <a:t>compressed</a:t>
            </a:r>
            <a:r>
              <a:rPr lang="pt-BR" sz="1400" b="1" dirty="0">
                <a:solidFill>
                  <a:srgbClr val="FF0000"/>
                </a:solidFill>
              </a:rPr>
              <a:t>) </a:t>
            </a:r>
            <a:r>
              <a:rPr lang="pt-BR" sz="1400" b="1" dirty="0" err="1">
                <a:solidFill>
                  <a:srgbClr val="FF0000"/>
                </a:solidFill>
              </a:rPr>
              <a:t>at</a:t>
            </a:r>
            <a:r>
              <a:rPr lang="pt-BR" sz="1400" b="1" dirty="0">
                <a:solidFill>
                  <a:srgbClr val="FF0000"/>
                </a:solidFill>
              </a:rPr>
              <a:t> 0x00200000 in 0.2 </a:t>
            </a:r>
            <a:r>
              <a:rPr lang="pt-BR" sz="1400" b="1" dirty="0" err="1">
                <a:solidFill>
                  <a:srgbClr val="FF0000"/>
                </a:solidFill>
              </a:rPr>
              <a:t>seconds</a:t>
            </a:r>
            <a:r>
              <a:rPr lang="pt-BR" sz="1400" b="1" dirty="0">
                <a:solidFill>
                  <a:srgbClr val="FF0000"/>
                </a:solidFill>
              </a:rPr>
              <a:t> (</a:t>
            </a:r>
            <a:r>
              <a:rPr lang="pt-BR" sz="1400" b="1" dirty="0" err="1">
                <a:solidFill>
                  <a:srgbClr val="FF0000"/>
                </a:solidFill>
              </a:rPr>
              <a:t>effective</a:t>
            </a:r>
            <a:r>
              <a:rPr lang="pt-BR" sz="1400" b="1" dirty="0">
                <a:solidFill>
                  <a:srgbClr val="FF0000"/>
                </a:solidFill>
              </a:rPr>
              <a:t> 68653.1 </a:t>
            </a:r>
            <a:r>
              <a:rPr lang="pt-BR" sz="1400" b="1" dirty="0" err="1">
                <a:solidFill>
                  <a:srgbClr val="FF0000"/>
                </a:solidFill>
              </a:rPr>
              <a:t>kbit</a:t>
            </a:r>
            <a:r>
              <a:rPr lang="pt-BR" sz="1400" b="1" dirty="0">
                <a:solidFill>
                  <a:srgbClr val="FF0000"/>
                </a:solidFill>
              </a:rPr>
              <a:t>/s)...</a:t>
            </a:r>
          </a:p>
          <a:p>
            <a:r>
              <a:rPr lang="pt-BR" sz="1400" dirty="0" err="1"/>
              <a:t>Hash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data </a:t>
            </a:r>
            <a:r>
              <a:rPr lang="pt-BR" sz="1400" dirty="0" err="1"/>
              <a:t>verified</a:t>
            </a:r>
            <a:r>
              <a:rPr lang="pt-BR" sz="1400" dirty="0"/>
              <a:t>.</a:t>
            </a:r>
          </a:p>
          <a:p>
            <a:endParaRPr lang="pt-BR" sz="1400" dirty="0"/>
          </a:p>
          <a:p>
            <a:r>
              <a:rPr lang="pt-BR" sz="1400" dirty="0" err="1"/>
              <a:t>Leaving</a:t>
            </a:r>
            <a:r>
              <a:rPr lang="pt-BR" sz="1400" dirty="0"/>
              <a:t>...</a:t>
            </a:r>
          </a:p>
          <a:p>
            <a:r>
              <a:rPr lang="pt-BR" sz="1400" dirty="0"/>
              <a:t>Hard </a:t>
            </a:r>
            <a:r>
              <a:rPr lang="pt-BR" sz="1400" dirty="0" err="1"/>
              <a:t>resetting</a:t>
            </a:r>
            <a:r>
              <a:rPr lang="pt-BR" sz="1400" dirty="0"/>
              <a:t> via RTS pin...</a:t>
            </a:r>
          </a:p>
        </p:txBody>
      </p:sp>
      <p:sp>
        <p:nvSpPr>
          <p:cNvPr id="6" name="Texto Explicativo em Nuvem 5"/>
          <p:cNvSpPr/>
          <p:nvPr/>
        </p:nvSpPr>
        <p:spPr>
          <a:xfrm>
            <a:off x="4796852" y="2878112"/>
            <a:ext cx="6160958" cy="2593298"/>
          </a:xfrm>
          <a:prstGeom prst="cloudCallout">
            <a:avLst>
              <a:gd name="adj1" fmla="val -60146"/>
              <a:gd name="adj2" fmla="val -480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pt-BR" sz="2000" b="1" dirty="0">
                <a:solidFill>
                  <a:srgbClr val="FFFF00"/>
                </a:solidFill>
              </a:rPr>
              <a:t>Após selecionar o comando </a:t>
            </a:r>
            <a:r>
              <a:rPr lang="pt-BR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ESP8266 Sketch Data Upload</a:t>
            </a:r>
            <a:endParaRPr lang="pt-BR" sz="2000" b="1" dirty="0">
              <a:solidFill>
                <a:srgbClr val="FFFF00"/>
              </a:solidFill>
            </a:endParaRPr>
          </a:p>
          <a:p>
            <a:pPr marL="0" lvl="1" algn="ctr"/>
            <a:r>
              <a:rPr lang="pt-BR" sz="2000" b="1" dirty="0">
                <a:solidFill>
                  <a:srgbClr val="FFFF00"/>
                </a:solidFill>
              </a:rPr>
              <a:t>ou </a:t>
            </a:r>
            <a:r>
              <a:rPr lang="pt-BR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ESP32 Sketch Data Upload...estas são as informações que aparecem no console da IDE do </a:t>
            </a:r>
            <a:r>
              <a:rPr lang="pt-BR" sz="2000" b="1" dirty="0" err="1">
                <a:solidFill>
                  <a:srgbClr val="FFFF00"/>
                </a:solidFill>
                <a:sym typeface="Wingdings" panose="05000000000000000000" pitchFamily="2" charset="2"/>
              </a:rPr>
              <a:t>Arduino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529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86561-3586-0865-086E-D55AFFAC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490422"/>
            <a:ext cx="9879437" cy="980844"/>
          </a:xfrm>
        </p:spPr>
        <p:txBody>
          <a:bodyPr>
            <a:normAutofit fontScale="90000"/>
          </a:bodyPr>
          <a:lstStyle/>
          <a:p>
            <a:r>
              <a:rPr lang="pt-BR" dirty="0"/>
              <a:t>Adicionar novas bibliotecas</a:t>
            </a:r>
            <a:br>
              <a:rPr lang="pt-BR" dirty="0"/>
            </a:br>
            <a:r>
              <a:rPr lang="pt-BR" dirty="0"/>
              <a:t>- </a:t>
            </a:r>
            <a:r>
              <a:rPr lang="pt-BR" i="1" dirty="0" err="1"/>
              <a:t>ESPAsyncWebServer.h</a:t>
            </a:r>
            <a:endParaRPr lang="pt-BR" i="1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C384B5-43FC-1998-7D76-6ADD51F88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27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32364F-13A9-3149-4486-B2C969D46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0" y="1961467"/>
            <a:ext cx="6592220" cy="489653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10D71F3-1E0F-7CC4-8229-79EFF65397C3}"/>
              </a:ext>
            </a:extLst>
          </p:cNvPr>
          <p:cNvSpPr/>
          <p:nvPr/>
        </p:nvSpPr>
        <p:spPr>
          <a:xfrm>
            <a:off x="4537710" y="5777401"/>
            <a:ext cx="712716" cy="9601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7E55620-1A48-A886-DA30-461ABB227837}"/>
              </a:ext>
            </a:extLst>
          </p:cNvPr>
          <p:cNvSpPr/>
          <p:nvPr/>
        </p:nvSpPr>
        <p:spPr>
          <a:xfrm>
            <a:off x="1052175" y="5777401"/>
            <a:ext cx="452160" cy="60099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6770A8-7A20-8F71-9C27-9A4AF1AEC516}"/>
              </a:ext>
            </a:extLst>
          </p:cNvPr>
          <p:cNvSpPr/>
          <p:nvPr/>
        </p:nvSpPr>
        <p:spPr>
          <a:xfrm>
            <a:off x="4537709" y="2380356"/>
            <a:ext cx="1459967" cy="39943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9AEF1B9-B235-FF60-5D17-377207163F08}"/>
              </a:ext>
            </a:extLst>
          </p:cNvPr>
          <p:cNvSpPr txBox="1">
            <a:spLocks/>
          </p:cNvSpPr>
          <p:nvPr/>
        </p:nvSpPr>
        <p:spPr>
          <a:xfrm>
            <a:off x="7685062" y="1961467"/>
            <a:ext cx="4257998" cy="2252607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BR" sz="2000" dirty="0"/>
          </a:p>
          <a:p>
            <a:pPr algn="ctr"/>
            <a:endParaRPr lang="pt-BR" sz="2000" dirty="0"/>
          </a:p>
          <a:p>
            <a:pPr algn="ctr"/>
            <a:r>
              <a:rPr lang="pt-BR" sz="2000" dirty="0"/>
              <a:t>Observação:</a:t>
            </a:r>
          </a:p>
          <a:p>
            <a:pPr algn="ctr"/>
            <a:endParaRPr lang="pt-BR" sz="2000" dirty="0"/>
          </a:p>
          <a:p>
            <a:pPr algn="ctr"/>
            <a:r>
              <a:rPr lang="pt-BR" sz="2000" dirty="0"/>
              <a:t>C</a:t>
            </a:r>
            <a:r>
              <a:rPr lang="pt-BR" sz="2000" cap="none" dirty="0"/>
              <a:t>aso a aba PIO Home tenha sido fechada, para abri-la novamente, basta clicar F1 e digitar home e selecione </a:t>
            </a:r>
            <a:r>
              <a:rPr lang="pt-BR" sz="2000" cap="none" dirty="0" err="1"/>
              <a:t>PlatformIO</a:t>
            </a:r>
            <a:r>
              <a:rPr lang="pt-BR" sz="2000" cap="none" dirty="0"/>
              <a:t>: </a:t>
            </a:r>
            <a:r>
              <a:rPr lang="pt-BR" sz="2000" cap="none" dirty="0" err="1"/>
              <a:t>PlatformIO</a:t>
            </a:r>
            <a:r>
              <a:rPr lang="pt-BR" sz="2000" cap="none" dirty="0"/>
              <a:t> Home</a:t>
            </a:r>
            <a:endParaRPr lang="pt-BR" sz="20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BD99F4D-81D0-B096-FA3C-17232E1C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085" y="4409733"/>
            <a:ext cx="3419952" cy="106694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736758-4637-5C09-5DA2-DB95DE4BDAF7}"/>
              </a:ext>
            </a:extLst>
          </p:cNvPr>
          <p:cNvSpPr txBox="1"/>
          <p:nvPr/>
        </p:nvSpPr>
        <p:spPr>
          <a:xfrm>
            <a:off x="462617" y="5816289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1º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4EF5B12-1121-D631-A692-3F598FB0CA39}"/>
              </a:ext>
            </a:extLst>
          </p:cNvPr>
          <p:cNvSpPr txBox="1"/>
          <p:nvPr/>
        </p:nvSpPr>
        <p:spPr>
          <a:xfrm>
            <a:off x="5266577" y="5968689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2º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473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CC24D-E0F3-323C-FE6C-EF4E86B2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Escreva no nome da biblioteca e procure.....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0EA508-0C15-DF73-1857-4C872CEED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28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B803E-B48C-49AE-D61F-42B0F26C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1591"/>
            <a:ext cx="12192000" cy="385270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5B261C1-E17D-8072-F2C1-39034077BC00}"/>
              </a:ext>
            </a:extLst>
          </p:cNvPr>
          <p:cNvSpPr/>
          <p:nvPr/>
        </p:nvSpPr>
        <p:spPr>
          <a:xfrm>
            <a:off x="784122" y="4383097"/>
            <a:ext cx="2096730" cy="493703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DB1D381-6F29-5018-C7D9-2248E7974995}"/>
              </a:ext>
            </a:extLst>
          </p:cNvPr>
          <p:cNvCxnSpPr>
            <a:cxnSpLocks/>
          </p:cNvCxnSpPr>
          <p:nvPr/>
        </p:nvCxnSpPr>
        <p:spPr>
          <a:xfrm>
            <a:off x="2930014" y="4640827"/>
            <a:ext cx="8780207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14746E3-614C-DC27-BE2D-800021D61BF6}"/>
              </a:ext>
            </a:extLst>
          </p:cNvPr>
          <p:cNvCxnSpPr/>
          <p:nvPr/>
        </p:nvCxnSpPr>
        <p:spPr>
          <a:xfrm>
            <a:off x="12890090" y="464082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902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9CB74-85F7-5C3A-F80D-0CFEF233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dirty="0"/>
              <a:t>Neste caso, a biblioteca que funciona é a </a:t>
            </a:r>
            <a:r>
              <a:rPr lang="pt-BR" dirty="0" err="1"/>
              <a:t>esp</a:t>
            </a:r>
            <a:r>
              <a:rPr lang="pt-BR" dirty="0"/>
              <a:t> </a:t>
            </a:r>
            <a:r>
              <a:rPr lang="pt-BR" dirty="0" err="1"/>
              <a:t>async</a:t>
            </a:r>
            <a:r>
              <a:rPr lang="pt-BR" dirty="0"/>
              <a:t> </a:t>
            </a:r>
            <a:r>
              <a:rPr lang="pt-BR" dirty="0" err="1"/>
              <a:t>webserver</a:t>
            </a:r>
            <a:r>
              <a:rPr lang="pt-BR" dirty="0"/>
              <a:t> (palavras separadas)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623C43-7CAF-2010-6891-C18F26D81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29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64C285-77CB-D2A6-EE62-5F58D48B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79" y="2230582"/>
            <a:ext cx="9459645" cy="430590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3D53B0F-5D29-2259-377F-AA34BAFCBCE0}"/>
              </a:ext>
            </a:extLst>
          </p:cNvPr>
          <p:cNvSpPr/>
          <p:nvPr/>
        </p:nvSpPr>
        <p:spPr>
          <a:xfrm>
            <a:off x="2583424" y="3182148"/>
            <a:ext cx="6019801" cy="201911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A4F32B50-38FC-19D0-FF01-ECD28555D740}"/>
              </a:ext>
            </a:extLst>
          </p:cNvPr>
          <p:cNvSpPr/>
          <p:nvPr/>
        </p:nvSpPr>
        <p:spPr>
          <a:xfrm rot="19685827">
            <a:off x="3527548" y="3555017"/>
            <a:ext cx="727587" cy="87704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352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F55E60-6245-134B-9536-AF7AEABC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585" y="438266"/>
            <a:ext cx="9879437" cy="980844"/>
          </a:xfrm>
        </p:spPr>
        <p:txBody>
          <a:bodyPr/>
          <a:lstStyle/>
          <a:p>
            <a:pPr algn="ctr"/>
            <a:r>
              <a:rPr lang="pt-BR" dirty="0"/>
              <a:t>Adicione a biblioteca ao projeto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88DCD4-DBBF-FBA1-01B5-E055F6D15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30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2342E2-9A60-573E-B501-345C48033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46" y="1850735"/>
            <a:ext cx="7821116" cy="488700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A0135C0-7EC8-4E44-662F-AE83170CC39F}"/>
              </a:ext>
            </a:extLst>
          </p:cNvPr>
          <p:cNvSpPr/>
          <p:nvPr/>
        </p:nvSpPr>
        <p:spPr>
          <a:xfrm>
            <a:off x="5673214" y="5024284"/>
            <a:ext cx="1828799" cy="53094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AE8D53CD-2F24-57C2-1BCC-5DE8E2CCD213}"/>
              </a:ext>
            </a:extLst>
          </p:cNvPr>
          <p:cNvSpPr/>
          <p:nvPr/>
        </p:nvSpPr>
        <p:spPr>
          <a:xfrm rot="19685827">
            <a:off x="7210843" y="5255063"/>
            <a:ext cx="727587" cy="87704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112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F416D-6F78-64FC-8DE6-A70573F7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25940"/>
            <a:ext cx="9879437" cy="980844"/>
          </a:xfrm>
        </p:spPr>
        <p:txBody>
          <a:bodyPr>
            <a:normAutofit fontScale="90000"/>
          </a:bodyPr>
          <a:lstStyle/>
          <a:p>
            <a:r>
              <a:rPr lang="pt-BR" dirty="0"/>
              <a:t>A biblioteca se aplica ao projeto e não a plataforma....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D70EE0-D480-7B03-3C19-29B75C78A4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31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56CDE4-E3DA-4C9D-1886-E2FA9FA9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1155302"/>
            <a:ext cx="6164828" cy="3784611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AF2EF698-3156-E8C2-F4A4-DABAFCF788DD}"/>
              </a:ext>
            </a:extLst>
          </p:cNvPr>
          <p:cNvSpPr/>
          <p:nvPr/>
        </p:nvSpPr>
        <p:spPr>
          <a:xfrm>
            <a:off x="525693" y="2345712"/>
            <a:ext cx="5434615" cy="45648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Cima 11">
            <a:extLst>
              <a:ext uri="{FF2B5EF4-FFF2-40B4-BE49-F238E27FC236}">
                <a16:creationId xmlns:a16="http://schemas.microsoft.com/office/drawing/2014/main" id="{50FA3D8D-B2C7-82E2-40A0-9D2560769B04}"/>
              </a:ext>
            </a:extLst>
          </p:cNvPr>
          <p:cNvSpPr/>
          <p:nvPr/>
        </p:nvSpPr>
        <p:spPr>
          <a:xfrm rot="13585258">
            <a:off x="5700789" y="1921717"/>
            <a:ext cx="620120" cy="72041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1E17F5C-052B-D2E4-8EDC-D638F17AB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148" y="2802196"/>
            <a:ext cx="5734662" cy="2567958"/>
          </a:xfrm>
          <a:prstGeom prst="rect">
            <a:avLst/>
          </a:prstGeom>
        </p:spPr>
      </p:pic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F3523F9-091B-BEC4-3E58-CD8F86C3759B}"/>
              </a:ext>
            </a:extLst>
          </p:cNvPr>
          <p:cNvCxnSpPr>
            <a:cxnSpLocks/>
          </p:cNvCxnSpPr>
          <p:nvPr/>
        </p:nvCxnSpPr>
        <p:spPr>
          <a:xfrm>
            <a:off x="5742854" y="2620302"/>
            <a:ext cx="923748" cy="1869809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F3AACB54-3353-A7B2-1DBC-E33AC81F9306}"/>
              </a:ext>
            </a:extLst>
          </p:cNvPr>
          <p:cNvSpPr txBox="1">
            <a:spLocks/>
          </p:cNvSpPr>
          <p:nvPr/>
        </p:nvSpPr>
        <p:spPr>
          <a:xfrm>
            <a:off x="147483" y="5751216"/>
            <a:ext cx="5221326" cy="98084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2400" cap="none" dirty="0"/>
              <a:t>Selecione o projeto o qual quer adicionar a dependência da biblioteca </a:t>
            </a:r>
            <a:r>
              <a:rPr lang="pt-BR" sz="2400" cap="none" dirty="0">
                <a:sym typeface="Wingdings" panose="05000000000000000000" pitchFamily="2" charset="2"/>
              </a:rPr>
              <a:t> depois clique em ADD</a:t>
            </a:r>
            <a:endParaRPr lang="pt-BR" sz="2400" cap="none" dirty="0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7231D62-5B78-9060-C70B-C05375902499}"/>
              </a:ext>
            </a:extLst>
          </p:cNvPr>
          <p:cNvCxnSpPr>
            <a:cxnSpLocks/>
          </p:cNvCxnSpPr>
          <p:nvPr/>
        </p:nvCxnSpPr>
        <p:spPr>
          <a:xfrm flipV="1">
            <a:off x="5368809" y="4659652"/>
            <a:ext cx="374045" cy="1902867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956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B9B01-3B11-573D-D27C-D75D0045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90" y="919069"/>
            <a:ext cx="9426210" cy="55039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200" dirty="0"/>
              <a:t>Note que no arquivo platformio.ini consta tudo que é acrescentado no projeto.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AA77ED-66CC-6075-7E8B-562D3A62D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32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99A05A-978C-93D8-E7D0-6611E0360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448" y="1543665"/>
            <a:ext cx="8333104" cy="511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2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0C4CC-874D-BDE8-B9A2-6E2C0C0F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120504"/>
            <a:ext cx="9879437" cy="601935"/>
          </a:xfrm>
        </p:spPr>
        <p:txBody>
          <a:bodyPr/>
          <a:lstStyle/>
          <a:p>
            <a:pPr algn="ctr"/>
            <a:r>
              <a:rPr lang="pt-BR" dirty="0"/>
              <a:t>Como compilar o projeto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155ADF-0643-07B0-A541-EFD6DB50A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9121B4B-DE35-6580-1503-E45131C1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89" y="1124025"/>
            <a:ext cx="4039164" cy="555385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54C3AE9-66B8-5D07-E841-7DAD0568BB32}"/>
              </a:ext>
            </a:extLst>
          </p:cNvPr>
          <p:cNvSpPr txBox="1">
            <a:spLocks/>
          </p:cNvSpPr>
          <p:nvPr/>
        </p:nvSpPr>
        <p:spPr>
          <a:xfrm>
            <a:off x="6451520" y="4263300"/>
            <a:ext cx="4440711" cy="98084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cap="none" dirty="0"/>
              <a:t>Se você deseja apenas compilar e programar o microcontrolador, clique em (1) e depois em (2). Lembre-se de ter a placa conectada no computador.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37993C-0876-A497-DD9E-3FB88A7EA6EE}"/>
              </a:ext>
            </a:extLst>
          </p:cNvPr>
          <p:cNvSpPr/>
          <p:nvPr/>
        </p:nvSpPr>
        <p:spPr>
          <a:xfrm>
            <a:off x="1546590" y="5000422"/>
            <a:ext cx="537850" cy="55480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62DFAB-2403-644F-E8E8-5BC79DA39A0C}"/>
              </a:ext>
            </a:extLst>
          </p:cNvPr>
          <p:cNvSpPr/>
          <p:nvPr/>
        </p:nvSpPr>
        <p:spPr>
          <a:xfrm>
            <a:off x="2236839" y="3212831"/>
            <a:ext cx="2010695" cy="32678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383521-02CB-F316-2DB1-70409E9C965B}"/>
              </a:ext>
            </a:extLst>
          </p:cNvPr>
          <p:cNvSpPr txBox="1"/>
          <p:nvPr/>
        </p:nvSpPr>
        <p:spPr>
          <a:xfrm>
            <a:off x="971090" y="5005846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1º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E73C16-203E-4699-D554-67173FAB5FF0}"/>
              </a:ext>
            </a:extLst>
          </p:cNvPr>
          <p:cNvSpPr txBox="1"/>
          <p:nvPr/>
        </p:nvSpPr>
        <p:spPr>
          <a:xfrm>
            <a:off x="4408170" y="3114612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2º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5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0B2A4-4606-2757-1309-75BECDBB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331354"/>
            <a:ext cx="9879437" cy="980844"/>
          </a:xfrm>
        </p:spPr>
        <p:txBody>
          <a:bodyPr/>
          <a:lstStyle/>
          <a:p>
            <a:pPr algn="ctr"/>
            <a:r>
              <a:rPr lang="pt-BR" dirty="0"/>
              <a:t>Baixar arquivos da pasta data para o esp32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55011E-1B4F-A011-3D86-20E884B79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34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E221D7A-FCB4-3C09-CE76-6928AAA0C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967" y="1312198"/>
            <a:ext cx="5000442" cy="551307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4918E16-6016-2B21-125A-14074220B8BA}"/>
              </a:ext>
            </a:extLst>
          </p:cNvPr>
          <p:cNvSpPr txBox="1">
            <a:spLocks/>
          </p:cNvSpPr>
          <p:nvPr/>
        </p:nvSpPr>
        <p:spPr>
          <a:xfrm>
            <a:off x="7110285" y="4064839"/>
            <a:ext cx="4440711" cy="98084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cap="none" dirty="0"/>
              <a:t>Se você deseja baixar os arquivos da pasta data para a memória Flash do ESP32, clique em (1), depois em (2) e depois em (3). Lembre-se de ter a placa conectada no computador.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4BC3AC7-A7A6-F9F8-7610-0F9E53F66EBF}"/>
              </a:ext>
            </a:extLst>
          </p:cNvPr>
          <p:cNvSpPr/>
          <p:nvPr/>
        </p:nvSpPr>
        <p:spPr>
          <a:xfrm>
            <a:off x="1428606" y="4931598"/>
            <a:ext cx="537850" cy="55480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431650D-DD28-DD49-3500-D8EA3D38F0FE}"/>
              </a:ext>
            </a:extLst>
          </p:cNvPr>
          <p:cNvSpPr/>
          <p:nvPr/>
        </p:nvSpPr>
        <p:spPr>
          <a:xfrm>
            <a:off x="2169737" y="5011929"/>
            <a:ext cx="2010695" cy="32678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CD48AC-00D5-29BC-5575-B2138D0C5113}"/>
              </a:ext>
            </a:extLst>
          </p:cNvPr>
          <p:cNvSpPr txBox="1"/>
          <p:nvPr/>
        </p:nvSpPr>
        <p:spPr>
          <a:xfrm>
            <a:off x="853106" y="4937022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1º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F5B28E7-C6B4-E3D0-A056-44069099B910}"/>
              </a:ext>
            </a:extLst>
          </p:cNvPr>
          <p:cNvSpPr txBox="1"/>
          <p:nvPr/>
        </p:nvSpPr>
        <p:spPr>
          <a:xfrm>
            <a:off x="4180432" y="4917256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2º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F28D11E-4392-A896-2562-48F9A24466FD}"/>
              </a:ext>
            </a:extLst>
          </p:cNvPr>
          <p:cNvSpPr/>
          <p:nvPr/>
        </p:nvSpPr>
        <p:spPr>
          <a:xfrm>
            <a:off x="2169737" y="5545802"/>
            <a:ext cx="2010695" cy="32678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1716E5-0DB5-649F-0B19-D4D4D606525D}"/>
              </a:ext>
            </a:extLst>
          </p:cNvPr>
          <p:cNvSpPr txBox="1"/>
          <p:nvPr/>
        </p:nvSpPr>
        <p:spPr>
          <a:xfrm>
            <a:off x="4212820" y="5440476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3º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9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A3973-09C1-ECFD-F99C-F09DDDDE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936" y="100264"/>
            <a:ext cx="9601200" cy="1485900"/>
          </a:xfrm>
        </p:spPr>
        <p:txBody>
          <a:bodyPr/>
          <a:lstStyle/>
          <a:p>
            <a:pPr algn="ctr"/>
            <a:r>
              <a:rPr lang="pt-BR" dirty="0"/>
              <a:t>Diferenças entre </a:t>
            </a:r>
            <a:r>
              <a:rPr lang="pt-BR" dirty="0" err="1"/>
              <a:t>libs</a:t>
            </a:r>
            <a:r>
              <a:rPr lang="pt-BR" dirty="0"/>
              <a:t>: </a:t>
            </a:r>
            <a:br>
              <a:rPr lang="pt-BR" dirty="0"/>
            </a:br>
            <a:r>
              <a:rPr lang="pt-BR" b="1" dirty="0" err="1"/>
              <a:t>WebServer</a:t>
            </a:r>
            <a:r>
              <a:rPr lang="pt-BR" b="1" dirty="0"/>
              <a:t> x </a:t>
            </a:r>
            <a:r>
              <a:rPr lang="pt-BR" b="1" dirty="0" err="1"/>
              <a:t>AsyncWebServer</a:t>
            </a: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54E24D-8B4F-ADE4-FBBC-3BC3B84B9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11" y="1403451"/>
            <a:ext cx="11282189" cy="375007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FBC8724-E832-7670-224C-168F61855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11" y="5362454"/>
            <a:ext cx="110255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WebServer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 significa que a cada iteração do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loop()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 ESP32 verifica se chegou uma nova requisição HTTP e a processa.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você não colocar o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server.handleClient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ele não responde às requisições.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CD382A-8FD0-517D-61FE-1671C78B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10" y="6156156"/>
            <a:ext cx="110255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AsyncWebServer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é 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 assíncrono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fornecido pela biblioteca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ESPAsyncWebServer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usa recursos internos do ESP32 para tratar conexões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paralelo e em segundo plano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(eventos), sem depender do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loop()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57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149" y="254726"/>
            <a:ext cx="10868297" cy="1485900"/>
          </a:xfrm>
        </p:spPr>
        <p:txBody>
          <a:bodyPr>
            <a:normAutofit fontScale="90000"/>
          </a:bodyPr>
          <a:lstStyle/>
          <a:p>
            <a:pPr algn="just"/>
            <a:r>
              <a:rPr lang="pt-BR" dirty="0"/>
              <a:t>Passo a passo para criar um servidor web assíncrono com arquivos HTML, CSS, </a:t>
            </a:r>
            <a:r>
              <a:rPr lang="pt-BR" dirty="0" err="1"/>
              <a:t>Boostrap</a:t>
            </a:r>
            <a:r>
              <a:rPr lang="pt-BR" dirty="0"/>
              <a:t> e Figuras, além disso lerá valores da placa e irá acionar pinos da placa.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9714" y="2717074"/>
            <a:ext cx="10659292" cy="3581400"/>
          </a:xfrm>
        </p:spPr>
        <p:txBody>
          <a:bodyPr/>
          <a:lstStyle/>
          <a:p>
            <a:r>
              <a:rPr lang="pt-BR" dirty="0"/>
              <a:t>Inicialmente vamos ver o significado de alguns conceitos:</a:t>
            </a:r>
          </a:p>
          <a:p>
            <a:r>
              <a:rPr lang="pt-BR" b="1" dirty="0"/>
              <a:t>Servidor Web Assíncrono: </a:t>
            </a:r>
            <a:r>
              <a:rPr lang="pt-BR" dirty="0"/>
              <a:t>solicitações HTTP dos clientes não bloqueiam umas às outras e são executadas simultaneamente.</a:t>
            </a:r>
          </a:p>
          <a:p>
            <a:r>
              <a:rPr lang="pt-BR" b="1" dirty="0"/>
              <a:t>Diferença entre servidor web tradicional e o assíncrono?</a:t>
            </a:r>
            <a:r>
              <a:rPr lang="pt-BR" dirty="0"/>
              <a:t> Servidor web tradicional: conflito no acesso simultâneo. Servidor web assíncrono: aceita requisições simultâneas.</a:t>
            </a:r>
          </a:p>
          <a:p>
            <a:r>
              <a:rPr lang="pt-BR" b="1" dirty="0">
                <a:solidFill>
                  <a:srgbClr val="FF0000"/>
                </a:solidFill>
              </a:rPr>
              <a:t>Biblioteca para trabalhar com servidor web assíncrono: </a:t>
            </a:r>
            <a:r>
              <a:rPr lang="pt-BR" b="1" dirty="0" err="1">
                <a:solidFill>
                  <a:srgbClr val="FF0000"/>
                </a:solidFill>
              </a:rPr>
              <a:t>ESPAsyncWebServer</a:t>
            </a:r>
            <a:r>
              <a:rPr lang="pt-BR" b="1" dirty="0">
                <a:solidFill>
                  <a:srgbClr val="FF0000"/>
                </a:solidFill>
              </a:rPr>
              <a:t>. Quando for instalar pela IDE do </a:t>
            </a:r>
            <a:r>
              <a:rPr lang="pt-BR" b="1" dirty="0" err="1">
                <a:solidFill>
                  <a:srgbClr val="FF0000"/>
                </a:solidFill>
              </a:rPr>
              <a:t>Arduino</a:t>
            </a:r>
            <a:r>
              <a:rPr lang="pt-BR" b="1" dirty="0">
                <a:solidFill>
                  <a:srgbClr val="FF0000"/>
                </a:solidFill>
              </a:rPr>
              <a:t>, note que ele vai pedir para instalar a </a:t>
            </a:r>
            <a:r>
              <a:rPr lang="pt-BR" b="1" dirty="0" err="1">
                <a:solidFill>
                  <a:srgbClr val="FF0000"/>
                </a:solidFill>
              </a:rPr>
              <a:t>AsyncTCP</a:t>
            </a:r>
            <a:r>
              <a:rPr lang="pt-BR" b="1" dirty="0">
                <a:solidFill>
                  <a:srgbClr val="FF0000"/>
                </a:solidFill>
              </a:rPr>
              <a:t>. Esta biblioteca permite um ambiente de rede </a:t>
            </a:r>
            <a:r>
              <a:rPr lang="pt-BR" b="1" dirty="0" err="1">
                <a:solidFill>
                  <a:srgbClr val="FF0000"/>
                </a:solidFill>
              </a:rPr>
              <a:t>multiconexão</a:t>
            </a:r>
            <a:r>
              <a:rPr lang="pt-BR" b="1" dirty="0">
                <a:solidFill>
                  <a:srgbClr val="FF0000"/>
                </a:solidFill>
              </a:rPr>
              <a:t>.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62149" y="6298474"/>
            <a:ext cx="11577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Referência: este material é baseado e modificado do </a:t>
            </a:r>
            <a:r>
              <a:rPr lang="pt-BR" b="1" dirty="0">
                <a:solidFill>
                  <a:srgbClr val="FF0000"/>
                </a:solidFill>
                <a:hlinkClick r:id="rId2"/>
              </a:rPr>
              <a:t>https://blog.eletrogate.com/webserver-assincrono-com-esp32/ 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334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9714" y="431074"/>
            <a:ext cx="9601200" cy="64269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// Inclusão das bibliotecas</a:t>
            </a:r>
          </a:p>
          <a:p>
            <a:pPr marL="0" indent="0">
              <a:buNone/>
            </a:pPr>
            <a:r>
              <a:rPr lang="pt-BR" b="1" dirty="0"/>
              <a:t>#include &lt;</a:t>
            </a:r>
            <a:r>
              <a:rPr lang="pt-BR" b="1" dirty="0" err="1"/>
              <a:t>WiFi.h</a:t>
            </a:r>
            <a:r>
              <a:rPr lang="pt-BR" b="1" dirty="0"/>
              <a:t>&gt;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#include &lt;</a:t>
            </a:r>
            <a:r>
              <a:rPr lang="pt-BR" b="1" dirty="0" err="1"/>
              <a:t>AsyncTCP.h</a:t>
            </a:r>
            <a:r>
              <a:rPr lang="pt-BR" b="1" dirty="0"/>
              <a:t>&gt;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#include &lt;</a:t>
            </a:r>
            <a:r>
              <a:rPr lang="pt-BR" b="1" dirty="0" err="1"/>
              <a:t>ESPAsyncWebServer.h</a:t>
            </a:r>
            <a:r>
              <a:rPr lang="pt-BR" b="1" dirty="0"/>
              <a:t>&gt;</a:t>
            </a: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// Instanciação do objeto da classe </a:t>
            </a:r>
            <a:r>
              <a:rPr lang="pt-BR" b="1" dirty="0" err="1">
                <a:solidFill>
                  <a:srgbClr val="FF0000"/>
                </a:solidFill>
              </a:rPr>
              <a:t>AsyncWebServer</a:t>
            </a: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b="1" dirty="0" err="1"/>
              <a:t>AsyncWebServer</a:t>
            </a:r>
            <a:r>
              <a:rPr lang="pt-BR" b="1" dirty="0"/>
              <a:t> server(80);</a:t>
            </a:r>
          </a:p>
          <a:p>
            <a:pPr marL="0" indent="0">
              <a:buNone/>
            </a:pPr>
            <a:r>
              <a:rPr lang="pt-BR" b="1" dirty="0">
                <a:solidFill>
                  <a:srgbClr val="FF0000"/>
                </a:solidFill>
              </a:rPr>
              <a:t>// Constantes das credenciais do WiFi</a:t>
            </a:r>
          </a:p>
          <a:p>
            <a:pPr marL="0" indent="0">
              <a:buNone/>
            </a:pPr>
            <a:r>
              <a:rPr lang="pt-BR" b="1" dirty="0" err="1"/>
              <a:t>const</a:t>
            </a:r>
            <a:r>
              <a:rPr lang="pt-BR" b="1" dirty="0"/>
              <a:t> char* </a:t>
            </a:r>
            <a:r>
              <a:rPr lang="pt-BR" b="1" dirty="0" err="1"/>
              <a:t>ssid</a:t>
            </a:r>
            <a:r>
              <a:rPr lang="pt-BR" b="1" dirty="0"/>
              <a:t> = "&lt;SSID&gt;";</a:t>
            </a:r>
          </a:p>
          <a:p>
            <a:pPr marL="0" indent="0">
              <a:buNone/>
            </a:pPr>
            <a:r>
              <a:rPr lang="pt-BR" b="1" dirty="0" err="1"/>
              <a:t>const</a:t>
            </a:r>
            <a:r>
              <a:rPr lang="pt-BR" b="1" dirty="0"/>
              <a:t> char* </a:t>
            </a:r>
            <a:r>
              <a:rPr lang="pt-BR" b="1" dirty="0" err="1"/>
              <a:t>password</a:t>
            </a:r>
            <a:r>
              <a:rPr lang="pt-BR" b="1" dirty="0"/>
              <a:t> = "&lt;PASSWORD&gt;";</a:t>
            </a:r>
          </a:p>
          <a:p>
            <a:pPr marL="0" indent="0">
              <a:buNone/>
            </a:pPr>
            <a:r>
              <a:rPr lang="pt-BR" b="1" dirty="0" err="1"/>
              <a:t>void</a:t>
            </a:r>
            <a:r>
              <a:rPr lang="pt-BR" b="1" dirty="0"/>
              <a:t> setup() </a:t>
            </a:r>
          </a:p>
          <a:p>
            <a:pPr marL="0" indent="0">
              <a:buNone/>
            </a:pPr>
            <a:r>
              <a:rPr lang="pt-BR" b="1" dirty="0"/>
              <a:t>{</a:t>
            </a:r>
          </a:p>
          <a:p>
            <a:pPr marL="530352" lvl="1" indent="0">
              <a:buNone/>
            </a:pPr>
            <a:r>
              <a:rPr lang="pt-BR" b="1" i="0" dirty="0">
                <a:solidFill>
                  <a:srgbClr val="FF0000"/>
                </a:solidFill>
              </a:rPr>
              <a:t>// Conecta-se ao Ponto de acesso com as credenciais fornecidas</a:t>
            </a:r>
          </a:p>
          <a:p>
            <a:pPr marL="530352" lvl="1" indent="0">
              <a:buNone/>
            </a:pPr>
            <a:r>
              <a:rPr lang="pt-BR" b="1" i="0" dirty="0" err="1"/>
              <a:t>WiFi.begin</a:t>
            </a:r>
            <a:r>
              <a:rPr lang="pt-BR" b="1" i="0" dirty="0"/>
              <a:t>(</a:t>
            </a:r>
            <a:r>
              <a:rPr lang="pt-BR" b="1" i="0" dirty="0" err="1"/>
              <a:t>ssid</a:t>
            </a:r>
            <a:r>
              <a:rPr lang="pt-BR" b="1" i="0" dirty="0"/>
              <a:t>, </a:t>
            </a:r>
            <a:r>
              <a:rPr lang="pt-BR" b="1" i="0" dirty="0" err="1"/>
              <a:t>password</a:t>
            </a:r>
            <a:r>
              <a:rPr lang="pt-BR" b="1" i="0" dirty="0"/>
              <a:t>); </a:t>
            </a:r>
          </a:p>
          <a:p>
            <a:pPr marL="530352" lvl="1" indent="0">
              <a:buNone/>
            </a:pPr>
            <a:r>
              <a:rPr lang="pt-BR" b="1" i="0" dirty="0">
                <a:solidFill>
                  <a:srgbClr val="FF0000"/>
                </a:solidFill>
              </a:rPr>
              <a:t>// Servidor começa à ouvir os clientes</a:t>
            </a:r>
          </a:p>
          <a:p>
            <a:pPr marL="530352" lvl="1" indent="0">
              <a:buNone/>
            </a:pPr>
            <a:r>
              <a:rPr lang="pt-BR" b="1" i="0" dirty="0" err="1"/>
              <a:t>server.begin</a:t>
            </a:r>
            <a:r>
              <a:rPr lang="pt-BR" b="1" i="0" dirty="0"/>
              <a:t>();</a:t>
            </a:r>
          </a:p>
          <a:p>
            <a:pPr marL="0" indent="0">
              <a:buNone/>
            </a:pPr>
            <a:r>
              <a:rPr lang="pt-BR" b="1" dirty="0"/>
              <a:t>}</a:t>
            </a:r>
          </a:p>
          <a:p>
            <a:pPr marL="0" indent="0">
              <a:buNone/>
            </a:pPr>
            <a:r>
              <a:rPr lang="pt-BR" b="1" dirty="0" err="1"/>
              <a:t>void</a:t>
            </a:r>
            <a:r>
              <a:rPr lang="pt-BR" b="1" dirty="0"/>
              <a:t> loop() </a:t>
            </a:r>
          </a:p>
          <a:p>
            <a:pPr marL="0" indent="0">
              <a:buNone/>
            </a:pPr>
            <a:r>
              <a:rPr lang="pt-BR" b="1" dirty="0"/>
              <a:t>{}</a:t>
            </a:r>
          </a:p>
        </p:txBody>
      </p:sp>
      <p:sp>
        <p:nvSpPr>
          <p:cNvPr id="4" name="Retângulo 3"/>
          <p:cNvSpPr/>
          <p:nvPr/>
        </p:nvSpPr>
        <p:spPr>
          <a:xfrm>
            <a:off x="2260123" y="0"/>
            <a:ext cx="902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 BÁSICO PARA CONEXÃO COM UMA REDE JÁ EXISTENTE</a:t>
            </a:r>
          </a:p>
        </p:txBody>
      </p:sp>
      <p:sp>
        <p:nvSpPr>
          <p:cNvPr id="5" name="Texto Explicativo em Elipse 4"/>
          <p:cNvSpPr/>
          <p:nvPr/>
        </p:nvSpPr>
        <p:spPr>
          <a:xfrm>
            <a:off x="6270171" y="4624251"/>
            <a:ext cx="4547159" cy="2129247"/>
          </a:xfrm>
          <a:prstGeom prst="wedgeEllipseCallout">
            <a:avLst>
              <a:gd name="adj1" fmla="val -118474"/>
              <a:gd name="adj2" fmla="val -105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err="1">
                <a:solidFill>
                  <a:srgbClr val="FFFF00"/>
                </a:solidFill>
              </a:rPr>
              <a:t>AsyncWebServer</a:t>
            </a:r>
            <a:r>
              <a:rPr lang="pt-BR" sz="2000" b="1" dirty="0">
                <a:solidFill>
                  <a:srgbClr val="FFFF00"/>
                </a:solidFill>
              </a:rPr>
              <a:t>, ESP8266WebServer ou  tem vários métodos, são eles: </a:t>
            </a:r>
            <a:r>
              <a:rPr lang="pt-BR" sz="2000" b="1" dirty="0" err="1">
                <a:solidFill>
                  <a:srgbClr val="FFFF00"/>
                </a:solidFill>
              </a:rPr>
              <a:t>begin</a:t>
            </a:r>
            <a:r>
              <a:rPr lang="pt-BR" sz="2000" b="1" dirty="0">
                <a:solidFill>
                  <a:srgbClr val="FFFF00"/>
                </a:solidFill>
              </a:rPr>
              <a:t>(), </a:t>
            </a:r>
            <a:r>
              <a:rPr lang="pt-BR" sz="2000" b="1" dirty="0" err="1">
                <a:solidFill>
                  <a:srgbClr val="FFFF00"/>
                </a:solidFill>
              </a:rPr>
              <a:t>on</a:t>
            </a:r>
            <a:r>
              <a:rPr lang="pt-BR" sz="2000" b="1" dirty="0">
                <a:solidFill>
                  <a:srgbClr val="FFFF00"/>
                </a:solidFill>
              </a:rPr>
              <a:t>(), </a:t>
            </a:r>
            <a:r>
              <a:rPr lang="pt-BR" sz="2000" b="1" dirty="0" err="1">
                <a:solidFill>
                  <a:srgbClr val="FFFF00"/>
                </a:solidFill>
              </a:rPr>
              <a:t>send</a:t>
            </a:r>
            <a:r>
              <a:rPr lang="pt-BR" sz="2000" b="1" dirty="0">
                <a:solidFill>
                  <a:srgbClr val="FFFF00"/>
                </a:solidFill>
              </a:rPr>
              <a:t>(), </a:t>
            </a:r>
            <a:r>
              <a:rPr lang="pt-BR" sz="2000" b="1" dirty="0" err="1">
                <a:solidFill>
                  <a:srgbClr val="FFFF00"/>
                </a:solidFill>
              </a:rPr>
              <a:t>handleClient</a:t>
            </a:r>
            <a:r>
              <a:rPr lang="pt-BR" sz="2000" b="1" dirty="0">
                <a:solidFill>
                  <a:srgbClr val="FFFF00"/>
                </a:solidFill>
              </a:rPr>
              <a:t>() e </a:t>
            </a:r>
            <a:r>
              <a:rPr lang="pt-BR" sz="2000" b="1" dirty="0" err="1">
                <a:solidFill>
                  <a:srgbClr val="FFFF00"/>
                </a:solidFill>
              </a:rPr>
              <a:t>onNotFound</a:t>
            </a:r>
            <a:r>
              <a:rPr lang="pt-BR" sz="2000" b="1" dirty="0">
                <a:solidFill>
                  <a:srgbClr val="FFFF00"/>
                </a:solidFill>
              </a:rPr>
              <a:t>(). </a:t>
            </a:r>
          </a:p>
        </p:txBody>
      </p:sp>
      <p:sp>
        <p:nvSpPr>
          <p:cNvPr id="6" name="Texto Explicativo em Elipse 5"/>
          <p:cNvSpPr/>
          <p:nvPr/>
        </p:nvSpPr>
        <p:spPr>
          <a:xfrm>
            <a:off x="6365966" y="1031966"/>
            <a:ext cx="5826034" cy="3487783"/>
          </a:xfrm>
          <a:prstGeom prst="wedgeEllipseCallout">
            <a:avLst>
              <a:gd name="adj1" fmla="val -90485"/>
              <a:gd name="adj2" fmla="val -115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server é uma instanciação da classe </a:t>
            </a:r>
            <a:r>
              <a:rPr lang="pt-BR" b="1" dirty="0" err="1">
                <a:solidFill>
                  <a:srgbClr val="FFFF00"/>
                </a:solidFill>
              </a:rPr>
              <a:t>AsyncWebServer</a:t>
            </a:r>
            <a:endParaRPr lang="pt-BR" b="1" dirty="0">
              <a:solidFill>
                <a:srgbClr val="FFFF00"/>
              </a:solidFill>
            </a:endParaRPr>
          </a:p>
          <a:p>
            <a:pPr algn="ctr"/>
            <a:endParaRPr lang="pt-BR" b="1" dirty="0">
              <a:solidFill>
                <a:srgbClr val="FFFF00"/>
              </a:solidFill>
            </a:endParaRPr>
          </a:p>
          <a:p>
            <a:pPr algn="ctr"/>
            <a:r>
              <a:rPr lang="pt-BR" b="1" dirty="0">
                <a:solidFill>
                  <a:srgbClr val="FFFF00"/>
                </a:solidFill>
              </a:rPr>
              <a:t>ESP8266WebServer =&gt; para ESP8266</a:t>
            </a:r>
          </a:p>
          <a:p>
            <a:pPr algn="ctr"/>
            <a:r>
              <a:rPr lang="pt-BR" b="1" dirty="0" err="1">
                <a:solidFill>
                  <a:srgbClr val="FFFF00"/>
                </a:solidFill>
              </a:rPr>
              <a:t>WebServer</a:t>
            </a:r>
            <a:r>
              <a:rPr lang="pt-BR" b="1" dirty="0">
                <a:solidFill>
                  <a:srgbClr val="FFFF00"/>
                </a:solidFill>
              </a:rPr>
              <a:t> =&gt; para ESP32</a:t>
            </a:r>
          </a:p>
          <a:p>
            <a:pPr algn="ctr"/>
            <a:r>
              <a:rPr lang="pt-BR" b="1" dirty="0" err="1">
                <a:solidFill>
                  <a:srgbClr val="FFFF00"/>
                </a:solidFill>
              </a:rPr>
              <a:t>AsyncWebServer</a:t>
            </a:r>
            <a:r>
              <a:rPr lang="pt-BR" b="1" dirty="0">
                <a:solidFill>
                  <a:srgbClr val="FFFF00"/>
                </a:solidFill>
              </a:rPr>
              <a:t> =&gt; ESP8266 ou ESP32</a:t>
            </a:r>
          </a:p>
          <a:p>
            <a:pPr algn="ctr"/>
            <a:endParaRPr lang="pt-BR" b="1" dirty="0">
              <a:solidFill>
                <a:srgbClr val="FFFF00"/>
              </a:solidFill>
            </a:endParaRPr>
          </a:p>
          <a:p>
            <a:pPr algn="ctr"/>
            <a:r>
              <a:rPr lang="pt-BR" b="1" dirty="0">
                <a:solidFill>
                  <a:srgbClr val="FFFF00"/>
                </a:solidFill>
              </a:rPr>
              <a:t>A porta 80 é usada para HTTP e a 443 é usada para HTTPS. A porta 8080 é uma variação da porta 80.</a:t>
            </a:r>
          </a:p>
        </p:txBody>
      </p:sp>
    </p:spTree>
    <p:extLst>
      <p:ext uri="{BB962C8B-B14F-4D97-AF65-F5344CB8AC3E}">
        <p14:creationId xmlns:p14="http://schemas.microsoft.com/office/powerpoint/2010/main" val="3231329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0708" y="6530"/>
            <a:ext cx="11421292" cy="1129937"/>
          </a:xfrm>
        </p:spPr>
        <p:txBody>
          <a:bodyPr>
            <a:normAutofit fontScale="90000"/>
          </a:bodyPr>
          <a:lstStyle/>
          <a:p>
            <a:pPr algn="just"/>
            <a:r>
              <a:rPr lang="pt-BR" sz="4000" dirty="0"/>
              <a:t>Os métodos de ESP8266WebServer, </a:t>
            </a:r>
            <a:r>
              <a:rPr lang="pt-BR" sz="4000" dirty="0" err="1"/>
              <a:t>WebServer</a:t>
            </a:r>
            <a:r>
              <a:rPr lang="pt-BR" sz="4000" dirty="0"/>
              <a:t> ou </a:t>
            </a:r>
            <a:r>
              <a:rPr lang="pt-BR" sz="4000" dirty="0" err="1"/>
              <a:t>AsyncWebServer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40525" y="2743199"/>
            <a:ext cx="11025051" cy="3918857"/>
          </a:xfrm>
        </p:spPr>
        <p:txBody>
          <a:bodyPr/>
          <a:lstStyle/>
          <a:p>
            <a:pPr marL="0" indent="0" algn="just">
              <a:buNone/>
            </a:pPr>
            <a:r>
              <a:rPr lang="pt-BR" b="1" dirty="0"/>
              <a:t>*.</a:t>
            </a:r>
            <a:r>
              <a:rPr lang="pt-BR" b="1" dirty="0" err="1"/>
              <a:t>begin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 </a:t>
            </a:r>
            <a:r>
              <a:rPr lang="pt-BR" dirty="0">
                <a:sym typeface="Wingdings" panose="05000000000000000000" pitchFamily="2" charset="2"/>
              </a:rPr>
              <a:t>método que i</a:t>
            </a:r>
            <a:r>
              <a:rPr lang="pt-BR" dirty="0"/>
              <a:t>nicializa o servidor,  esse método normalmente é chamado após todas as configurações tenham sido realizadas.</a:t>
            </a:r>
            <a:endParaRPr lang="pt-BR" b="1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*.</a:t>
            </a:r>
            <a:r>
              <a:rPr lang="pt-BR" b="1" dirty="0" err="1"/>
              <a:t>send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 </a:t>
            </a:r>
            <a:r>
              <a:rPr lang="pt-BR" dirty="0">
                <a:sym typeface="Wingdings" panose="05000000000000000000" pitchFamily="2" charset="2"/>
              </a:rPr>
              <a:t>método que envia a </a:t>
            </a:r>
            <a:r>
              <a:rPr lang="pt-BR" dirty="0"/>
              <a:t>resposta ao cliente, neste caso quem acessa o server recebe a resposta enviada por esse método.</a:t>
            </a:r>
            <a:endParaRPr lang="pt-BR" b="1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*.</a:t>
            </a:r>
            <a:r>
              <a:rPr lang="pt-BR" b="1" dirty="0" err="1"/>
              <a:t>on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 </a:t>
            </a:r>
            <a:r>
              <a:rPr lang="pt-BR" dirty="0">
                <a:sym typeface="Wingdings" panose="05000000000000000000" pitchFamily="2" charset="2"/>
              </a:rPr>
              <a:t>m</a:t>
            </a:r>
            <a:r>
              <a:rPr lang="pt-BR" dirty="0"/>
              <a:t>étodo para acessar a URL quando é realizado as requisições HTTP. </a:t>
            </a:r>
          </a:p>
          <a:p>
            <a:pPr marL="0" indent="0" algn="just">
              <a:buNone/>
            </a:pPr>
            <a:endParaRPr lang="pt-BR" b="1" dirty="0"/>
          </a:p>
          <a:p>
            <a:pPr marL="0" indent="0" algn="just">
              <a:buNone/>
            </a:pPr>
            <a:r>
              <a:rPr lang="pt-BR" b="1" dirty="0"/>
              <a:t>*.</a:t>
            </a:r>
            <a:r>
              <a:rPr lang="pt-BR" b="1" dirty="0" err="1"/>
              <a:t>handlerClient</a:t>
            </a:r>
            <a:r>
              <a:rPr lang="pt-BR" b="1" dirty="0"/>
              <a:t>() </a:t>
            </a:r>
            <a:r>
              <a:rPr lang="pt-BR" b="1" dirty="0">
                <a:sym typeface="Wingdings" panose="05000000000000000000" pitchFamily="2" charset="2"/>
              </a:rPr>
              <a:t> </a:t>
            </a:r>
            <a:r>
              <a:rPr lang="pt-BR" dirty="0"/>
              <a:t>Responsável por detectar as solicitações HTTP, cria e notifica os eventos para os métodos </a:t>
            </a:r>
            <a:r>
              <a:rPr lang="pt-BR" b="1" dirty="0" err="1"/>
              <a:t>on</a:t>
            </a:r>
            <a:r>
              <a:rPr lang="pt-BR" b="1" dirty="0"/>
              <a:t>()</a:t>
            </a:r>
            <a:r>
              <a:rPr lang="pt-BR" dirty="0"/>
              <a:t> e </a:t>
            </a:r>
            <a:r>
              <a:rPr lang="pt-BR" b="1" dirty="0" err="1"/>
              <a:t>onNotFound</a:t>
            </a:r>
            <a:r>
              <a:rPr lang="pt-BR" b="1" dirty="0"/>
              <a:t>().</a:t>
            </a:r>
            <a:endParaRPr lang="pt-BR" dirty="0"/>
          </a:p>
          <a:p>
            <a:pPr marL="0" indent="0" algn="just">
              <a:buNone/>
            </a:pP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5987083" y="1136467"/>
            <a:ext cx="330840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ESP8266WebServer </a:t>
            </a:r>
            <a:r>
              <a:rPr lang="pt-BR" b="1" dirty="0">
                <a:solidFill>
                  <a:srgbClr val="FF0000"/>
                </a:solidFill>
              </a:rPr>
              <a:t>server</a:t>
            </a:r>
            <a:r>
              <a:rPr lang="pt-BR" b="1" dirty="0"/>
              <a:t>(80);</a:t>
            </a:r>
          </a:p>
          <a:p>
            <a:endParaRPr lang="pt-BR" b="1" dirty="0"/>
          </a:p>
          <a:p>
            <a:r>
              <a:rPr lang="pt-BR" b="1" dirty="0" err="1"/>
              <a:t>WebServer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server</a:t>
            </a:r>
            <a:r>
              <a:rPr lang="pt-BR" b="1" dirty="0"/>
              <a:t>(80);</a:t>
            </a:r>
          </a:p>
          <a:p>
            <a:endParaRPr lang="pt-BR" b="1" dirty="0"/>
          </a:p>
          <a:p>
            <a:r>
              <a:rPr lang="pt-BR" b="1" dirty="0" err="1"/>
              <a:t>AsyncWebServer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server</a:t>
            </a:r>
            <a:r>
              <a:rPr lang="pt-BR" b="1" dirty="0"/>
              <a:t>(80);</a:t>
            </a:r>
          </a:p>
          <a:p>
            <a:endParaRPr lang="pt-BR" b="1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4510980" y="1306285"/>
            <a:ext cx="1476103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4510980" y="1863633"/>
            <a:ext cx="1476103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4510980" y="2407918"/>
            <a:ext cx="1476103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3393366" y="1136467"/>
            <a:ext cx="1117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ESP8266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3393366" y="1680751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ESP32</a:t>
            </a:r>
            <a:endParaRPr lang="pt-BR" dirty="0"/>
          </a:p>
        </p:txBody>
      </p:sp>
      <p:sp>
        <p:nvSpPr>
          <p:cNvPr id="16" name="Retângulo 15"/>
          <p:cNvSpPr/>
          <p:nvPr/>
        </p:nvSpPr>
        <p:spPr>
          <a:xfrm>
            <a:off x="3393366" y="2230174"/>
            <a:ext cx="846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Ambos</a:t>
            </a:r>
            <a:endParaRPr lang="pt-BR" dirty="0"/>
          </a:p>
        </p:txBody>
      </p:sp>
      <p:sp>
        <p:nvSpPr>
          <p:cNvPr id="17" name="Texto Explicativo Retangular com Cantos Arredondados 16"/>
          <p:cNvSpPr/>
          <p:nvPr/>
        </p:nvSpPr>
        <p:spPr>
          <a:xfrm>
            <a:off x="9557538" y="1497090"/>
            <a:ext cx="2538668" cy="1246109"/>
          </a:xfrm>
          <a:prstGeom prst="wedgeRoundRectCallout">
            <a:avLst>
              <a:gd name="adj1" fmla="val -87290"/>
              <a:gd name="adj2" fmla="val -50561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Poderia ser qualquer palavra, usa-se “server” para dar sentido a função dela.</a:t>
            </a:r>
          </a:p>
        </p:txBody>
      </p:sp>
      <p:cxnSp>
        <p:nvCxnSpPr>
          <p:cNvPr id="18" name="Conector de Seta Reta 17"/>
          <p:cNvCxnSpPr/>
          <p:nvPr/>
        </p:nvCxnSpPr>
        <p:spPr>
          <a:xfrm flipH="1">
            <a:off x="1110283" y="2230174"/>
            <a:ext cx="60" cy="513025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/>
          <p:cNvSpPr/>
          <p:nvPr/>
        </p:nvSpPr>
        <p:spPr>
          <a:xfrm>
            <a:off x="770708" y="1932689"/>
            <a:ext cx="793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server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5817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83" y="0"/>
            <a:ext cx="11447417" cy="52251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Respostas básicas de um servidor web assíncrono.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2113" y="522514"/>
            <a:ext cx="10672355" cy="6074228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request-&gt;send( </a:t>
            </a:r>
            <a:r>
              <a:rPr lang="en-US" sz="2800" b="1" dirty="0">
                <a:solidFill>
                  <a:srgbClr val="FF0000"/>
                </a:solidFill>
              </a:rPr>
              <a:t>a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B050"/>
                </a:solidFill>
              </a:rPr>
              <a:t>b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7030A0"/>
                </a:solidFill>
              </a:rPr>
              <a:t>c</a:t>
            </a:r>
            <a:r>
              <a:rPr lang="en-US" sz="2800" b="1" dirty="0"/>
              <a:t>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FF0000"/>
                </a:solidFill>
              </a:rPr>
              <a:t>a </a:t>
            </a:r>
            <a:r>
              <a:rPr lang="pt-BR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 é o código HTTP de status de resposta. A seguir alguns códigos:</a:t>
            </a:r>
          </a:p>
          <a:p>
            <a:pPr marL="0" lvl="0" indent="0" algn="ctr">
              <a:buNone/>
            </a:pPr>
            <a:r>
              <a:rPr lang="pt-BR" altLang="pt-BR" sz="2300" b="1" dirty="0">
                <a:solidFill>
                  <a:srgbClr val="1B1B1B"/>
                </a:solidFill>
                <a:latin typeface="+mj-lt"/>
              </a:rPr>
              <a:t>Respostas Informativas (100 – 199)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300" b="1" dirty="0">
                <a:solidFill>
                  <a:srgbClr val="1B1B1B"/>
                </a:solidFill>
                <a:latin typeface="+mj-lt"/>
              </a:rPr>
              <a:t>Respostas bem-sucedidas (200 – 299) – </a:t>
            </a:r>
            <a:r>
              <a:rPr lang="pt-BR" altLang="pt-BR" sz="2300" b="1" dirty="0">
                <a:solidFill>
                  <a:srgbClr val="FF0000"/>
                </a:solidFill>
                <a:latin typeface="+mj-lt"/>
              </a:rPr>
              <a:t>normalmente usamos 200 para indicar OK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300" b="1" dirty="0">
                <a:solidFill>
                  <a:srgbClr val="1B1B1B"/>
                </a:solidFill>
                <a:latin typeface="+mj-lt"/>
              </a:rPr>
              <a:t>Mensagens de redirecionamento (300 – 399)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300" b="1" dirty="0">
                <a:solidFill>
                  <a:srgbClr val="1B1B1B"/>
                </a:solidFill>
                <a:latin typeface="+mj-lt"/>
              </a:rPr>
              <a:t>Respostas de erro do cliente (400 – 499) – </a:t>
            </a:r>
            <a:r>
              <a:rPr lang="pt-BR" altLang="pt-BR" sz="2300" b="1" dirty="0">
                <a:solidFill>
                  <a:srgbClr val="FF0000"/>
                </a:solidFill>
                <a:latin typeface="+mj-lt"/>
              </a:rPr>
              <a:t>normalmente 404 para </a:t>
            </a:r>
            <a:r>
              <a:rPr lang="pt-BR" altLang="pt-BR" sz="2300" b="1" dirty="0" err="1">
                <a:solidFill>
                  <a:srgbClr val="FF0000"/>
                </a:solidFill>
                <a:latin typeface="+mj-lt"/>
              </a:rPr>
              <a:t>NotFound</a:t>
            </a:r>
            <a:endParaRPr lang="pt-BR" altLang="pt-BR" sz="2300" b="1" dirty="0">
              <a:solidFill>
                <a:srgbClr val="FF0000"/>
              </a:solidFill>
              <a:latin typeface="+mj-lt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300" b="1" dirty="0">
                <a:solidFill>
                  <a:srgbClr val="1B1B1B"/>
                </a:solidFill>
                <a:latin typeface="+mj-lt"/>
              </a:rPr>
              <a:t>Respostas de erro do servidor (500 – 599)</a:t>
            </a:r>
            <a:endParaRPr lang="pt-BR" sz="2800" b="1" dirty="0">
              <a:solidFill>
                <a:srgbClr val="FF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00B050"/>
                </a:solidFill>
              </a:rPr>
              <a:t>b </a:t>
            </a:r>
            <a:r>
              <a:rPr lang="pt-BR" sz="2800" b="1" dirty="0">
                <a:solidFill>
                  <a:srgbClr val="00B050"/>
                </a:solidFill>
                <a:sym typeface="Wingdings" panose="05000000000000000000" pitchFamily="2" charset="2"/>
              </a:rPr>
              <a:t> tipo de mídia da internet. A seguir as mais comuns:</a:t>
            </a:r>
          </a:p>
          <a:p>
            <a:pPr marL="0" indent="0" algn="ctr">
              <a:buNone/>
            </a:pPr>
            <a:r>
              <a:rPr lang="pt-BR" b="1" dirty="0" err="1"/>
              <a:t>text</a:t>
            </a:r>
            <a:r>
              <a:rPr lang="pt-BR" b="1" dirty="0"/>
              <a:t>/</a:t>
            </a:r>
            <a:r>
              <a:rPr lang="pt-BR" b="1" dirty="0" err="1"/>
              <a:t>plain</a:t>
            </a: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image</a:t>
            </a:r>
            <a:r>
              <a:rPr lang="pt-BR" b="1" dirty="0"/>
              <a:t>/</a:t>
            </a:r>
            <a:r>
              <a:rPr lang="pt-BR" b="1" dirty="0" err="1"/>
              <a:t>png</a:t>
            </a: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image</a:t>
            </a:r>
            <a:r>
              <a:rPr lang="pt-BR" b="1" dirty="0"/>
              <a:t>/</a:t>
            </a:r>
            <a:r>
              <a:rPr lang="pt-BR" b="1" dirty="0" err="1"/>
              <a:t>gif</a:t>
            </a: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image</a:t>
            </a:r>
            <a:r>
              <a:rPr lang="pt-BR" b="1" dirty="0"/>
              <a:t>/</a:t>
            </a:r>
            <a:r>
              <a:rPr lang="pt-BR" b="1" dirty="0" err="1"/>
              <a:t>jpeg</a:t>
            </a: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audio</a:t>
            </a:r>
            <a:r>
              <a:rPr lang="pt-BR" b="1" dirty="0"/>
              <a:t>/</a:t>
            </a:r>
            <a:r>
              <a:rPr lang="pt-BR" b="1" dirty="0" err="1"/>
              <a:t>mpeg</a:t>
            </a:r>
            <a:endParaRPr lang="pt-BR" b="1" dirty="0"/>
          </a:p>
          <a:p>
            <a:pPr marL="0" indent="0" algn="ctr">
              <a:buNone/>
            </a:pPr>
            <a:r>
              <a:rPr lang="pt-BR" b="1" dirty="0" err="1"/>
              <a:t>video</a:t>
            </a:r>
            <a:r>
              <a:rPr lang="pt-BR" b="1" dirty="0"/>
              <a:t>/</a:t>
            </a:r>
            <a:r>
              <a:rPr lang="pt-BR" b="1" dirty="0" err="1"/>
              <a:t>mpeg</a:t>
            </a:r>
            <a:endParaRPr lang="pt-BR" sz="2300" b="1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800" b="1" dirty="0">
                <a:solidFill>
                  <a:srgbClr val="7030A0"/>
                </a:solidFill>
              </a:rPr>
              <a:t>c </a:t>
            </a:r>
            <a:r>
              <a:rPr lang="pt-BR" sz="2800" b="1" dirty="0">
                <a:solidFill>
                  <a:srgbClr val="7030A0"/>
                </a:solidFill>
                <a:sym typeface="Wingdings" panose="05000000000000000000" pitchFamily="2" charset="2"/>
              </a:rPr>
              <a:t> o conteúdo da resposta.</a:t>
            </a:r>
            <a:endParaRPr lang="pt-BR" sz="2800" b="1" dirty="0">
              <a:solidFill>
                <a:srgbClr val="7030A0"/>
              </a:solidFill>
            </a:endParaRPr>
          </a:p>
          <a:p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490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796835" y="0"/>
            <a:ext cx="9901646" cy="694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50" b="1" dirty="0">
                <a:solidFill>
                  <a:srgbClr val="FF0000"/>
                </a:solidFill>
              </a:rPr>
              <a:t>// Inclusão das bibliotecas</a:t>
            </a:r>
          </a:p>
          <a:p>
            <a:r>
              <a:rPr lang="pt-BR" sz="1650" b="1" dirty="0"/>
              <a:t>#include &lt;</a:t>
            </a:r>
            <a:r>
              <a:rPr lang="pt-BR" sz="1650" b="1" dirty="0" err="1"/>
              <a:t>WiFi.h</a:t>
            </a:r>
            <a:r>
              <a:rPr lang="pt-BR" sz="1650" b="1" dirty="0"/>
              <a:t>&gt;</a:t>
            </a:r>
          </a:p>
          <a:p>
            <a:r>
              <a:rPr lang="pt-BR" sz="1650" b="1" dirty="0"/>
              <a:t>#include &lt;</a:t>
            </a:r>
            <a:r>
              <a:rPr lang="pt-BR" sz="1650" b="1" dirty="0" err="1"/>
              <a:t>AsyncTCP.h</a:t>
            </a:r>
            <a:r>
              <a:rPr lang="pt-BR" sz="1650" b="1" dirty="0"/>
              <a:t>&gt;</a:t>
            </a:r>
          </a:p>
          <a:p>
            <a:r>
              <a:rPr lang="pt-BR" sz="1650" b="1" dirty="0"/>
              <a:t>#include &lt;</a:t>
            </a:r>
            <a:r>
              <a:rPr lang="pt-BR" sz="1650" b="1" dirty="0" err="1"/>
              <a:t>ESPAsyncWebServer.h</a:t>
            </a:r>
            <a:r>
              <a:rPr lang="pt-BR" sz="1650" b="1" dirty="0"/>
              <a:t>&gt;</a:t>
            </a:r>
          </a:p>
          <a:p>
            <a:endParaRPr lang="pt-BR" sz="1650" b="1" dirty="0"/>
          </a:p>
          <a:p>
            <a:r>
              <a:rPr lang="pt-BR" sz="1650" b="1" dirty="0">
                <a:solidFill>
                  <a:srgbClr val="FF0000"/>
                </a:solidFill>
              </a:rPr>
              <a:t>// Instanciação do objeto da classe </a:t>
            </a:r>
            <a:r>
              <a:rPr lang="pt-BR" sz="1650" b="1" dirty="0" err="1">
                <a:solidFill>
                  <a:srgbClr val="FF0000"/>
                </a:solidFill>
              </a:rPr>
              <a:t>AsyncWebServer</a:t>
            </a:r>
            <a:endParaRPr lang="pt-BR" sz="1650" b="1" dirty="0">
              <a:solidFill>
                <a:srgbClr val="FF0000"/>
              </a:solidFill>
            </a:endParaRPr>
          </a:p>
          <a:p>
            <a:r>
              <a:rPr lang="pt-BR" sz="1650" b="1" dirty="0" err="1"/>
              <a:t>AsyncWebServer</a:t>
            </a:r>
            <a:r>
              <a:rPr lang="pt-BR" sz="1650" b="1" dirty="0"/>
              <a:t> server(80);</a:t>
            </a:r>
          </a:p>
          <a:p>
            <a:endParaRPr lang="pt-BR" sz="1650" b="1" dirty="0"/>
          </a:p>
          <a:p>
            <a:r>
              <a:rPr lang="pt-BR" sz="1650" b="1" dirty="0">
                <a:solidFill>
                  <a:srgbClr val="FF0000"/>
                </a:solidFill>
              </a:rPr>
              <a:t>// Constantes das credenciais do WiFi</a:t>
            </a:r>
          </a:p>
          <a:p>
            <a:r>
              <a:rPr lang="pt-BR" sz="1650" b="1" dirty="0" err="1"/>
              <a:t>const</a:t>
            </a:r>
            <a:r>
              <a:rPr lang="pt-BR" sz="1650" b="1" dirty="0"/>
              <a:t> char* </a:t>
            </a:r>
            <a:r>
              <a:rPr lang="pt-BR" sz="1650" b="1" dirty="0" err="1"/>
              <a:t>ssid</a:t>
            </a:r>
            <a:r>
              <a:rPr lang="pt-BR" sz="1650" b="1" dirty="0"/>
              <a:t> = "&lt;SSID&gt;";</a:t>
            </a:r>
          </a:p>
          <a:p>
            <a:r>
              <a:rPr lang="pt-BR" sz="1650" b="1" dirty="0" err="1"/>
              <a:t>const</a:t>
            </a:r>
            <a:r>
              <a:rPr lang="pt-BR" sz="1650" b="1" dirty="0"/>
              <a:t> char* </a:t>
            </a:r>
            <a:r>
              <a:rPr lang="pt-BR" sz="1650" b="1" dirty="0" err="1"/>
              <a:t>password</a:t>
            </a:r>
            <a:r>
              <a:rPr lang="pt-BR" sz="1650" b="1" dirty="0"/>
              <a:t> = "&lt;SENHA&gt;";</a:t>
            </a:r>
          </a:p>
          <a:p>
            <a:endParaRPr lang="pt-BR" sz="1650" b="1" dirty="0"/>
          </a:p>
          <a:p>
            <a:r>
              <a:rPr lang="pt-BR" sz="1650" b="1" dirty="0" err="1"/>
              <a:t>void</a:t>
            </a:r>
            <a:r>
              <a:rPr lang="pt-BR" sz="1650" b="1" dirty="0"/>
              <a:t> setup() </a:t>
            </a:r>
          </a:p>
          <a:p>
            <a:r>
              <a:rPr lang="pt-BR" sz="1650" b="1" dirty="0"/>
              <a:t>{</a:t>
            </a:r>
          </a:p>
          <a:p>
            <a:r>
              <a:rPr lang="pt-BR" sz="1650" b="1" dirty="0">
                <a:solidFill>
                  <a:srgbClr val="FF0000"/>
                </a:solidFill>
              </a:rPr>
              <a:t>  // Conecta-se ao Ponto de acesso com as credenciais fornecidas</a:t>
            </a:r>
          </a:p>
          <a:p>
            <a:r>
              <a:rPr lang="pt-BR" sz="1650" b="1" dirty="0"/>
              <a:t>  </a:t>
            </a:r>
            <a:r>
              <a:rPr lang="pt-BR" sz="1650" b="1" dirty="0" err="1"/>
              <a:t>WiFi.begin</a:t>
            </a:r>
            <a:r>
              <a:rPr lang="pt-BR" sz="1650" b="1" dirty="0"/>
              <a:t>(</a:t>
            </a:r>
            <a:r>
              <a:rPr lang="pt-BR" sz="1650" b="1" dirty="0" err="1"/>
              <a:t>ssid</a:t>
            </a:r>
            <a:r>
              <a:rPr lang="pt-BR" sz="1650" b="1" dirty="0"/>
              <a:t>, </a:t>
            </a:r>
            <a:r>
              <a:rPr lang="pt-BR" sz="1650" b="1" dirty="0" err="1"/>
              <a:t>password</a:t>
            </a:r>
            <a:r>
              <a:rPr lang="pt-BR" sz="1650" b="1" dirty="0"/>
              <a:t>);</a:t>
            </a:r>
          </a:p>
          <a:p>
            <a:endParaRPr lang="pt-BR" sz="1650" b="1" dirty="0"/>
          </a:p>
          <a:p>
            <a:r>
              <a:rPr lang="pt-BR" sz="1650" b="1" dirty="0">
                <a:solidFill>
                  <a:srgbClr val="FF0000"/>
                </a:solidFill>
              </a:rPr>
              <a:t>  // disponibiliza o </a:t>
            </a:r>
            <a:r>
              <a:rPr lang="pt-BR" sz="1650" b="1" dirty="0" err="1">
                <a:solidFill>
                  <a:srgbClr val="FF0000"/>
                </a:solidFill>
              </a:rPr>
              <a:t>url</a:t>
            </a:r>
            <a:r>
              <a:rPr lang="pt-BR" sz="1650" b="1" dirty="0">
                <a:solidFill>
                  <a:srgbClr val="FF0000"/>
                </a:solidFill>
              </a:rPr>
              <a:t> "/" com o conteúdo da </a:t>
            </a:r>
            <a:r>
              <a:rPr lang="pt-BR" sz="1650" b="1" dirty="0" err="1">
                <a:solidFill>
                  <a:srgbClr val="FF0000"/>
                </a:solidFill>
              </a:rPr>
              <a:t>String</a:t>
            </a:r>
            <a:r>
              <a:rPr lang="pt-BR" sz="1650" b="1" dirty="0">
                <a:solidFill>
                  <a:srgbClr val="FF0000"/>
                </a:solidFill>
              </a:rPr>
              <a:t> abaixo</a:t>
            </a:r>
          </a:p>
          <a:p>
            <a:r>
              <a:rPr lang="pt-BR" sz="1650" b="1" dirty="0"/>
              <a:t>  </a:t>
            </a:r>
            <a:r>
              <a:rPr lang="pt-BR" sz="1650" b="1" dirty="0" err="1"/>
              <a:t>server.on</a:t>
            </a:r>
            <a:r>
              <a:rPr lang="pt-BR" sz="1650" b="1" dirty="0"/>
              <a:t>("/", HTTP_GET, [](</a:t>
            </a:r>
            <a:r>
              <a:rPr lang="pt-BR" sz="1650" b="1" dirty="0" err="1"/>
              <a:t>AsyncWebServerRequest</a:t>
            </a:r>
            <a:r>
              <a:rPr lang="pt-BR" sz="1650" b="1" dirty="0"/>
              <a:t> * </a:t>
            </a:r>
            <a:r>
              <a:rPr lang="pt-BR" sz="1650" b="1" dirty="0" err="1"/>
              <a:t>request</a:t>
            </a:r>
            <a:r>
              <a:rPr lang="pt-BR" sz="1650" b="1" dirty="0"/>
              <a:t>) {</a:t>
            </a:r>
          </a:p>
          <a:p>
            <a:r>
              <a:rPr lang="pt-BR" sz="1650" b="1" dirty="0"/>
              <a:t>    </a:t>
            </a:r>
            <a:r>
              <a:rPr lang="pt-BR" sz="1650" b="1" dirty="0" err="1"/>
              <a:t>request</a:t>
            </a:r>
            <a:r>
              <a:rPr lang="pt-BR" sz="1650" b="1" dirty="0"/>
              <a:t>-&gt;</a:t>
            </a:r>
            <a:r>
              <a:rPr lang="pt-BR" sz="1650" b="1" dirty="0" err="1"/>
              <a:t>send</a:t>
            </a:r>
            <a:r>
              <a:rPr lang="pt-BR" sz="1650" b="1" dirty="0"/>
              <a:t>(200, "</a:t>
            </a:r>
            <a:r>
              <a:rPr lang="pt-BR" sz="1650" b="1" dirty="0" err="1"/>
              <a:t>text</a:t>
            </a:r>
            <a:r>
              <a:rPr lang="pt-BR" sz="1650" b="1" dirty="0"/>
              <a:t>/</a:t>
            </a:r>
            <a:r>
              <a:rPr lang="pt-BR" sz="1650" b="1" dirty="0" err="1"/>
              <a:t>plain</a:t>
            </a:r>
            <a:r>
              <a:rPr lang="pt-BR" sz="1650" b="1" dirty="0"/>
              <a:t>", "</a:t>
            </a:r>
            <a:r>
              <a:rPr lang="pt-BR" sz="1650" b="1" dirty="0" err="1"/>
              <a:t>Ola</a:t>
            </a:r>
            <a:r>
              <a:rPr lang="pt-BR" sz="1650" b="1" dirty="0"/>
              <a:t> mundo!");</a:t>
            </a:r>
          </a:p>
          <a:p>
            <a:r>
              <a:rPr lang="pt-BR" sz="1650" b="1" dirty="0"/>
              <a:t>  });</a:t>
            </a:r>
          </a:p>
          <a:p>
            <a:endParaRPr lang="pt-BR" sz="1650" b="1" dirty="0"/>
          </a:p>
          <a:p>
            <a:r>
              <a:rPr lang="pt-BR" sz="1650" b="1" dirty="0">
                <a:solidFill>
                  <a:srgbClr val="FF0000"/>
                </a:solidFill>
              </a:rPr>
              <a:t>  // Servidor começa à ouvir os clientes</a:t>
            </a:r>
          </a:p>
          <a:p>
            <a:r>
              <a:rPr lang="pt-BR" sz="1650" b="1" dirty="0"/>
              <a:t>  </a:t>
            </a:r>
            <a:r>
              <a:rPr lang="pt-BR" sz="1650" b="1" dirty="0" err="1"/>
              <a:t>server.begin</a:t>
            </a:r>
            <a:r>
              <a:rPr lang="pt-BR" sz="1650" b="1" dirty="0"/>
              <a:t>();</a:t>
            </a:r>
          </a:p>
          <a:p>
            <a:r>
              <a:rPr lang="pt-BR" sz="1650" b="1" dirty="0"/>
              <a:t>}</a:t>
            </a:r>
          </a:p>
          <a:p>
            <a:r>
              <a:rPr lang="pt-BR" sz="1650" b="1" dirty="0" err="1"/>
              <a:t>void</a:t>
            </a:r>
            <a:r>
              <a:rPr lang="pt-BR" sz="1650" b="1" dirty="0"/>
              <a:t> loop() </a:t>
            </a:r>
          </a:p>
          <a:p>
            <a:r>
              <a:rPr lang="pt-BR" sz="1650" b="1" dirty="0"/>
              <a:t>{ }</a:t>
            </a:r>
          </a:p>
        </p:txBody>
      </p:sp>
      <p:sp>
        <p:nvSpPr>
          <p:cNvPr id="7" name="Texto Explicativo em Elipse 6"/>
          <p:cNvSpPr/>
          <p:nvPr/>
        </p:nvSpPr>
        <p:spPr>
          <a:xfrm>
            <a:off x="7707087" y="3252004"/>
            <a:ext cx="3920140" cy="1398373"/>
          </a:xfrm>
          <a:prstGeom prst="wedgeEllipseCallout">
            <a:avLst>
              <a:gd name="adj1" fmla="val -74551"/>
              <a:gd name="adj2" fmla="val 562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rgbClr val="FFFF00"/>
                </a:solidFill>
              </a:rPr>
              <a:t>Será explicado no próximo slide</a:t>
            </a:r>
          </a:p>
        </p:txBody>
      </p:sp>
    </p:spTree>
    <p:extLst>
      <p:ext uri="{BB962C8B-B14F-4D97-AF65-F5344CB8AC3E}">
        <p14:creationId xmlns:p14="http://schemas.microsoft.com/office/powerpoint/2010/main" val="2699950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92331" y="0"/>
            <a:ext cx="11499669" cy="6858000"/>
          </a:xfrm>
        </p:spPr>
        <p:txBody>
          <a:bodyPr>
            <a:noAutofit/>
          </a:bodyPr>
          <a:lstStyle/>
          <a:p>
            <a:pPr lvl="0"/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				</a:t>
            </a:r>
            <a:r>
              <a:rPr 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Exemplo mais detalhado: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("/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HTTP_GET, [](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AsyncWebServerRequest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*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{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-&gt;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send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(200, "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text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plain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readTemp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().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c_str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});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11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		        </a:t>
            </a:r>
            <a:r>
              <a:rPr lang="pt-BR" alt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Desmembrando o método *.</a:t>
            </a:r>
            <a:r>
              <a:rPr lang="pt-BR" altLang="pt-BR" sz="2400" b="1" u="sng" dirty="0" err="1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on</a:t>
            </a:r>
            <a:r>
              <a:rPr lang="pt-BR" alt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acima:</a:t>
            </a:r>
            <a:br>
              <a:rPr lang="pt-BR" alt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("/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HTTP_GET,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LerTemp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);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void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LerTemp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AsyncWebServerRequest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*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{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-&gt;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send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(200, "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text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plain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readTemp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().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c_str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}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 método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*.</a:t>
            </a:r>
            <a:r>
              <a:rPr lang="pt-BR" altLang="pt-BR" sz="2400" b="1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on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lang="pt-BR" altLang="pt-BR" sz="2400" b="1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 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 3 argumentos: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pt-BR" altLang="pt-BR" sz="2400" b="1" u="sng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primeiro argumento:</a:t>
            </a:r>
            <a:r>
              <a:rPr lang="pt-BR" altLang="pt-BR" sz="2400" b="1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quando usamos somente “/”, significa que a página solicitada é dado apenas pelo número IP. Quando usamos “/palavra”, significa que o IP deve ser seguido do argumento /palavra. Exemplo: http://102.168.4.1/temp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endParaRPr lang="pt-BR" sz="2400" dirty="0">
              <a:cs typeface="Calibri" panose="020F050202020403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585063" y="535577"/>
            <a:ext cx="4990011" cy="692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o Explicativo Retangular com Cantos Arredondados 6"/>
          <p:cNvSpPr/>
          <p:nvPr/>
        </p:nvSpPr>
        <p:spPr>
          <a:xfrm>
            <a:off x="9862457" y="1384663"/>
            <a:ext cx="2076994" cy="2044337"/>
          </a:xfrm>
          <a:prstGeom prst="wedgeRoundRectCallout">
            <a:avLst>
              <a:gd name="adj1" fmla="val -65487"/>
              <a:gd name="adj2" fmla="val -5896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Chamada de função lambda, que permite escrever uma função embutida!</a:t>
            </a:r>
          </a:p>
        </p:txBody>
      </p:sp>
    </p:spTree>
    <p:extLst>
      <p:ext uri="{BB962C8B-B14F-4D97-AF65-F5344CB8AC3E}">
        <p14:creationId xmlns:p14="http://schemas.microsoft.com/office/powerpoint/2010/main" val="2448793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92331" y="0"/>
            <a:ext cx="11499669" cy="6858000"/>
          </a:xfrm>
        </p:spPr>
        <p:txBody>
          <a:bodyPr>
            <a:noAutofit/>
          </a:bodyPr>
          <a:lstStyle/>
          <a:p>
            <a:pPr lvl="0"/>
            <a:r>
              <a:rPr lang="pt-BR" altLang="pt-BR" sz="2400" b="1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[continuação]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Os métodos 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*.</a:t>
            </a:r>
            <a:r>
              <a:rPr lang="pt-BR" altLang="pt-BR" sz="2400" b="1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on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lang="pt-BR" altLang="pt-BR" sz="2400" b="1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b="1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: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		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("/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HTTP_GET,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LerTemp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pt-BR" altLang="pt-BR" sz="2400" b="1" u="sng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segundo argumento: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HTTP_GET ou HTTP_POST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pt-BR" altLang="pt-BR" sz="2400" b="1" u="sng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terceiro argumento: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função de call-back à solicitação feita no browser (navegador).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endParaRPr lang="pt-BR" sz="2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491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2331" y="0"/>
            <a:ext cx="11499669" cy="6858000"/>
          </a:xfrm>
        </p:spPr>
        <p:txBody>
          <a:bodyPr>
            <a:noAutofit/>
          </a:bodyPr>
          <a:lstStyle/>
          <a:p>
            <a:pPr lvl="0"/>
            <a:r>
              <a:rPr lang="pt-BR" sz="2600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// disponibiliza o </a:t>
            </a:r>
            <a:r>
              <a:rPr lang="pt-BR" sz="2400" dirty="0" err="1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url</a:t>
            </a:r>
            <a:r>
              <a:rPr lang="pt-BR" sz="2400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"/" com o conteúdo da </a:t>
            </a:r>
            <a:r>
              <a:rPr lang="pt-BR" sz="2400" dirty="0" err="1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String</a:t>
            </a:r>
            <a:r>
              <a:rPr lang="pt-BR" sz="2400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abaixo</a:t>
            </a:r>
            <a:br>
              <a:rPr lang="pt-BR" sz="2400" dirty="0">
                <a:solidFill>
                  <a:srgbClr val="FF0000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("/", HTTP_GET, [](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AsyncWebServerRequest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 * 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) 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{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	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-&gt;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send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(200, "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text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/</a:t>
            </a:r>
            <a:r>
              <a:rPr lang="pt-BR" sz="2400" dirty="0" err="1">
                <a:ea typeface="Verdana" panose="020B0604030504040204" pitchFamily="34" charset="0"/>
                <a:cs typeface="Calibri" panose="020F0502020204030204" pitchFamily="34" charset="0"/>
              </a:rPr>
              <a:t>plain</a:t>
            </a: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", "Olá mundo!");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});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  <a:t>				</a:t>
            </a:r>
            <a:r>
              <a:rPr 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Exemplo mais detalhado:</a:t>
            </a: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("/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HTTP_GET, [](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AsyncWebServerRequest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*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{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-&gt;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send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(200, "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text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plain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readTemp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().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c_str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});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				</a:t>
            </a:r>
            <a:r>
              <a:rPr lang="pt-BR" alt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ou assim:</a:t>
            </a:r>
            <a:br>
              <a:rPr lang="pt-BR" altLang="pt-BR" sz="2400" b="1" u="sng" dirty="0">
                <a:solidFill>
                  <a:srgbClr val="0070C0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sz="2400" dirty="0"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server.on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("/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HTTP_GET,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LerTemp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);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void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LerTemp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AsyncWebServerRequest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 *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)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{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	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request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-&gt;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send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(200, "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text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/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plain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", 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readTemp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().</a:t>
            </a:r>
            <a:r>
              <a:rPr lang="pt-BR" altLang="pt-BR" sz="2400" dirty="0" err="1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c_str</a:t>
            </a: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()); </a:t>
            </a:r>
            <a:b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pt-BR" altLang="pt-BR" sz="2400" dirty="0">
                <a:solidFill>
                  <a:schemeClr val="tx1"/>
                </a:solidFill>
                <a:ea typeface="Verdana" panose="020B0604030504040204" pitchFamily="34" charset="0"/>
                <a:cs typeface="Calibri" panose="020F0502020204030204" pitchFamily="34" charset="0"/>
              </a:rPr>
              <a:t>} </a:t>
            </a:r>
            <a:endParaRPr lang="pt-BR" sz="2400" dirty="0">
              <a:cs typeface="Calibri" panose="020F0502020204030204" pitchFamily="34" charset="0"/>
            </a:endParaRPr>
          </a:p>
        </p:txBody>
      </p:sp>
      <p:sp>
        <p:nvSpPr>
          <p:cNvPr id="10" name="Texto Explicativo Retangular com Cantos Arredondados 9"/>
          <p:cNvSpPr/>
          <p:nvPr/>
        </p:nvSpPr>
        <p:spPr>
          <a:xfrm>
            <a:off x="8987246" y="809897"/>
            <a:ext cx="3004457" cy="1750423"/>
          </a:xfrm>
          <a:prstGeom prst="wedgeRoundRectCallout">
            <a:avLst>
              <a:gd name="adj1" fmla="val -68778"/>
              <a:gd name="adj2" fmla="val -472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Sempre que existe uma requisição externa para o IP do ESP o método </a:t>
            </a:r>
            <a:r>
              <a:rPr lang="pt-BR" b="1" dirty="0" err="1">
                <a:solidFill>
                  <a:srgbClr val="FFFF00"/>
                </a:solidFill>
              </a:rPr>
              <a:t>server.on</a:t>
            </a:r>
            <a:r>
              <a:rPr lang="pt-BR" b="1" dirty="0">
                <a:solidFill>
                  <a:srgbClr val="FFFF00"/>
                </a:solidFill>
              </a:rPr>
              <a:t> (*.</a:t>
            </a:r>
            <a:r>
              <a:rPr lang="pt-BR" b="1" dirty="0" err="1">
                <a:solidFill>
                  <a:srgbClr val="FFFF00"/>
                </a:solidFill>
              </a:rPr>
              <a:t>on</a:t>
            </a:r>
            <a:r>
              <a:rPr lang="pt-BR" b="1" dirty="0">
                <a:solidFill>
                  <a:srgbClr val="FFFF00"/>
                </a:solidFill>
              </a:rPr>
              <a:t>) é o retorno de chamada (call-back) </a:t>
            </a:r>
          </a:p>
        </p:txBody>
      </p:sp>
      <p:sp>
        <p:nvSpPr>
          <p:cNvPr id="11" name="Texto Explicativo Retangular com Cantos Arredondados 10"/>
          <p:cNvSpPr/>
          <p:nvPr/>
        </p:nvSpPr>
        <p:spPr>
          <a:xfrm>
            <a:off x="8987246" y="3196046"/>
            <a:ext cx="3004457" cy="3426823"/>
          </a:xfrm>
          <a:prstGeom prst="wedgeRoundRectCallout">
            <a:avLst>
              <a:gd name="adj1" fmla="val -67474"/>
              <a:gd name="adj2" fmla="val -353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No exemplo anterior, simplesmente o IP era suficiente para que o método </a:t>
            </a:r>
            <a:r>
              <a:rPr lang="pt-BR" b="1" dirty="0" err="1">
                <a:solidFill>
                  <a:srgbClr val="FFFF00"/>
                </a:solidFill>
              </a:rPr>
              <a:t>server.on</a:t>
            </a:r>
            <a:r>
              <a:rPr lang="pt-BR" b="1" dirty="0">
                <a:solidFill>
                  <a:srgbClr val="FFFF00"/>
                </a:solidFill>
              </a:rPr>
              <a:t> (*.</a:t>
            </a:r>
            <a:r>
              <a:rPr lang="pt-BR" b="1" dirty="0" err="1">
                <a:solidFill>
                  <a:srgbClr val="FFFF00"/>
                </a:solidFill>
              </a:rPr>
              <a:t>on</a:t>
            </a:r>
            <a:r>
              <a:rPr lang="pt-BR" b="1" dirty="0">
                <a:solidFill>
                  <a:srgbClr val="FFFF00"/>
                </a:solidFill>
              </a:rPr>
              <a:t>) retornasse a chamada.</a:t>
            </a:r>
          </a:p>
          <a:p>
            <a:pPr algn="ctr"/>
            <a:endParaRPr lang="pt-BR" b="1" dirty="0">
              <a:solidFill>
                <a:srgbClr val="FFFF00"/>
              </a:solidFill>
            </a:endParaRPr>
          </a:p>
          <a:p>
            <a:pPr algn="ctr"/>
            <a:r>
              <a:rPr lang="pt-BR" b="1" dirty="0">
                <a:solidFill>
                  <a:srgbClr val="FFFF00"/>
                </a:solidFill>
              </a:rPr>
              <a:t>Agora neste exemplo, além do IP é necessário colocar /</a:t>
            </a:r>
            <a:r>
              <a:rPr lang="pt-BR" b="1" dirty="0" err="1">
                <a:solidFill>
                  <a:srgbClr val="FFFF00"/>
                </a:solidFill>
              </a:rPr>
              <a:t>temp</a:t>
            </a:r>
            <a:r>
              <a:rPr lang="pt-BR" b="1" dirty="0">
                <a:solidFill>
                  <a:srgbClr val="FFFF00"/>
                </a:solidFill>
              </a:rPr>
              <a:t> no browser.</a:t>
            </a:r>
          </a:p>
          <a:p>
            <a:pPr algn="ctr"/>
            <a:r>
              <a:rPr lang="pt-BR" b="1" dirty="0">
                <a:solidFill>
                  <a:srgbClr val="FFFF00"/>
                </a:solidFill>
              </a:rPr>
              <a:t>Ex.: </a:t>
            </a:r>
          </a:p>
          <a:p>
            <a:pPr algn="ctr"/>
            <a:r>
              <a:rPr lang="pt-BR" b="1" dirty="0">
                <a:solidFill>
                  <a:srgbClr val="FFFF00"/>
                </a:solidFill>
              </a:rPr>
              <a:t>http://192.168.4.1/temp</a:t>
            </a:r>
          </a:p>
        </p:txBody>
      </p:sp>
    </p:spTree>
    <p:extLst>
      <p:ext uri="{BB962C8B-B14F-4D97-AF65-F5344CB8AC3E}">
        <p14:creationId xmlns:p14="http://schemas.microsoft.com/office/powerpoint/2010/main" val="1969981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0" y="1943100"/>
            <a:ext cx="9601200" cy="14859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O </a:t>
            </a:r>
            <a:r>
              <a:rPr lang="pt-BR" dirty="0" err="1"/>
              <a:t>html</a:t>
            </a:r>
            <a:r>
              <a:rPr lang="pt-BR" dirty="0"/>
              <a:t> de uma página web pode ser inserido de diversas formas em um código do ESP8266 ou ESP32 (válido para plataformas </a:t>
            </a:r>
            <a:r>
              <a:rPr lang="pt-BR" dirty="0" err="1"/>
              <a:t>Arduino</a:t>
            </a:r>
            <a:r>
              <a:rPr lang="pt-BR" dirty="0"/>
              <a:t>).</a:t>
            </a:r>
            <a:br>
              <a:rPr lang="pt-BR" dirty="0"/>
            </a:br>
            <a:r>
              <a:rPr lang="pt-BR" dirty="0"/>
              <a:t>A seguir veremos duas formas???</a:t>
            </a:r>
          </a:p>
        </p:txBody>
      </p:sp>
    </p:spTree>
    <p:extLst>
      <p:ext uri="{BB962C8B-B14F-4D97-AF65-F5344CB8AC3E}">
        <p14:creationId xmlns:p14="http://schemas.microsoft.com/office/powerpoint/2010/main" val="4058334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DF466E6-2427-683D-23E5-0893AC3AD4FD}"/>
              </a:ext>
            </a:extLst>
          </p:cNvPr>
          <p:cNvSpPr txBox="1"/>
          <p:nvPr/>
        </p:nvSpPr>
        <p:spPr>
          <a:xfrm>
            <a:off x="746449" y="0"/>
            <a:ext cx="1144555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WiFi.h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WebServer.h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const</a:t>
            </a:r>
            <a:r>
              <a:rPr lang="pt-BR" sz="1600" dirty="0"/>
              <a:t> char* </a:t>
            </a:r>
            <a:r>
              <a:rPr lang="pt-BR" sz="1600" dirty="0" err="1"/>
              <a:t>ssid</a:t>
            </a:r>
            <a:r>
              <a:rPr lang="pt-BR" sz="1600" dirty="0"/>
              <a:t> = "motog8";  // </a:t>
            </a:r>
            <a:r>
              <a:rPr lang="pt-BR" sz="1600" dirty="0" err="1"/>
              <a:t>Enter</a:t>
            </a:r>
            <a:r>
              <a:rPr lang="pt-BR" sz="1600" dirty="0"/>
              <a:t> </a:t>
            </a:r>
            <a:r>
              <a:rPr lang="pt-BR" sz="1600" dirty="0" err="1"/>
              <a:t>your</a:t>
            </a:r>
            <a:r>
              <a:rPr lang="pt-BR" sz="1600" dirty="0"/>
              <a:t> SSID </a:t>
            </a:r>
            <a:r>
              <a:rPr lang="pt-BR" sz="1600" dirty="0" err="1"/>
              <a:t>here</a:t>
            </a:r>
            <a:endParaRPr lang="pt-BR" sz="1600" dirty="0"/>
          </a:p>
          <a:p>
            <a:r>
              <a:rPr lang="pt-BR" sz="1600" dirty="0" err="1"/>
              <a:t>const</a:t>
            </a:r>
            <a:r>
              <a:rPr lang="pt-BR" sz="1600" dirty="0"/>
              <a:t> char* </a:t>
            </a:r>
            <a:r>
              <a:rPr lang="pt-BR" sz="1600" dirty="0" err="1"/>
              <a:t>password</a:t>
            </a:r>
            <a:r>
              <a:rPr lang="pt-BR" sz="1600" dirty="0"/>
              <a:t> = "0123456789";  //</a:t>
            </a:r>
            <a:r>
              <a:rPr lang="pt-BR" sz="1600" dirty="0" err="1"/>
              <a:t>Enter</a:t>
            </a:r>
            <a:r>
              <a:rPr lang="pt-BR" sz="1600" dirty="0"/>
              <a:t> </a:t>
            </a:r>
            <a:r>
              <a:rPr lang="pt-BR" sz="1600" dirty="0" err="1"/>
              <a:t>your</a:t>
            </a:r>
            <a:r>
              <a:rPr lang="pt-BR" sz="1600" dirty="0"/>
              <a:t> </a:t>
            </a:r>
            <a:r>
              <a:rPr lang="pt-BR" sz="1600" dirty="0" err="1"/>
              <a:t>Password</a:t>
            </a:r>
            <a:r>
              <a:rPr lang="pt-BR" sz="1600" dirty="0"/>
              <a:t> </a:t>
            </a:r>
            <a:r>
              <a:rPr lang="pt-BR" sz="1600" dirty="0" err="1"/>
              <a:t>here</a:t>
            </a:r>
            <a:endParaRPr lang="pt-BR" sz="1600" dirty="0"/>
          </a:p>
          <a:p>
            <a:r>
              <a:rPr lang="pt-BR" sz="1600" dirty="0" err="1"/>
              <a:t>WebServer</a:t>
            </a:r>
            <a:r>
              <a:rPr lang="pt-BR" sz="1600" dirty="0"/>
              <a:t> server(80);  // </a:t>
            </a:r>
            <a:r>
              <a:rPr lang="pt-BR" sz="1600" dirty="0" err="1"/>
              <a:t>Object</a:t>
            </a:r>
            <a:r>
              <a:rPr lang="pt-BR" sz="1600" dirty="0"/>
              <a:t> </a:t>
            </a:r>
            <a:r>
              <a:rPr lang="pt-BR" sz="1600" dirty="0" err="1"/>
              <a:t>of</a:t>
            </a:r>
            <a:r>
              <a:rPr lang="pt-BR" sz="1600" dirty="0"/>
              <a:t> </a:t>
            </a:r>
            <a:r>
              <a:rPr lang="pt-BR" sz="1600" dirty="0" err="1"/>
              <a:t>WebServer</a:t>
            </a:r>
            <a:r>
              <a:rPr lang="pt-BR" sz="1600" dirty="0"/>
              <a:t>(HTTP </a:t>
            </a:r>
            <a:r>
              <a:rPr lang="pt-BR" sz="1600" dirty="0" err="1"/>
              <a:t>port</a:t>
            </a:r>
            <a:r>
              <a:rPr lang="pt-BR" sz="1600" dirty="0"/>
              <a:t>, 80 </a:t>
            </a:r>
            <a:r>
              <a:rPr lang="pt-BR" sz="1600" dirty="0" err="1"/>
              <a:t>is</a:t>
            </a:r>
            <a:r>
              <a:rPr lang="pt-BR" sz="1600" dirty="0"/>
              <a:t> </a:t>
            </a:r>
            <a:r>
              <a:rPr lang="pt-BR" sz="1600" dirty="0" err="1"/>
              <a:t>defult</a:t>
            </a:r>
            <a:r>
              <a:rPr lang="pt-BR" sz="1600" dirty="0"/>
              <a:t>)</a:t>
            </a:r>
          </a:p>
          <a:p>
            <a:r>
              <a:rPr lang="pt-BR" sz="1600" dirty="0" err="1"/>
              <a:t>void</a:t>
            </a:r>
            <a:r>
              <a:rPr lang="pt-BR" sz="1600" dirty="0"/>
              <a:t> setup() 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Serial.begin</a:t>
            </a:r>
            <a:r>
              <a:rPr lang="pt-BR" sz="1600" dirty="0"/>
              <a:t>(115200);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Serial.println</a:t>
            </a:r>
            <a:r>
              <a:rPr lang="pt-BR" sz="1600" dirty="0"/>
              <a:t>("Conectando......");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WiFi.begin</a:t>
            </a:r>
            <a:r>
              <a:rPr lang="pt-BR" sz="1600" dirty="0"/>
              <a:t>(</a:t>
            </a:r>
            <a:r>
              <a:rPr lang="pt-BR" sz="1600" dirty="0" err="1"/>
              <a:t>ssid</a:t>
            </a:r>
            <a:r>
              <a:rPr lang="pt-BR" sz="1600" dirty="0"/>
              <a:t>, </a:t>
            </a:r>
            <a:r>
              <a:rPr lang="pt-BR" sz="1600" dirty="0" err="1"/>
              <a:t>password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while</a:t>
            </a:r>
            <a:r>
              <a:rPr lang="pt-BR" sz="1600" dirty="0"/>
              <a:t> (</a:t>
            </a:r>
            <a:r>
              <a:rPr lang="pt-BR" sz="1600" dirty="0" err="1"/>
              <a:t>WiFi.status</a:t>
            </a:r>
            <a:r>
              <a:rPr lang="pt-BR" sz="1600" dirty="0"/>
              <a:t>() != WL_CONNECTED) {</a:t>
            </a:r>
          </a:p>
          <a:p>
            <a:r>
              <a:rPr lang="pt-BR" sz="1600" dirty="0"/>
              <a:t>    delay(1000);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Serial.print</a:t>
            </a:r>
            <a:r>
              <a:rPr lang="pt-BR" sz="1600" dirty="0"/>
              <a:t>(".");</a:t>
            </a:r>
          </a:p>
          <a:p>
            <a:r>
              <a:rPr lang="pt-BR" sz="1600" dirty="0"/>
              <a:t>  }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Serial.println</a:t>
            </a:r>
            <a:r>
              <a:rPr lang="pt-BR" sz="1600" dirty="0"/>
              <a:t>("");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Serial.println</a:t>
            </a:r>
            <a:r>
              <a:rPr lang="pt-BR" sz="1600" dirty="0"/>
              <a:t>("WiFi conectado com sucesso");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Serial.print</a:t>
            </a:r>
            <a:r>
              <a:rPr lang="pt-BR" sz="1600" dirty="0"/>
              <a:t>("IP do ESP32 eh: ");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Serial.println</a:t>
            </a:r>
            <a:r>
              <a:rPr lang="pt-BR" sz="1600" dirty="0"/>
              <a:t>(</a:t>
            </a:r>
            <a:r>
              <a:rPr lang="pt-BR" sz="1600" dirty="0" err="1"/>
              <a:t>WiFi.localIP</a:t>
            </a:r>
            <a:r>
              <a:rPr lang="pt-BR" sz="1600" dirty="0"/>
              <a:t>());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server.on</a:t>
            </a:r>
            <a:r>
              <a:rPr lang="pt-BR" sz="1600" dirty="0"/>
              <a:t>("/", </a:t>
            </a:r>
            <a:r>
              <a:rPr lang="pt-BR" sz="1600" dirty="0" err="1"/>
              <a:t>funcao_chama_paginaHtml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server.begin</a:t>
            </a:r>
            <a:r>
              <a:rPr lang="pt-BR" sz="1600" dirty="0"/>
              <a:t>();</a:t>
            </a:r>
          </a:p>
          <a:p>
            <a:r>
              <a:rPr lang="pt-BR" sz="1600" dirty="0"/>
              <a:t>  delay(100);</a:t>
            </a:r>
          </a:p>
          <a:p>
            <a:r>
              <a:rPr lang="pt-BR" sz="1600" dirty="0"/>
              <a:t>}</a:t>
            </a:r>
          </a:p>
          <a:p>
            <a:endParaRPr lang="pt-BR" sz="1600" dirty="0"/>
          </a:p>
          <a:p>
            <a:r>
              <a:rPr lang="pt-BR" sz="1600" dirty="0" err="1"/>
              <a:t>void</a:t>
            </a:r>
            <a:r>
              <a:rPr lang="pt-BR" sz="1600" dirty="0"/>
              <a:t> loop() {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server.handleClient</a:t>
            </a:r>
            <a:r>
              <a:rPr lang="pt-BR" sz="1600" dirty="0"/>
              <a:t>();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B5BD6C-073F-4FE3-6224-C0F4C135C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834" y="0"/>
            <a:ext cx="5903166" cy="704733"/>
          </a:xfrm>
        </p:spPr>
        <p:txBody>
          <a:bodyPr>
            <a:noAutofit/>
          </a:bodyPr>
          <a:lstStyle/>
          <a:p>
            <a:r>
              <a:rPr lang="pt-BR" sz="3200" b="1" u="sng" dirty="0"/>
              <a:t>Situação 1: </a:t>
            </a:r>
            <a:r>
              <a:rPr lang="pt-BR" sz="3200" dirty="0"/>
              <a:t>para HTML pequenos</a:t>
            </a:r>
          </a:p>
        </p:txBody>
      </p:sp>
    </p:spTree>
    <p:extLst>
      <p:ext uri="{BB962C8B-B14F-4D97-AF65-F5344CB8AC3E}">
        <p14:creationId xmlns:p14="http://schemas.microsoft.com/office/powerpoint/2010/main" val="14550202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79093" y="295857"/>
            <a:ext cx="9601200" cy="600063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 err="1"/>
              <a:t>void</a:t>
            </a:r>
            <a:r>
              <a:rPr lang="pt-BR" sz="1800" dirty="0"/>
              <a:t> </a:t>
            </a:r>
            <a:r>
              <a:rPr lang="pt-BR" sz="1800" dirty="0" err="1"/>
              <a:t>funcao_chama_paginaHtml</a:t>
            </a:r>
            <a:r>
              <a:rPr lang="pt-BR" sz="1800" dirty="0"/>
              <a:t>()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//</a:t>
            </a:r>
            <a:r>
              <a:rPr lang="pt-BR" sz="1800" dirty="0" err="1"/>
              <a:t>umid</a:t>
            </a:r>
            <a:r>
              <a:rPr lang="pt-BR" sz="1800" dirty="0"/>
              <a:t> = </a:t>
            </a:r>
            <a:r>
              <a:rPr lang="pt-BR" sz="1800" dirty="0" err="1"/>
              <a:t>dht.readHumidity</a:t>
            </a:r>
            <a:r>
              <a:rPr lang="pt-BR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</a:t>
            </a:r>
            <a:r>
              <a:rPr lang="pt-BR" sz="1800" dirty="0" err="1"/>
              <a:t>float</a:t>
            </a:r>
            <a:r>
              <a:rPr lang="pt-BR" sz="1800" dirty="0"/>
              <a:t> </a:t>
            </a:r>
            <a:r>
              <a:rPr lang="pt-BR" sz="1800" dirty="0" err="1"/>
              <a:t>umid</a:t>
            </a:r>
            <a:r>
              <a:rPr lang="pt-BR" sz="1800" dirty="0"/>
              <a:t> = </a:t>
            </a:r>
            <a:r>
              <a:rPr lang="pt-BR" sz="1800" dirty="0" err="1"/>
              <a:t>random</a:t>
            </a:r>
            <a:r>
              <a:rPr lang="pt-BR" sz="1800" dirty="0"/>
              <a:t>(0, 1000)/10;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//</a:t>
            </a:r>
            <a:r>
              <a:rPr lang="pt-BR" sz="1800" dirty="0" err="1"/>
              <a:t>temp</a:t>
            </a:r>
            <a:r>
              <a:rPr lang="pt-BR" sz="1800" dirty="0"/>
              <a:t> = </a:t>
            </a:r>
            <a:r>
              <a:rPr lang="pt-BR" sz="1800" dirty="0" err="1"/>
              <a:t>dht.readTemperature</a:t>
            </a:r>
            <a:r>
              <a:rPr lang="pt-BR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</a:t>
            </a:r>
            <a:r>
              <a:rPr lang="pt-BR" sz="1800" dirty="0" err="1"/>
              <a:t>float</a:t>
            </a:r>
            <a:r>
              <a:rPr lang="pt-BR" sz="1800" dirty="0"/>
              <a:t> </a:t>
            </a:r>
            <a:r>
              <a:rPr lang="pt-BR" sz="1800" dirty="0" err="1"/>
              <a:t>temp</a:t>
            </a:r>
            <a:r>
              <a:rPr lang="pt-BR" sz="1800" dirty="0"/>
              <a:t> = </a:t>
            </a:r>
            <a:r>
              <a:rPr lang="pt-BR" sz="1800" dirty="0" err="1"/>
              <a:t>random</a:t>
            </a:r>
            <a:r>
              <a:rPr lang="pt-BR" sz="1800" dirty="0"/>
              <a:t>(0, 1000)/10;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</a:t>
            </a:r>
            <a:r>
              <a:rPr lang="pt-BR" sz="1800" dirty="0" err="1"/>
              <a:t>String</a:t>
            </a:r>
            <a:r>
              <a:rPr lang="pt-BR" sz="1800" dirty="0"/>
              <a:t> HTML = "&lt;!DOCTYPE </a:t>
            </a:r>
            <a:r>
              <a:rPr lang="pt-BR" sz="1800" dirty="0" err="1"/>
              <a:t>html</a:t>
            </a:r>
            <a:r>
              <a:rPr lang="pt-BR" sz="1800" dirty="0"/>
              <a:t>&gt;&lt;</a:t>
            </a:r>
            <a:r>
              <a:rPr lang="pt-BR" sz="1800" dirty="0" err="1"/>
              <a:t>html</a:t>
            </a:r>
            <a:r>
              <a:rPr lang="pt-BR" sz="1800" dirty="0"/>
              <a:t>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</a:t>
            </a:r>
            <a:r>
              <a:rPr lang="pt-BR" sz="1800" dirty="0" err="1"/>
              <a:t>head</a:t>
            </a:r>
            <a:r>
              <a:rPr lang="pt-BR" sz="1800" dirty="0"/>
              <a:t>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"&lt;meta </a:t>
            </a:r>
            <a:r>
              <a:rPr lang="pt-BR" sz="1800" dirty="0" err="1"/>
              <a:t>name</a:t>
            </a:r>
            <a:r>
              <a:rPr lang="pt-BR" sz="1800" dirty="0"/>
              <a:t>=\"</a:t>
            </a:r>
            <a:r>
              <a:rPr lang="pt-BR" sz="1800" dirty="0" err="1"/>
              <a:t>viewport</a:t>
            </a:r>
            <a:r>
              <a:rPr lang="pt-BR" sz="1800" dirty="0"/>
              <a:t>\" </a:t>
            </a:r>
            <a:r>
              <a:rPr lang="pt-BR" sz="1800" dirty="0" err="1"/>
              <a:t>content</a:t>
            </a:r>
            <a:r>
              <a:rPr lang="pt-BR" sz="1800" dirty="0"/>
              <a:t>=\"</a:t>
            </a:r>
            <a:r>
              <a:rPr lang="pt-BR" sz="1800" dirty="0" err="1"/>
              <a:t>width</a:t>
            </a:r>
            <a:r>
              <a:rPr lang="pt-BR" sz="1800" dirty="0"/>
              <a:t>=device-</a:t>
            </a:r>
            <a:r>
              <a:rPr lang="pt-BR" sz="1800" dirty="0" err="1"/>
              <a:t>width</a:t>
            </a:r>
            <a:r>
              <a:rPr lang="pt-BR" sz="1800" dirty="0"/>
              <a:t>, </a:t>
            </a:r>
            <a:r>
              <a:rPr lang="pt-BR" sz="1800" dirty="0" err="1"/>
              <a:t>initial-scale</a:t>
            </a:r>
            <a:r>
              <a:rPr lang="pt-BR" sz="1800" dirty="0"/>
              <a:t>=1\"";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"http-</a:t>
            </a:r>
            <a:r>
              <a:rPr lang="pt-BR" sz="1800" dirty="0" err="1"/>
              <a:t>equiv</a:t>
            </a:r>
            <a:r>
              <a:rPr lang="pt-BR" sz="1800" dirty="0"/>
              <a:t>=\"</a:t>
            </a:r>
            <a:r>
              <a:rPr lang="pt-BR" sz="1800" dirty="0" err="1"/>
              <a:t>refresh</a:t>
            </a:r>
            <a:r>
              <a:rPr lang="pt-BR" sz="1800" dirty="0"/>
              <a:t>\" </a:t>
            </a:r>
            <a:r>
              <a:rPr lang="pt-BR" sz="1800" dirty="0" err="1"/>
              <a:t>content</a:t>
            </a:r>
            <a:r>
              <a:rPr lang="pt-BR" sz="1800" dirty="0"/>
              <a:t>=\"5\""&gt;;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"&lt;/</a:t>
            </a:r>
            <a:r>
              <a:rPr lang="pt-BR" sz="1800" dirty="0" err="1"/>
              <a:t>head</a:t>
            </a:r>
            <a:r>
              <a:rPr lang="pt-BR" sz="1800" dirty="0"/>
              <a:t>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"&lt;body&gt;&lt;h1&gt;Monitoramento de Temperatura e Umidade&lt;/h1&gt;";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"&lt;p&gt;&lt;h3&gt;A temperatura atual eh de: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(</a:t>
            </a:r>
            <a:r>
              <a:rPr lang="pt-BR" sz="1800" dirty="0" err="1"/>
              <a:t>float</a:t>
            </a:r>
            <a:r>
              <a:rPr lang="pt-BR" sz="1800" dirty="0"/>
              <a:t>)</a:t>
            </a:r>
            <a:r>
              <a:rPr lang="pt-BR" sz="1800" dirty="0" err="1"/>
              <a:t>temp</a:t>
            </a:r>
            <a:r>
              <a:rPr lang="pt-BR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 graus&lt;/h3&gt;&lt;/p&gt;";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"&lt;p&gt;&lt;h3&gt;A umidade relativa do ar eh de: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(</a:t>
            </a:r>
            <a:r>
              <a:rPr lang="pt-BR" sz="1800" dirty="0" err="1"/>
              <a:t>float</a:t>
            </a:r>
            <a:r>
              <a:rPr lang="pt-BR" sz="1800" dirty="0"/>
              <a:t>)</a:t>
            </a:r>
            <a:r>
              <a:rPr lang="pt-BR" sz="1800" dirty="0" err="1"/>
              <a:t>umid</a:t>
            </a:r>
            <a:r>
              <a:rPr lang="pt-BR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"%.&lt;/h3&gt;&lt;/p&gt;";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HTML += "&lt;/body&gt;&lt;/</a:t>
            </a:r>
            <a:r>
              <a:rPr lang="pt-BR" sz="1800" dirty="0" err="1"/>
              <a:t>html</a:t>
            </a:r>
            <a:r>
              <a:rPr lang="pt-BR" sz="1800" dirty="0"/>
              <a:t>&gt;";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  </a:t>
            </a:r>
            <a:r>
              <a:rPr lang="pt-BR" sz="1800" dirty="0" err="1"/>
              <a:t>server.send</a:t>
            </a:r>
            <a:r>
              <a:rPr lang="pt-BR" sz="1800" dirty="0"/>
              <a:t>(200, "</a:t>
            </a:r>
            <a:r>
              <a:rPr lang="pt-BR" sz="1800" dirty="0" err="1"/>
              <a:t>text</a:t>
            </a:r>
            <a:r>
              <a:rPr lang="pt-BR" sz="1800" dirty="0"/>
              <a:t>/</a:t>
            </a:r>
            <a:r>
              <a:rPr lang="pt-BR" sz="1800" dirty="0" err="1"/>
              <a:t>html</a:t>
            </a:r>
            <a:r>
              <a:rPr lang="pt-BR" sz="1800" dirty="0"/>
              <a:t>", HTML);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} </a:t>
            </a:r>
          </a:p>
        </p:txBody>
      </p:sp>
      <p:sp>
        <p:nvSpPr>
          <p:cNvPr id="2" name="Texto Explicativo Retangular com Cantos Arredondados 3">
            <a:extLst>
              <a:ext uri="{FF2B5EF4-FFF2-40B4-BE49-F238E27FC236}">
                <a16:creationId xmlns:a16="http://schemas.microsoft.com/office/drawing/2014/main" id="{9E482FC1-5774-333A-6171-A0C08BB8871D}"/>
              </a:ext>
            </a:extLst>
          </p:cNvPr>
          <p:cNvSpPr/>
          <p:nvPr/>
        </p:nvSpPr>
        <p:spPr>
          <a:xfrm>
            <a:off x="6780998" y="110003"/>
            <a:ext cx="5199017" cy="1541418"/>
          </a:xfrm>
          <a:prstGeom prst="wedgeRoundRectCallout">
            <a:avLst>
              <a:gd name="adj1" fmla="val -71921"/>
              <a:gd name="adj2" fmla="val 12626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o Explicativo Retangular com Cantos Arredondados 4">
            <a:extLst>
              <a:ext uri="{FF2B5EF4-FFF2-40B4-BE49-F238E27FC236}">
                <a16:creationId xmlns:a16="http://schemas.microsoft.com/office/drawing/2014/main" id="{FD7440E9-457A-FCF0-D514-ABE7F7907F5C}"/>
              </a:ext>
            </a:extLst>
          </p:cNvPr>
          <p:cNvSpPr/>
          <p:nvPr/>
        </p:nvSpPr>
        <p:spPr>
          <a:xfrm>
            <a:off x="6780997" y="110003"/>
            <a:ext cx="5199018" cy="1541418"/>
          </a:xfrm>
          <a:prstGeom prst="wedgeRoundRectCallout">
            <a:avLst>
              <a:gd name="adj1" fmla="val -7042"/>
              <a:gd name="adj2" fmla="val 12910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002060"/>
                </a:solidFill>
              </a:rPr>
              <a:t>Sempre que precisares colocar algo entre “ ....”, deve colocar a barra antes das aspas </a:t>
            </a:r>
            <a:r>
              <a:rPr lang="pt-BR" sz="2400" b="1" dirty="0">
                <a:solidFill>
                  <a:srgbClr val="002060"/>
                </a:solidFill>
                <a:sym typeface="Wingdings" panose="05000000000000000000" pitchFamily="2" charset="2"/>
              </a:rPr>
              <a:t> </a:t>
            </a:r>
            <a:r>
              <a:rPr lang="pt-BR" sz="2400" b="1" dirty="0">
                <a:solidFill>
                  <a:srgbClr val="00F200"/>
                </a:solidFill>
              </a:rPr>
              <a:t>\</a:t>
            </a:r>
            <a:r>
              <a:rPr lang="pt-BR" sz="2400" b="1" dirty="0">
                <a:solidFill>
                  <a:srgbClr val="FF0000"/>
                </a:solidFill>
              </a:rPr>
              <a:t>”</a:t>
            </a:r>
            <a:r>
              <a:rPr lang="pt-BR" sz="2400" b="1" dirty="0">
                <a:solidFill>
                  <a:srgbClr val="002060"/>
                </a:solidFill>
              </a:rPr>
              <a:t>.......</a:t>
            </a:r>
            <a:r>
              <a:rPr lang="pt-BR" sz="2400" b="1" dirty="0">
                <a:solidFill>
                  <a:srgbClr val="00F200"/>
                </a:solidFill>
              </a:rPr>
              <a:t>\</a:t>
            </a:r>
            <a:r>
              <a:rPr lang="pt-BR" sz="2400" b="1" dirty="0">
                <a:solidFill>
                  <a:srgbClr val="FF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8613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34497" y="76317"/>
            <a:ext cx="11123525" cy="704733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u="sng" dirty="0"/>
              <a:t>Situação 2:</a:t>
            </a:r>
            <a:r>
              <a:rPr lang="pt-BR" dirty="0"/>
              <a:t> HTML+CSS armazenados na Flash usando SPIFFS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70" y="1249845"/>
            <a:ext cx="9180177" cy="5265255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640080" y="6488668"/>
            <a:ext cx="11551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Figura adaptada de </a:t>
            </a:r>
            <a:r>
              <a:rPr lang="pt-BR" dirty="0">
                <a:hlinkClick r:id="rId3"/>
              </a:rPr>
              <a:t>https://randomnerdtutorials.com/esp8266-web-server-spiffs-nodemcu/</a:t>
            </a:r>
            <a:r>
              <a:rPr lang="pt-BR" dirty="0"/>
              <a:t> - acessado em </a:t>
            </a:r>
            <a:r>
              <a:rPr lang="pt-BR" dirty="0" err="1"/>
              <a:t>ago</a:t>
            </a:r>
            <a:r>
              <a:rPr lang="pt-BR" dirty="0"/>
              <a:t>/2023</a:t>
            </a:r>
          </a:p>
        </p:txBody>
      </p:sp>
    </p:spTree>
    <p:extLst>
      <p:ext uri="{BB962C8B-B14F-4D97-AF65-F5344CB8AC3E}">
        <p14:creationId xmlns:p14="http://schemas.microsoft.com/office/powerpoint/2010/main" val="10215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0C23C1-3965-12E8-A48A-F88BB2641A1F}"/>
              </a:ext>
            </a:extLst>
          </p:cNvPr>
          <p:cNvSpPr txBox="1"/>
          <p:nvPr/>
        </p:nvSpPr>
        <p:spPr>
          <a:xfrm>
            <a:off x="811765" y="531790"/>
            <a:ext cx="11178074" cy="5586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Arquivo </a:t>
            </a:r>
            <a:r>
              <a:rPr kumimoji="0" lang="pt-BR" altLang="pt-BR" sz="1700" b="1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endParaRPr kumimoji="0" lang="pt-BR" altLang="pt-BR" sz="17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700" b="1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700" b="1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&lt;!DOCTYPE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head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title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&gt;ESP32 Web Server&lt;/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title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&lt;link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rel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stylesheet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type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text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="novo_estilo.css"&gt;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&lt;meta http-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equiv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refresh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content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="5"&gt;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head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&lt;h1&gt;ESP32 Servidor Web&lt;/h1&gt;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&lt;p&gt;&lt;a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button1"&gt;ON&lt;/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&gt;&lt;/a&gt;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&lt;a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="/off"&gt;&lt;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button2"&gt;OFF&lt;/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&gt;&lt;/a&gt; 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="sensor-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labels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"&gt;Temperatura: &lt;b&gt; %TEMP% &lt;/b&gt;&lt;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units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"&gt;&amp;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deg;C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="sensor-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labels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"&gt;Umidade:&lt;b&gt; %UMID% &lt;/b&gt;&lt;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units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"&gt;&amp;#37;&lt;/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</a:t>
            </a:r>
            <a:endParaRPr lang="pt-BR" altLang="pt-BR" sz="17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33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9BB61D35-3E18-3CD4-C2B7-3AA6257CA425}"/>
              </a:ext>
            </a:extLst>
          </p:cNvPr>
          <p:cNvSpPr txBox="1"/>
          <p:nvPr/>
        </p:nvSpPr>
        <p:spPr>
          <a:xfrm>
            <a:off x="774441" y="0"/>
            <a:ext cx="8397551" cy="6986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 err="1"/>
              <a:t>html</a:t>
            </a:r>
            <a:r>
              <a:rPr lang="pt-BR" sz="1400" b="1" dirty="0"/>
              <a:t>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font-family</a:t>
            </a:r>
            <a:r>
              <a:rPr lang="pt-BR" sz="1400" b="1" dirty="0"/>
              <a:t>: Arial;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text-align</a:t>
            </a:r>
            <a:r>
              <a:rPr lang="pt-BR" sz="1400" b="1" dirty="0"/>
              <a:t>: center;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h1 {</a:t>
            </a:r>
          </a:p>
          <a:p>
            <a:r>
              <a:rPr lang="pt-BR" sz="1400" b="1" dirty="0"/>
              <a:t>    color: #0F3376;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padding</a:t>
            </a:r>
            <a:r>
              <a:rPr lang="pt-BR" sz="1400" b="1" dirty="0"/>
              <a:t>: 10px;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p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font-size</a:t>
            </a:r>
            <a:r>
              <a:rPr lang="pt-BR" sz="1400" b="1" dirty="0"/>
              <a:t>: 1.5rem;    /* relativo ao tamanho da fonte */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</a:t>
            </a:r>
            <a:r>
              <a:rPr lang="pt-BR" sz="1400" b="1" dirty="0" err="1"/>
              <a:t>button</a:t>
            </a:r>
            <a:r>
              <a:rPr lang="pt-BR" sz="1400" b="1" dirty="0"/>
              <a:t>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width</a:t>
            </a:r>
            <a:r>
              <a:rPr lang="pt-BR" sz="1400" b="1" dirty="0"/>
              <a:t>: 200px;         /* fixar largura do botão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border-radius</a:t>
            </a:r>
            <a:r>
              <a:rPr lang="pt-BR" sz="1400" b="1" dirty="0"/>
              <a:t>: 4px;   /* fazer a borda arredondada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border</a:t>
            </a:r>
            <a:r>
              <a:rPr lang="pt-BR" sz="1400" b="1" dirty="0"/>
              <a:t>: </a:t>
            </a:r>
            <a:r>
              <a:rPr lang="pt-BR" sz="1400" b="1" dirty="0" err="1"/>
              <a:t>none</a:t>
            </a:r>
            <a:r>
              <a:rPr lang="pt-BR" sz="1400" b="1" dirty="0"/>
              <a:t>;         /* sem cor de borda */</a:t>
            </a:r>
          </a:p>
          <a:p>
            <a:r>
              <a:rPr lang="pt-BR" sz="1400" b="1" dirty="0"/>
              <a:t>    color: </a:t>
            </a:r>
            <a:r>
              <a:rPr lang="pt-BR" sz="1400" b="1" dirty="0" err="1"/>
              <a:t>white</a:t>
            </a:r>
            <a:r>
              <a:rPr lang="pt-BR" sz="1400" b="1" dirty="0"/>
              <a:t>;       /* cor da letra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font-size</a:t>
            </a:r>
            <a:r>
              <a:rPr lang="pt-BR" sz="1400" b="1" dirty="0"/>
              <a:t>: 30px;      /* cor da letra */</a:t>
            </a:r>
          </a:p>
          <a:p>
            <a:endParaRPr lang="pt-BR" sz="1400" b="1" dirty="0"/>
          </a:p>
          <a:p>
            <a:r>
              <a:rPr lang="pt-BR" sz="1400" b="1" dirty="0"/>
              <a:t>    </a:t>
            </a:r>
            <a:r>
              <a:rPr lang="pt-BR" sz="1400" b="1" dirty="0" err="1"/>
              <a:t>padding</a:t>
            </a:r>
            <a:r>
              <a:rPr lang="pt-BR" sz="1400" b="1" dirty="0"/>
              <a:t>: 16px;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margin</a:t>
            </a:r>
            <a:r>
              <a:rPr lang="pt-BR" sz="1400" b="1" dirty="0"/>
              <a:t>: 5px;          /* distância entre os botões */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.button1 {</a:t>
            </a:r>
          </a:p>
          <a:p>
            <a:r>
              <a:rPr lang="pt-BR" sz="1400" b="1" dirty="0"/>
              <a:t>    background-color: #008CBA;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.button2 {</a:t>
            </a:r>
          </a:p>
          <a:p>
            <a:r>
              <a:rPr lang="pt-BR" sz="1400" b="1" dirty="0"/>
              <a:t>    background-color: #f44336;</a:t>
            </a:r>
          </a:p>
          <a:p>
            <a:r>
              <a:rPr lang="pt-BR" sz="1400" b="1" dirty="0"/>
              <a:t>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5661E8-A096-66D0-94D4-5A3C01D3C6D9}"/>
              </a:ext>
            </a:extLst>
          </p:cNvPr>
          <p:cNvSpPr txBox="1"/>
          <p:nvPr/>
        </p:nvSpPr>
        <p:spPr>
          <a:xfrm>
            <a:off x="4043654" y="0"/>
            <a:ext cx="185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Arquivo </a:t>
            </a:r>
            <a:r>
              <a:rPr kumimoji="0" lang="pt-BR" altLang="pt-BR" sz="1800" b="1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css</a:t>
            </a:r>
            <a:endParaRPr kumimoji="0" lang="pt-BR" altLang="pt-BR" sz="1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48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9339FE6-709E-E490-758E-F7FED9D606A8}"/>
              </a:ext>
            </a:extLst>
          </p:cNvPr>
          <p:cNvSpPr txBox="1"/>
          <p:nvPr/>
        </p:nvSpPr>
        <p:spPr>
          <a:xfrm>
            <a:off x="849086" y="0"/>
            <a:ext cx="1126826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/**************** MODO STATION (CONECTA A REDE WIFI) ************************/</a:t>
            </a:r>
          </a:p>
          <a:p>
            <a:r>
              <a:rPr lang="pt-BR" dirty="0"/>
              <a:t>#include &lt;</a:t>
            </a:r>
            <a:r>
              <a:rPr lang="pt-BR" dirty="0" err="1"/>
              <a:t>WiFi.h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WebServer.h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pt-BR" dirty="0"/>
              <a:t>#include &lt;</a:t>
            </a:r>
            <a:r>
              <a:rPr lang="pt-BR" dirty="0" err="1"/>
              <a:t>ESPAsyncWebServer.h</a:t>
            </a:r>
            <a:r>
              <a:rPr lang="pt-BR" dirty="0"/>
              <a:t>&gt;</a:t>
            </a:r>
          </a:p>
          <a:p>
            <a:r>
              <a:rPr lang="pt-BR" dirty="0"/>
              <a:t>#include "</a:t>
            </a:r>
            <a:r>
              <a:rPr lang="pt-BR" dirty="0" err="1"/>
              <a:t>FS.h</a:t>
            </a:r>
            <a:r>
              <a:rPr lang="pt-BR" dirty="0"/>
              <a:t>"</a:t>
            </a:r>
          </a:p>
          <a:p>
            <a:r>
              <a:rPr lang="pt-BR" dirty="0"/>
              <a:t>#include "</a:t>
            </a:r>
            <a:r>
              <a:rPr lang="pt-BR" dirty="0" err="1"/>
              <a:t>SPIFFS.h</a:t>
            </a:r>
            <a:r>
              <a:rPr lang="pt-BR" dirty="0"/>
              <a:t>"</a:t>
            </a:r>
          </a:p>
          <a:p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char* </a:t>
            </a:r>
            <a:r>
              <a:rPr lang="pt-BR" dirty="0" err="1"/>
              <a:t>ssid</a:t>
            </a:r>
            <a:r>
              <a:rPr lang="pt-BR" dirty="0"/>
              <a:t> = "motog8";  // </a:t>
            </a:r>
            <a:r>
              <a:rPr lang="pt-BR" dirty="0" err="1"/>
              <a:t>Enter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SSID </a:t>
            </a:r>
            <a:r>
              <a:rPr lang="pt-BR" dirty="0" err="1"/>
              <a:t>here</a:t>
            </a:r>
            <a:endParaRPr lang="pt-BR" dirty="0"/>
          </a:p>
          <a:p>
            <a:r>
              <a:rPr lang="pt-BR" dirty="0" err="1"/>
              <a:t>const</a:t>
            </a:r>
            <a:r>
              <a:rPr lang="pt-BR" dirty="0"/>
              <a:t> char* </a:t>
            </a:r>
            <a:r>
              <a:rPr lang="pt-BR" dirty="0" err="1"/>
              <a:t>password</a:t>
            </a:r>
            <a:r>
              <a:rPr lang="pt-BR" dirty="0"/>
              <a:t> = "0123456789";  //</a:t>
            </a:r>
            <a:r>
              <a:rPr lang="pt-BR" dirty="0" err="1"/>
              <a:t>Enter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Password</a:t>
            </a:r>
            <a:r>
              <a:rPr lang="pt-BR" dirty="0"/>
              <a:t> </a:t>
            </a:r>
            <a:r>
              <a:rPr lang="pt-BR" dirty="0" err="1"/>
              <a:t>here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AsyncWebServer</a:t>
            </a:r>
            <a:r>
              <a:rPr lang="pt-BR" dirty="0"/>
              <a:t> server(80);</a:t>
            </a:r>
          </a:p>
          <a:p>
            <a:endParaRPr lang="pt-BR" dirty="0"/>
          </a:p>
          <a:p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le_temp</a:t>
            </a:r>
            <a:r>
              <a:rPr lang="pt-BR" dirty="0"/>
              <a:t>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</a:t>
            </a:r>
            <a:r>
              <a:rPr lang="pt-BR" dirty="0" err="1"/>
              <a:t>temp</a:t>
            </a:r>
            <a:r>
              <a:rPr lang="pt-BR" dirty="0"/>
              <a:t> = </a:t>
            </a:r>
            <a:r>
              <a:rPr lang="pt-BR" dirty="0" err="1"/>
              <a:t>random</a:t>
            </a:r>
            <a:r>
              <a:rPr lang="pt-BR" dirty="0"/>
              <a:t>(0,1000)/10;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</a:t>
            </a:r>
            <a:r>
              <a:rPr lang="pt-BR" dirty="0" err="1"/>
              <a:t>temp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  </a:t>
            </a:r>
          </a:p>
          <a:p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le_umid</a:t>
            </a:r>
            <a:r>
              <a:rPr lang="pt-BR" dirty="0"/>
              <a:t>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</a:t>
            </a:r>
            <a:r>
              <a:rPr lang="pt-BR" dirty="0" err="1"/>
              <a:t>umid</a:t>
            </a:r>
            <a:r>
              <a:rPr lang="pt-BR" dirty="0"/>
              <a:t> = </a:t>
            </a:r>
            <a:r>
              <a:rPr lang="pt-BR" dirty="0" err="1"/>
              <a:t>random</a:t>
            </a:r>
            <a:r>
              <a:rPr lang="pt-BR" dirty="0"/>
              <a:t>(0,1000)/10;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</a:t>
            </a:r>
            <a:r>
              <a:rPr lang="pt-BR" dirty="0" err="1"/>
              <a:t>umid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4DC72F-F1BF-0B12-0009-37203DF4C4AF}"/>
              </a:ext>
            </a:extLst>
          </p:cNvPr>
          <p:cNvSpPr txBox="1"/>
          <p:nvPr/>
        </p:nvSpPr>
        <p:spPr>
          <a:xfrm>
            <a:off x="10429293" y="440485"/>
            <a:ext cx="176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Código ESP32</a:t>
            </a:r>
          </a:p>
        </p:txBody>
      </p:sp>
    </p:spTree>
    <p:extLst>
      <p:ext uri="{BB962C8B-B14F-4D97-AF65-F5344CB8AC3E}">
        <p14:creationId xmlns:p14="http://schemas.microsoft.com/office/powerpoint/2010/main" val="4218785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2A47BC0-2C5C-7A8E-4B30-3BA5811F3A04}"/>
              </a:ext>
            </a:extLst>
          </p:cNvPr>
          <p:cNvSpPr txBox="1"/>
          <p:nvPr/>
        </p:nvSpPr>
        <p:spPr>
          <a:xfrm>
            <a:off x="699795" y="203214"/>
            <a:ext cx="1126826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String</a:t>
            </a:r>
            <a:r>
              <a:rPr lang="pt-BR" dirty="0"/>
              <a:t> processor(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&amp; var)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if</a:t>
            </a:r>
            <a:r>
              <a:rPr lang="pt-BR" dirty="0"/>
              <a:t> (var == "TEMP"){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le_temp</a:t>
            </a:r>
            <a:r>
              <a:rPr lang="pt-BR" dirty="0"/>
              <a:t>();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(var == "UMID"){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le_umid</a:t>
            </a:r>
            <a:r>
              <a:rPr lang="pt-BR" dirty="0"/>
              <a:t>();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setup()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Serial.begin</a:t>
            </a:r>
            <a:r>
              <a:rPr lang="pt-BR" dirty="0"/>
              <a:t>(115200);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if</a:t>
            </a:r>
            <a:r>
              <a:rPr lang="pt-BR" dirty="0"/>
              <a:t>(!</a:t>
            </a:r>
            <a:r>
              <a:rPr lang="pt-BR" dirty="0" err="1"/>
              <a:t>SPIFFS.begin</a:t>
            </a:r>
            <a:r>
              <a:rPr lang="pt-BR" dirty="0"/>
              <a:t>())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Serial.println</a:t>
            </a:r>
            <a:r>
              <a:rPr lang="pt-BR" dirty="0"/>
              <a:t>("Um </a:t>
            </a:r>
            <a:r>
              <a:rPr lang="pt-BR" dirty="0" err="1"/>
              <a:t>errro</a:t>
            </a:r>
            <a:r>
              <a:rPr lang="pt-BR" dirty="0"/>
              <a:t> com a Flash");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;</a:t>
            </a:r>
          </a:p>
          <a:p>
            <a:r>
              <a:rPr lang="pt-BR" dirty="0"/>
              <a:t>  }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("Conectando......");</a:t>
            </a:r>
          </a:p>
          <a:p>
            <a:r>
              <a:rPr lang="pt-BR" dirty="0"/>
              <a:t>  </a:t>
            </a:r>
            <a:r>
              <a:rPr lang="pt-BR" dirty="0" err="1"/>
              <a:t>WiFi.begin</a:t>
            </a:r>
            <a:r>
              <a:rPr lang="pt-BR" dirty="0"/>
              <a:t>(</a:t>
            </a:r>
            <a:r>
              <a:rPr lang="pt-BR" dirty="0" err="1"/>
              <a:t>ssid</a:t>
            </a:r>
            <a:r>
              <a:rPr lang="pt-BR" dirty="0"/>
              <a:t>, </a:t>
            </a:r>
            <a:r>
              <a:rPr lang="pt-BR" dirty="0" err="1"/>
              <a:t>password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</a:p>
        </p:txBody>
      </p:sp>
      <p:sp>
        <p:nvSpPr>
          <p:cNvPr id="2" name="Texto Explicativo Retangular com Cantos Arredondados 5">
            <a:extLst>
              <a:ext uri="{FF2B5EF4-FFF2-40B4-BE49-F238E27FC236}">
                <a16:creationId xmlns:a16="http://schemas.microsoft.com/office/drawing/2014/main" id="{3BD60224-B4C5-73A6-A872-A9E76163DCDD}"/>
              </a:ext>
            </a:extLst>
          </p:cNvPr>
          <p:cNvSpPr/>
          <p:nvPr/>
        </p:nvSpPr>
        <p:spPr>
          <a:xfrm>
            <a:off x="3254472" y="579315"/>
            <a:ext cx="8713592" cy="1161253"/>
          </a:xfrm>
          <a:prstGeom prst="wedgeRoundRectCallout">
            <a:avLst>
              <a:gd name="adj1" fmla="val -56118"/>
              <a:gd name="adj2" fmla="val -175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&lt;p 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="sensor-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"&gt;Temperatura: &lt;b&gt; %TEMP% &lt;/b&gt;&lt;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"&gt;&amp;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deg;C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&gt;&lt;/p&gt;</a:t>
            </a:r>
          </a:p>
          <a:p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&lt;p 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="sensor-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"&gt;Umidade:&lt;b&gt; %UMID% &lt;/b&gt;&lt;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"&gt;&amp;#37;&lt;/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&gt;&lt;/p&gt; </a:t>
            </a:r>
          </a:p>
          <a:p>
            <a:endParaRPr lang="pt-BR" sz="14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%TEMP% e %UMID% 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são chamados de </a:t>
            </a:r>
            <a:r>
              <a:rPr lang="pt-BR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Placeholders</a:t>
            </a:r>
            <a:r>
              <a:rPr lang="pt-B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no HTML.</a:t>
            </a:r>
            <a:endParaRPr lang="pt-BR" sz="1400" b="1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47AAD8-DD5E-687E-AB43-95EB5917C373}"/>
              </a:ext>
            </a:extLst>
          </p:cNvPr>
          <p:cNvSpPr txBox="1"/>
          <p:nvPr/>
        </p:nvSpPr>
        <p:spPr>
          <a:xfrm>
            <a:off x="4747735" y="2020798"/>
            <a:ext cx="7211944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202C8F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Como funciona a substituição de </a:t>
            </a:r>
            <a:r>
              <a:rPr lang="pt-BR" sz="1600" b="1" dirty="0" err="1"/>
              <a:t>placeholders</a:t>
            </a:r>
            <a:r>
              <a:rPr lang="pt-BR" sz="1600" b="1" dirty="0"/>
              <a:t>?</a:t>
            </a:r>
          </a:p>
          <a:p>
            <a:pPr algn="just"/>
            <a:r>
              <a:rPr lang="pt-BR" sz="1600" dirty="0"/>
              <a:t>O servidor </a:t>
            </a:r>
            <a:r>
              <a:rPr lang="pt-BR" sz="1600" dirty="0" err="1"/>
              <a:t>AsyncWebServer</a:t>
            </a:r>
            <a:r>
              <a:rPr lang="pt-BR" sz="1600" dirty="0"/>
              <a:t> possui um mecanismo para substituir </a:t>
            </a:r>
            <a:r>
              <a:rPr lang="pt-BR" sz="1600" dirty="0" err="1"/>
              <a:t>placeholders</a:t>
            </a:r>
            <a:r>
              <a:rPr lang="pt-BR" sz="1600" dirty="0"/>
              <a:t> no HTML com valores dinâmicos, e a função </a:t>
            </a:r>
            <a:r>
              <a:rPr lang="pt-BR" sz="1600" b="1" dirty="0"/>
              <a:t>processor (pode ser qualquer nome)</a:t>
            </a:r>
            <a:r>
              <a:rPr lang="pt-BR" sz="1600" dirty="0"/>
              <a:t> é usada nesse processo.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b="1" dirty="0"/>
              <a:t>O que ocorre internamente?</a:t>
            </a:r>
          </a:p>
          <a:p>
            <a:pPr algn="just"/>
            <a:r>
              <a:rPr lang="pt-BR" sz="1600" b="1" dirty="0"/>
              <a:t>Mecanismo de </a:t>
            </a:r>
            <a:r>
              <a:rPr lang="pt-BR" sz="1600" b="1" dirty="0" err="1"/>
              <a:t>placeholders</a:t>
            </a:r>
            <a:r>
              <a:rPr lang="pt-BR" sz="1600" b="1" dirty="0"/>
              <a:t>:</a:t>
            </a:r>
            <a:r>
              <a:rPr lang="pt-BR" sz="1600" dirty="0"/>
              <a:t> O servidor está lendo o arquivo HTML (em /index.html) e, quando encontra um </a:t>
            </a:r>
            <a:r>
              <a:rPr lang="pt-BR" sz="1600" dirty="0" err="1"/>
              <a:t>placeholder</a:t>
            </a:r>
            <a:r>
              <a:rPr lang="pt-BR" sz="1600" dirty="0"/>
              <a:t> como %TEMP% ou %UMID%, ele chama a função </a:t>
            </a:r>
            <a:r>
              <a:rPr lang="pt-BR" sz="1600" b="1" dirty="0"/>
              <a:t>processor </a:t>
            </a:r>
            <a:r>
              <a:rPr lang="pt-BR" sz="1600" dirty="0"/>
              <a:t>para substituir esses </a:t>
            </a:r>
            <a:r>
              <a:rPr lang="pt-BR" sz="1600" dirty="0" err="1"/>
              <a:t>placeholders</a:t>
            </a:r>
            <a:r>
              <a:rPr lang="pt-BR" sz="1600" dirty="0"/>
              <a:t>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b="1" dirty="0"/>
              <a:t>Como o servidor chama processor:</a:t>
            </a:r>
            <a:r>
              <a:rPr lang="pt-BR" sz="1600" dirty="0"/>
              <a:t> O servidor vai iterar sobre o HTML e, quando encontra um </a:t>
            </a:r>
            <a:r>
              <a:rPr lang="pt-BR" sz="1600" dirty="0" err="1"/>
              <a:t>placeholder</a:t>
            </a:r>
            <a:r>
              <a:rPr lang="pt-BR" sz="1600" dirty="0"/>
              <a:t> (por exemplo, %TEMP%), ele invoca a função </a:t>
            </a:r>
            <a:r>
              <a:rPr lang="pt-BR" sz="1600" b="1" dirty="0"/>
              <a:t>processor</a:t>
            </a:r>
            <a:r>
              <a:rPr lang="pt-BR" sz="1600" dirty="0"/>
              <a:t>, passando a </a:t>
            </a:r>
            <a:r>
              <a:rPr lang="pt-BR" sz="1600" dirty="0" err="1"/>
              <a:t>string</a:t>
            </a:r>
            <a:r>
              <a:rPr lang="pt-BR" sz="1600" dirty="0"/>
              <a:t> "TEMP" como parâmetro (sem precisar de chamada explícita </a:t>
            </a:r>
            <a:r>
              <a:rPr lang="pt-BR" sz="1600" b="1" dirty="0"/>
              <a:t>processor</a:t>
            </a:r>
            <a:r>
              <a:rPr lang="pt-BR" sz="1600" dirty="0"/>
              <a:t>(var), isso é feito automaticamente pelo servidor). O servidor faz isso para todos os </a:t>
            </a:r>
            <a:r>
              <a:rPr lang="pt-BR" sz="1600" dirty="0" err="1"/>
              <a:t>placeholders</a:t>
            </a:r>
            <a:r>
              <a:rPr lang="pt-BR" sz="1600" dirty="0"/>
              <a:t> que ele encontra. A função </a:t>
            </a:r>
            <a:r>
              <a:rPr lang="pt-BR" sz="1600" b="1" dirty="0"/>
              <a:t>processor</a:t>
            </a:r>
            <a:r>
              <a:rPr lang="pt-BR" sz="1600" dirty="0"/>
              <a:t> processa o </a:t>
            </a:r>
            <a:r>
              <a:rPr lang="pt-BR" sz="1600" dirty="0" err="1"/>
              <a:t>placeholder</a:t>
            </a:r>
            <a:r>
              <a:rPr lang="pt-BR" sz="1600" dirty="0"/>
              <a:t>: A função </a:t>
            </a:r>
            <a:r>
              <a:rPr lang="pt-BR" sz="1600" b="1" dirty="0"/>
              <a:t>processor</a:t>
            </a:r>
            <a:r>
              <a:rPr lang="pt-BR" sz="1600" dirty="0"/>
              <a:t> recebe essa </a:t>
            </a:r>
            <a:r>
              <a:rPr lang="pt-BR" sz="1600" dirty="0" err="1"/>
              <a:t>string</a:t>
            </a:r>
            <a:r>
              <a:rPr lang="pt-BR" sz="1600" dirty="0"/>
              <a:t> ("TEMP" ou "UMID") e, dependendo do valor, chama as funções </a:t>
            </a:r>
            <a:r>
              <a:rPr lang="pt-BR" sz="1600" dirty="0" err="1"/>
              <a:t>le_temp</a:t>
            </a:r>
            <a:r>
              <a:rPr lang="pt-BR" sz="1600" dirty="0"/>
              <a:t>() ou </a:t>
            </a:r>
            <a:r>
              <a:rPr lang="pt-BR" sz="1600" dirty="0" err="1"/>
              <a:t>le_umid</a:t>
            </a:r>
            <a:r>
              <a:rPr lang="pt-BR" sz="1600" dirty="0"/>
              <a:t>() para obter os dados correspondentes e os substitui no HTML.</a:t>
            </a:r>
          </a:p>
        </p:txBody>
      </p:sp>
    </p:spTree>
    <p:extLst>
      <p:ext uri="{BB962C8B-B14F-4D97-AF65-F5344CB8AC3E}">
        <p14:creationId xmlns:p14="http://schemas.microsoft.com/office/powerpoint/2010/main" val="42169196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C4E6675-432E-0EE5-D310-0CCF992830CE}"/>
              </a:ext>
            </a:extLst>
          </p:cNvPr>
          <p:cNvSpPr txBox="1"/>
          <p:nvPr/>
        </p:nvSpPr>
        <p:spPr>
          <a:xfrm>
            <a:off x="755780" y="429208"/>
            <a:ext cx="112682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WiFi.status</a:t>
            </a:r>
            <a:r>
              <a:rPr lang="pt-BR" dirty="0"/>
              <a:t>() != WL_CONNECTED) 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delay(1000);</a:t>
            </a:r>
          </a:p>
          <a:p>
            <a:r>
              <a:rPr lang="pt-BR" dirty="0"/>
              <a:t>    </a:t>
            </a:r>
            <a:r>
              <a:rPr lang="pt-BR" dirty="0" err="1"/>
              <a:t>Serial.print</a:t>
            </a:r>
            <a:r>
              <a:rPr lang="pt-BR" dirty="0"/>
              <a:t>(".");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("");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("WiFi conectado com sucesso");</a:t>
            </a:r>
          </a:p>
          <a:p>
            <a:r>
              <a:rPr lang="pt-BR" dirty="0"/>
              <a:t>  </a:t>
            </a:r>
            <a:r>
              <a:rPr lang="pt-BR" dirty="0" err="1"/>
              <a:t>Serial.print</a:t>
            </a:r>
            <a:r>
              <a:rPr lang="pt-BR" dirty="0"/>
              <a:t>("IP do ESP32 eh: ");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</a:t>
            </a:r>
            <a:r>
              <a:rPr lang="pt-BR" dirty="0" err="1"/>
              <a:t>WiFi.localIP</a:t>
            </a:r>
            <a:r>
              <a:rPr lang="pt-BR" dirty="0"/>
              <a:t>());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("/novo_estilo.css",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 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"/novo_estilo.css",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css</a:t>
            </a:r>
            <a:r>
              <a:rPr lang="pt-BR" dirty="0"/>
              <a:t>");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</p:txBody>
      </p:sp>
      <p:sp>
        <p:nvSpPr>
          <p:cNvPr id="2" name="Texto Explicativo Retangular com Cantos Arredondados 5">
            <a:extLst>
              <a:ext uri="{FF2B5EF4-FFF2-40B4-BE49-F238E27FC236}">
                <a16:creationId xmlns:a16="http://schemas.microsoft.com/office/drawing/2014/main" id="{2D3083FD-328F-8F7D-5DF1-994C99218727}"/>
              </a:ext>
            </a:extLst>
          </p:cNvPr>
          <p:cNvSpPr/>
          <p:nvPr/>
        </p:nvSpPr>
        <p:spPr>
          <a:xfrm>
            <a:off x="8268540" y="3429000"/>
            <a:ext cx="2948940" cy="674303"/>
          </a:xfrm>
          <a:prstGeom prst="wedgeRoundRectCallout">
            <a:avLst>
              <a:gd name="adj1" fmla="val -85382"/>
              <a:gd name="adj2" fmla="val 189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Detalhamento no slide 54.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6454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834629" y="197346"/>
            <a:ext cx="1099382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on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digitalWrite</a:t>
            </a:r>
            <a:r>
              <a:rPr lang="pt-BR" dirty="0"/>
              <a:t>(</a:t>
            </a:r>
            <a:r>
              <a:rPr lang="pt-BR" dirty="0" err="1"/>
              <a:t>led</a:t>
            </a:r>
            <a:r>
              <a:rPr lang="pt-BR" dirty="0"/>
              <a:t>, HIGH);    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("/off",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digitalWrite</a:t>
            </a:r>
            <a:r>
              <a:rPr lang="pt-BR" dirty="0"/>
              <a:t>(</a:t>
            </a:r>
            <a:r>
              <a:rPr lang="pt-BR" dirty="0" err="1"/>
              <a:t>led</a:t>
            </a:r>
            <a:r>
              <a:rPr lang="pt-BR" dirty="0"/>
              <a:t>, LOW);    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temp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send_P</a:t>
            </a:r>
            <a:r>
              <a:rPr lang="pt-BR" dirty="0"/>
              <a:t>(200,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plain</a:t>
            </a:r>
            <a:r>
              <a:rPr lang="pt-BR" dirty="0"/>
              <a:t>", </a:t>
            </a:r>
            <a:r>
              <a:rPr lang="pt-BR" dirty="0" err="1"/>
              <a:t>le_temp</a:t>
            </a:r>
            <a:r>
              <a:rPr lang="pt-BR" dirty="0"/>
              <a:t>().</a:t>
            </a:r>
            <a:r>
              <a:rPr lang="pt-BR" dirty="0" err="1"/>
              <a:t>c_str</a:t>
            </a:r>
            <a:r>
              <a:rPr lang="pt-BR" dirty="0"/>
              <a:t>());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umid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send_P</a:t>
            </a:r>
            <a:r>
              <a:rPr lang="pt-BR" dirty="0"/>
              <a:t>(200,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plain</a:t>
            </a:r>
            <a:r>
              <a:rPr lang="pt-BR" dirty="0"/>
              <a:t>", </a:t>
            </a:r>
            <a:r>
              <a:rPr lang="pt-BR" dirty="0" err="1"/>
              <a:t>le_umid</a:t>
            </a:r>
            <a:r>
              <a:rPr lang="pt-BR" dirty="0"/>
              <a:t>().</a:t>
            </a:r>
            <a:r>
              <a:rPr lang="pt-BR" dirty="0" err="1"/>
              <a:t>c_str</a:t>
            </a:r>
            <a:r>
              <a:rPr lang="pt-BR" dirty="0"/>
              <a:t>());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server.begin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 </a:t>
            </a:r>
          </a:p>
          <a:p>
            <a:r>
              <a:rPr lang="pt-BR" dirty="0" err="1"/>
              <a:t>void</a:t>
            </a:r>
            <a:r>
              <a:rPr lang="pt-BR" dirty="0"/>
              <a:t> loop()</a:t>
            </a:r>
          </a:p>
          <a:p>
            <a:r>
              <a:rPr lang="pt-BR" dirty="0"/>
              <a:t>{}</a:t>
            </a:r>
          </a:p>
        </p:txBody>
      </p:sp>
      <p:sp>
        <p:nvSpPr>
          <p:cNvPr id="6" name="Texto Explicativo Retangular com Cantos Arredondados 5"/>
          <p:cNvSpPr/>
          <p:nvPr/>
        </p:nvSpPr>
        <p:spPr>
          <a:xfrm>
            <a:off x="8228434" y="3352266"/>
            <a:ext cx="2948940" cy="1271052"/>
          </a:xfrm>
          <a:prstGeom prst="wedgeRoundRectCallout">
            <a:avLst>
              <a:gd name="adj1" fmla="val -114214"/>
              <a:gd name="adj2" fmla="val -460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A função </a:t>
            </a:r>
            <a:r>
              <a:rPr lang="pt-BR" b="1" dirty="0" err="1">
                <a:solidFill>
                  <a:srgbClr val="FFFF00"/>
                </a:solidFill>
              </a:rPr>
              <a:t>c_str</a:t>
            </a:r>
            <a:r>
              <a:rPr lang="pt-BR" b="1" dirty="0">
                <a:solidFill>
                  <a:srgbClr val="FFFF00"/>
                </a:solidFill>
              </a:rPr>
              <a:t>()</a:t>
            </a:r>
            <a:r>
              <a:rPr lang="pt-BR" b="1" dirty="0"/>
              <a:t> retorna uma </a:t>
            </a:r>
            <a:r>
              <a:rPr lang="pt-BR" b="1" dirty="0" err="1"/>
              <a:t>const</a:t>
            </a:r>
            <a:r>
              <a:rPr lang="pt-BR" b="1" dirty="0"/>
              <a:t> char.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84381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63347-8CFD-621C-6A0B-2D75DEC7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0"/>
            <a:ext cx="11325726" cy="802105"/>
          </a:xfrm>
        </p:spPr>
        <p:txBody>
          <a:bodyPr/>
          <a:lstStyle/>
          <a:p>
            <a:pPr algn="ctr"/>
            <a:r>
              <a:rPr lang="pt-BR" b="1" dirty="0"/>
              <a:t>Detalhamento do método </a:t>
            </a:r>
            <a:r>
              <a:rPr lang="pt-BR" b="1" dirty="0" err="1"/>
              <a:t>request</a:t>
            </a:r>
            <a:r>
              <a:rPr lang="pt-BR" b="1" dirty="0"/>
              <a:t>-&gt;</a:t>
            </a:r>
            <a:r>
              <a:rPr lang="pt-BR" b="1" dirty="0" err="1"/>
              <a:t>send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1CEF6-C1E7-1539-E5E9-9101C6405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21" y="617620"/>
            <a:ext cx="11325726" cy="5855369"/>
          </a:xfrm>
        </p:spPr>
        <p:txBody>
          <a:bodyPr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(SPIFFS, "/index.html", "</a:t>
            </a: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false, processor);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é um ponteiro para o objeto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AsyncWebServerRequest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que representa a requisição HTTP recebida. A partir desse objeto, você pode acessar informações sobre a requisição, como os parâmetros, cabeçalhos e o cliente que fez a requisição.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método é chamado no objeto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Ele é utilizado para enviar uma resposta de volta ao cliente que fez a requisição.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SPIFFS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é o sistema de arquivos SPIFFS (SPI Flash File System) que você configurou no ESP32. Ele permite que você armazene e acesse arquivos no flash do dispositivo, como HTML, CSS,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imagens, etc.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"/index.html"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é o caminho do arquivo que você deseja enviar. Neste caso, é o arquivo HTML que você quer que o cliente receba. O caminho é relativo ao sistema de arquivos SPIFFS.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sz="158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é o tipo de conteúdo (MIME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que você está enviando. Ele informa ao navegador que o conteúdo retornado é um documento HTML. Isso é importante para que o navegador possa interpretar corretamente o conteúdo que está recebendo.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false: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parâmetro especifica se a resposta deve ser mantida viva (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keep-alive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ou não. </a:t>
            </a:r>
            <a:r>
              <a:rPr kumimoji="0" lang="pt-BR" altLang="pt-BR" sz="158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Passar “false” significa que a conexão será fechada após a resposta. 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Isso é útil em muitos casos onde não é necessário manter a conexão aberta.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pt-BR" altLang="pt-BR" sz="158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é um ponteiro para uma função que você definiu para processar variáveis no HTML. Quando você usa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placeholders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 HTML (como {{NOME}}), essa função é chamada para substituir esses </a:t>
            </a:r>
            <a:r>
              <a:rPr kumimoji="0" lang="pt-BR" altLang="pt-BR" sz="158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placeholders</a:t>
            </a:r>
            <a:r>
              <a:rPr kumimoji="0" lang="pt-BR" altLang="pt-BR" sz="158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pelos valores reais. </a:t>
            </a:r>
          </a:p>
          <a:p>
            <a:endParaRPr lang="pt-BR" sz="1580" dirty="0"/>
          </a:p>
        </p:txBody>
      </p:sp>
    </p:spTree>
    <p:extLst>
      <p:ext uri="{BB962C8B-B14F-4D97-AF65-F5344CB8AC3E}">
        <p14:creationId xmlns:p14="http://schemas.microsoft.com/office/powerpoint/2010/main" val="328944456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Cortar</Template>
  <TotalTime>8126</TotalTime>
  <Words>4664</Words>
  <Application>Microsoft Office PowerPoint</Application>
  <PresentationFormat>Widescreen</PresentationFormat>
  <Paragraphs>521</Paragraphs>
  <Slides>54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3" baseType="lpstr">
      <vt:lpstr>Aptos</vt:lpstr>
      <vt:lpstr>Arial</vt:lpstr>
      <vt:lpstr>Arial Unicode MS</vt:lpstr>
      <vt:lpstr>Calibri</vt:lpstr>
      <vt:lpstr>Consolas</vt:lpstr>
      <vt:lpstr>Franklin Gothic Book</vt:lpstr>
      <vt:lpstr>Verdana</vt:lpstr>
      <vt:lpstr>Wingdings</vt:lpstr>
      <vt:lpstr>Crop</vt:lpstr>
      <vt:lpstr> Como USAR o SPIFFs (spi Flash file system) no ESP32 ou esp8266 USANDO VSCODE (PLATFORMIO) OU IDE ARDUINO</vt:lpstr>
      <vt:lpstr>Os dois próximos slides só vale para quem for usar a IDE do Arduino. Se você usar o VSCODE – PlatformIO,  pode passar para o slide 5. </vt:lpstr>
      <vt:lpstr>Passo 1: (somente para quem usar IDE Arduino)</vt:lpstr>
      <vt:lpstr>Passo 2 (somente para quem usar IDE Arduino)</vt:lpstr>
      <vt:lpstr>Apresentação do PowerPoint</vt:lpstr>
      <vt:lpstr>Placa esp32</vt:lpstr>
      <vt:lpstr>Instalar a extensão platformIO IDE</vt:lpstr>
      <vt:lpstr>Basta instalar a extensão....</vt:lpstr>
      <vt:lpstr>Como habilitar a aba terminal serial no vscode? Instale a extensão terminal serial</vt:lpstr>
      <vt:lpstr>Agora basta conectar a placa, selecionar a porta serial (port) , baud rate e clicar em start monitoring. Quando for fazer uma nova gravação do firmware, lembre-se de fechar a conexão (close monitoring)</vt:lpstr>
      <vt:lpstr>Para criar um novo projeto......</vt:lpstr>
      <vt:lpstr>Clique em “new Project”....</vt:lpstr>
      <vt:lpstr>Defina o nome do projeto, a placa e o framework.</vt:lpstr>
      <vt:lpstr>Dados do projeto....</vt:lpstr>
      <vt:lpstr>Foi criado o projeto.....</vt:lpstr>
      <vt:lpstr>O arquivo principal (main.cpp) fica na pasta src (source)</vt:lpstr>
      <vt:lpstr>Exemplo simples, apenas para demonstrar o uso do vscode</vt:lpstr>
      <vt:lpstr>Uma dica de usar o vscode é habilitar o auto save, assim não esquece de “salvar” a cada alteração.</vt:lpstr>
      <vt:lpstr>Para compilar, temos que selecionar o ícone da platformio.  Abrirá todas estas opções...para compilar e gravar o dispositivo clique em upload....</vt:lpstr>
      <vt:lpstr>Depois de clicar em  upload, começa o processo de compilar e fazer a programação do esp32</vt:lpstr>
      <vt:lpstr>Se tudo der certo, o console vai indicar “success” e fazer o reset da placa...</vt:lpstr>
      <vt:lpstr>Resumindo:  - platformio  comandos (Upload, etc..) - explorer  pastas e arquivos do projeto.</vt:lpstr>
      <vt:lpstr>Criando pasta data para gravar na memória flash do esp32</vt:lpstr>
      <vt:lpstr>Copia os arquivos para esta pasta data.</vt:lpstr>
      <vt:lpstr>Código para ler um arquivo e imprimir o conteúdo na serial. </vt:lpstr>
      <vt:lpstr>Apresentação do PowerPoint</vt:lpstr>
      <vt:lpstr>Adicionar novas bibliotecas - ESPAsyncWebServer.h</vt:lpstr>
      <vt:lpstr>Escreva no nome da biblioteca e procure.....</vt:lpstr>
      <vt:lpstr>Neste caso, a biblioteca que funciona é a esp async webserver (palavras separadas)</vt:lpstr>
      <vt:lpstr>Adicione a biblioteca ao projeto</vt:lpstr>
      <vt:lpstr>A biblioteca se aplica ao projeto e não a plataforma....</vt:lpstr>
      <vt:lpstr>Note que no arquivo platformio.ini consta tudo que é acrescentado no projeto.</vt:lpstr>
      <vt:lpstr>Como compilar o projeto</vt:lpstr>
      <vt:lpstr>Baixar arquivos da pasta data para o esp32</vt:lpstr>
      <vt:lpstr>Diferenças entre libs:  WebServer x AsyncWebServer</vt:lpstr>
      <vt:lpstr>Passo a passo para criar um servidor web assíncrono com arquivos HTML, CSS, Boostrap e Figuras, além disso lerá valores da placa e irá acionar pinos da placa.</vt:lpstr>
      <vt:lpstr>Apresentação do PowerPoint</vt:lpstr>
      <vt:lpstr>Os métodos de ESP8266WebServer, WebServer ou AsyncWebServer</vt:lpstr>
      <vt:lpstr>Respostas básicas de um servidor web assíncrono.</vt:lpstr>
      <vt:lpstr>Apresentação do PowerPoint</vt:lpstr>
      <vt:lpstr>    Exemplo mais detalhado:  server.on("/temp", HTTP_GET, [](AsyncWebServerRequest *request) {   request-&gt;send(200, "text/plain", readTemp().c_str());  });              Desmembrando o método *.on acima:  server.on("/temp", HTTP_GET, LerTemp);  void LerTemp(AsyncWebServerRequest *request)  {   request-&gt;send(200, "text/plain", readTemp().c_str());  }   O método *.on (server.on) tem 3 argumentos:   primeiro argumento: quando usamos somente “/”, significa que a página solicitada é dado apenas pelo número IP. Quando usamos “/palavra”, significa que o IP deve ser seguido do argumento /palavra. Exemplo: http://102.168.4.1/temp  </vt:lpstr>
      <vt:lpstr>[continuação] Os métodos *.on (server.on):      server.on("/temp", HTTP_GET, LerTemp);     segundo argumento: HTTP_GET ou HTTP_POST   terceiro argumento: função de call-back à solicitação feita no browser (navegador).  </vt:lpstr>
      <vt:lpstr> // disponibiliza o url "/" com o conteúdo da String abaixo server.on("/", HTTP_GET, [](AsyncWebServerRequest * request)  {  request-&gt;send(200, "text/plain", "Olá mundo!"); });      Exemplo mais detalhado:  server.on("/temp", HTTP_GET, [](AsyncWebServerRequest *request) {   request-&gt;send(200, "text/plain", readTemp().c_str());  });        ou assim:  server.on("/temp", HTTP_GET, LerTemp);  void LerTemp(AsyncWebServerRequest *request)  {   request-&gt;send(200, "text/plain", readTemp().c_str());  } </vt:lpstr>
      <vt:lpstr>O html de uma página web pode ser inserido de diversas formas em um código do ESP8266 ou ESP32 (válido para plataformas Arduino). A seguir veremos duas formas???</vt:lpstr>
      <vt:lpstr>Situação 1: para HTML pequenos</vt:lpstr>
      <vt:lpstr>Apresentação do PowerPoint</vt:lpstr>
      <vt:lpstr>Situação 2: HTML+CSS armazenados na Flash usando SPIFFS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Detalhamento do método request-&gt;send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ou esp8266 Como colocar um arquivo html em um arquivo .h</dc:title>
  <dc:creator>Anderson Royes Terroso</dc:creator>
  <cp:lastModifiedBy>aterroso</cp:lastModifiedBy>
  <cp:revision>53</cp:revision>
  <dcterms:created xsi:type="dcterms:W3CDTF">2023-08-23T12:56:31Z</dcterms:created>
  <dcterms:modified xsi:type="dcterms:W3CDTF">2026-03-12T18:55:03Z</dcterms:modified>
</cp:coreProperties>
</file>